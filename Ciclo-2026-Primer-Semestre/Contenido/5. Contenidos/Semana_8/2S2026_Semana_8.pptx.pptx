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Arial Bold" charset="1" panose="020B0704020202020204"/>
      <p:regular r:id="rId47"/>
    </p:embeddedFont>
    <p:embeddedFont>
      <p:font typeface="Arial" charset="1" panose="020B0604020202020204"/>
      <p:regular r:id="rId48"/>
    </p:embeddedFont>
    <p:embeddedFont>
      <p:font typeface="Open Sans Bold" charset="1" panose="00000000000000000000"/>
      <p:regular r:id="rId50"/>
    </p:embeddedFont>
    <p:embeddedFont>
      <p:font typeface="Montserrat Bold" charset="1" panose="00000800000000000000"/>
      <p:regular r:id="rId52"/>
    </p:embeddedFont>
    <p:embeddedFont>
      <p:font typeface="Calibri (MS)" charset="1" panose="020F0502020204030204"/>
      <p:regular r:id="rId54"/>
    </p:embeddedFont>
    <p:embeddedFont>
      <p:font typeface="Open Sans" charset="1" panose="00000000000000000000"/>
      <p:regular r:id="rId56"/>
    </p:embeddedFont>
    <p:embeddedFont>
      <p:font typeface="Montserrat" charset="1" panose="0000050000000000000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notesMasters/notesMaster1.xml" Type="http://schemas.openxmlformats.org/officeDocument/2006/relationships/notesMaster"/><Relationship Id="rId45" Target="theme/theme2.xml" Type="http://schemas.openxmlformats.org/officeDocument/2006/relationships/theme"/><Relationship Id="rId46" Target="notesSlides/notesSlide1.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notesSlides/notesSlide2.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notesSlides/notesSlide3.xml" Type="http://schemas.openxmlformats.org/officeDocument/2006/relationships/notesSlide"/><Relationship Id="rId52" Target="fonts/font52.fntdata" Type="http://schemas.openxmlformats.org/officeDocument/2006/relationships/font"/><Relationship Id="rId53" Target="notesSlides/notesSlide4.xml" Type="http://schemas.openxmlformats.org/officeDocument/2006/relationships/notesSlide"/><Relationship Id="rId54" Target="fonts/font54.fntdata" Type="http://schemas.openxmlformats.org/officeDocument/2006/relationships/font"/><Relationship Id="rId55" Target="notesSlides/notesSlide5.xml" Type="http://schemas.openxmlformats.org/officeDocument/2006/relationships/notesSlide"/><Relationship Id="rId56" Target="fonts/font56.fntdata" Type="http://schemas.openxmlformats.org/officeDocument/2006/relationships/font"/><Relationship Id="rId57" Target="fonts/font57.fntdata" Type="http://schemas.openxmlformats.org/officeDocument/2006/relationships/font"/><Relationship Id="rId58" Target="notesSlides/notesSlide6.xml" Type="http://schemas.openxmlformats.org/officeDocument/2006/relationships/notesSlide"/><Relationship Id="rId59" Target="notesSlides/notesSlide7.xml" Type="http://schemas.openxmlformats.org/officeDocument/2006/relationships/notesSlide"/><Relationship Id="rId6" Target="slides/slide1.xml" Type="http://schemas.openxmlformats.org/officeDocument/2006/relationships/slide"/><Relationship Id="rId60" Target="notesSlides/notesSlide8.xml" Type="http://schemas.openxmlformats.org/officeDocument/2006/relationships/notesSlide"/><Relationship Id="rId61" Target="notesSlides/notesSlide9.xml" Type="http://schemas.openxmlformats.org/officeDocument/2006/relationships/notesSlide"/><Relationship Id="rId62" Target="notesSlides/notesSlide10.xml" Type="http://schemas.openxmlformats.org/officeDocument/2006/relationships/notesSlide"/><Relationship Id="rId63" Target="notesSlides/notesSlide11.xml" Type="http://schemas.openxmlformats.org/officeDocument/2006/relationships/notesSlide"/><Relationship Id="rId64" Target="notesSlides/notesSlide12.xml" Type="http://schemas.openxmlformats.org/officeDocument/2006/relationships/notesSlide"/><Relationship Id="rId65" Target="notesSlides/notesSlide13.xml" Type="http://schemas.openxmlformats.org/officeDocument/2006/relationships/notesSlide"/><Relationship Id="rId66" Target="notesSlides/notesSlide14.xml" Type="http://schemas.openxmlformats.org/officeDocument/2006/relationships/notesSlide"/><Relationship Id="rId67" Target="notesSlides/notesSlide15.xml" Type="http://schemas.openxmlformats.org/officeDocument/2006/relationships/notesSlide"/><Relationship Id="rId68" Target="notesSlides/notesSlide16.xml" Type="http://schemas.openxmlformats.org/officeDocument/2006/relationships/notesSlide"/><Relationship Id="rId69" Target="notesSlides/notesSlide17.xml" Type="http://schemas.openxmlformats.org/officeDocument/2006/relationships/notesSlide"/><Relationship Id="rId7" Target="slides/slide2.xml" Type="http://schemas.openxmlformats.org/officeDocument/2006/relationships/slide"/><Relationship Id="rId70" Target="notesSlides/notesSlide18.xml" Type="http://schemas.openxmlformats.org/officeDocument/2006/relationships/notesSlide"/><Relationship Id="rId71" Target="notesSlides/notesSlide19.xml" Type="http://schemas.openxmlformats.org/officeDocument/2006/relationships/notesSlide"/><Relationship Id="rId72" Target="notesSlides/notesSlide20.xml" Type="http://schemas.openxmlformats.org/officeDocument/2006/relationships/notesSlide"/><Relationship Id="rId73" Target="notesSlides/notesSlide21.xml" Type="http://schemas.openxmlformats.org/officeDocument/2006/relationships/notesSlide"/><Relationship Id="rId74" Target="notesSlides/notesSlide22.xml" Type="http://schemas.openxmlformats.org/officeDocument/2006/relationships/notesSlide"/><Relationship Id="rId75" Target="notesSlides/notesSlide23.xml" Type="http://schemas.openxmlformats.org/officeDocument/2006/relationships/notesSlide"/><Relationship Id="rId76" Target="notesSlides/notesSlide24.xml" Type="http://schemas.openxmlformats.org/officeDocument/2006/relationships/notesSlide"/><Relationship Id="rId77" Target="notesSlides/notesSlide25.xml" Type="http://schemas.openxmlformats.org/officeDocument/2006/relationships/notesSlide"/><Relationship Id="rId78" Target="notesSlides/notesSlide26.xml" Type="http://schemas.openxmlformats.org/officeDocument/2006/relationships/notesSlide"/><Relationship Id="rId79" Target="notesSlides/notesSlide27.xml" Type="http://schemas.openxmlformats.org/officeDocument/2006/relationships/notesSlide"/><Relationship Id="rId8" Target="slides/slide3.xml" Type="http://schemas.openxmlformats.org/officeDocument/2006/relationships/slide"/><Relationship Id="rId80" Target="notesSlides/notesSlide28.xml" Type="http://schemas.openxmlformats.org/officeDocument/2006/relationships/notesSlide"/><Relationship Id="rId81" Target="notesSlides/notesSlide29.xml" Type="http://schemas.openxmlformats.org/officeDocument/2006/relationships/notesSlide"/><Relationship Id="rId82" Target="notesSlides/notesSlide30.xml" Type="http://schemas.openxmlformats.org/officeDocument/2006/relationships/notesSlide"/><Relationship Id="rId83" Target="notesSlides/notesSlide31.xml" Type="http://schemas.openxmlformats.org/officeDocument/2006/relationships/notesSlide"/><Relationship Id="rId84" Target="notesSlides/notesSlide32.xml" Type="http://schemas.openxmlformats.org/officeDocument/2006/relationships/notesSlide"/><Relationship Id="rId85" Target="notesSlides/notesSlide33.xml" Type="http://schemas.openxmlformats.org/officeDocument/2006/relationships/notesSlide"/><Relationship Id="rId86" Target="notesSlides/notesSlide34.xml" Type="http://schemas.openxmlformats.org/officeDocument/2006/relationships/notesSlide"/><Relationship Id="rId87" Target="notesSlides/notesSlide35.xml" Type="http://schemas.openxmlformats.org/officeDocument/2006/relationships/notesSlide"/><Relationship Id="rId88" Target="notesSlides/notesSlide36.xml" Type="http://schemas.openxmlformats.org/officeDocument/2006/relationships/notesSlide"/><Relationship Id="rId89" Target="notesSlides/notesSlide37.xml" Type="http://schemas.openxmlformats.org/officeDocument/2006/relationships/notesSlide"/><Relationship Id="rId9" Target="slides/slide4.xml" Type="http://schemas.openxmlformats.org/officeDocument/2006/relationships/slide"/><Relationship Id="rId90" Target="notesSlides/notesSlide38.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 Id="rId4" Target="../media/image13.png" Type="http://schemas.openxmlformats.org/officeDocument/2006/relationships/image"/><Relationship Id="rId5"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4.pn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4.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4.pn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4.pn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4.pn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4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4.pn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http://www.youtube.com/watch?v=K4-tG9WZqQw" TargetMode="External" Type="http://schemas.openxmlformats.org/officeDocument/2006/relationships/hyperlink"/><Relationship Id="rId7" Target="../media/image5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4.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 Id="rId9" Target="../media/image5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11" Target="../media/image66.svg" Type="http://schemas.openxmlformats.org/officeDocument/2006/relationships/image"/><Relationship Id="rId2" Target="../notesSlides/notesSlide16.xml" Type="http://schemas.openxmlformats.org/officeDocument/2006/relationships/notesSlide"/><Relationship Id="rId3" Target="../media/image58.png" Type="http://schemas.openxmlformats.org/officeDocument/2006/relationships/image"/><Relationship Id="rId4" Target="../media/image59.svg" Type="http://schemas.openxmlformats.org/officeDocument/2006/relationships/image"/><Relationship Id="rId5" Target="../media/image60.jpe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 Id="rId8" Target="../media/image63.png" Type="http://schemas.openxmlformats.org/officeDocument/2006/relationships/image"/><Relationship Id="rId9" Target="../media/image6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svg" Type="http://schemas.openxmlformats.org/officeDocument/2006/relationships/image"/><Relationship Id="rId11" Target="../media/image75.png" Type="http://schemas.openxmlformats.org/officeDocument/2006/relationships/image"/><Relationship Id="rId12" Target="../media/image76.png" Type="http://schemas.openxmlformats.org/officeDocument/2006/relationships/image"/><Relationship Id="rId13" Target="../media/image77.png" Type="http://schemas.openxmlformats.org/officeDocument/2006/relationships/image"/><Relationship Id="rId2" Target="../notesSlides/notesSlide17.xml" Type="http://schemas.openxmlformats.org/officeDocument/2006/relationships/notesSlid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71.png" Type="http://schemas.openxmlformats.org/officeDocument/2006/relationships/image"/><Relationship Id="rId8" Target="../media/image72.svg" Type="http://schemas.openxmlformats.org/officeDocument/2006/relationships/image"/><Relationship Id="rId9" Target="../media/image7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4.png" Type="http://schemas.openxmlformats.org/officeDocument/2006/relationships/image"/><Relationship Id="rId4" Target="../media/image78.png" Type="http://schemas.openxmlformats.org/officeDocument/2006/relationships/image"/><Relationship Id="rId5" Target="../media/image79.svg" Type="http://schemas.openxmlformats.org/officeDocument/2006/relationships/image"/><Relationship Id="rId6" Target="../media/image80.png" Type="http://schemas.openxmlformats.org/officeDocument/2006/relationships/image"/><Relationship Id="rId7" Target="../media/image81.svg" Type="http://schemas.openxmlformats.org/officeDocument/2006/relationships/image"/><Relationship Id="rId8" Target="../media/image8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4.png" Type="http://schemas.openxmlformats.org/officeDocument/2006/relationships/image"/><Relationship Id="rId4" Target="../media/image83.png" Type="http://schemas.openxmlformats.org/officeDocument/2006/relationships/image"/><Relationship Id="rId5" Target="../media/image84.svg" Type="http://schemas.openxmlformats.org/officeDocument/2006/relationships/image"/><Relationship Id="rId6" Target="../media/image80.png" Type="http://schemas.openxmlformats.org/officeDocument/2006/relationships/image"/><Relationship Id="rId7" Target="../media/image81.svg" Type="http://schemas.openxmlformats.org/officeDocument/2006/relationships/image"/><Relationship Id="rId8" Target="../media/image8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4.png" Type="http://schemas.openxmlformats.org/officeDocument/2006/relationships/image"/><Relationship Id="rId4" Target="../media/image86.png" Type="http://schemas.openxmlformats.org/officeDocument/2006/relationships/image"/><Relationship Id="rId5" Target="../media/image87.svg" Type="http://schemas.openxmlformats.org/officeDocument/2006/relationships/image"/><Relationship Id="rId6" Target="../media/image88.png" Type="http://schemas.openxmlformats.org/officeDocument/2006/relationships/image"/><Relationship Id="rId7" Target="../media/image89.svg" Type="http://schemas.openxmlformats.org/officeDocument/2006/relationships/image"/><Relationship Id="rId8" Target="../media/image9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7.png" Type="http://schemas.openxmlformats.org/officeDocument/2006/relationships/image"/><Relationship Id="rId11" Target="../media/image98.png" Type="http://schemas.openxmlformats.org/officeDocument/2006/relationships/image"/><Relationship Id="rId12" Target="../media/image99.svg" Type="http://schemas.openxmlformats.org/officeDocument/2006/relationships/image"/><Relationship Id="rId2" Target="../notesSlides/notesSlide21.xml" Type="http://schemas.openxmlformats.org/officeDocument/2006/relationships/notesSlide"/><Relationship Id="rId3" Target="../media/image14.png" Type="http://schemas.openxmlformats.org/officeDocument/2006/relationships/image"/><Relationship Id="rId4" Target="../media/image91.png" Type="http://schemas.openxmlformats.org/officeDocument/2006/relationships/image"/><Relationship Id="rId5" Target="../media/image92.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95.png" Type="http://schemas.openxmlformats.org/officeDocument/2006/relationships/image"/><Relationship Id="rId9" Target="../media/image9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png" Type="http://schemas.openxmlformats.org/officeDocument/2006/relationships/image"/><Relationship Id="rId2" Target="../notesSlides/notesSlide22.xml" Type="http://schemas.openxmlformats.org/officeDocument/2006/relationships/notesSlide"/><Relationship Id="rId3" Target="../media/image14.png" Type="http://schemas.openxmlformats.org/officeDocument/2006/relationships/image"/><Relationship Id="rId4" Target="../media/image100.png" Type="http://schemas.openxmlformats.org/officeDocument/2006/relationships/image"/><Relationship Id="rId5" Target="../media/image101.svg" Type="http://schemas.openxmlformats.org/officeDocument/2006/relationships/image"/><Relationship Id="rId6" Target="../media/image102.png" Type="http://schemas.openxmlformats.org/officeDocument/2006/relationships/image"/><Relationship Id="rId7" Target="../media/image103.svg" Type="http://schemas.openxmlformats.org/officeDocument/2006/relationships/image"/><Relationship Id="rId8" Target="../media/image104.png" Type="http://schemas.openxmlformats.org/officeDocument/2006/relationships/image"/><Relationship Id="rId9" Target="../media/image10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3.png" Type="http://schemas.openxmlformats.org/officeDocument/2006/relationships/image"/><Relationship Id="rId2" Target="../notesSlides/notesSlide23.xml" Type="http://schemas.openxmlformats.org/officeDocument/2006/relationships/notesSlide"/><Relationship Id="rId3" Target="../media/image14.png" Type="http://schemas.openxmlformats.org/officeDocument/2006/relationships/image"/><Relationship Id="rId4" Target="../media/image107.png" Type="http://schemas.openxmlformats.org/officeDocument/2006/relationships/image"/><Relationship Id="rId5" Target="../media/image108.svg" Type="http://schemas.openxmlformats.org/officeDocument/2006/relationships/image"/><Relationship Id="rId6" Target="../media/image109.png" Type="http://schemas.openxmlformats.org/officeDocument/2006/relationships/image"/><Relationship Id="rId7" Target="../media/image110.svg" Type="http://schemas.openxmlformats.org/officeDocument/2006/relationships/image"/><Relationship Id="rId8" Target="../media/image111.png" Type="http://schemas.openxmlformats.org/officeDocument/2006/relationships/image"/><Relationship Id="rId9" Target="../media/image11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4.png" Type="http://schemas.openxmlformats.org/officeDocument/2006/relationships/image"/><Relationship Id="rId4" Target="../media/image114.png" Type="http://schemas.openxmlformats.org/officeDocument/2006/relationships/image"/><Relationship Id="rId5" Target="../media/image115.svg" Type="http://schemas.openxmlformats.org/officeDocument/2006/relationships/image"/><Relationship Id="rId6" Target="../media/image116.png" Type="http://schemas.openxmlformats.org/officeDocument/2006/relationships/image"/><Relationship Id="rId7" Target="../media/image117.svg" Type="http://schemas.openxmlformats.org/officeDocument/2006/relationships/image"/><Relationship Id="rId8" Target="../media/image11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4.png" Type="http://schemas.openxmlformats.org/officeDocument/2006/relationships/image"/><Relationship Id="rId4" Target="../media/image119.png" Type="http://schemas.openxmlformats.org/officeDocument/2006/relationships/image"/><Relationship Id="rId5" Target="../media/image120.svg" Type="http://schemas.openxmlformats.org/officeDocument/2006/relationships/image"/><Relationship Id="rId6" Target="../media/image121.png" Type="http://schemas.openxmlformats.org/officeDocument/2006/relationships/image"/><Relationship Id="rId7" Target="../media/image122.svg" Type="http://schemas.openxmlformats.org/officeDocument/2006/relationships/image"/><Relationship Id="rId8" Target="../media/image1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4.png" Type="http://schemas.openxmlformats.org/officeDocument/2006/relationships/image"/><Relationship Id="rId4" Target="../media/image124.png" Type="http://schemas.openxmlformats.org/officeDocument/2006/relationships/image"/><Relationship Id="rId5" Target="../media/image125.svg" Type="http://schemas.openxmlformats.org/officeDocument/2006/relationships/image"/><Relationship Id="rId6" Target="../media/image126.png" Type="http://schemas.openxmlformats.org/officeDocument/2006/relationships/image"/><Relationship Id="rId7" Target="../media/image127.svg" Type="http://schemas.openxmlformats.org/officeDocument/2006/relationships/image"/><Relationship Id="rId8" Target="../media/image12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5.png" Type="http://schemas.openxmlformats.org/officeDocument/2006/relationships/image"/><Relationship Id="rId2" Target="../notesSlides/notesSlide27.xml" Type="http://schemas.openxmlformats.org/officeDocument/2006/relationships/notesSlide"/><Relationship Id="rId3" Target="../media/image14.png" Type="http://schemas.openxmlformats.org/officeDocument/2006/relationships/image"/><Relationship Id="rId4" Target="../media/image129.png" Type="http://schemas.openxmlformats.org/officeDocument/2006/relationships/image"/><Relationship Id="rId5" Target="../media/image130.svg" Type="http://schemas.openxmlformats.org/officeDocument/2006/relationships/image"/><Relationship Id="rId6" Target="../media/image131.png" Type="http://schemas.openxmlformats.org/officeDocument/2006/relationships/image"/><Relationship Id="rId7" Target="../media/image132.svg" Type="http://schemas.openxmlformats.org/officeDocument/2006/relationships/image"/><Relationship Id="rId8" Target="../media/image133.png" Type="http://schemas.openxmlformats.org/officeDocument/2006/relationships/image"/><Relationship Id="rId9" Target="../media/image13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2.png" Type="http://schemas.openxmlformats.org/officeDocument/2006/relationships/image"/><Relationship Id="rId2" Target="../notesSlides/notesSlide28.xml" Type="http://schemas.openxmlformats.org/officeDocument/2006/relationships/notesSlide"/><Relationship Id="rId3" Target="../media/image14.png" Type="http://schemas.openxmlformats.org/officeDocument/2006/relationships/image"/><Relationship Id="rId4" Target="../media/image136.png" Type="http://schemas.openxmlformats.org/officeDocument/2006/relationships/image"/><Relationship Id="rId5" Target="../media/image137.svg" Type="http://schemas.openxmlformats.org/officeDocument/2006/relationships/image"/><Relationship Id="rId6" Target="../media/image138.png" Type="http://schemas.openxmlformats.org/officeDocument/2006/relationships/image"/><Relationship Id="rId7" Target="../media/image139.svg" Type="http://schemas.openxmlformats.org/officeDocument/2006/relationships/image"/><Relationship Id="rId8" Target="../media/image140.png" Type="http://schemas.openxmlformats.org/officeDocument/2006/relationships/image"/><Relationship Id="rId9" Target="../media/image141.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4.png" Type="http://schemas.openxmlformats.org/officeDocument/2006/relationships/image"/><Relationship Id="rId4" Target="../media/image143.png" Type="http://schemas.openxmlformats.org/officeDocument/2006/relationships/image"/><Relationship Id="rId5" Target="../media/image144.svg" Type="http://schemas.openxmlformats.org/officeDocument/2006/relationships/image"/><Relationship Id="rId6" Target="../media/image145.png" Type="http://schemas.openxmlformats.org/officeDocument/2006/relationships/image"/><Relationship Id="rId7" Target="../media/image146.svg" Type="http://schemas.openxmlformats.org/officeDocument/2006/relationships/image"/><Relationship Id="rId8" Target="../media/image14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4.png" Type="http://schemas.openxmlformats.org/officeDocument/2006/relationships/image"/><Relationship Id="rId2" Target="../notesSlides/notesSlide30.xml" Type="http://schemas.openxmlformats.org/officeDocument/2006/relationships/notesSlide"/><Relationship Id="rId3" Target="../media/image14.png" Type="http://schemas.openxmlformats.org/officeDocument/2006/relationships/image"/><Relationship Id="rId4" Target="../media/image148.png" Type="http://schemas.openxmlformats.org/officeDocument/2006/relationships/image"/><Relationship Id="rId5" Target="../media/image149.svg" Type="http://schemas.openxmlformats.org/officeDocument/2006/relationships/image"/><Relationship Id="rId6" Target="../media/image150.png" Type="http://schemas.openxmlformats.org/officeDocument/2006/relationships/image"/><Relationship Id="rId7" Target="../media/image151.svg" Type="http://schemas.openxmlformats.org/officeDocument/2006/relationships/image"/><Relationship Id="rId8" Target="../media/image152.png" Type="http://schemas.openxmlformats.org/officeDocument/2006/relationships/image"/><Relationship Id="rId9" Target="../media/image15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1.png" Type="http://schemas.openxmlformats.org/officeDocument/2006/relationships/image"/><Relationship Id="rId2" Target="../notesSlides/notesSlide31.xml" Type="http://schemas.openxmlformats.org/officeDocument/2006/relationships/notesSlide"/><Relationship Id="rId3" Target="../media/image14.png" Type="http://schemas.openxmlformats.org/officeDocument/2006/relationships/image"/><Relationship Id="rId4" Target="../media/image155.png" Type="http://schemas.openxmlformats.org/officeDocument/2006/relationships/image"/><Relationship Id="rId5" Target="../media/image156.svg" Type="http://schemas.openxmlformats.org/officeDocument/2006/relationships/image"/><Relationship Id="rId6" Target="../media/image157.png" Type="http://schemas.openxmlformats.org/officeDocument/2006/relationships/image"/><Relationship Id="rId7" Target="../media/image158.svg" Type="http://schemas.openxmlformats.org/officeDocument/2006/relationships/image"/><Relationship Id="rId8" Target="../media/image159.png" Type="http://schemas.openxmlformats.org/officeDocument/2006/relationships/image"/><Relationship Id="rId9" Target="../media/image16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4.png" Type="http://schemas.openxmlformats.org/officeDocument/2006/relationships/image"/><Relationship Id="rId4" Target="../media/image162.png" Type="http://schemas.openxmlformats.org/officeDocument/2006/relationships/image"/><Relationship Id="rId5" Target="../media/image163.svg" Type="http://schemas.openxmlformats.org/officeDocument/2006/relationships/image"/><Relationship Id="rId6" Target="../media/image164.png" Type="http://schemas.openxmlformats.org/officeDocument/2006/relationships/image"/><Relationship Id="rId7" Target="../media/image165.svg" Type="http://schemas.openxmlformats.org/officeDocument/2006/relationships/image"/><Relationship Id="rId8" Target="../media/image166.png" Type="http://schemas.openxmlformats.org/officeDocument/2006/relationships/image"/><Relationship Id="rId9" Target="../media/image16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4.png" Type="http://schemas.openxmlformats.org/officeDocument/2006/relationships/image"/><Relationship Id="rId4" Target="../media/image168.png" Type="http://schemas.openxmlformats.org/officeDocument/2006/relationships/image"/><Relationship Id="rId5" Target="../media/image169.svg" Type="http://schemas.openxmlformats.org/officeDocument/2006/relationships/image"/><Relationship Id="rId6" Target="../media/image170.png" Type="http://schemas.openxmlformats.org/officeDocument/2006/relationships/image"/><Relationship Id="rId7" Target="../media/image171.svg" Type="http://schemas.openxmlformats.org/officeDocument/2006/relationships/image"/><Relationship Id="rId8" Target="../media/image17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73.jpeg" Type="http://schemas.openxmlformats.org/officeDocument/2006/relationships/image"/><Relationship Id="rId4" Target="../media/image174.png" Type="http://schemas.openxmlformats.org/officeDocument/2006/relationships/image"/><Relationship Id="rId5" Target="../media/image175.png" Type="http://schemas.openxmlformats.org/officeDocument/2006/relationships/image"/><Relationship Id="rId6" Target="../media/image1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76.png" Type="http://schemas.openxmlformats.org/officeDocument/2006/relationships/image"/><Relationship Id="rId4" Target="../media/image177.png" Type="http://schemas.openxmlformats.org/officeDocument/2006/relationships/image"/><Relationship Id="rId5" Target="../media/image178.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76.png" Type="http://schemas.openxmlformats.org/officeDocument/2006/relationships/image"/><Relationship Id="rId4" Target="../media/image179.png" Type="http://schemas.openxmlformats.org/officeDocument/2006/relationships/image"/><Relationship Id="rId5" Target="../media/image180.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76.png" Type="http://schemas.openxmlformats.org/officeDocument/2006/relationships/image"/><Relationship Id="rId4" Target="../media/image177.png" Type="http://schemas.openxmlformats.org/officeDocument/2006/relationships/image"/><Relationship Id="rId5" Target="../media/image178.svg" Type="http://schemas.openxmlformats.org/officeDocument/2006/relationships/image"/><Relationship Id="rId6" Target="https://www.geeksforgeeks.org/memory-management-in-operating-system/" TargetMode="External" Type="http://schemas.openxmlformats.org/officeDocument/2006/relationships/hyperlink"/><Relationship Id="rId7" Target="https://www.geeksforgeeks.org/what-is-demand-paging-in-operating-system/" TargetMode="External" Type="http://schemas.openxmlformats.org/officeDocument/2006/relationships/hyperlink"/><Relationship Id="rId8" Target="https://www.geeksforgeeks.org/what-is-demand-paging-in-operating-system/" TargetMode="External" Type="http://schemas.openxmlformats.org/officeDocument/2006/relationships/hyperlink"/></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73.jpeg" Type="http://schemas.openxmlformats.org/officeDocument/2006/relationships/image"/><Relationship Id="rId4" Target="../media/image174.png" Type="http://schemas.openxmlformats.org/officeDocument/2006/relationships/image"/><Relationship Id="rId5" Target="../media/image181.png" Type="http://schemas.openxmlformats.org/officeDocument/2006/relationships/image"/><Relationship Id="rId6" Target="../media/image18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97" y="0"/>
            <a:ext cx="18254196" cy="10287000"/>
            <a:chOff x="0" y="0"/>
            <a:chExt cx="24338928" cy="13716000"/>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0656400" y="1940050"/>
          <a:ext cx="7378700" cy="1358900"/>
        </p:xfrm>
        <a:graphic>
          <a:graphicData uri="http://schemas.openxmlformats.org/drawingml/2006/table">
            <a:tbl>
              <a:tblPr/>
              <a:tblGrid>
                <a:gridCol w="3035392"/>
                <a:gridCol w="4343308"/>
              </a:tblGrid>
              <a:tr h="639162">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Día, Fecha:</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DIA, DD/MM/2026</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9738">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Hora de inicio:</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00:00</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3063202" y="4670879"/>
            <a:ext cx="13218300" cy="848173"/>
          </a:xfrm>
          <a:prstGeom prst="rect">
            <a:avLst/>
          </a:prstGeom>
        </p:spPr>
        <p:txBody>
          <a:bodyPr anchor="t" rtlCol="false" tIns="0" lIns="0" bIns="0" rIns="0">
            <a:spAutoFit/>
          </a:bodyPr>
          <a:lstStyle/>
          <a:p>
            <a:pPr algn="l">
              <a:lnSpc>
                <a:spcPts val="6359"/>
              </a:lnSpc>
            </a:pPr>
            <a:r>
              <a:rPr lang="en-US" b="true" sz="5299">
                <a:solidFill>
                  <a:srgbClr val="000000"/>
                </a:solidFill>
                <a:latin typeface="Arial Bold"/>
                <a:ea typeface="Arial Bold"/>
                <a:cs typeface="Arial Bold"/>
                <a:sym typeface="Arial Bold"/>
              </a:rPr>
              <a:t>Sistemas Operativos 2 [A]</a:t>
            </a:r>
          </a:p>
        </p:txBody>
      </p:sp>
      <p:sp>
        <p:nvSpPr>
          <p:cNvPr name="TextBox 6" id="6"/>
          <p:cNvSpPr txBox="true"/>
          <p:nvPr/>
        </p:nvSpPr>
        <p:spPr>
          <a:xfrm rot="0">
            <a:off x="3740248" y="5965298"/>
            <a:ext cx="10807503" cy="700049"/>
          </a:xfrm>
          <a:prstGeom prst="rect">
            <a:avLst/>
          </a:prstGeom>
        </p:spPr>
        <p:txBody>
          <a:bodyPr anchor="t" rtlCol="false" tIns="0" lIns="0" bIns="0" rIns="0">
            <a:spAutoFit/>
          </a:bodyPr>
          <a:lstStyle/>
          <a:p>
            <a:pPr algn="l">
              <a:lnSpc>
                <a:spcPts val="5280"/>
              </a:lnSpc>
            </a:pPr>
            <a:r>
              <a:rPr lang="en-US" sz="4400">
                <a:solidFill>
                  <a:srgbClr val="000000"/>
                </a:solidFill>
                <a:latin typeface="Arial"/>
                <a:ea typeface="Arial"/>
                <a:cs typeface="Arial"/>
                <a:sym typeface="Arial"/>
              </a:rPr>
              <a:t>NOMBRE_ESTUDIANTE</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1028700" y="8626192"/>
            <a:ext cx="69813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Escuela de Ingeniería de Ciencias Y Sistemas</a:t>
            </a:r>
          </a:p>
        </p:txBody>
      </p:sp>
      <p:sp>
        <p:nvSpPr>
          <p:cNvPr name="TextBox 3" id="3"/>
          <p:cNvSpPr txBox="true"/>
          <p:nvPr/>
        </p:nvSpPr>
        <p:spPr>
          <a:xfrm rot="0">
            <a:off x="1028700" y="9050988"/>
            <a:ext cx="3525298"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Facultad de Ingeniería</a:t>
            </a:r>
          </a:p>
        </p:txBody>
      </p:sp>
      <p:sp>
        <p:nvSpPr>
          <p:cNvPr name="TextBox 4" id="4"/>
          <p:cNvSpPr txBox="true"/>
          <p:nvPr/>
        </p:nvSpPr>
        <p:spPr>
          <a:xfrm rot="0">
            <a:off x="1028700" y="9471022"/>
            <a:ext cx="64080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Universidad de San Carlos de Guatemala</a:t>
            </a:r>
          </a:p>
        </p:txBody>
      </p:sp>
      <p:sp>
        <p:nvSpPr>
          <p:cNvPr name="TextBox 5" id="5"/>
          <p:cNvSpPr txBox="true"/>
          <p:nvPr/>
        </p:nvSpPr>
        <p:spPr>
          <a:xfrm rot="0">
            <a:off x="3503695" y="3121419"/>
            <a:ext cx="11280600" cy="3877517"/>
          </a:xfrm>
          <a:prstGeom prst="rect">
            <a:avLst/>
          </a:prstGeom>
        </p:spPr>
        <p:txBody>
          <a:bodyPr anchor="t" rtlCol="false" tIns="0" lIns="0" bIns="0" rIns="0">
            <a:spAutoFit/>
          </a:bodyPr>
          <a:lstStyle/>
          <a:p>
            <a:pPr algn="ctr">
              <a:lnSpc>
                <a:spcPts val="10187"/>
              </a:lnSpc>
            </a:pPr>
            <a:r>
              <a:rPr lang="en-US" sz="7933">
                <a:solidFill>
                  <a:srgbClr val="FFFFFF"/>
                </a:solidFill>
                <a:latin typeface="Arial"/>
                <a:ea typeface="Arial"/>
                <a:cs typeface="Arial"/>
                <a:sym typeface="Arial"/>
              </a:rPr>
              <a:t>UNIDAD 3: ADMINISTRACIÓN DE MEMORIA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75142" y="2474976"/>
            <a:ext cx="7764161" cy="618820"/>
            <a:chOff x="0" y="0"/>
            <a:chExt cx="10352214" cy="825094"/>
          </a:xfrm>
        </p:grpSpPr>
        <p:sp>
          <p:nvSpPr>
            <p:cNvPr name="Freeform 3" id="3"/>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4" id="4"/>
          <p:cNvGrpSpPr/>
          <p:nvPr/>
        </p:nvGrpSpPr>
        <p:grpSpPr>
          <a:xfrm rot="0">
            <a:off x="9975047" y="2453202"/>
            <a:ext cx="7764342" cy="662378"/>
            <a:chOff x="0" y="0"/>
            <a:chExt cx="10352456" cy="883171"/>
          </a:xfrm>
        </p:grpSpPr>
        <p:sp>
          <p:nvSpPr>
            <p:cNvPr name="Freeform 5" id="5"/>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6" id="6"/>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Anuncios Importantes</a:t>
              </a:r>
            </a:p>
          </p:txBody>
        </p:sp>
      </p:grpSp>
      <p:grpSp>
        <p:nvGrpSpPr>
          <p:cNvPr name="Group 7" id="7"/>
          <p:cNvGrpSpPr/>
          <p:nvPr/>
        </p:nvGrpSpPr>
        <p:grpSpPr>
          <a:xfrm rot="-1769340">
            <a:off x="2487701" y="2265797"/>
            <a:ext cx="3499333" cy="3372288"/>
            <a:chOff x="0" y="0"/>
            <a:chExt cx="4665777" cy="4496384"/>
          </a:xfrm>
        </p:grpSpPr>
        <p:sp>
          <p:nvSpPr>
            <p:cNvPr name="Freeform 8" id="8"/>
            <p:cNvSpPr/>
            <p:nvPr/>
          </p:nvSpPr>
          <p:spPr>
            <a:xfrm flipH="false" flipV="false" rot="0">
              <a:off x="0" y="0"/>
              <a:ext cx="4665726" cy="4496435"/>
            </a:xfrm>
            <a:custGeom>
              <a:avLst/>
              <a:gdLst/>
              <a:ahLst/>
              <a:cxnLst/>
              <a:rect r="r" b="b" t="t" l="l"/>
              <a:pathLst>
                <a:path h="4496435" w="4665726">
                  <a:moveTo>
                    <a:pt x="0" y="0"/>
                  </a:moveTo>
                  <a:lnTo>
                    <a:pt x="4665726" y="0"/>
                  </a:lnTo>
                  <a:lnTo>
                    <a:pt x="4665726" y="4496435"/>
                  </a:lnTo>
                  <a:lnTo>
                    <a:pt x="0" y="4496435"/>
                  </a:lnTo>
                  <a:lnTo>
                    <a:pt x="0" y="0"/>
                  </a:lnTo>
                  <a:close/>
                </a:path>
              </a:pathLst>
            </a:custGeom>
            <a:blipFill>
              <a:blip r:embed="rId4"/>
              <a:stretch>
                <a:fillRect l="3870" t="-145" r="-3870" b="-3619"/>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6083246" y="3459137"/>
            <a:ext cx="10228955" cy="4612872"/>
          </a:xfrm>
          <a:prstGeom prst="rect">
            <a:avLst/>
          </a:prstGeom>
        </p:spPr>
        <p:txBody>
          <a:bodyPr anchor="t" rtlCol="false" tIns="0" lIns="0" bIns="0" rIns="0">
            <a:spAutoFit/>
          </a:bodyPr>
          <a:lstStyle/>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Gestión de la memoria</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Memoria física y paginación</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Técnicas de asignación de memoria</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Paginación y segmentación</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Tablas de páginas y TLB</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Fallos de página y manejo</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Intercambio y paginación por demanda</a:t>
            </a:r>
          </a:p>
        </p:txBody>
      </p:sp>
      <p:grpSp>
        <p:nvGrpSpPr>
          <p:cNvPr name="Group 3" id="3"/>
          <p:cNvGrpSpPr/>
          <p:nvPr/>
        </p:nvGrpSpPr>
        <p:grpSpPr>
          <a:xfrm rot="0">
            <a:off x="5261820" y="1930165"/>
            <a:ext cx="7764161" cy="618820"/>
            <a:chOff x="0" y="0"/>
            <a:chExt cx="10352214" cy="825094"/>
          </a:xfrm>
        </p:grpSpPr>
        <p:sp>
          <p:nvSpPr>
            <p:cNvPr name="Freeform 4" id="4"/>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5" id="5"/>
          <p:cNvGrpSpPr/>
          <p:nvPr/>
        </p:nvGrpSpPr>
        <p:grpSpPr>
          <a:xfrm rot="0">
            <a:off x="5261820" y="1886655"/>
            <a:ext cx="7764342" cy="662378"/>
            <a:chOff x="0" y="0"/>
            <a:chExt cx="10352456" cy="883171"/>
          </a:xfrm>
        </p:grpSpPr>
        <p:sp>
          <p:nvSpPr>
            <p:cNvPr name="Freeform 6" id="6"/>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7" id="7"/>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AGENDA</a:t>
              </a:r>
            </a:p>
          </p:txBody>
        </p:sp>
      </p:grpSp>
      <p:grpSp>
        <p:nvGrpSpPr>
          <p:cNvPr name="Group 8" id="8"/>
          <p:cNvGrpSpPr/>
          <p:nvPr/>
        </p:nvGrpSpPr>
        <p:grpSpPr>
          <a:xfrm rot="0">
            <a:off x="7758027" y="1886645"/>
            <a:ext cx="662378" cy="662378"/>
            <a:chOff x="0" y="0"/>
            <a:chExt cx="883171" cy="883171"/>
          </a:xfrm>
        </p:grpSpPr>
        <p:sp>
          <p:nvSpPr>
            <p:cNvPr name="Freeform 9" id="9"/>
            <p:cNvSpPr/>
            <p:nvPr/>
          </p:nvSpPr>
          <p:spPr>
            <a:xfrm flipH="false" flipV="false" rot="0">
              <a:off x="0" y="0"/>
              <a:ext cx="883158" cy="883158"/>
            </a:xfrm>
            <a:custGeom>
              <a:avLst/>
              <a:gdLst/>
              <a:ahLst/>
              <a:cxnLst/>
              <a:rect r="r" b="b" t="t" l="l"/>
              <a:pathLst>
                <a:path h="883158" w="883158">
                  <a:moveTo>
                    <a:pt x="0" y="0"/>
                  </a:moveTo>
                  <a:lnTo>
                    <a:pt x="883158" y="0"/>
                  </a:lnTo>
                  <a:lnTo>
                    <a:pt x="883158" y="883158"/>
                  </a:lnTo>
                  <a:lnTo>
                    <a:pt x="0" y="883158"/>
                  </a:lnTo>
                  <a:lnTo>
                    <a:pt x="0" y="0"/>
                  </a:lnTo>
                  <a:close/>
                </a:path>
              </a:pathLst>
            </a:custGeom>
            <a:blipFill>
              <a:blip r:embed="rId4"/>
              <a:stretch>
                <a:fillRect l="0" t="0" r="-1" b="-1"/>
              </a:stretch>
            </a:blipFill>
          </p:spPr>
        </p:sp>
      </p:grpSp>
      <p:grpSp>
        <p:nvGrpSpPr>
          <p:cNvPr name="Group 10" id="10"/>
          <p:cNvGrpSpPr/>
          <p:nvPr/>
        </p:nvGrpSpPr>
        <p:grpSpPr>
          <a:xfrm rot="0">
            <a:off x="1264529" y="3317243"/>
            <a:ext cx="3652523" cy="3652523"/>
            <a:chOff x="0" y="0"/>
            <a:chExt cx="4870031" cy="4870031"/>
          </a:xfrm>
        </p:grpSpPr>
        <p:sp>
          <p:nvSpPr>
            <p:cNvPr name="Freeform 11" id="11"/>
            <p:cNvSpPr/>
            <p:nvPr/>
          </p:nvSpPr>
          <p:spPr>
            <a:xfrm flipH="false" flipV="false" rot="0">
              <a:off x="0" y="0"/>
              <a:ext cx="4870069" cy="4870069"/>
            </a:xfrm>
            <a:custGeom>
              <a:avLst/>
              <a:gdLst/>
              <a:ahLst/>
              <a:cxnLst/>
              <a:rect r="r" b="b" t="t" l="l"/>
              <a:pathLst>
                <a:path h="4870069" w="4870069">
                  <a:moveTo>
                    <a:pt x="0" y="0"/>
                  </a:moveTo>
                  <a:lnTo>
                    <a:pt x="4870069" y="0"/>
                  </a:lnTo>
                  <a:lnTo>
                    <a:pt x="4870069" y="4870069"/>
                  </a:lnTo>
                  <a:lnTo>
                    <a:pt x="0" y="4870069"/>
                  </a:lnTo>
                  <a:lnTo>
                    <a:pt x="0" y="0"/>
                  </a:lnTo>
                  <a:close/>
                </a:path>
              </a:pathLst>
            </a:custGeom>
            <a:blipFill>
              <a:blip r:embed="rId5"/>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3300298" y="3865645"/>
            <a:ext cx="11687423" cy="2780186"/>
          </a:xfrm>
          <a:custGeom>
            <a:avLst/>
            <a:gdLst/>
            <a:ahLst/>
            <a:cxnLst/>
            <a:rect r="r" b="b" t="t" l="l"/>
            <a:pathLst>
              <a:path h="2780186" w="11687423">
                <a:moveTo>
                  <a:pt x="0" y="0"/>
                </a:moveTo>
                <a:lnTo>
                  <a:pt x="11687423" y="0"/>
                </a:lnTo>
                <a:lnTo>
                  <a:pt x="11687423" y="2780186"/>
                </a:lnTo>
                <a:lnTo>
                  <a:pt x="0" y="2780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713597" y="4575229"/>
            <a:ext cx="1136542" cy="1136542"/>
          </a:xfrm>
          <a:custGeom>
            <a:avLst/>
            <a:gdLst/>
            <a:ahLst/>
            <a:cxnLst/>
            <a:rect r="r" b="b" t="t" l="l"/>
            <a:pathLst>
              <a:path h="1136542" w="1136542">
                <a:moveTo>
                  <a:pt x="0" y="0"/>
                </a:moveTo>
                <a:lnTo>
                  <a:pt x="1136543" y="0"/>
                </a:lnTo>
                <a:lnTo>
                  <a:pt x="1136543" y="1136542"/>
                </a:lnTo>
                <a:lnTo>
                  <a:pt x="0" y="1136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3925033" y="4743202"/>
            <a:ext cx="713661" cy="713661"/>
            <a:chOff x="0" y="0"/>
            <a:chExt cx="951548" cy="951548"/>
          </a:xfrm>
        </p:grpSpPr>
        <p:sp>
          <p:nvSpPr>
            <p:cNvPr name="Freeform 5" id="5"/>
            <p:cNvSpPr/>
            <p:nvPr/>
          </p:nvSpPr>
          <p:spPr>
            <a:xfrm flipH="false" flipV="false" rot="0">
              <a:off x="0" y="0"/>
              <a:ext cx="951611" cy="951611"/>
            </a:xfrm>
            <a:custGeom>
              <a:avLst/>
              <a:gdLst/>
              <a:ahLst/>
              <a:cxnLst/>
              <a:rect r="r" b="b" t="t" l="l"/>
              <a:pathLst>
                <a:path h="951611" w="951611">
                  <a:moveTo>
                    <a:pt x="0" y="0"/>
                  </a:moveTo>
                  <a:lnTo>
                    <a:pt x="951611" y="0"/>
                  </a:lnTo>
                  <a:lnTo>
                    <a:pt x="951611" y="951611"/>
                  </a:lnTo>
                  <a:lnTo>
                    <a:pt x="0" y="951611"/>
                  </a:lnTo>
                  <a:lnTo>
                    <a:pt x="0" y="0"/>
                  </a:lnTo>
                  <a:close/>
                </a:path>
              </a:pathLst>
            </a:custGeom>
            <a:blipFill>
              <a:blip r:embed="rId7"/>
              <a:stretch>
                <a:fillRect l="0" t="0" r="6" b="6"/>
              </a:stretch>
            </a:blipFill>
          </p:spPr>
        </p:sp>
      </p:grpSp>
      <p:sp>
        <p:nvSpPr>
          <p:cNvPr name="TextBox 6" id="6"/>
          <p:cNvSpPr txBox="true"/>
          <p:nvPr/>
        </p:nvSpPr>
        <p:spPr>
          <a:xfrm rot="0">
            <a:off x="1028700" y="947099"/>
            <a:ext cx="16230600" cy="912371"/>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COMPETENCIA(S) QUE DESARROLLAREMOS</a:t>
            </a:r>
          </a:p>
        </p:txBody>
      </p:sp>
      <p:grpSp>
        <p:nvGrpSpPr>
          <p:cNvPr name="Group 7" id="7"/>
          <p:cNvGrpSpPr/>
          <p:nvPr/>
        </p:nvGrpSpPr>
        <p:grpSpPr>
          <a:xfrm rot="0">
            <a:off x="18996546" y="5524224"/>
            <a:ext cx="4626464" cy="4576000"/>
            <a:chOff x="0" y="0"/>
            <a:chExt cx="6168619" cy="6101334"/>
          </a:xfrm>
        </p:grpSpPr>
        <p:sp>
          <p:nvSpPr>
            <p:cNvPr name="Freeform 8" id="8"/>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8"/>
              <a:stretch>
                <a:fillRect l="0" t="-22" r="0" b="-22"/>
              </a:stretch>
            </a:blipFill>
          </p:spPr>
        </p:sp>
      </p:grpSp>
      <p:sp>
        <p:nvSpPr>
          <p:cNvPr name="TextBox 9" id="9"/>
          <p:cNvSpPr txBox="true"/>
          <p:nvPr/>
        </p:nvSpPr>
        <p:spPr>
          <a:xfrm rot="0">
            <a:off x="19409207" y="5966508"/>
            <a:ext cx="3428400" cy="3829879"/>
          </a:xfrm>
          <a:prstGeom prst="rect">
            <a:avLst/>
          </a:prstGeom>
        </p:spPr>
        <p:txBody>
          <a:bodyPr anchor="t" rtlCol="false" tIns="0" lIns="0" bIns="0" rIns="0">
            <a:spAutoFit/>
          </a:bodyPr>
          <a:lstStyle/>
          <a:p>
            <a:pPr algn="ctr">
              <a:lnSpc>
                <a:spcPts val="3764"/>
              </a:lnSpc>
            </a:pPr>
            <a:r>
              <a:rPr lang="en-US" sz="2241">
                <a:solidFill>
                  <a:srgbClr val="131416"/>
                </a:solidFill>
                <a:latin typeface="Open Sans"/>
                <a:ea typeface="Open Sans"/>
                <a:cs typeface="Open Sans"/>
                <a:sym typeface="Open Sans"/>
              </a:rPr>
              <a:t>En el programa del curso encontrarás la competencia o competencias que debe cumplir el curso que estás impartiendo.</a:t>
            </a:r>
          </a:p>
          <a:p>
            <a:pPr algn="ctr">
              <a:lnSpc>
                <a:spcPts val="3764"/>
              </a:lnSpc>
            </a:pPr>
            <a:r>
              <a:rPr lang="en-US" sz="2241">
                <a:solidFill>
                  <a:srgbClr val="131416"/>
                </a:solidFill>
                <a:latin typeface="Open Sans"/>
                <a:ea typeface="Open Sans"/>
                <a:cs typeface="Open Sans"/>
                <a:sym typeface="Open Sans"/>
              </a:rPr>
              <a:t>Colocala(s) en este apartado </a:t>
            </a:r>
          </a:p>
        </p:txBody>
      </p:sp>
      <p:sp>
        <p:nvSpPr>
          <p:cNvPr name="TextBox 10" id="10"/>
          <p:cNvSpPr txBox="true"/>
          <p:nvPr/>
        </p:nvSpPr>
        <p:spPr>
          <a:xfrm rot="0">
            <a:off x="5040449" y="4269476"/>
            <a:ext cx="9287399" cy="1975275"/>
          </a:xfrm>
          <a:prstGeom prst="rect">
            <a:avLst/>
          </a:prstGeom>
        </p:spPr>
        <p:txBody>
          <a:bodyPr anchor="t" rtlCol="false" tIns="0" lIns="0" bIns="0" rIns="0">
            <a:spAutoFit/>
          </a:bodyPr>
          <a:lstStyle/>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p>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Administrar y afinar todos los aspectos de rendimiento de los sistemas operativos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2977715" y="-2836402"/>
            <a:ext cx="8314344" cy="8314344"/>
            <a:chOff x="0" y="0"/>
            <a:chExt cx="11085792" cy="11085792"/>
          </a:xfrm>
        </p:grpSpPr>
        <p:sp>
          <p:nvSpPr>
            <p:cNvPr name="Freeform 3" id="3"/>
            <p:cNvSpPr/>
            <p:nvPr/>
          </p:nvSpPr>
          <p:spPr>
            <a:xfrm flipH="false" flipV="false" rot="0">
              <a:off x="0" y="0"/>
              <a:ext cx="11085830" cy="11085830"/>
            </a:xfrm>
            <a:custGeom>
              <a:avLst/>
              <a:gdLst/>
              <a:ahLst/>
              <a:cxnLst/>
              <a:rect r="r" b="b" t="t" l="l"/>
              <a:pathLst>
                <a:path h="11085830" w="11085830">
                  <a:moveTo>
                    <a:pt x="0" y="0"/>
                  </a:moveTo>
                  <a:lnTo>
                    <a:pt x="11085830" y="0"/>
                  </a:lnTo>
                  <a:lnTo>
                    <a:pt x="11085830" y="11085830"/>
                  </a:lnTo>
                  <a:lnTo>
                    <a:pt x="0" y="11085830"/>
                  </a:lnTo>
                  <a:lnTo>
                    <a:pt x="0" y="0"/>
                  </a:lnTo>
                  <a:close/>
                </a:path>
              </a:pathLst>
            </a:custGeom>
            <a:blipFill>
              <a:blip r:embed="rId3"/>
              <a:stretch>
                <a:fillRect l="0" t="0" r="0" b="0"/>
              </a:stretch>
            </a:blipFill>
          </p:spPr>
        </p:sp>
      </p:grpSp>
      <p:grpSp>
        <p:nvGrpSpPr>
          <p:cNvPr name="Group 4" id="4"/>
          <p:cNvGrpSpPr/>
          <p:nvPr/>
        </p:nvGrpSpPr>
        <p:grpSpPr>
          <a:xfrm rot="0">
            <a:off x="12197410" y="5143500"/>
            <a:ext cx="8314344" cy="8314344"/>
            <a:chOff x="0" y="0"/>
            <a:chExt cx="11085792" cy="11085792"/>
          </a:xfrm>
        </p:grpSpPr>
        <p:sp>
          <p:nvSpPr>
            <p:cNvPr name="Freeform 5" id="5"/>
            <p:cNvSpPr/>
            <p:nvPr/>
          </p:nvSpPr>
          <p:spPr>
            <a:xfrm flipH="false" flipV="false" rot="0">
              <a:off x="0" y="0"/>
              <a:ext cx="11085830" cy="11085830"/>
            </a:xfrm>
            <a:custGeom>
              <a:avLst/>
              <a:gdLst/>
              <a:ahLst/>
              <a:cxnLst/>
              <a:rect r="r" b="b" t="t" l="l"/>
              <a:pathLst>
                <a:path h="11085830" w="11085830">
                  <a:moveTo>
                    <a:pt x="0" y="0"/>
                  </a:moveTo>
                  <a:lnTo>
                    <a:pt x="11085830" y="0"/>
                  </a:lnTo>
                  <a:lnTo>
                    <a:pt x="11085830" y="11085830"/>
                  </a:lnTo>
                  <a:lnTo>
                    <a:pt x="0" y="11085830"/>
                  </a:lnTo>
                  <a:lnTo>
                    <a:pt x="0" y="0"/>
                  </a:lnTo>
                  <a:close/>
                </a:path>
              </a:pathLst>
            </a:custGeom>
            <a:blipFill>
              <a:blip r:embed="rId3"/>
              <a:stretch>
                <a:fillRect l="0" t="0" r="0" b="0"/>
              </a:stretch>
            </a:blipFill>
          </p:spPr>
        </p:sp>
      </p:grpSp>
      <p:sp>
        <p:nvSpPr>
          <p:cNvPr name="TextBox 6" id="6"/>
          <p:cNvSpPr txBox="true"/>
          <p:nvPr/>
        </p:nvSpPr>
        <p:spPr>
          <a:xfrm rot="0">
            <a:off x="2467004" y="3781625"/>
            <a:ext cx="13353898" cy="3246225"/>
          </a:xfrm>
          <a:prstGeom prst="rect">
            <a:avLst/>
          </a:prstGeom>
        </p:spPr>
        <p:txBody>
          <a:bodyPr anchor="t" rtlCol="false" tIns="0" lIns="0" bIns="0" rIns="0">
            <a:spAutoFit/>
          </a:bodyPr>
          <a:lstStyle/>
          <a:p>
            <a:pPr algn="ctr">
              <a:lnSpc>
                <a:spcPts val="12583"/>
              </a:lnSpc>
            </a:pPr>
            <a:r>
              <a:rPr lang="en-US" sz="9800">
                <a:solidFill>
                  <a:srgbClr val="FFFFFF"/>
                </a:solidFill>
                <a:latin typeface="Arial"/>
                <a:ea typeface="Arial"/>
                <a:cs typeface="Arial"/>
                <a:sym typeface="Arial"/>
              </a:rPr>
              <a:t>GESTIÓN DE MEMORIA</a:t>
            </a:r>
          </a:p>
        </p:txBody>
      </p:sp>
      <p:grpSp>
        <p:nvGrpSpPr>
          <p:cNvPr name="Group 7" id="7"/>
          <p:cNvGrpSpPr/>
          <p:nvPr/>
        </p:nvGrpSpPr>
        <p:grpSpPr>
          <a:xfrm rot="5215980">
            <a:off x="14152388" y="6325724"/>
            <a:ext cx="5909462" cy="5865143"/>
            <a:chOff x="0" y="0"/>
            <a:chExt cx="7879283" cy="7820190"/>
          </a:xfrm>
        </p:grpSpPr>
        <p:sp>
          <p:nvSpPr>
            <p:cNvPr name="Freeform 8" id="8"/>
            <p:cNvSpPr/>
            <p:nvPr/>
          </p:nvSpPr>
          <p:spPr>
            <a:xfrm flipH="false" flipV="false" rot="0">
              <a:off x="0" y="0"/>
              <a:ext cx="7879334" cy="7820152"/>
            </a:xfrm>
            <a:custGeom>
              <a:avLst/>
              <a:gdLst/>
              <a:ahLst/>
              <a:cxnLst/>
              <a:rect r="r" b="b" t="t" l="l"/>
              <a:pathLst>
                <a:path h="7820152" w="7879334">
                  <a:moveTo>
                    <a:pt x="0" y="0"/>
                  </a:moveTo>
                  <a:lnTo>
                    <a:pt x="7879334" y="0"/>
                  </a:lnTo>
                  <a:lnTo>
                    <a:pt x="7879334" y="7820152"/>
                  </a:lnTo>
                  <a:lnTo>
                    <a:pt x="0" y="7820152"/>
                  </a:lnTo>
                  <a:lnTo>
                    <a:pt x="0" y="0"/>
                  </a:lnTo>
                  <a:close/>
                </a:path>
              </a:pathLst>
            </a:custGeom>
            <a:blipFill>
              <a:blip r:embed="rId4"/>
              <a:stretch>
                <a:fillRect l="0" t="-14" r="0" b="-14"/>
              </a:stretch>
            </a:blipFill>
          </p:spPr>
        </p:sp>
      </p:grpSp>
      <p:grpSp>
        <p:nvGrpSpPr>
          <p:cNvPr name="Group 9" id="9"/>
          <p:cNvGrpSpPr/>
          <p:nvPr/>
        </p:nvGrpSpPr>
        <p:grpSpPr>
          <a:xfrm rot="0">
            <a:off x="5261791" y="3040551"/>
            <a:ext cx="7764409" cy="618801"/>
            <a:chOff x="0" y="0"/>
            <a:chExt cx="10352545" cy="825068"/>
          </a:xfrm>
        </p:grpSpPr>
        <p:sp>
          <p:nvSpPr>
            <p:cNvPr name="Freeform 10" id="10"/>
            <p:cNvSpPr/>
            <p:nvPr/>
          </p:nvSpPr>
          <p:spPr>
            <a:xfrm flipH="false" flipV="false" rot="0">
              <a:off x="0" y="0"/>
              <a:ext cx="10352532" cy="824992"/>
            </a:xfrm>
            <a:custGeom>
              <a:avLst/>
              <a:gdLst/>
              <a:ahLst/>
              <a:cxnLst/>
              <a:rect r="r" b="b" t="t" l="l"/>
              <a:pathLst>
                <a:path h="824992" w="10352532">
                  <a:moveTo>
                    <a:pt x="9940036" y="0"/>
                  </a:moveTo>
                  <a:cubicBezTo>
                    <a:pt x="10167874" y="0"/>
                    <a:pt x="10352532" y="184658"/>
                    <a:pt x="10352532" y="412496"/>
                  </a:cubicBezTo>
                  <a:cubicBezTo>
                    <a:pt x="10352532" y="640334"/>
                    <a:pt x="10167874" y="824992"/>
                    <a:pt x="9940036"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11" id="11"/>
          <p:cNvGrpSpPr/>
          <p:nvPr/>
        </p:nvGrpSpPr>
        <p:grpSpPr>
          <a:xfrm rot="0">
            <a:off x="5261791" y="2997041"/>
            <a:ext cx="7764409" cy="662311"/>
            <a:chOff x="0" y="0"/>
            <a:chExt cx="10352545" cy="883082"/>
          </a:xfrm>
        </p:grpSpPr>
        <p:sp>
          <p:nvSpPr>
            <p:cNvPr name="Freeform 12" id="12"/>
            <p:cNvSpPr/>
            <p:nvPr/>
          </p:nvSpPr>
          <p:spPr>
            <a:xfrm flipH="false" flipV="false" rot="0">
              <a:off x="0" y="0"/>
              <a:ext cx="10352548" cy="883087"/>
            </a:xfrm>
            <a:custGeom>
              <a:avLst/>
              <a:gdLst/>
              <a:ahLst/>
              <a:cxnLst/>
              <a:rect r="r" b="b" t="t" l="l"/>
              <a:pathLst>
                <a:path h="883087" w="10352548">
                  <a:moveTo>
                    <a:pt x="0" y="0"/>
                  </a:moveTo>
                  <a:lnTo>
                    <a:pt x="10352548" y="0"/>
                  </a:lnTo>
                  <a:lnTo>
                    <a:pt x="10352548" y="883087"/>
                  </a:lnTo>
                  <a:lnTo>
                    <a:pt x="0" y="883087"/>
                  </a:lnTo>
                  <a:close/>
                </a:path>
              </a:pathLst>
            </a:custGeom>
            <a:blipFill>
              <a:blip r:embed="rId5">
                <a:alphaModFix amt="0"/>
              </a:blip>
              <a:stretch>
                <a:fillRect l="0" t="-178426" r="0" b="-178425"/>
              </a:stretch>
            </a:blipFill>
          </p:spPr>
        </p:sp>
        <p:sp>
          <p:nvSpPr>
            <p:cNvPr name="TextBox 13" id="13"/>
            <p:cNvSpPr txBox="true"/>
            <p:nvPr/>
          </p:nvSpPr>
          <p:spPr>
            <a:xfrm>
              <a:off x="0" y="-85725"/>
              <a:ext cx="10352545" cy="968807"/>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LABORATORIO SISTEMAS OPERATIVOS 2</a:t>
              </a:r>
            </a:p>
          </p:txBody>
        </p:sp>
      </p:grpSp>
      <p:grpSp>
        <p:nvGrpSpPr>
          <p:cNvPr name="Group 14" id="14"/>
          <p:cNvGrpSpPr/>
          <p:nvPr/>
        </p:nvGrpSpPr>
        <p:grpSpPr>
          <a:xfrm rot="-9058740">
            <a:off x="-1775270" y="-1771183"/>
            <a:ext cx="5909462" cy="5865143"/>
            <a:chOff x="0" y="0"/>
            <a:chExt cx="7879283" cy="7820190"/>
          </a:xfrm>
        </p:grpSpPr>
        <p:sp>
          <p:nvSpPr>
            <p:cNvPr name="Freeform 15" id="15"/>
            <p:cNvSpPr/>
            <p:nvPr/>
          </p:nvSpPr>
          <p:spPr>
            <a:xfrm flipH="false" flipV="false" rot="0">
              <a:off x="0" y="0"/>
              <a:ext cx="7879334" cy="7820152"/>
            </a:xfrm>
            <a:custGeom>
              <a:avLst/>
              <a:gdLst/>
              <a:ahLst/>
              <a:cxnLst/>
              <a:rect r="r" b="b" t="t" l="l"/>
              <a:pathLst>
                <a:path h="7820152" w="7879334">
                  <a:moveTo>
                    <a:pt x="0" y="0"/>
                  </a:moveTo>
                  <a:lnTo>
                    <a:pt x="7879334" y="0"/>
                  </a:lnTo>
                  <a:lnTo>
                    <a:pt x="7879334" y="7820152"/>
                  </a:lnTo>
                  <a:lnTo>
                    <a:pt x="0" y="7820152"/>
                  </a:lnTo>
                  <a:lnTo>
                    <a:pt x="0" y="0"/>
                  </a:lnTo>
                  <a:close/>
                </a:path>
              </a:pathLst>
            </a:custGeom>
            <a:blipFill>
              <a:blip r:embed="rId4"/>
              <a:stretch>
                <a:fillRect l="0" t="-14" r="0" b="-14"/>
              </a:stretch>
            </a:blipFill>
          </p:spPr>
        </p:sp>
      </p:grpSp>
      <p:sp>
        <p:nvSpPr>
          <p:cNvPr name="TextBox 16" id="16"/>
          <p:cNvSpPr txBox="true"/>
          <p:nvPr/>
        </p:nvSpPr>
        <p:spPr>
          <a:xfrm rot="0">
            <a:off x="91421" y="72371"/>
            <a:ext cx="2817152" cy="236401"/>
          </a:xfrm>
          <a:prstGeom prst="rect">
            <a:avLst/>
          </a:prstGeom>
        </p:spPr>
        <p:txBody>
          <a:bodyPr anchor="t" rtlCol="false" tIns="0" lIns="0" bIns="0" rIns="0">
            <a:spAutoFit/>
          </a:bodyPr>
          <a:lstStyle/>
          <a:p>
            <a:pPr algn="l">
              <a:lnSpc>
                <a:spcPts val="1679"/>
              </a:lnSpc>
            </a:pPr>
            <a:r>
              <a:rPr lang="en-US" sz="1399">
                <a:solidFill>
                  <a:srgbClr val="000000"/>
                </a:solidFill>
                <a:latin typeface="Arial"/>
                <a:ea typeface="Arial"/>
                <a:cs typeface="Arial"/>
                <a:sym typeface="Arial"/>
              </a:rPr>
              <a:t>3. Administracion de Memoria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352588" y="4050744"/>
            <a:ext cx="8323783" cy="5207556"/>
          </a:xfrm>
          <a:custGeom>
            <a:avLst/>
            <a:gdLst/>
            <a:ahLst/>
            <a:cxnLst/>
            <a:rect r="r" b="b" t="t" l="l"/>
            <a:pathLst>
              <a:path h="5207556" w="8323783">
                <a:moveTo>
                  <a:pt x="0" y="0"/>
                </a:moveTo>
                <a:lnTo>
                  <a:pt x="8323783" y="0"/>
                </a:lnTo>
                <a:lnTo>
                  <a:pt x="8323783" y="5207556"/>
                </a:lnTo>
                <a:lnTo>
                  <a:pt x="0" y="5207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863414" y="4983642"/>
            <a:ext cx="7302122" cy="3450250"/>
            <a:chOff x="0" y="0"/>
            <a:chExt cx="9736163" cy="4600334"/>
          </a:xfrm>
        </p:grpSpPr>
        <p:sp>
          <p:nvSpPr>
            <p:cNvPr name="Freeform 6" id="6"/>
            <p:cNvSpPr/>
            <p:nvPr/>
          </p:nvSpPr>
          <p:spPr>
            <a:xfrm flipH="false" flipV="false" rot="0">
              <a:off x="0" y="0"/>
              <a:ext cx="9736201" cy="4600321"/>
            </a:xfrm>
            <a:custGeom>
              <a:avLst/>
              <a:gdLst/>
              <a:ahLst/>
              <a:cxnLst/>
              <a:rect r="r" b="b" t="t" l="l"/>
              <a:pathLst>
                <a:path h="4600321" w="9736201">
                  <a:moveTo>
                    <a:pt x="0" y="0"/>
                  </a:moveTo>
                  <a:lnTo>
                    <a:pt x="9736201" y="0"/>
                  </a:lnTo>
                  <a:lnTo>
                    <a:pt x="9736201" y="4600321"/>
                  </a:lnTo>
                  <a:lnTo>
                    <a:pt x="0" y="4600321"/>
                  </a:lnTo>
                  <a:lnTo>
                    <a:pt x="0" y="0"/>
                  </a:lnTo>
                  <a:close/>
                </a:path>
              </a:pathLst>
            </a:custGeom>
            <a:blipFill>
              <a:blip r:embed="rId6"/>
              <a:stretch>
                <a:fillRect l="0" t="-51" r="0" b="-51"/>
              </a:stretch>
            </a:blipFill>
          </p:spPr>
        </p:sp>
      </p:grpSp>
      <p:sp>
        <p:nvSpPr>
          <p:cNvPr name="Freeform 7" id="7"/>
          <p:cNvSpPr/>
          <p:nvPr/>
        </p:nvSpPr>
        <p:spPr>
          <a:xfrm flipH="false" flipV="false" rot="0">
            <a:off x="9905105" y="1189834"/>
            <a:ext cx="7212901" cy="8068466"/>
          </a:xfrm>
          <a:custGeom>
            <a:avLst/>
            <a:gdLst/>
            <a:ahLst/>
            <a:cxnLst/>
            <a:rect r="r" b="b" t="t" l="l"/>
            <a:pathLst>
              <a:path h="8068466" w="7212901">
                <a:moveTo>
                  <a:pt x="0" y="0"/>
                </a:moveTo>
                <a:lnTo>
                  <a:pt x="7212901" y="0"/>
                </a:lnTo>
                <a:lnTo>
                  <a:pt x="7212901" y="8068466"/>
                </a:lnTo>
                <a:lnTo>
                  <a:pt x="0" y="80684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0330567" y="1975361"/>
            <a:ext cx="6361986" cy="6501127"/>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El manejo de la memoria es el proceso de controlar y coordinar la memoria principal de una computadora. </a:t>
            </a:r>
          </a:p>
          <a:p>
            <a:pPr algn="l">
              <a:lnSpc>
                <a:spcPts val="2183"/>
              </a:lnSpc>
            </a:pPr>
          </a:p>
          <a:p>
            <a:pPr algn="l">
              <a:lnSpc>
                <a:spcPts val="4056"/>
              </a:lnSpc>
            </a:pPr>
            <a:r>
              <a:rPr lang="en-US" sz="2600">
                <a:solidFill>
                  <a:srgbClr val="FFFFFF"/>
                </a:solidFill>
                <a:latin typeface="Montserrat"/>
                <a:ea typeface="Montserrat"/>
                <a:cs typeface="Montserrat"/>
                <a:sym typeface="Montserrat"/>
              </a:rPr>
              <a:t>Garantiza que los bloques de espacio de memoria se administren y asignen adecuadamente para que el sistema operativo (SO), las aplicaciones y otros procesos en ejecución tengan la memoria que necesitan para llevar a cabo sus operaciones.</a:t>
            </a:r>
          </a:p>
          <a:p>
            <a:pPr algn="l">
              <a:lnSpc>
                <a:spcPts val="2183"/>
              </a:lnSpc>
            </a:pPr>
          </a:p>
        </p:txBody>
      </p:sp>
      <p:sp>
        <p:nvSpPr>
          <p:cNvPr name="TextBox 9" id="9"/>
          <p:cNvSpPr txBox="true"/>
          <p:nvPr/>
        </p:nvSpPr>
        <p:spPr>
          <a:xfrm rot="0">
            <a:off x="1863414" y="1334519"/>
            <a:ext cx="7280586" cy="2543051"/>
          </a:xfrm>
          <a:prstGeom prst="rect">
            <a:avLst/>
          </a:prstGeom>
        </p:spPr>
        <p:txBody>
          <a:bodyPr anchor="t" rtlCol="false" tIns="0" lIns="0" bIns="0" rIns="0">
            <a:spAutoFit/>
          </a:bodyPr>
          <a:lstStyle/>
          <a:p>
            <a:pPr algn="ctr">
              <a:lnSpc>
                <a:spcPts val="11033"/>
              </a:lnSpc>
            </a:pPr>
            <a:r>
              <a:rPr lang="en-US" sz="7598">
                <a:solidFill>
                  <a:srgbClr val="FFFFFF"/>
                </a:solidFill>
                <a:latin typeface="Arial"/>
                <a:ea typeface="Arial"/>
                <a:cs typeface="Arial"/>
                <a:sym typeface="Arial"/>
              </a:rPr>
              <a:t>MANEJO DE MEMORIA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372362" y="4050744"/>
            <a:ext cx="7897692" cy="5207556"/>
          </a:xfrm>
          <a:custGeom>
            <a:avLst/>
            <a:gdLst/>
            <a:ahLst/>
            <a:cxnLst/>
            <a:rect r="r" b="b" t="t" l="l"/>
            <a:pathLst>
              <a:path h="5207556" w="7897692">
                <a:moveTo>
                  <a:pt x="0" y="0"/>
                </a:moveTo>
                <a:lnTo>
                  <a:pt x="7897692" y="0"/>
                </a:lnTo>
                <a:lnTo>
                  <a:pt x="7897692" y="5207556"/>
                </a:lnTo>
                <a:lnTo>
                  <a:pt x="0" y="5207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593685" y="920201"/>
            <a:ext cx="7665615" cy="8338099"/>
          </a:xfrm>
          <a:custGeom>
            <a:avLst/>
            <a:gdLst/>
            <a:ahLst/>
            <a:cxnLst/>
            <a:rect r="r" b="b" t="t" l="l"/>
            <a:pathLst>
              <a:path h="8338099" w="7665615">
                <a:moveTo>
                  <a:pt x="0" y="0"/>
                </a:moveTo>
                <a:lnTo>
                  <a:pt x="7665615" y="0"/>
                </a:lnTo>
                <a:lnTo>
                  <a:pt x="7665615" y="8338099"/>
                </a:lnTo>
                <a:lnTo>
                  <a:pt x="0" y="8338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034321" y="4601051"/>
            <a:ext cx="6573784" cy="4215441"/>
            <a:chOff x="0" y="0"/>
            <a:chExt cx="8765045" cy="5620588"/>
          </a:xfrm>
        </p:grpSpPr>
        <p:sp>
          <p:nvSpPr>
            <p:cNvPr name="Freeform 7" id="7"/>
            <p:cNvSpPr/>
            <p:nvPr/>
          </p:nvSpPr>
          <p:spPr>
            <a:xfrm flipH="false" flipV="false" rot="0">
              <a:off x="0" y="0"/>
              <a:ext cx="8765032" cy="5620639"/>
            </a:xfrm>
            <a:custGeom>
              <a:avLst/>
              <a:gdLst/>
              <a:ahLst/>
              <a:cxnLst/>
              <a:rect r="r" b="b" t="t" l="l"/>
              <a:pathLst>
                <a:path h="5620639" w="8765032">
                  <a:moveTo>
                    <a:pt x="0" y="0"/>
                  </a:moveTo>
                  <a:lnTo>
                    <a:pt x="8765032" y="0"/>
                  </a:lnTo>
                  <a:lnTo>
                    <a:pt x="8765032" y="5620639"/>
                  </a:lnTo>
                  <a:lnTo>
                    <a:pt x="0" y="5620639"/>
                  </a:lnTo>
                  <a:lnTo>
                    <a:pt x="0" y="0"/>
                  </a:lnTo>
                  <a:close/>
                </a:path>
              </a:pathLst>
            </a:custGeom>
            <a:blipFill>
              <a:blip r:embed="rId8"/>
              <a:stretch>
                <a:fillRect l="0" t="-36" r="0" b="-35"/>
              </a:stretch>
            </a:blipFill>
          </p:spPr>
        </p:sp>
      </p:grpSp>
      <p:sp>
        <p:nvSpPr>
          <p:cNvPr name="TextBox 8" id="8"/>
          <p:cNvSpPr txBox="true"/>
          <p:nvPr/>
        </p:nvSpPr>
        <p:spPr>
          <a:xfrm rot="0">
            <a:off x="10019147" y="1447924"/>
            <a:ext cx="6742424" cy="7026278"/>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Es una dirección virtual generada por la CPU mientras se ejecuta un programa. Se la denomina dirección virtual porque no existe físicamente. Usando esta dirección, la CPU accede a la dirección real o a la dirección física dentro de la memoria, y los datos se obtienen desde allí.</a:t>
            </a:r>
          </a:p>
          <a:p>
            <a:pPr algn="l">
              <a:lnSpc>
                <a:spcPts val="2183"/>
              </a:lnSpc>
            </a:pPr>
          </a:p>
          <a:p>
            <a:pPr algn="l">
              <a:lnSpc>
                <a:spcPts val="3899"/>
              </a:lnSpc>
            </a:pPr>
            <a:r>
              <a:rPr lang="en-US" sz="2499">
                <a:solidFill>
                  <a:srgbClr val="FFFFFF"/>
                </a:solidFill>
                <a:latin typeface="Montserrat"/>
                <a:ea typeface="Montserrat"/>
                <a:cs typeface="Montserrat"/>
                <a:sym typeface="Montserrat"/>
              </a:rPr>
              <a:t>El dispositivo de hardware llamado Unidad de administración de memoria (MMU) se utiliza para asignar esta dirección lógica a la dirección física. El conjunto de todas las direcciones lógicas generadas por la CPU para un programa se denomina espacio de direcciones lógicas</a:t>
            </a:r>
          </a:p>
        </p:txBody>
      </p:sp>
      <p:sp>
        <p:nvSpPr>
          <p:cNvPr name="TextBox 9" id="9"/>
          <p:cNvSpPr txBox="true"/>
          <p:nvPr/>
        </p:nvSpPr>
        <p:spPr>
          <a:xfrm rot="0">
            <a:off x="1365552" y="1256147"/>
            <a:ext cx="7904512" cy="2507999"/>
          </a:xfrm>
          <a:prstGeom prst="rect">
            <a:avLst/>
          </a:prstGeom>
        </p:spPr>
        <p:txBody>
          <a:bodyPr anchor="t" rtlCol="false" tIns="0" lIns="0" bIns="0" rIns="0">
            <a:spAutoFit/>
          </a:bodyPr>
          <a:lstStyle/>
          <a:p>
            <a:pPr algn="ctr">
              <a:lnSpc>
                <a:spcPts val="7550"/>
              </a:lnSpc>
            </a:pPr>
            <a:r>
              <a:rPr lang="en-US" sz="5200">
                <a:solidFill>
                  <a:srgbClr val="FFFFFF"/>
                </a:solidFill>
                <a:latin typeface="Arial"/>
                <a:ea typeface="Arial"/>
                <a:cs typeface="Arial"/>
                <a:sym typeface="Arial"/>
              </a:rPr>
              <a:t>ESPACIO DE DIRECCIONES LÓGICAS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9307039" y="3271361"/>
            <a:ext cx="7897692" cy="5545626"/>
          </a:xfrm>
          <a:custGeom>
            <a:avLst/>
            <a:gdLst/>
            <a:ahLst/>
            <a:cxnLst/>
            <a:rect r="r" b="b" t="t" l="l"/>
            <a:pathLst>
              <a:path h="5545626" w="7897692">
                <a:moveTo>
                  <a:pt x="0" y="0"/>
                </a:moveTo>
                <a:lnTo>
                  <a:pt x="7897692" y="0"/>
                </a:lnTo>
                <a:lnTo>
                  <a:pt x="7897692" y="5545627"/>
                </a:lnTo>
                <a:lnTo>
                  <a:pt x="0" y="55456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13358" y="3271352"/>
            <a:ext cx="7665663" cy="6203509"/>
          </a:xfrm>
          <a:custGeom>
            <a:avLst/>
            <a:gdLst/>
            <a:ahLst/>
            <a:cxnLst/>
            <a:rect r="r" b="b" t="t" l="l"/>
            <a:pathLst>
              <a:path h="6203509" w="7665663">
                <a:moveTo>
                  <a:pt x="0" y="0"/>
                </a:moveTo>
                <a:lnTo>
                  <a:pt x="7665663" y="0"/>
                </a:lnTo>
                <a:lnTo>
                  <a:pt x="7665663" y="6203508"/>
                </a:lnTo>
                <a:lnTo>
                  <a:pt x="0" y="62035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9877682" y="4159739"/>
            <a:ext cx="6573784" cy="4215441"/>
            <a:chOff x="0" y="0"/>
            <a:chExt cx="8765045" cy="5620588"/>
          </a:xfrm>
        </p:grpSpPr>
        <p:sp>
          <p:nvSpPr>
            <p:cNvPr name="Freeform 7" id="7"/>
            <p:cNvSpPr/>
            <p:nvPr/>
          </p:nvSpPr>
          <p:spPr>
            <a:xfrm flipH="false" flipV="false" rot="0">
              <a:off x="0" y="0"/>
              <a:ext cx="8765032" cy="5620639"/>
            </a:xfrm>
            <a:custGeom>
              <a:avLst/>
              <a:gdLst/>
              <a:ahLst/>
              <a:cxnLst/>
              <a:rect r="r" b="b" t="t" l="l"/>
              <a:pathLst>
                <a:path h="5620639" w="8765032">
                  <a:moveTo>
                    <a:pt x="0" y="0"/>
                  </a:moveTo>
                  <a:lnTo>
                    <a:pt x="8765032" y="0"/>
                  </a:lnTo>
                  <a:lnTo>
                    <a:pt x="8765032" y="5620639"/>
                  </a:lnTo>
                  <a:lnTo>
                    <a:pt x="0" y="5620639"/>
                  </a:lnTo>
                  <a:lnTo>
                    <a:pt x="0" y="0"/>
                  </a:lnTo>
                  <a:close/>
                </a:path>
              </a:pathLst>
            </a:custGeom>
            <a:blipFill>
              <a:blip r:embed="rId8"/>
              <a:stretch>
                <a:fillRect l="0" t="-36" r="0" b="-35"/>
              </a:stretch>
            </a:blipFill>
          </p:spPr>
        </p:sp>
      </p:grpSp>
      <p:sp>
        <p:nvSpPr>
          <p:cNvPr name="TextBox 8" id="8"/>
          <p:cNvSpPr txBox="true"/>
          <p:nvPr/>
        </p:nvSpPr>
        <p:spPr>
          <a:xfrm rot="0">
            <a:off x="1544869" y="3806352"/>
            <a:ext cx="6742424" cy="4568828"/>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La dirección física es la dirección real de los datos dentro de la memoria. La dirección lógica es una dirección virtual y el programa necesita memoria física para su ejecución. </a:t>
            </a:r>
          </a:p>
          <a:p>
            <a:pPr algn="l">
              <a:lnSpc>
                <a:spcPts val="2183"/>
              </a:lnSpc>
            </a:pPr>
          </a:p>
          <a:p>
            <a:pPr algn="l">
              <a:lnSpc>
                <a:spcPts val="3899"/>
              </a:lnSpc>
            </a:pPr>
            <a:r>
              <a:rPr lang="en-US" sz="2499">
                <a:solidFill>
                  <a:srgbClr val="FFFFFF"/>
                </a:solidFill>
                <a:latin typeface="Montserrat"/>
                <a:ea typeface="Montserrat"/>
                <a:cs typeface="Montserrat"/>
                <a:sym typeface="Montserrat"/>
              </a:rPr>
              <a:t>El usuario nunca trata con la Dirección Física. El programa de usuario genera la dirección lógica y la Unidad de gestión de memoria (MMU) lo asigna a la dirección física.</a:t>
            </a:r>
          </a:p>
        </p:txBody>
      </p:sp>
      <p:sp>
        <p:nvSpPr>
          <p:cNvPr name="TextBox 9" id="9"/>
          <p:cNvSpPr txBox="true"/>
          <p:nvPr/>
        </p:nvSpPr>
        <p:spPr>
          <a:xfrm rot="0">
            <a:off x="3120838" y="1006621"/>
            <a:ext cx="11754602" cy="1998821"/>
          </a:xfrm>
          <a:prstGeom prst="rect">
            <a:avLst/>
          </a:prstGeom>
        </p:spPr>
        <p:txBody>
          <a:bodyPr anchor="t" rtlCol="false" tIns="0" lIns="0" bIns="0" rIns="0">
            <a:spAutoFit/>
          </a:bodyPr>
          <a:lstStyle/>
          <a:p>
            <a:pPr algn="ctr">
              <a:lnSpc>
                <a:spcPts val="7840"/>
              </a:lnSpc>
            </a:pPr>
            <a:r>
              <a:rPr lang="en-US" sz="5400">
                <a:solidFill>
                  <a:srgbClr val="FFFFFF"/>
                </a:solidFill>
                <a:latin typeface="Arial"/>
                <a:ea typeface="Arial"/>
                <a:cs typeface="Arial"/>
                <a:sym typeface="Arial"/>
              </a:rPr>
              <a:t>ESPACIO DE DIRECCIONES FÍSICAS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4434268" y="4050744"/>
            <a:ext cx="9419453" cy="5207556"/>
          </a:xfrm>
          <a:custGeom>
            <a:avLst/>
            <a:gdLst/>
            <a:ahLst/>
            <a:cxnLst/>
            <a:rect r="r" b="b" t="t" l="l"/>
            <a:pathLst>
              <a:path h="5207556" w="9419453">
                <a:moveTo>
                  <a:pt x="0" y="0"/>
                </a:moveTo>
                <a:lnTo>
                  <a:pt x="9419454" y="0"/>
                </a:lnTo>
                <a:lnTo>
                  <a:pt x="9419454" y="5207556"/>
                </a:lnTo>
                <a:lnTo>
                  <a:pt x="0" y="5207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68745" y="1970580"/>
            <a:ext cx="15350509" cy="1931479"/>
          </a:xfrm>
          <a:custGeom>
            <a:avLst/>
            <a:gdLst/>
            <a:ahLst/>
            <a:cxnLst/>
            <a:rect r="r" b="b" t="t" l="l"/>
            <a:pathLst>
              <a:path h="1931479" w="15350509">
                <a:moveTo>
                  <a:pt x="0" y="0"/>
                </a:moveTo>
                <a:lnTo>
                  <a:pt x="15350510" y="0"/>
                </a:lnTo>
                <a:lnTo>
                  <a:pt x="15350510" y="1931479"/>
                </a:lnTo>
                <a:lnTo>
                  <a:pt x="0" y="19314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4935360" y="4757014"/>
            <a:ext cx="8417281" cy="3903516"/>
            <a:chOff x="0" y="0"/>
            <a:chExt cx="11223041" cy="5204689"/>
          </a:xfrm>
        </p:grpSpPr>
        <p:sp>
          <p:nvSpPr>
            <p:cNvPr name="Freeform 7" id="7"/>
            <p:cNvSpPr/>
            <p:nvPr/>
          </p:nvSpPr>
          <p:spPr>
            <a:xfrm flipH="false" flipV="false" rot="0">
              <a:off x="0" y="0"/>
              <a:ext cx="11222990" cy="5204714"/>
            </a:xfrm>
            <a:custGeom>
              <a:avLst/>
              <a:gdLst/>
              <a:ahLst/>
              <a:cxnLst/>
              <a:rect r="r" b="b" t="t" l="l"/>
              <a:pathLst>
                <a:path h="5204714" w="11222990">
                  <a:moveTo>
                    <a:pt x="0" y="0"/>
                  </a:moveTo>
                  <a:lnTo>
                    <a:pt x="11222990" y="0"/>
                  </a:lnTo>
                  <a:lnTo>
                    <a:pt x="11222990" y="5204714"/>
                  </a:lnTo>
                  <a:lnTo>
                    <a:pt x="0" y="5204714"/>
                  </a:lnTo>
                  <a:lnTo>
                    <a:pt x="0" y="0"/>
                  </a:lnTo>
                  <a:close/>
                </a:path>
              </a:pathLst>
            </a:custGeom>
            <a:blipFill>
              <a:blip r:embed="rId8"/>
              <a:stretch>
                <a:fillRect l="-9" t="0" r="-10" b="0"/>
              </a:stretch>
            </a:blipFill>
          </p:spPr>
        </p:sp>
      </p:grpSp>
      <p:sp>
        <p:nvSpPr>
          <p:cNvPr name="TextBox 8" id="8"/>
          <p:cNvSpPr txBox="true"/>
          <p:nvPr/>
        </p:nvSpPr>
        <p:spPr>
          <a:xfrm rot="0">
            <a:off x="2227602" y="2296830"/>
            <a:ext cx="14564277" cy="1292228"/>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La asignación de memoria es el proceso de reservar espacio de computadora virtual o físico para un propósito específico (por ejemplo, para que se ejecuten programas y servicios de computadora). </a:t>
            </a:r>
          </a:p>
        </p:txBody>
      </p:sp>
      <p:sp>
        <p:nvSpPr>
          <p:cNvPr name="TextBox 9" id="9"/>
          <p:cNvSpPr txBox="true"/>
          <p:nvPr/>
        </p:nvSpPr>
        <p:spPr>
          <a:xfrm rot="0">
            <a:off x="2117788" y="865956"/>
            <a:ext cx="14052423" cy="964816"/>
          </a:xfrm>
          <a:prstGeom prst="rect">
            <a:avLst/>
          </a:prstGeom>
        </p:spPr>
        <p:txBody>
          <a:bodyPr anchor="t" rtlCol="false" tIns="0" lIns="0" bIns="0" rIns="0">
            <a:spAutoFit/>
          </a:bodyPr>
          <a:lstStyle/>
          <a:p>
            <a:pPr algn="ctr">
              <a:lnSpc>
                <a:spcPts val="7695"/>
              </a:lnSpc>
            </a:pPr>
            <a:r>
              <a:rPr lang="en-US" sz="5299">
                <a:solidFill>
                  <a:srgbClr val="FFFFFF"/>
                </a:solidFill>
                <a:latin typeface="Arial"/>
                <a:ea typeface="Arial"/>
                <a:cs typeface="Arial"/>
                <a:sym typeface="Arial"/>
              </a:rPr>
              <a:t>ASIGNACIÓN DE MEMORIA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236840" y="920201"/>
            <a:ext cx="5872553" cy="8338099"/>
          </a:xfrm>
          <a:custGeom>
            <a:avLst/>
            <a:gdLst/>
            <a:ahLst/>
            <a:cxnLst/>
            <a:rect r="r" b="b" t="t" l="l"/>
            <a:pathLst>
              <a:path h="8338099" w="5872553">
                <a:moveTo>
                  <a:pt x="0" y="0"/>
                </a:moveTo>
                <a:lnTo>
                  <a:pt x="5872553" y="0"/>
                </a:lnTo>
                <a:lnTo>
                  <a:pt x="5872553" y="8338099"/>
                </a:lnTo>
                <a:lnTo>
                  <a:pt x="0" y="83380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510301" y="2731103"/>
            <a:ext cx="9042444" cy="6999475"/>
          </a:xfrm>
          <a:custGeom>
            <a:avLst/>
            <a:gdLst/>
            <a:ahLst/>
            <a:cxnLst/>
            <a:rect r="r" b="b" t="t" l="l"/>
            <a:pathLst>
              <a:path h="6999475" w="9042444">
                <a:moveTo>
                  <a:pt x="0" y="0"/>
                </a:moveTo>
                <a:lnTo>
                  <a:pt x="9042444" y="0"/>
                </a:lnTo>
                <a:lnTo>
                  <a:pt x="9042444" y="6999475"/>
                </a:lnTo>
                <a:lnTo>
                  <a:pt x="0" y="69994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802263" y="1544479"/>
            <a:ext cx="4741707" cy="7198043"/>
            <a:chOff x="0" y="0"/>
            <a:chExt cx="6322276" cy="9597390"/>
          </a:xfrm>
        </p:grpSpPr>
        <p:sp>
          <p:nvSpPr>
            <p:cNvPr name="Freeform 7" id="7"/>
            <p:cNvSpPr/>
            <p:nvPr/>
          </p:nvSpPr>
          <p:spPr>
            <a:xfrm flipH="false" flipV="false" rot="0">
              <a:off x="0" y="0"/>
              <a:ext cx="6322314" cy="9597390"/>
            </a:xfrm>
            <a:custGeom>
              <a:avLst/>
              <a:gdLst/>
              <a:ahLst/>
              <a:cxnLst/>
              <a:rect r="r" b="b" t="t" l="l"/>
              <a:pathLst>
                <a:path h="9597390" w="6322314">
                  <a:moveTo>
                    <a:pt x="0" y="0"/>
                  </a:moveTo>
                  <a:lnTo>
                    <a:pt x="6322314" y="0"/>
                  </a:lnTo>
                  <a:lnTo>
                    <a:pt x="6322314" y="9597390"/>
                  </a:lnTo>
                  <a:lnTo>
                    <a:pt x="0" y="9597390"/>
                  </a:lnTo>
                  <a:lnTo>
                    <a:pt x="0" y="0"/>
                  </a:lnTo>
                  <a:close/>
                </a:path>
              </a:pathLst>
            </a:custGeom>
            <a:blipFill>
              <a:blip r:embed="rId8"/>
              <a:stretch>
                <a:fillRect l="0" t="-8" r="0" b="-8"/>
              </a:stretch>
            </a:blipFill>
          </p:spPr>
        </p:sp>
      </p:grpSp>
      <p:sp>
        <p:nvSpPr>
          <p:cNvPr name="TextBox 8" id="8"/>
          <p:cNvSpPr txBox="true"/>
          <p:nvPr/>
        </p:nvSpPr>
        <p:spPr>
          <a:xfrm rot="0">
            <a:off x="8021145" y="3388928"/>
            <a:ext cx="8020698" cy="521525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En la asignación de memoria estática, la memoria se asigna en tiempo de compilación y el tamaño de la memoria se fija durante la ejecución del programa. </a:t>
            </a:r>
          </a:p>
          <a:p>
            <a:pPr algn="l">
              <a:lnSpc>
                <a:spcPts val="2183"/>
              </a:lnSpc>
            </a:pPr>
          </a:p>
          <a:p>
            <a:pPr algn="l">
              <a:lnSpc>
                <a:spcPts val="4056"/>
              </a:lnSpc>
            </a:pPr>
            <a:r>
              <a:rPr lang="en-US" sz="2600">
                <a:solidFill>
                  <a:srgbClr val="FFFFFF"/>
                </a:solidFill>
                <a:latin typeface="Montserrat"/>
                <a:ea typeface="Montserrat"/>
                <a:cs typeface="Montserrat"/>
                <a:sym typeface="Montserrat"/>
              </a:rPr>
              <a:t>El compilador maneja automáticamente la asignación y desasignación de memoria en el stack.</a:t>
            </a:r>
          </a:p>
          <a:p>
            <a:pPr algn="l">
              <a:lnSpc>
                <a:spcPts val="2183"/>
              </a:lnSpc>
            </a:pPr>
          </a:p>
          <a:p>
            <a:pPr algn="l">
              <a:lnSpc>
                <a:spcPts val="4056"/>
              </a:lnSpc>
            </a:pPr>
            <a:r>
              <a:rPr lang="en-US" sz="2600">
                <a:solidFill>
                  <a:srgbClr val="FFFFFF"/>
                </a:solidFill>
                <a:latin typeface="Montserrat"/>
                <a:ea typeface="Montserrat"/>
                <a:cs typeface="Montserrat"/>
                <a:sym typeface="Montserrat"/>
              </a:rPr>
              <a:t>Por lo general, la memoria se desasigna automáticamente cuando la variable sale del alcance o cuando finaliza el programa.</a:t>
            </a:r>
          </a:p>
        </p:txBody>
      </p:sp>
      <p:sp>
        <p:nvSpPr>
          <p:cNvPr name="TextBox 9" id="9"/>
          <p:cNvSpPr txBox="true"/>
          <p:nvPr/>
        </p:nvSpPr>
        <p:spPr>
          <a:xfrm rot="0">
            <a:off x="7967682" y="885825"/>
            <a:ext cx="8127635" cy="1717424"/>
          </a:xfrm>
          <a:prstGeom prst="rect">
            <a:avLst/>
          </a:prstGeom>
        </p:spPr>
        <p:txBody>
          <a:bodyPr anchor="t" rtlCol="false" tIns="0" lIns="0" bIns="0" rIns="0">
            <a:spAutoFit/>
          </a:bodyPr>
          <a:lstStyle/>
          <a:p>
            <a:pPr algn="ctr">
              <a:lnSpc>
                <a:spcPts val="7550"/>
              </a:lnSpc>
            </a:pPr>
            <a:r>
              <a:rPr lang="en-US" sz="5200">
                <a:solidFill>
                  <a:srgbClr val="FFFFFF"/>
                </a:solidFill>
                <a:latin typeface="Arial"/>
                <a:ea typeface="Arial"/>
                <a:cs typeface="Arial"/>
                <a:sym typeface="Arial"/>
              </a:rPr>
              <a:t>ASIGNACIÓN DE MEMORIA ESTÁTICA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16375" y="920201"/>
            <a:ext cx="5872591" cy="8810301"/>
          </a:xfrm>
          <a:custGeom>
            <a:avLst/>
            <a:gdLst/>
            <a:ahLst/>
            <a:cxnLst/>
            <a:rect r="r" b="b" t="t" l="l"/>
            <a:pathLst>
              <a:path h="8810301" w="5872591">
                <a:moveTo>
                  <a:pt x="0" y="0"/>
                </a:moveTo>
                <a:lnTo>
                  <a:pt x="5872591" y="0"/>
                </a:lnTo>
                <a:lnTo>
                  <a:pt x="5872591" y="8810301"/>
                </a:lnTo>
                <a:lnTo>
                  <a:pt x="0" y="8810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289825" y="2731103"/>
            <a:ext cx="10105987" cy="6999475"/>
          </a:xfrm>
          <a:custGeom>
            <a:avLst/>
            <a:gdLst/>
            <a:ahLst/>
            <a:cxnLst/>
            <a:rect r="r" b="b" t="t" l="l"/>
            <a:pathLst>
              <a:path h="6999475" w="10105987">
                <a:moveTo>
                  <a:pt x="0" y="0"/>
                </a:moveTo>
                <a:lnTo>
                  <a:pt x="10105987" y="0"/>
                </a:lnTo>
                <a:lnTo>
                  <a:pt x="10105987" y="6999475"/>
                </a:lnTo>
                <a:lnTo>
                  <a:pt x="0" y="69994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08468" y="2099662"/>
            <a:ext cx="4688415" cy="6800431"/>
            <a:chOff x="0" y="0"/>
            <a:chExt cx="6251219" cy="9067241"/>
          </a:xfrm>
        </p:grpSpPr>
        <p:sp>
          <p:nvSpPr>
            <p:cNvPr name="Freeform 7" id="7"/>
            <p:cNvSpPr/>
            <p:nvPr/>
          </p:nvSpPr>
          <p:spPr>
            <a:xfrm flipH="false" flipV="false" rot="0">
              <a:off x="0" y="0"/>
              <a:ext cx="6251194" cy="9067292"/>
            </a:xfrm>
            <a:custGeom>
              <a:avLst/>
              <a:gdLst/>
              <a:ahLst/>
              <a:cxnLst/>
              <a:rect r="r" b="b" t="t" l="l"/>
              <a:pathLst>
                <a:path h="9067292" w="6251194">
                  <a:moveTo>
                    <a:pt x="0" y="0"/>
                  </a:moveTo>
                  <a:lnTo>
                    <a:pt x="6251194" y="0"/>
                  </a:lnTo>
                  <a:lnTo>
                    <a:pt x="6251194" y="9067292"/>
                  </a:lnTo>
                  <a:lnTo>
                    <a:pt x="0" y="9067292"/>
                  </a:lnTo>
                  <a:lnTo>
                    <a:pt x="0" y="0"/>
                  </a:lnTo>
                  <a:close/>
                </a:path>
              </a:pathLst>
            </a:custGeom>
            <a:blipFill>
              <a:blip r:embed="rId8"/>
              <a:stretch>
                <a:fillRect l="-14265" t="0" r="-14266" b="0"/>
              </a:stretch>
            </a:blipFill>
          </p:spPr>
        </p:sp>
      </p:grpSp>
      <p:sp>
        <p:nvSpPr>
          <p:cNvPr name="TextBox 8" id="8"/>
          <p:cNvSpPr txBox="true"/>
          <p:nvPr/>
        </p:nvSpPr>
        <p:spPr>
          <a:xfrm rot="0">
            <a:off x="7913961" y="3102550"/>
            <a:ext cx="8857669" cy="5797553"/>
          </a:xfrm>
          <a:prstGeom prst="rect">
            <a:avLst/>
          </a:prstGeom>
        </p:spPr>
        <p:txBody>
          <a:bodyPr anchor="t" rtlCol="false" tIns="0" lIns="0" bIns="0" rIns="0">
            <a:spAutoFit/>
          </a:bodyPr>
          <a:lstStyle/>
          <a:p>
            <a:pPr algn="l">
              <a:lnSpc>
                <a:spcPts val="3898"/>
              </a:lnSpc>
            </a:pPr>
            <a:r>
              <a:rPr lang="en-US" sz="2499">
                <a:solidFill>
                  <a:srgbClr val="FFFFFF"/>
                </a:solidFill>
                <a:latin typeface="Montserrat"/>
                <a:ea typeface="Montserrat"/>
                <a:cs typeface="Montserrat"/>
                <a:sym typeface="Montserrat"/>
              </a:rPr>
              <a:t>La asignación de memoria dinámica implica la asignación de memoria en tiempo de ejecución desde el heap, que es una región de memoria administrada por el sistema operativo.</a:t>
            </a:r>
          </a:p>
          <a:p>
            <a:pPr algn="l">
              <a:lnSpc>
                <a:spcPts val="2184"/>
              </a:lnSpc>
            </a:pPr>
          </a:p>
          <a:p>
            <a:pPr algn="l">
              <a:lnSpc>
                <a:spcPts val="3898"/>
              </a:lnSpc>
            </a:pPr>
            <a:r>
              <a:rPr lang="en-US" sz="2499">
                <a:solidFill>
                  <a:srgbClr val="FFFFFF"/>
                </a:solidFill>
                <a:latin typeface="Montserrat"/>
                <a:ea typeface="Montserrat"/>
                <a:cs typeface="Montserrat"/>
                <a:sym typeface="Montserrat"/>
              </a:rPr>
              <a:t>El tamaño de la asignación se puede determinar dinámicamente durante la ejecución del programa, por lo que se utiliza con estructuras dinámicas como ArrayLists.</a:t>
            </a:r>
          </a:p>
          <a:p>
            <a:pPr algn="l">
              <a:lnSpc>
                <a:spcPts val="2184"/>
              </a:lnSpc>
            </a:pPr>
          </a:p>
          <a:p>
            <a:pPr algn="l">
              <a:lnSpc>
                <a:spcPts val="3898"/>
              </a:lnSpc>
            </a:pPr>
            <a:r>
              <a:rPr lang="en-US" sz="2499">
                <a:solidFill>
                  <a:srgbClr val="FFFFFF"/>
                </a:solidFill>
                <a:latin typeface="Montserrat"/>
                <a:ea typeface="Montserrat"/>
                <a:cs typeface="Montserrat"/>
                <a:sym typeface="Montserrat"/>
              </a:rPr>
              <a:t>El programador debe asignar o desasignar explícitamente la memoria usando funciones como malloc(), realloc() y free() para evitar fugas de memoria.</a:t>
            </a:r>
          </a:p>
        </p:txBody>
      </p:sp>
      <p:sp>
        <p:nvSpPr>
          <p:cNvPr name="TextBox 9" id="9"/>
          <p:cNvSpPr txBox="true"/>
          <p:nvPr/>
        </p:nvSpPr>
        <p:spPr>
          <a:xfrm rot="0">
            <a:off x="7708325" y="885825"/>
            <a:ext cx="8127635" cy="1717424"/>
          </a:xfrm>
          <a:prstGeom prst="rect">
            <a:avLst/>
          </a:prstGeom>
        </p:spPr>
        <p:txBody>
          <a:bodyPr anchor="t" rtlCol="false" tIns="0" lIns="0" bIns="0" rIns="0">
            <a:spAutoFit/>
          </a:bodyPr>
          <a:lstStyle/>
          <a:p>
            <a:pPr algn="ctr">
              <a:lnSpc>
                <a:spcPts val="7550"/>
              </a:lnSpc>
            </a:pPr>
            <a:r>
              <a:rPr lang="en-US" sz="5200">
                <a:solidFill>
                  <a:srgbClr val="FFFFFF"/>
                </a:solidFill>
                <a:latin typeface="Arial"/>
                <a:ea typeface="Arial"/>
                <a:cs typeface="Arial"/>
                <a:sym typeface="Arial"/>
              </a:rPr>
              <a:t>ASIGNACIÓN DE MEMORIA DINÁMICA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236840" y="2822400"/>
            <a:ext cx="7303008" cy="6435900"/>
          </a:xfrm>
          <a:custGeom>
            <a:avLst/>
            <a:gdLst/>
            <a:ahLst/>
            <a:cxnLst/>
            <a:rect r="r" b="b" t="t" l="l"/>
            <a:pathLst>
              <a:path h="6435900" w="7303008">
                <a:moveTo>
                  <a:pt x="0" y="0"/>
                </a:moveTo>
                <a:lnTo>
                  <a:pt x="7303008" y="0"/>
                </a:lnTo>
                <a:lnTo>
                  <a:pt x="7303008" y="6435900"/>
                </a:lnTo>
                <a:lnTo>
                  <a:pt x="0" y="6435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894759" y="2731103"/>
            <a:ext cx="7657929" cy="6527197"/>
          </a:xfrm>
          <a:custGeom>
            <a:avLst/>
            <a:gdLst/>
            <a:ahLst/>
            <a:cxnLst/>
            <a:rect r="r" b="b" t="t" l="l"/>
            <a:pathLst>
              <a:path h="6527197" w="7657929">
                <a:moveTo>
                  <a:pt x="0" y="0"/>
                </a:moveTo>
                <a:lnTo>
                  <a:pt x="7657929" y="0"/>
                </a:lnTo>
                <a:lnTo>
                  <a:pt x="7657929" y="6527197"/>
                </a:lnTo>
                <a:lnTo>
                  <a:pt x="0" y="6527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786804" y="3614242"/>
            <a:ext cx="6203080" cy="4869418"/>
            <a:chOff x="0" y="0"/>
            <a:chExt cx="8270773" cy="6492558"/>
          </a:xfrm>
        </p:grpSpPr>
        <p:sp>
          <p:nvSpPr>
            <p:cNvPr name="Freeform 7" id="7"/>
            <p:cNvSpPr/>
            <p:nvPr/>
          </p:nvSpPr>
          <p:spPr>
            <a:xfrm flipH="false" flipV="false" rot="0">
              <a:off x="0" y="0"/>
              <a:ext cx="8270748" cy="6492621"/>
            </a:xfrm>
            <a:custGeom>
              <a:avLst/>
              <a:gdLst/>
              <a:ahLst/>
              <a:cxnLst/>
              <a:rect r="r" b="b" t="t" l="l"/>
              <a:pathLst>
                <a:path h="6492621" w="8270748">
                  <a:moveTo>
                    <a:pt x="0" y="0"/>
                  </a:moveTo>
                  <a:lnTo>
                    <a:pt x="8270748" y="0"/>
                  </a:lnTo>
                  <a:lnTo>
                    <a:pt x="8270748" y="6492621"/>
                  </a:lnTo>
                  <a:lnTo>
                    <a:pt x="0" y="6492621"/>
                  </a:lnTo>
                  <a:lnTo>
                    <a:pt x="0" y="0"/>
                  </a:lnTo>
                  <a:close/>
                </a:path>
              </a:pathLst>
            </a:custGeom>
            <a:blipFill>
              <a:blip r:embed="rId8"/>
              <a:stretch>
                <a:fillRect l="-25" t="0" r="-26" b="0"/>
              </a:stretch>
            </a:blipFill>
          </p:spPr>
        </p:sp>
      </p:grpSp>
      <p:sp>
        <p:nvSpPr>
          <p:cNvPr name="TextBox 8" id="8"/>
          <p:cNvSpPr txBox="true"/>
          <p:nvPr/>
        </p:nvSpPr>
        <p:spPr>
          <a:xfrm rot="0">
            <a:off x="9451429" y="3434582"/>
            <a:ext cx="6544589" cy="521525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La asignación de memoria contigua es una técnica de gestión de memoria utilizada por los sistemas operativos para asignar un bloque de memoria contigua a un proceso. La asignación de memoria contigua a un proceso implica dividir la memoria disponible en particiones o segmentos de tamaño fijo. Luego, el sistema operativo asigna uno de estos segmentos a un proceso cuando se crea.</a:t>
            </a:r>
          </a:p>
        </p:txBody>
      </p:sp>
      <p:sp>
        <p:nvSpPr>
          <p:cNvPr name="TextBox 9" id="9"/>
          <p:cNvSpPr txBox="true"/>
          <p:nvPr/>
        </p:nvSpPr>
        <p:spPr>
          <a:xfrm rot="0">
            <a:off x="5080187" y="794518"/>
            <a:ext cx="8127635" cy="1717424"/>
          </a:xfrm>
          <a:prstGeom prst="rect">
            <a:avLst/>
          </a:prstGeom>
        </p:spPr>
        <p:txBody>
          <a:bodyPr anchor="t" rtlCol="false" tIns="0" lIns="0" bIns="0" rIns="0">
            <a:spAutoFit/>
          </a:bodyPr>
          <a:lstStyle/>
          <a:p>
            <a:pPr algn="ctr">
              <a:lnSpc>
                <a:spcPts val="7550"/>
              </a:lnSpc>
            </a:pPr>
            <a:r>
              <a:rPr lang="en-US" sz="5200">
                <a:solidFill>
                  <a:srgbClr val="FFFFFF"/>
                </a:solidFill>
                <a:latin typeface="Arial"/>
                <a:ea typeface="Arial"/>
                <a:cs typeface="Arial"/>
                <a:sym typeface="Arial"/>
              </a:rPr>
              <a:t>ASIGNACIÓN DE MEMORIA CONTIGUA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3820020" y="2822400"/>
            <a:ext cx="10738104" cy="6435938"/>
          </a:xfrm>
          <a:custGeom>
            <a:avLst/>
            <a:gdLst/>
            <a:ahLst/>
            <a:cxnLst/>
            <a:rect r="r" b="b" t="t" l="l"/>
            <a:pathLst>
              <a:path h="6435938" w="10738104">
                <a:moveTo>
                  <a:pt x="0" y="0"/>
                </a:moveTo>
                <a:lnTo>
                  <a:pt x="10738104" y="0"/>
                </a:lnTo>
                <a:lnTo>
                  <a:pt x="10738104" y="6435938"/>
                </a:lnTo>
                <a:lnTo>
                  <a:pt x="0" y="64359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5080187" y="794518"/>
            <a:ext cx="8127597" cy="1911677"/>
          </a:xfrm>
          <a:prstGeom prst="rect">
            <a:avLst/>
          </a:prstGeom>
        </p:spPr>
        <p:txBody>
          <a:bodyPr anchor="t" rtlCol="false" tIns="0" lIns="0" bIns="0" rIns="0">
            <a:spAutoFit/>
          </a:bodyPr>
          <a:lstStyle/>
          <a:p>
            <a:pPr algn="ctr">
              <a:lnSpc>
                <a:spcPts val="7550"/>
              </a:lnSpc>
            </a:pPr>
            <a:r>
              <a:rPr lang="en-US" sz="5200">
                <a:solidFill>
                  <a:srgbClr val="FFFFFF"/>
                </a:solidFill>
                <a:latin typeface="Arial"/>
                <a:ea typeface="Arial"/>
                <a:cs typeface="Arial"/>
                <a:sym typeface="Arial"/>
              </a:rPr>
              <a:t>RECOLECTOR DE BASURA</a:t>
            </a:r>
          </a:p>
        </p:txBody>
      </p:sp>
      <p:grpSp>
        <p:nvGrpSpPr>
          <p:cNvPr name="Group 6" id="6"/>
          <p:cNvGrpSpPr/>
          <p:nvPr/>
        </p:nvGrpSpPr>
        <p:grpSpPr>
          <a:xfrm rot="0">
            <a:off x="4063965" y="3182864"/>
            <a:ext cx="10160022" cy="5715000"/>
            <a:chOff x="0" y="0"/>
            <a:chExt cx="13546696" cy="7620000"/>
          </a:xfrm>
        </p:grpSpPr>
        <p:sp>
          <p:nvSpPr>
            <p:cNvPr name="Freeform 7" id="7">
              <a:hlinkClick r:id="rId6" tooltip="http://www.youtube.com/watch?v=K4-tG9WZqQw"/>
            </p:cNvPr>
            <p:cNvSpPr/>
            <p:nvPr/>
          </p:nvSpPr>
          <p:spPr>
            <a:xfrm flipH="false" flipV="false" rot="0">
              <a:off x="0" y="0"/>
              <a:ext cx="13546710" cy="7620000"/>
            </a:xfrm>
            <a:custGeom>
              <a:avLst/>
              <a:gdLst/>
              <a:ahLst/>
              <a:cxnLst/>
              <a:rect r="r" b="b" t="t" l="l"/>
              <a:pathLst>
                <a:path h="7620000" w="13546710">
                  <a:moveTo>
                    <a:pt x="0" y="0"/>
                  </a:moveTo>
                  <a:lnTo>
                    <a:pt x="13546710" y="0"/>
                  </a:lnTo>
                  <a:lnTo>
                    <a:pt x="13546710" y="7620000"/>
                  </a:lnTo>
                  <a:lnTo>
                    <a:pt x="0" y="7620000"/>
                  </a:lnTo>
                  <a:lnTo>
                    <a:pt x="0" y="0"/>
                  </a:lnTo>
                  <a:close/>
                </a:path>
              </a:pathLst>
            </a:custGeom>
            <a:blipFill>
              <a:blip r:embed="rId7"/>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819617" y="4696577"/>
            <a:ext cx="8248002" cy="5146719"/>
          </a:xfrm>
          <a:custGeom>
            <a:avLst/>
            <a:gdLst/>
            <a:ahLst/>
            <a:cxnLst/>
            <a:rect r="r" b="b" t="t" l="l"/>
            <a:pathLst>
              <a:path h="5146719" w="8248002">
                <a:moveTo>
                  <a:pt x="0" y="0"/>
                </a:moveTo>
                <a:lnTo>
                  <a:pt x="8248002" y="0"/>
                </a:lnTo>
                <a:lnTo>
                  <a:pt x="8248002" y="5146720"/>
                </a:lnTo>
                <a:lnTo>
                  <a:pt x="0" y="51467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282122" y="5301339"/>
            <a:ext cx="7322687" cy="4000024"/>
            <a:chOff x="0" y="0"/>
            <a:chExt cx="9763582" cy="5333365"/>
          </a:xfrm>
        </p:grpSpPr>
        <p:sp>
          <p:nvSpPr>
            <p:cNvPr name="Freeform 6" id="6"/>
            <p:cNvSpPr/>
            <p:nvPr/>
          </p:nvSpPr>
          <p:spPr>
            <a:xfrm flipH="false" flipV="false" rot="0">
              <a:off x="0" y="0"/>
              <a:ext cx="9763633" cy="5333365"/>
            </a:xfrm>
            <a:custGeom>
              <a:avLst/>
              <a:gdLst/>
              <a:ahLst/>
              <a:cxnLst/>
              <a:rect r="r" b="b" t="t" l="l"/>
              <a:pathLst>
                <a:path h="5333365" w="9763633">
                  <a:moveTo>
                    <a:pt x="0" y="0"/>
                  </a:moveTo>
                  <a:lnTo>
                    <a:pt x="9763633" y="0"/>
                  </a:lnTo>
                  <a:lnTo>
                    <a:pt x="9763633" y="5333365"/>
                  </a:lnTo>
                  <a:lnTo>
                    <a:pt x="0" y="5333365"/>
                  </a:lnTo>
                  <a:lnTo>
                    <a:pt x="0" y="0"/>
                  </a:lnTo>
                  <a:close/>
                </a:path>
              </a:pathLst>
            </a:custGeom>
            <a:blipFill>
              <a:blip r:embed="rId6"/>
              <a:stretch>
                <a:fillRect l="-38" t="0" r="-37" b="0"/>
              </a:stretch>
            </a:blipFill>
          </p:spPr>
        </p:sp>
      </p:grpSp>
      <p:sp>
        <p:nvSpPr>
          <p:cNvPr name="Freeform 7" id="7"/>
          <p:cNvSpPr/>
          <p:nvPr/>
        </p:nvSpPr>
        <p:spPr>
          <a:xfrm flipH="false" flipV="false" rot="0">
            <a:off x="9418149" y="1042102"/>
            <a:ext cx="8080562" cy="8873995"/>
          </a:xfrm>
          <a:custGeom>
            <a:avLst/>
            <a:gdLst/>
            <a:ahLst/>
            <a:cxnLst/>
            <a:rect r="r" b="b" t="t" l="l"/>
            <a:pathLst>
              <a:path h="8873995" w="8080562">
                <a:moveTo>
                  <a:pt x="0" y="0"/>
                </a:moveTo>
                <a:lnTo>
                  <a:pt x="8080562" y="0"/>
                </a:lnTo>
                <a:lnTo>
                  <a:pt x="8080562" y="8873994"/>
                </a:lnTo>
                <a:lnTo>
                  <a:pt x="0" y="88739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8" id="8"/>
          <p:cNvGrpSpPr/>
          <p:nvPr/>
        </p:nvGrpSpPr>
        <p:grpSpPr>
          <a:xfrm rot="0">
            <a:off x="6803603" y="1629480"/>
            <a:ext cx="1515427" cy="2061810"/>
            <a:chOff x="0" y="0"/>
            <a:chExt cx="2020570" cy="2749080"/>
          </a:xfrm>
        </p:grpSpPr>
        <p:sp>
          <p:nvSpPr>
            <p:cNvPr name="Freeform 9" id="9"/>
            <p:cNvSpPr/>
            <p:nvPr/>
          </p:nvSpPr>
          <p:spPr>
            <a:xfrm flipH="false" flipV="false" rot="0">
              <a:off x="0" y="0"/>
              <a:ext cx="2020570" cy="2749042"/>
            </a:xfrm>
            <a:custGeom>
              <a:avLst/>
              <a:gdLst/>
              <a:ahLst/>
              <a:cxnLst/>
              <a:rect r="r" b="b" t="t" l="l"/>
              <a:pathLst>
                <a:path h="2749042" w="2020570">
                  <a:moveTo>
                    <a:pt x="0" y="0"/>
                  </a:moveTo>
                  <a:lnTo>
                    <a:pt x="2020570" y="0"/>
                  </a:lnTo>
                  <a:lnTo>
                    <a:pt x="2020570" y="2749042"/>
                  </a:lnTo>
                  <a:lnTo>
                    <a:pt x="0" y="2749042"/>
                  </a:lnTo>
                  <a:lnTo>
                    <a:pt x="0" y="0"/>
                  </a:lnTo>
                  <a:close/>
                </a:path>
              </a:pathLst>
            </a:custGeom>
            <a:blipFill>
              <a:blip r:embed="rId9"/>
              <a:stretch>
                <a:fillRect l="-13" t="0" r="-13" b="-1"/>
              </a:stretch>
            </a:blipFill>
          </p:spPr>
        </p:sp>
      </p:grpSp>
      <p:sp>
        <p:nvSpPr>
          <p:cNvPr name="TextBox 10" id="10"/>
          <p:cNvSpPr txBox="true"/>
          <p:nvPr/>
        </p:nvSpPr>
        <p:spPr>
          <a:xfrm rot="0">
            <a:off x="9837230" y="1626232"/>
            <a:ext cx="7242000" cy="8289827"/>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La memoria virtual es una técnica que permite la ejecución de procesos que no están completamente en memoria. Una ventaja importante de este esquema es que los programas pueden ser más grandes que la memoria física.</a:t>
            </a:r>
          </a:p>
          <a:p>
            <a:pPr algn="l">
              <a:lnSpc>
                <a:spcPts val="2183"/>
              </a:lnSpc>
            </a:pPr>
          </a:p>
          <a:p>
            <a:pPr algn="l">
              <a:lnSpc>
                <a:spcPts val="4056"/>
              </a:lnSpc>
            </a:pPr>
            <a:r>
              <a:rPr lang="en-US" sz="2600">
                <a:solidFill>
                  <a:srgbClr val="FFFFFF"/>
                </a:solidFill>
                <a:latin typeface="Montserrat"/>
                <a:ea typeface="Montserrat"/>
                <a:cs typeface="Montserrat"/>
                <a:sym typeface="Montserrat"/>
              </a:rPr>
              <a:t>Además, la memoria virtual abstrae la memoria principal en una matriz de almacenamiento uniforme y extremadamente grande, separando la memoria lógica vista por el usuario de la memoria física. Esta técnica libera a los programadores de las preocupaciones sobre las limitaciones de almacenamiento de memoria.</a:t>
            </a:r>
          </a:p>
        </p:txBody>
      </p:sp>
      <p:sp>
        <p:nvSpPr>
          <p:cNvPr name="TextBox 11" id="11"/>
          <p:cNvSpPr txBox="true"/>
          <p:nvPr/>
        </p:nvSpPr>
        <p:spPr>
          <a:xfrm rot="0">
            <a:off x="1507750" y="1438980"/>
            <a:ext cx="5121602" cy="2435400"/>
          </a:xfrm>
          <a:prstGeom prst="rect">
            <a:avLst/>
          </a:prstGeom>
        </p:spPr>
        <p:txBody>
          <a:bodyPr anchor="t" rtlCol="false" tIns="0" lIns="0" bIns="0" rIns="0">
            <a:spAutoFit/>
          </a:bodyPr>
          <a:lstStyle/>
          <a:p>
            <a:pPr algn="l">
              <a:lnSpc>
                <a:spcPts val="9581"/>
              </a:lnSpc>
            </a:pPr>
            <a:r>
              <a:rPr lang="en-US" sz="6598">
                <a:solidFill>
                  <a:srgbClr val="FFFFFF"/>
                </a:solidFill>
                <a:latin typeface="Arial"/>
                <a:ea typeface="Arial"/>
                <a:cs typeface="Arial"/>
                <a:sym typeface="Arial"/>
              </a:rPr>
              <a:t>MEMORIA VIRTUAL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366991"/>
            <a:ext cx="6700171" cy="5481209"/>
          </a:xfrm>
          <a:custGeom>
            <a:avLst/>
            <a:gdLst/>
            <a:ahLst/>
            <a:cxnLst/>
            <a:rect r="r" b="b" t="t" l="l"/>
            <a:pathLst>
              <a:path h="5481209" w="6700171">
                <a:moveTo>
                  <a:pt x="0" y="0"/>
                </a:moveTo>
                <a:lnTo>
                  <a:pt x="6700171" y="0"/>
                </a:lnTo>
                <a:lnTo>
                  <a:pt x="6700171" y="5481209"/>
                </a:lnTo>
                <a:lnTo>
                  <a:pt x="0" y="54812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6785858" y="1458144"/>
            <a:ext cx="4277620" cy="7370702"/>
            <a:chOff x="0" y="0"/>
            <a:chExt cx="5703494" cy="9827603"/>
          </a:xfrm>
        </p:grpSpPr>
        <p:sp>
          <p:nvSpPr>
            <p:cNvPr name="Freeform 4" id="4"/>
            <p:cNvSpPr/>
            <p:nvPr/>
          </p:nvSpPr>
          <p:spPr>
            <a:xfrm flipH="false" flipV="false" rot="0">
              <a:off x="0" y="0"/>
              <a:ext cx="5703443" cy="9827641"/>
            </a:xfrm>
            <a:custGeom>
              <a:avLst/>
              <a:gdLst/>
              <a:ahLst/>
              <a:cxnLst/>
              <a:rect r="r" b="b" t="t" l="l"/>
              <a:pathLst>
                <a:path h="9827641" w="5703443">
                  <a:moveTo>
                    <a:pt x="0" y="0"/>
                  </a:moveTo>
                  <a:lnTo>
                    <a:pt x="5703443" y="0"/>
                  </a:lnTo>
                  <a:lnTo>
                    <a:pt x="5703443" y="9827641"/>
                  </a:lnTo>
                  <a:lnTo>
                    <a:pt x="0" y="9827641"/>
                  </a:lnTo>
                  <a:lnTo>
                    <a:pt x="0" y="0"/>
                  </a:lnTo>
                  <a:close/>
                </a:path>
              </a:pathLst>
            </a:custGeom>
            <a:blipFill>
              <a:blip r:embed="rId5"/>
              <a:stretch>
                <a:fillRect l="-64819" t="0" r="-64820" b="0"/>
              </a:stretch>
            </a:blipFill>
          </p:spPr>
        </p:sp>
      </p:grpSp>
      <p:sp>
        <p:nvSpPr>
          <p:cNvPr name="TextBox 5" id="5"/>
          <p:cNvSpPr txBox="true"/>
          <p:nvPr/>
        </p:nvSpPr>
        <p:spPr>
          <a:xfrm rot="0">
            <a:off x="1397527" y="2670810"/>
            <a:ext cx="5131203" cy="5432479"/>
          </a:xfrm>
          <a:prstGeom prst="rect">
            <a:avLst/>
          </a:prstGeom>
        </p:spPr>
        <p:txBody>
          <a:bodyPr anchor="t" rtlCol="false" tIns="0" lIns="0" bIns="0" rIns="0">
            <a:spAutoFit/>
          </a:bodyPr>
          <a:lstStyle/>
          <a:p>
            <a:pPr algn="l">
              <a:lnSpc>
                <a:spcPts val="3276"/>
              </a:lnSpc>
            </a:pPr>
            <a:r>
              <a:rPr lang="en-US" sz="2100">
                <a:solidFill>
                  <a:srgbClr val="FFFFFF"/>
                </a:solidFill>
                <a:latin typeface="Montserrat"/>
                <a:ea typeface="Montserrat"/>
                <a:cs typeface="Montserrat"/>
                <a:sym typeface="Montserrat"/>
              </a:rPr>
              <a:t>El requisito de que las instrucciones deban estar en la memoria física para ser ejecutadas parece necesario y razonable; pero también es desafortunado, ya que limita el tamaño de un programa al tamaño de la memoria física.</a:t>
            </a:r>
          </a:p>
          <a:p>
            <a:pPr algn="l">
              <a:lnSpc>
                <a:spcPts val="2183"/>
              </a:lnSpc>
            </a:pPr>
          </a:p>
          <a:p>
            <a:pPr algn="l">
              <a:lnSpc>
                <a:spcPts val="3276"/>
              </a:lnSpc>
            </a:pPr>
            <a:r>
              <a:rPr lang="en-US" sz="2100">
                <a:solidFill>
                  <a:srgbClr val="FFFFFF"/>
                </a:solidFill>
                <a:latin typeface="Montserrat"/>
                <a:ea typeface="Montserrat"/>
                <a:cs typeface="Montserrat"/>
                <a:sym typeface="Montserrat"/>
              </a:rPr>
              <a:t>De hecho, un análisis de programas reales nos muestra que, en muchos casos, no se necesita el programa completo. Por ejemplo:</a:t>
            </a:r>
          </a:p>
          <a:p>
            <a:pPr algn="l">
              <a:lnSpc>
                <a:spcPts val="2183"/>
              </a:lnSpc>
            </a:pPr>
          </a:p>
        </p:txBody>
      </p:sp>
      <p:sp>
        <p:nvSpPr>
          <p:cNvPr name="Freeform 6" id="6"/>
          <p:cNvSpPr/>
          <p:nvPr/>
        </p:nvSpPr>
        <p:spPr>
          <a:xfrm flipH="false" flipV="false" rot="0">
            <a:off x="10439552" y="1730150"/>
            <a:ext cx="1136542" cy="1136542"/>
          </a:xfrm>
          <a:custGeom>
            <a:avLst/>
            <a:gdLst/>
            <a:ahLst/>
            <a:cxnLst/>
            <a:rect r="r" b="b" t="t" l="l"/>
            <a:pathLst>
              <a:path h="1136542" w="1136542">
                <a:moveTo>
                  <a:pt x="0" y="0"/>
                </a:moveTo>
                <a:lnTo>
                  <a:pt x="1136542" y="0"/>
                </a:lnTo>
                <a:lnTo>
                  <a:pt x="1136542" y="1136542"/>
                </a:lnTo>
                <a:lnTo>
                  <a:pt x="0" y="11365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439552" y="4575238"/>
            <a:ext cx="1136542" cy="1136542"/>
          </a:xfrm>
          <a:custGeom>
            <a:avLst/>
            <a:gdLst/>
            <a:ahLst/>
            <a:cxnLst/>
            <a:rect r="r" b="b" t="t" l="l"/>
            <a:pathLst>
              <a:path h="1136542" w="1136542">
                <a:moveTo>
                  <a:pt x="0" y="0"/>
                </a:moveTo>
                <a:lnTo>
                  <a:pt x="1136542" y="0"/>
                </a:lnTo>
                <a:lnTo>
                  <a:pt x="1136542" y="1136543"/>
                </a:lnTo>
                <a:lnTo>
                  <a:pt x="0" y="11365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0439552" y="7275195"/>
            <a:ext cx="1136542" cy="1136542"/>
          </a:xfrm>
          <a:custGeom>
            <a:avLst/>
            <a:gdLst/>
            <a:ahLst/>
            <a:cxnLst/>
            <a:rect r="r" b="b" t="t" l="l"/>
            <a:pathLst>
              <a:path h="1136542" w="1136542">
                <a:moveTo>
                  <a:pt x="0" y="0"/>
                </a:moveTo>
                <a:lnTo>
                  <a:pt x="1136542" y="0"/>
                </a:lnTo>
                <a:lnTo>
                  <a:pt x="1136542" y="1136542"/>
                </a:lnTo>
                <a:lnTo>
                  <a:pt x="0" y="11365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1833250" y="1302163"/>
            <a:ext cx="4923301" cy="2144773"/>
          </a:xfrm>
          <a:prstGeom prst="rect">
            <a:avLst/>
          </a:prstGeom>
        </p:spPr>
        <p:txBody>
          <a:bodyPr anchor="t" rtlCol="false" tIns="0" lIns="0" bIns="0" rIns="0">
            <a:spAutoFit/>
          </a:bodyPr>
          <a:lstStyle/>
          <a:p>
            <a:pPr algn="l">
              <a:lnSpc>
                <a:spcPts val="2808"/>
              </a:lnSpc>
            </a:pPr>
            <a:r>
              <a:rPr lang="en-US" sz="1800">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p>
        </p:txBody>
      </p:sp>
      <p:sp>
        <p:nvSpPr>
          <p:cNvPr name="TextBox 10" id="10"/>
          <p:cNvSpPr txBox="true"/>
          <p:nvPr/>
        </p:nvSpPr>
        <p:spPr>
          <a:xfrm rot="0">
            <a:off x="10439552" y="1672981"/>
            <a:ext cx="1136399" cy="959996"/>
          </a:xfrm>
          <a:prstGeom prst="rect">
            <a:avLst/>
          </a:prstGeom>
        </p:spPr>
        <p:txBody>
          <a:bodyPr anchor="t" rtlCol="false" tIns="0" lIns="0" bIns="0" rIns="0">
            <a:spAutoFit/>
          </a:bodyPr>
          <a:lstStyle/>
          <a:p>
            <a:pPr algn="ctr">
              <a:lnSpc>
                <a:spcPts val="7799"/>
              </a:lnSpc>
            </a:pPr>
            <a:r>
              <a:rPr lang="en-US" b="true" sz="4999">
                <a:solidFill>
                  <a:srgbClr val="FFFFFF"/>
                </a:solidFill>
                <a:latin typeface="Arial Bold"/>
                <a:ea typeface="Arial Bold"/>
                <a:cs typeface="Arial Bold"/>
                <a:sym typeface="Arial Bold"/>
              </a:rPr>
              <a:t>01</a:t>
            </a:r>
          </a:p>
        </p:txBody>
      </p:sp>
      <p:sp>
        <p:nvSpPr>
          <p:cNvPr name="TextBox 11" id="11"/>
          <p:cNvSpPr txBox="true"/>
          <p:nvPr/>
        </p:nvSpPr>
        <p:spPr>
          <a:xfrm rot="0">
            <a:off x="10439552" y="4518079"/>
            <a:ext cx="1136399" cy="959996"/>
          </a:xfrm>
          <a:prstGeom prst="rect">
            <a:avLst/>
          </a:prstGeom>
        </p:spPr>
        <p:txBody>
          <a:bodyPr anchor="t" rtlCol="false" tIns="0" lIns="0" bIns="0" rIns="0">
            <a:spAutoFit/>
          </a:bodyPr>
          <a:lstStyle/>
          <a:p>
            <a:pPr algn="ctr">
              <a:lnSpc>
                <a:spcPts val="7799"/>
              </a:lnSpc>
            </a:pPr>
            <a:r>
              <a:rPr lang="en-US" b="true" sz="4999">
                <a:solidFill>
                  <a:srgbClr val="FFFFFF"/>
                </a:solidFill>
                <a:latin typeface="Arial Bold"/>
                <a:ea typeface="Arial Bold"/>
                <a:cs typeface="Arial Bold"/>
                <a:sym typeface="Arial Bold"/>
              </a:rPr>
              <a:t>02</a:t>
            </a:r>
          </a:p>
        </p:txBody>
      </p:sp>
      <p:sp>
        <p:nvSpPr>
          <p:cNvPr name="TextBox 12" id="12"/>
          <p:cNvSpPr txBox="true"/>
          <p:nvPr/>
        </p:nvSpPr>
        <p:spPr>
          <a:xfrm rot="0">
            <a:off x="10439552" y="7222255"/>
            <a:ext cx="1136399" cy="959996"/>
          </a:xfrm>
          <a:prstGeom prst="rect">
            <a:avLst/>
          </a:prstGeom>
        </p:spPr>
        <p:txBody>
          <a:bodyPr anchor="t" rtlCol="false" tIns="0" lIns="0" bIns="0" rIns="0">
            <a:spAutoFit/>
          </a:bodyPr>
          <a:lstStyle/>
          <a:p>
            <a:pPr algn="ctr">
              <a:lnSpc>
                <a:spcPts val="7799"/>
              </a:lnSpc>
            </a:pPr>
            <a:r>
              <a:rPr lang="en-US" b="true" sz="4999">
                <a:solidFill>
                  <a:srgbClr val="FFFFFF"/>
                </a:solidFill>
                <a:latin typeface="Arial Bold"/>
                <a:ea typeface="Arial Bold"/>
                <a:cs typeface="Arial Bold"/>
                <a:sym typeface="Arial Bold"/>
              </a:rPr>
              <a:t>03</a:t>
            </a:r>
          </a:p>
        </p:txBody>
      </p:sp>
      <p:sp>
        <p:nvSpPr>
          <p:cNvPr name="TextBox 13" id="13"/>
          <p:cNvSpPr txBox="true"/>
          <p:nvPr/>
        </p:nvSpPr>
        <p:spPr>
          <a:xfrm rot="0">
            <a:off x="11833250" y="4021045"/>
            <a:ext cx="4923301" cy="2504780"/>
          </a:xfrm>
          <a:prstGeom prst="rect">
            <a:avLst/>
          </a:prstGeom>
        </p:spPr>
        <p:txBody>
          <a:bodyPr anchor="t" rtlCol="false" tIns="0" lIns="0" bIns="0" rIns="0">
            <a:spAutoFit/>
          </a:bodyPr>
          <a:lstStyle/>
          <a:p>
            <a:pPr algn="l">
              <a:lnSpc>
                <a:spcPts val="2808"/>
              </a:lnSpc>
            </a:pPr>
            <a:r>
              <a:rPr lang="en-US" sz="1800">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p>
        </p:txBody>
      </p:sp>
      <p:sp>
        <p:nvSpPr>
          <p:cNvPr name="TextBox 14" id="14"/>
          <p:cNvSpPr txBox="true"/>
          <p:nvPr/>
        </p:nvSpPr>
        <p:spPr>
          <a:xfrm rot="0">
            <a:off x="11833250" y="7035203"/>
            <a:ext cx="4923301" cy="1424178"/>
          </a:xfrm>
          <a:prstGeom prst="rect">
            <a:avLst/>
          </a:prstGeom>
        </p:spPr>
        <p:txBody>
          <a:bodyPr anchor="t" rtlCol="false" tIns="0" lIns="0" bIns="0" rIns="0">
            <a:spAutoFit/>
          </a:bodyPr>
          <a:lstStyle/>
          <a:p>
            <a:pPr algn="l">
              <a:lnSpc>
                <a:spcPts val="2808"/>
              </a:lnSpc>
            </a:pPr>
            <a:r>
              <a:rPr lang="en-US" sz="1800">
                <a:solidFill>
                  <a:srgbClr val="FFFFFF"/>
                </a:solidFill>
                <a:latin typeface="Montserrat"/>
                <a:ea typeface="Montserrat"/>
                <a:cs typeface="Montserrat"/>
                <a:sym typeface="Montserrat"/>
              </a:rPr>
              <a:t>Se necesitaría menos E/S para cargar o intercambiar cada programa de usuario en la memoria, por lo que cada programa de usuario se ejecutará más rápido.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2774499" y="2915479"/>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5347920">
            <a:off x="2671029" y="4475140"/>
            <a:ext cx="2514886" cy="0"/>
          </a:xfrm>
          <a:prstGeom prst="line">
            <a:avLst/>
          </a:prstGeom>
          <a:ln cap="rnd" w="28575">
            <a:solidFill>
              <a:srgbClr val="5CD9C1"/>
            </a:solidFill>
            <a:prstDash val="solid"/>
            <a:headEnd type="none" len="sm" w="sm"/>
            <a:tailEnd type="oval" len="lg" w="lg"/>
          </a:ln>
        </p:spPr>
      </p:sp>
      <p:sp>
        <p:nvSpPr>
          <p:cNvPr name="Freeform 4" id="4"/>
          <p:cNvSpPr/>
          <p:nvPr/>
        </p:nvSpPr>
        <p:spPr>
          <a:xfrm flipH="false" flipV="false" rot="0">
            <a:off x="3563045" y="2550052"/>
            <a:ext cx="730872" cy="730872"/>
          </a:xfrm>
          <a:custGeom>
            <a:avLst/>
            <a:gdLst/>
            <a:ahLst/>
            <a:cxnLst/>
            <a:rect r="r" b="b" t="t" l="l"/>
            <a:pathLst>
              <a:path h="730872" w="730872">
                <a:moveTo>
                  <a:pt x="0" y="0"/>
                </a:moveTo>
                <a:lnTo>
                  <a:pt x="730873" y="0"/>
                </a:lnTo>
                <a:lnTo>
                  <a:pt x="730873"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rot="5394240">
            <a:off x="3702329" y="5439747"/>
            <a:ext cx="5669337" cy="0"/>
          </a:xfrm>
          <a:prstGeom prst="line">
            <a:avLst/>
          </a:prstGeom>
          <a:ln cap="rnd" w="9525">
            <a:solidFill>
              <a:srgbClr val="FFFFFF"/>
            </a:solidFill>
            <a:prstDash val="solid"/>
            <a:headEnd type="none" len="sm" w="sm"/>
            <a:tailEnd type="none" len="sm" w="sm"/>
          </a:ln>
        </p:spPr>
      </p:sp>
      <p:sp>
        <p:nvSpPr>
          <p:cNvPr name="AutoShape 6" id="6"/>
          <p:cNvSpPr/>
          <p:nvPr/>
        </p:nvSpPr>
        <p:spPr>
          <a:xfrm rot="5347920">
            <a:off x="7886557" y="4475140"/>
            <a:ext cx="2514886" cy="0"/>
          </a:xfrm>
          <a:prstGeom prst="line">
            <a:avLst/>
          </a:prstGeom>
          <a:ln cap="rnd" w="28575">
            <a:solidFill>
              <a:srgbClr val="B084CC"/>
            </a:solidFill>
            <a:prstDash val="solid"/>
            <a:headEnd type="none" len="sm" w="sm"/>
            <a:tailEnd type="oval" len="lg" w="lg"/>
          </a:ln>
        </p:spPr>
      </p:sp>
      <p:sp>
        <p:nvSpPr>
          <p:cNvPr name="Freeform 7" id="7"/>
          <p:cNvSpPr/>
          <p:nvPr/>
        </p:nvSpPr>
        <p:spPr>
          <a:xfrm flipH="false" flipV="false" rot="0">
            <a:off x="7990027" y="2915479"/>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8778573" y="2550052"/>
            <a:ext cx="730872" cy="730872"/>
          </a:xfrm>
          <a:custGeom>
            <a:avLst/>
            <a:gdLst/>
            <a:ahLst/>
            <a:cxnLst/>
            <a:rect r="r" b="b" t="t" l="l"/>
            <a:pathLst>
              <a:path h="730872" w="730872">
                <a:moveTo>
                  <a:pt x="0" y="0"/>
                </a:moveTo>
                <a:lnTo>
                  <a:pt x="730873" y="0"/>
                </a:lnTo>
                <a:lnTo>
                  <a:pt x="730873"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9" id="9"/>
          <p:cNvSpPr/>
          <p:nvPr/>
        </p:nvSpPr>
        <p:spPr>
          <a:xfrm rot="5394240">
            <a:off x="8917857" y="5439747"/>
            <a:ext cx="5669337" cy="0"/>
          </a:xfrm>
          <a:prstGeom prst="line">
            <a:avLst/>
          </a:prstGeom>
          <a:ln cap="rnd" w="9525">
            <a:solidFill>
              <a:srgbClr val="FFFFFF"/>
            </a:solidFill>
            <a:prstDash val="solid"/>
            <a:headEnd type="none" len="sm" w="sm"/>
            <a:tailEnd type="none" len="sm" w="sm"/>
          </a:ln>
        </p:spPr>
      </p:sp>
      <p:sp>
        <p:nvSpPr>
          <p:cNvPr name="Freeform 10" id="10"/>
          <p:cNvSpPr/>
          <p:nvPr/>
        </p:nvSpPr>
        <p:spPr>
          <a:xfrm flipH="false" flipV="false" rot="0">
            <a:off x="13205555" y="2979896"/>
            <a:ext cx="2307946" cy="2307946"/>
          </a:xfrm>
          <a:custGeom>
            <a:avLst/>
            <a:gdLst/>
            <a:ahLst/>
            <a:cxnLst/>
            <a:rect r="r" b="b" t="t" l="l"/>
            <a:pathLst>
              <a:path h="2307946" w="2307946">
                <a:moveTo>
                  <a:pt x="0" y="0"/>
                </a:moveTo>
                <a:lnTo>
                  <a:pt x="2307946" y="0"/>
                </a:lnTo>
                <a:lnTo>
                  <a:pt x="2307946" y="2307946"/>
                </a:lnTo>
                <a:lnTo>
                  <a:pt x="0" y="23079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11" id="11"/>
          <p:cNvSpPr/>
          <p:nvPr/>
        </p:nvSpPr>
        <p:spPr>
          <a:xfrm rot="5347920">
            <a:off x="13102085" y="4539558"/>
            <a:ext cx="2514886" cy="0"/>
          </a:xfrm>
          <a:prstGeom prst="line">
            <a:avLst/>
          </a:prstGeom>
          <a:ln cap="rnd" w="28575">
            <a:solidFill>
              <a:srgbClr val="FF914D"/>
            </a:solidFill>
            <a:prstDash val="solid"/>
            <a:headEnd type="none" len="sm" w="sm"/>
            <a:tailEnd type="oval" len="lg" w="lg"/>
          </a:ln>
        </p:spPr>
      </p:sp>
      <p:sp>
        <p:nvSpPr>
          <p:cNvPr name="Freeform 12" id="12"/>
          <p:cNvSpPr/>
          <p:nvPr/>
        </p:nvSpPr>
        <p:spPr>
          <a:xfrm flipH="false" flipV="false" rot="0">
            <a:off x="13994101" y="2614470"/>
            <a:ext cx="730872" cy="730872"/>
          </a:xfrm>
          <a:custGeom>
            <a:avLst/>
            <a:gdLst/>
            <a:ahLst/>
            <a:cxnLst/>
            <a:rect r="r" b="b" t="t" l="l"/>
            <a:pathLst>
              <a:path h="730872" w="730872">
                <a:moveTo>
                  <a:pt x="0" y="0"/>
                </a:moveTo>
                <a:lnTo>
                  <a:pt x="730873" y="0"/>
                </a:lnTo>
                <a:lnTo>
                  <a:pt x="730873" y="730872"/>
                </a:lnTo>
                <a:lnTo>
                  <a:pt x="0" y="730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3243253" y="3448650"/>
            <a:ext cx="1370438" cy="1370438"/>
            <a:chOff x="0" y="0"/>
            <a:chExt cx="1827251" cy="1827251"/>
          </a:xfrm>
        </p:grpSpPr>
        <p:sp>
          <p:nvSpPr>
            <p:cNvPr name="Freeform 14" id="14"/>
            <p:cNvSpPr/>
            <p:nvPr/>
          </p:nvSpPr>
          <p:spPr>
            <a:xfrm flipH="false" flipV="false" rot="0">
              <a:off x="0" y="0"/>
              <a:ext cx="1827276" cy="1827276"/>
            </a:xfrm>
            <a:custGeom>
              <a:avLst/>
              <a:gdLst/>
              <a:ahLst/>
              <a:cxnLst/>
              <a:rect r="r" b="b" t="t" l="l"/>
              <a:pathLst>
                <a:path h="1827276" w="1827276">
                  <a:moveTo>
                    <a:pt x="0" y="0"/>
                  </a:moveTo>
                  <a:lnTo>
                    <a:pt x="1827276" y="0"/>
                  </a:lnTo>
                  <a:lnTo>
                    <a:pt x="1827276" y="1827276"/>
                  </a:lnTo>
                  <a:lnTo>
                    <a:pt x="0" y="1827276"/>
                  </a:lnTo>
                  <a:lnTo>
                    <a:pt x="0" y="0"/>
                  </a:lnTo>
                  <a:close/>
                </a:path>
              </a:pathLst>
            </a:custGeom>
            <a:blipFill>
              <a:blip r:embed="rId11"/>
              <a:stretch>
                <a:fillRect l="0" t="0" r="1" b="1"/>
              </a:stretch>
            </a:blipFill>
          </p:spPr>
        </p:sp>
      </p:grpSp>
      <p:grpSp>
        <p:nvGrpSpPr>
          <p:cNvPr name="Group 15" id="15"/>
          <p:cNvGrpSpPr/>
          <p:nvPr/>
        </p:nvGrpSpPr>
        <p:grpSpPr>
          <a:xfrm rot="0">
            <a:off x="8275253" y="3603584"/>
            <a:ext cx="1737484" cy="931726"/>
            <a:chOff x="0" y="0"/>
            <a:chExt cx="2316645" cy="1242301"/>
          </a:xfrm>
        </p:grpSpPr>
        <p:sp>
          <p:nvSpPr>
            <p:cNvPr name="Freeform 16" id="16"/>
            <p:cNvSpPr/>
            <p:nvPr/>
          </p:nvSpPr>
          <p:spPr>
            <a:xfrm flipH="false" flipV="false" rot="0">
              <a:off x="0" y="0"/>
              <a:ext cx="2316607" cy="1242314"/>
            </a:xfrm>
            <a:custGeom>
              <a:avLst/>
              <a:gdLst/>
              <a:ahLst/>
              <a:cxnLst/>
              <a:rect r="r" b="b" t="t" l="l"/>
              <a:pathLst>
                <a:path h="1242314" w="2316607">
                  <a:moveTo>
                    <a:pt x="0" y="0"/>
                  </a:moveTo>
                  <a:lnTo>
                    <a:pt x="2316607" y="0"/>
                  </a:lnTo>
                  <a:lnTo>
                    <a:pt x="2316607" y="1242314"/>
                  </a:lnTo>
                  <a:lnTo>
                    <a:pt x="0" y="1242314"/>
                  </a:lnTo>
                  <a:lnTo>
                    <a:pt x="0" y="0"/>
                  </a:lnTo>
                  <a:close/>
                </a:path>
              </a:pathLst>
            </a:custGeom>
            <a:blipFill>
              <a:blip r:embed="rId12"/>
              <a:stretch>
                <a:fillRect l="0" t="-17" r="-1" b="-16"/>
              </a:stretch>
            </a:blipFill>
          </p:spPr>
        </p:sp>
      </p:grpSp>
      <p:grpSp>
        <p:nvGrpSpPr>
          <p:cNvPr name="Group 17" id="17"/>
          <p:cNvGrpSpPr/>
          <p:nvPr/>
        </p:nvGrpSpPr>
        <p:grpSpPr>
          <a:xfrm rot="604440">
            <a:off x="13861113" y="3501628"/>
            <a:ext cx="998734" cy="1264225"/>
            <a:chOff x="0" y="0"/>
            <a:chExt cx="1331646" cy="1685633"/>
          </a:xfrm>
        </p:grpSpPr>
        <p:sp>
          <p:nvSpPr>
            <p:cNvPr name="Freeform 18" id="18"/>
            <p:cNvSpPr/>
            <p:nvPr/>
          </p:nvSpPr>
          <p:spPr>
            <a:xfrm flipH="false" flipV="false" rot="0">
              <a:off x="0" y="0"/>
              <a:ext cx="1331595" cy="1685671"/>
            </a:xfrm>
            <a:custGeom>
              <a:avLst/>
              <a:gdLst/>
              <a:ahLst/>
              <a:cxnLst/>
              <a:rect r="r" b="b" t="t" l="l"/>
              <a:pathLst>
                <a:path h="1685671" w="1331595">
                  <a:moveTo>
                    <a:pt x="0" y="0"/>
                  </a:moveTo>
                  <a:lnTo>
                    <a:pt x="1331595" y="0"/>
                  </a:lnTo>
                  <a:lnTo>
                    <a:pt x="1331595" y="1685671"/>
                  </a:lnTo>
                  <a:lnTo>
                    <a:pt x="0" y="1685671"/>
                  </a:lnTo>
                  <a:lnTo>
                    <a:pt x="0" y="0"/>
                  </a:lnTo>
                  <a:close/>
                </a:path>
              </a:pathLst>
            </a:custGeom>
            <a:blipFill>
              <a:blip r:embed="rId13"/>
              <a:stretch>
                <a:fillRect l="0" t="-33" r="-3" b="-31"/>
              </a:stretch>
            </a:blipFill>
          </p:spPr>
        </p:sp>
      </p:grpSp>
      <p:sp>
        <p:nvSpPr>
          <p:cNvPr name="TextBox 19" id="19"/>
          <p:cNvSpPr txBox="true"/>
          <p:nvPr/>
        </p:nvSpPr>
        <p:spPr>
          <a:xfrm rot="0">
            <a:off x="3167091" y="956729"/>
            <a:ext cx="11953799" cy="960901"/>
          </a:xfrm>
          <a:prstGeom prst="rect">
            <a:avLst/>
          </a:prstGeom>
        </p:spPr>
        <p:txBody>
          <a:bodyPr anchor="t" rtlCol="false" tIns="0" lIns="0" bIns="0" rIns="0">
            <a:spAutoFit/>
          </a:bodyPr>
          <a:lstStyle/>
          <a:p>
            <a:pPr algn="ctr">
              <a:lnSpc>
                <a:spcPts val="3898"/>
              </a:lnSpc>
            </a:pPr>
            <a:r>
              <a:rPr lang="en-US" sz="2499">
                <a:solidFill>
                  <a:srgbClr val="FFFFFF"/>
                </a:solidFill>
                <a:latin typeface="Montserrat"/>
                <a:ea typeface="Montserrat"/>
                <a:cs typeface="Montserrat"/>
                <a:sym typeface="Montserrat"/>
              </a:rPr>
              <a:t>La capacidad de ejecutar un programa que esté sólo parcialmente en la memoria le otorga muchos beneficios</a:t>
            </a:r>
          </a:p>
        </p:txBody>
      </p:sp>
      <p:sp>
        <p:nvSpPr>
          <p:cNvPr name="TextBox 20" id="20"/>
          <p:cNvSpPr txBox="true"/>
          <p:nvPr/>
        </p:nvSpPr>
        <p:spPr>
          <a:xfrm rot="0">
            <a:off x="1783423" y="5946629"/>
            <a:ext cx="4290003" cy="3576076"/>
          </a:xfrm>
          <a:prstGeom prst="rect">
            <a:avLst/>
          </a:prstGeom>
        </p:spPr>
        <p:txBody>
          <a:bodyPr anchor="t" rtlCol="false" tIns="0" lIns="0" bIns="0" rIns="0">
            <a:spAutoFit/>
          </a:bodyPr>
          <a:lstStyle/>
          <a:p>
            <a:pPr algn="ctr">
              <a:lnSpc>
                <a:spcPts val="3120"/>
              </a:lnSpc>
            </a:pPr>
            <a:r>
              <a:rPr lang="en-US" sz="2000">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p>
        </p:txBody>
      </p:sp>
      <p:sp>
        <p:nvSpPr>
          <p:cNvPr name="TextBox 21" id="21"/>
          <p:cNvSpPr txBox="true"/>
          <p:nvPr/>
        </p:nvSpPr>
        <p:spPr>
          <a:xfrm rot="0">
            <a:off x="3638369" y="2620404"/>
            <a:ext cx="580196" cy="446246"/>
          </a:xfrm>
          <a:prstGeom prst="rect">
            <a:avLst/>
          </a:prstGeom>
        </p:spPr>
        <p:txBody>
          <a:bodyPr anchor="t" rtlCol="false" tIns="0" lIns="0" bIns="0" rIns="0">
            <a:spAutoFit/>
          </a:bodyPr>
          <a:lstStyle/>
          <a:p>
            <a:pPr algn="ctr">
              <a:lnSpc>
                <a:spcPts val="3557"/>
              </a:lnSpc>
            </a:pPr>
            <a:r>
              <a:rPr lang="en-US" b="true" sz="2279">
                <a:solidFill>
                  <a:srgbClr val="24B296"/>
                </a:solidFill>
                <a:latin typeface="Arial Bold"/>
                <a:ea typeface="Arial Bold"/>
                <a:cs typeface="Arial Bold"/>
                <a:sym typeface="Arial Bold"/>
              </a:rPr>
              <a:t>01</a:t>
            </a:r>
          </a:p>
        </p:txBody>
      </p:sp>
      <p:sp>
        <p:nvSpPr>
          <p:cNvPr name="TextBox 22" id="22"/>
          <p:cNvSpPr txBox="true"/>
          <p:nvPr/>
        </p:nvSpPr>
        <p:spPr>
          <a:xfrm rot="0">
            <a:off x="6998951" y="5946629"/>
            <a:ext cx="4290003" cy="3576076"/>
          </a:xfrm>
          <a:prstGeom prst="rect">
            <a:avLst/>
          </a:prstGeom>
        </p:spPr>
        <p:txBody>
          <a:bodyPr anchor="t" rtlCol="false" tIns="0" lIns="0" bIns="0" rIns="0">
            <a:spAutoFit/>
          </a:bodyPr>
          <a:lstStyle/>
          <a:p>
            <a:pPr algn="ctr">
              <a:lnSpc>
                <a:spcPts val="3120"/>
              </a:lnSpc>
            </a:pPr>
            <a:r>
              <a:rPr lang="en-US" sz="2000">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p>
        </p:txBody>
      </p:sp>
      <p:sp>
        <p:nvSpPr>
          <p:cNvPr name="TextBox 23" id="23"/>
          <p:cNvSpPr txBox="true"/>
          <p:nvPr/>
        </p:nvSpPr>
        <p:spPr>
          <a:xfrm rot="0">
            <a:off x="8853897" y="2620394"/>
            <a:ext cx="580196" cy="446246"/>
          </a:xfrm>
          <a:prstGeom prst="rect">
            <a:avLst/>
          </a:prstGeom>
        </p:spPr>
        <p:txBody>
          <a:bodyPr anchor="t" rtlCol="false" tIns="0" lIns="0" bIns="0" rIns="0">
            <a:spAutoFit/>
          </a:bodyPr>
          <a:lstStyle/>
          <a:p>
            <a:pPr algn="ctr">
              <a:lnSpc>
                <a:spcPts val="3557"/>
              </a:lnSpc>
            </a:pPr>
            <a:r>
              <a:rPr lang="en-US" b="true" sz="2279">
                <a:solidFill>
                  <a:srgbClr val="B084CC"/>
                </a:solidFill>
                <a:latin typeface="Arial Bold"/>
                <a:ea typeface="Arial Bold"/>
                <a:cs typeface="Arial Bold"/>
                <a:sym typeface="Arial Bold"/>
              </a:rPr>
              <a:t>02</a:t>
            </a:r>
          </a:p>
        </p:txBody>
      </p:sp>
      <p:sp>
        <p:nvSpPr>
          <p:cNvPr name="TextBox 24" id="24"/>
          <p:cNvSpPr txBox="true"/>
          <p:nvPr/>
        </p:nvSpPr>
        <p:spPr>
          <a:xfrm rot="0">
            <a:off x="12214489" y="6011047"/>
            <a:ext cx="4290003" cy="2375478"/>
          </a:xfrm>
          <a:prstGeom prst="rect">
            <a:avLst/>
          </a:prstGeom>
        </p:spPr>
        <p:txBody>
          <a:bodyPr anchor="t" rtlCol="false" tIns="0" lIns="0" bIns="0" rIns="0">
            <a:spAutoFit/>
          </a:bodyPr>
          <a:lstStyle/>
          <a:p>
            <a:pPr algn="ctr">
              <a:lnSpc>
                <a:spcPts val="3120"/>
              </a:lnSpc>
            </a:pPr>
            <a:r>
              <a:rPr lang="en-US" sz="2000">
                <a:solidFill>
                  <a:srgbClr val="FFFFFF"/>
                </a:solidFill>
                <a:latin typeface="Montserrat"/>
                <a:ea typeface="Montserrat"/>
                <a:cs typeface="Montserrat"/>
                <a:sym typeface="Montserrat"/>
              </a:rPr>
              <a:t>Se necesitaría menos E/S para cargar o intercambiar cada programa de usuario en la memoria, por lo que cada programa de usuario se ejecutaría más rápido.</a:t>
            </a:r>
          </a:p>
        </p:txBody>
      </p:sp>
      <p:sp>
        <p:nvSpPr>
          <p:cNvPr name="TextBox 25" id="25"/>
          <p:cNvSpPr txBox="true"/>
          <p:nvPr/>
        </p:nvSpPr>
        <p:spPr>
          <a:xfrm rot="0">
            <a:off x="14069435" y="2684812"/>
            <a:ext cx="580196" cy="446246"/>
          </a:xfrm>
          <a:prstGeom prst="rect">
            <a:avLst/>
          </a:prstGeom>
        </p:spPr>
        <p:txBody>
          <a:bodyPr anchor="t" rtlCol="false" tIns="0" lIns="0" bIns="0" rIns="0">
            <a:spAutoFit/>
          </a:bodyPr>
          <a:lstStyle/>
          <a:p>
            <a:pPr algn="ctr">
              <a:lnSpc>
                <a:spcPts val="3557"/>
              </a:lnSpc>
            </a:pPr>
            <a:r>
              <a:rPr lang="en-US" b="true" sz="2279">
                <a:solidFill>
                  <a:srgbClr val="FF914D"/>
                </a:solidFill>
                <a:latin typeface="Arial Bold"/>
                <a:ea typeface="Arial Bold"/>
                <a:cs typeface="Arial Bold"/>
                <a:sym typeface="Arial Bold"/>
              </a:rPr>
              <a:t>03</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9767926" y="1823504"/>
            <a:ext cx="7491660" cy="6531531"/>
          </a:xfrm>
          <a:custGeom>
            <a:avLst/>
            <a:gdLst/>
            <a:ahLst/>
            <a:cxnLst/>
            <a:rect r="r" b="b" t="t" l="l"/>
            <a:pathLst>
              <a:path h="6531531" w="7491660">
                <a:moveTo>
                  <a:pt x="0" y="0"/>
                </a:moveTo>
                <a:lnTo>
                  <a:pt x="7491660" y="0"/>
                </a:lnTo>
                <a:lnTo>
                  <a:pt x="7491660" y="6531531"/>
                </a:lnTo>
                <a:lnTo>
                  <a:pt x="0" y="65315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1055018"/>
            <a:ext cx="8476021" cy="8068523"/>
          </a:xfrm>
          <a:custGeom>
            <a:avLst/>
            <a:gdLst/>
            <a:ahLst/>
            <a:cxnLst/>
            <a:rect r="r" b="b" t="t" l="l"/>
            <a:pathLst>
              <a:path h="8068523" w="8476021">
                <a:moveTo>
                  <a:pt x="0" y="0"/>
                </a:moveTo>
                <a:lnTo>
                  <a:pt x="8476021" y="0"/>
                </a:lnTo>
                <a:lnTo>
                  <a:pt x="8476021" y="8068522"/>
                </a:lnTo>
                <a:lnTo>
                  <a:pt x="0" y="80685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0273208" y="2557367"/>
            <a:ext cx="6480810" cy="5172275"/>
            <a:chOff x="0" y="0"/>
            <a:chExt cx="8641080" cy="6896367"/>
          </a:xfrm>
        </p:grpSpPr>
        <p:sp>
          <p:nvSpPr>
            <p:cNvPr name="Freeform 7" id="7"/>
            <p:cNvSpPr/>
            <p:nvPr/>
          </p:nvSpPr>
          <p:spPr>
            <a:xfrm flipH="false" flipV="false" rot="0">
              <a:off x="0" y="0"/>
              <a:ext cx="8641080" cy="6896354"/>
            </a:xfrm>
            <a:custGeom>
              <a:avLst/>
              <a:gdLst/>
              <a:ahLst/>
              <a:cxnLst/>
              <a:rect r="r" b="b" t="t" l="l"/>
              <a:pathLst>
                <a:path h="6896354" w="8641080">
                  <a:moveTo>
                    <a:pt x="0" y="0"/>
                  </a:moveTo>
                  <a:lnTo>
                    <a:pt x="8641080" y="0"/>
                  </a:lnTo>
                  <a:lnTo>
                    <a:pt x="8641080" y="6896354"/>
                  </a:lnTo>
                  <a:lnTo>
                    <a:pt x="0" y="6896354"/>
                  </a:lnTo>
                  <a:lnTo>
                    <a:pt x="0" y="0"/>
                  </a:lnTo>
                  <a:close/>
                </a:path>
              </a:pathLst>
            </a:custGeom>
            <a:blipFill>
              <a:blip r:embed="rId8"/>
              <a:stretch>
                <a:fillRect l="0" t="0" r="0" b="0"/>
              </a:stretch>
            </a:blipFill>
          </p:spPr>
        </p:sp>
      </p:grpSp>
      <p:sp>
        <p:nvSpPr>
          <p:cNvPr name="TextBox 8" id="8"/>
          <p:cNvSpPr txBox="true"/>
          <p:nvPr/>
        </p:nvSpPr>
        <p:spPr>
          <a:xfrm rot="0">
            <a:off x="1454163" y="1411919"/>
            <a:ext cx="7440597" cy="7249420"/>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La memoria virtual implica la separación de la memoria lógica, tal como la perciben los usuarios, de la memoria física. Esta separación permite proporcionar una memoria virtual extremadamente grande a los programadores cuando solo hay disponible una memoria física más pequeña.</a:t>
            </a:r>
          </a:p>
          <a:p>
            <a:pPr algn="l">
              <a:lnSpc>
                <a:spcPts val="2183"/>
              </a:lnSpc>
            </a:pPr>
          </a:p>
          <a:p>
            <a:pPr algn="l">
              <a:lnSpc>
                <a:spcPts val="4056"/>
              </a:lnSpc>
            </a:pPr>
            <a:r>
              <a:rPr lang="en-US" sz="2600">
                <a:solidFill>
                  <a:srgbClr val="FFFFFF"/>
                </a:solidFill>
                <a:latin typeface="Montserrat"/>
                <a:ea typeface="Montserrat"/>
                <a:cs typeface="Montserrat"/>
                <a:sym typeface="Montserrat"/>
              </a:rPr>
              <a:t>La memoria virtual facilita mucho la tarea de programación, porque el programador ya no necesita preocuparse por la cantidad de memoria física disponible; en cambio, puede concentrarse en el problema que debe programarse.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642737" y="-2180463"/>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1055018"/>
            <a:ext cx="7217512" cy="8068523"/>
          </a:xfrm>
          <a:custGeom>
            <a:avLst/>
            <a:gdLst/>
            <a:ahLst/>
            <a:cxnLst/>
            <a:rect r="r" b="b" t="t" l="l"/>
            <a:pathLst>
              <a:path h="8068523" w="7217512">
                <a:moveTo>
                  <a:pt x="0" y="0"/>
                </a:moveTo>
                <a:lnTo>
                  <a:pt x="7217512" y="0"/>
                </a:lnTo>
                <a:lnTo>
                  <a:pt x="7217512" y="8068522"/>
                </a:lnTo>
                <a:lnTo>
                  <a:pt x="0" y="80685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683161" y="1055018"/>
            <a:ext cx="8476021" cy="8068523"/>
          </a:xfrm>
          <a:custGeom>
            <a:avLst/>
            <a:gdLst/>
            <a:ahLst/>
            <a:cxnLst/>
            <a:rect r="r" b="b" t="t" l="l"/>
            <a:pathLst>
              <a:path h="8068523" w="8476021">
                <a:moveTo>
                  <a:pt x="0" y="0"/>
                </a:moveTo>
                <a:lnTo>
                  <a:pt x="8476022" y="0"/>
                </a:lnTo>
                <a:lnTo>
                  <a:pt x="8476022" y="8068522"/>
                </a:lnTo>
                <a:lnTo>
                  <a:pt x="0" y="80685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760401" y="1613487"/>
            <a:ext cx="5754053" cy="7060025"/>
            <a:chOff x="0" y="0"/>
            <a:chExt cx="7672070" cy="9413367"/>
          </a:xfrm>
        </p:grpSpPr>
        <p:sp>
          <p:nvSpPr>
            <p:cNvPr name="Freeform 7" id="7"/>
            <p:cNvSpPr/>
            <p:nvPr/>
          </p:nvSpPr>
          <p:spPr>
            <a:xfrm flipH="false" flipV="false" rot="0">
              <a:off x="0" y="0"/>
              <a:ext cx="7672070" cy="9413367"/>
            </a:xfrm>
            <a:custGeom>
              <a:avLst/>
              <a:gdLst/>
              <a:ahLst/>
              <a:cxnLst/>
              <a:rect r="r" b="b" t="t" l="l"/>
              <a:pathLst>
                <a:path h="9413367" w="7672070">
                  <a:moveTo>
                    <a:pt x="0" y="0"/>
                  </a:moveTo>
                  <a:lnTo>
                    <a:pt x="7672070" y="0"/>
                  </a:lnTo>
                  <a:lnTo>
                    <a:pt x="7672070" y="9413367"/>
                  </a:lnTo>
                  <a:lnTo>
                    <a:pt x="0" y="9413367"/>
                  </a:lnTo>
                  <a:lnTo>
                    <a:pt x="0" y="0"/>
                  </a:lnTo>
                  <a:close/>
                </a:path>
              </a:pathLst>
            </a:custGeom>
            <a:blipFill>
              <a:blip r:embed="rId8"/>
              <a:stretch>
                <a:fillRect l="0" t="0" r="0" b="0"/>
              </a:stretch>
            </a:blipFill>
          </p:spPr>
        </p:sp>
      </p:grpSp>
      <p:sp>
        <p:nvSpPr>
          <p:cNvPr name="TextBox 8" id="8"/>
          <p:cNvSpPr txBox="true"/>
          <p:nvPr/>
        </p:nvSpPr>
        <p:spPr>
          <a:xfrm rot="0">
            <a:off x="9144000" y="1411919"/>
            <a:ext cx="7440597" cy="7769628"/>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El espacio de direcciones virtuales de un proceso se refiere a la vista lógica (o virtual) de cómo se almacena un proceso en la memoria. Normalmente, esta visión es que un proceso comienza en una determinada dirección lógica (por ejemplo, la dirección 0) y existe en una memoria contigua.</a:t>
            </a:r>
          </a:p>
          <a:p>
            <a:pPr algn="l">
              <a:lnSpc>
                <a:spcPts val="2183"/>
              </a:lnSpc>
            </a:pPr>
          </a:p>
          <a:p>
            <a:pPr algn="l">
              <a:lnSpc>
                <a:spcPts val="4056"/>
              </a:lnSpc>
            </a:pPr>
            <a:r>
              <a:rPr lang="en-US" sz="2600">
                <a:solidFill>
                  <a:srgbClr val="FFFFFF"/>
                </a:solidFill>
                <a:latin typeface="Montserrat"/>
                <a:ea typeface="Montserrat"/>
                <a:cs typeface="Montserrat"/>
                <a:sym typeface="Montserrat"/>
              </a:rPr>
              <a:t>La memoria física puede estar organizada en marcos de página y los marcos de página físicos asignados a un proceso pueden no ser contiguos. Depende de la unidad de administración de memoria (MMU) asignar páginas lógicas a marcos de páginas físicas en la memoria.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789546" y="3989727"/>
            <a:ext cx="7467171" cy="5146719"/>
          </a:xfrm>
          <a:custGeom>
            <a:avLst/>
            <a:gdLst/>
            <a:ahLst/>
            <a:cxnLst/>
            <a:rect r="r" b="b" t="t" l="l"/>
            <a:pathLst>
              <a:path h="5146719" w="7467171">
                <a:moveTo>
                  <a:pt x="0" y="0"/>
                </a:moveTo>
                <a:lnTo>
                  <a:pt x="7467172" y="0"/>
                </a:lnTo>
                <a:lnTo>
                  <a:pt x="7467172" y="5146720"/>
                </a:lnTo>
                <a:lnTo>
                  <a:pt x="0" y="51467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544763" y="1042092"/>
            <a:ext cx="8954233" cy="8094383"/>
          </a:xfrm>
          <a:custGeom>
            <a:avLst/>
            <a:gdLst/>
            <a:ahLst/>
            <a:cxnLst/>
            <a:rect r="r" b="b" t="t" l="l"/>
            <a:pathLst>
              <a:path h="8094383" w="8954233">
                <a:moveTo>
                  <a:pt x="0" y="0"/>
                </a:moveTo>
                <a:lnTo>
                  <a:pt x="8954234" y="0"/>
                </a:lnTo>
                <a:lnTo>
                  <a:pt x="8954234" y="8094383"/>
                </a:lnTo>
                <a:lnTo>
                  <a:pt x="0" y="8094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252052" y="4383643"/>
            <a:ext cx="6258992" cy="4467349"/>
            <a:chOff x="0" y="0"/>
            <a:chExt cx="8345322" cy="5956465"/>
          </a:xfrm>
        </p:grpSpPr>
        <p:sp>
          <p:nvSpPr>
            <p:cNvPr name="Freeform 7" id="7"/>
            <p:cNvSpPr/>
            <p:nvPr/>
          </p:nvSpPr>
          <p:spPr>
            <a:xfrm flipH="false" flipV="false" rot="0">
              <a:off x="0" y="0"/>
              <a:ext cx="8345297" cy="5956427"/>
            </a:xfrm>
            <a:custGeom>
              <a:avLst/>
              <a:gdLst/>
              <a:ahLst/>
              <a:cxnLst/>
              <a:rect r="r" b="b" t="t" l="l"/>
              <a:pathLst>
                <a:path h="5956427" w="8345297">
                  <a:moveTo>
                    <a:pt x="0" y="0"/>
                  </a:moveTo>
                  <a:lnTo>
                    <a:pt x="8345297" y="0"/>
                  </a:lnTo>
                  <a:lnTo>
                    <a:pt x="8345297" y="5956427"/>
                  </a:lnTo>
                  <a:lnTo>
                    <a:pt x="0" y="5956427"/>
                  </a:lnTo>
                  <a:lnTo>
                    <a:pt x="0" y="0"/>
                  </a:lnTo>
                  <a:close/>
                </a:path>
              </a:pathLst>
            </a:custGeom>
            <a:blipFill>
              <a:blip r:embed="rId8"/>
              <a:stretch>
                <a:fillRect l="0" t="0" r="0" b="0"/>
              </a:stretch>
            </a:blipFill>
          </p:spPr>
        </p:sp>
      </p:grpSp>
      <p:sp>
        <p:nvSpPr>
          <p:cNvPr name="TextBox 8" id="8"/>
          <p:cNvSpPr txBox="true"/>
          <p:nvPr/>
        </p:nvSpPr>
        <p:spPr>
          <a:xfrm rot="0">
            <a:off x="9035844" y="1840544"/>
            <a:ext cx="7971596" cy="672922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Considere un programa que comienza con una lista de opciones disponibles entre las que el usuario debe seleccionar. Cargar todo el programa en la memoria da como resultado la carga del código ejecutable para todas las opciones, independientemente de si el usuario finalmente selecciona una opción o no. </a:t>
            </a:r>
          </a:p>
          <a:p>
            <a:pPr algn="l">
              <a:lnSpc>
                <a:spcPts val="2183"/>
              </a:lnSpc>
            </a:pPr>
          </a:p>
          <a:p>
            <a:pPr algn="l">
              <a:lnSpc>
                <a:spcPts val="4056"/>
              </a:lnSpc>
            </a:pPr>
            <a:r>
              <a:rPr lang="en-US" sz="2600">
                <a:solidFill>
                  <a:srgbClr val="FFFFFF"/>
                </a:solidFill>
                <a:latin typeface="Montserrat"/>
                <a:ea typeface="Montserrat"/>
                <a:cs typeface="Montserrat"/>
                <a:sym typeface="Montserrat"/>
              </a:rPr>
              <a:t>Una estrategia alternativa es cargar inicialmente las páginas sólo cuando sean necesarias. Esta técnica se conoce como paginación por demanda y se usa comúnmente en sistemas de memoria virtual.</a:t>
            </a:r>
          </a:p>
        </p:txBody>
      </p:sp>
      <p:sp>
        <p:nvSpPr>
          <p:cNvPr name="TextBox 9" id="9"/>
          <p:cNvSpPr txBox="true"/>
          <p:nvPr/>
        </p:nvSpPr>
        <p:spPr>
          <a:xfrm rot="0">
            <a:off x="1028700" y="1642882"/>
            <a:ext cx="7092296" cy="2435400"/>
          </a:xfrm>
          <a:prstGeom prst="rect">
            <a:avLst/>
          </a:prstGeom>
        </p:spPr>
        <p:txBody>
          <a:bodyPr anchor="t" rtlCol="false" tIns="0" lIns="0" bIns="0" rIns="0">
            <a:spAutoFit/>
          </a:bodyPr>
          <a:lstStyle/>
          <a:p>
            <a:pPr algn="l">
              <a:lnSpc>
                <a:spcPts val="9581"/>
              </a:lnSpc>
            </a:pPr>
            <a:r>
              <a:rPr lang="en-US" sz="6598">
                <a:solidFill>
                  <a:srgbClr val="FFFFFF"/>
                </a:solidFill>
                <a:latin typeface="Arial"/>
                <a:ea typeface="Arial"/>
                <a:cs typeface="Arial"/>
                <a:sym typeface="Arial"/>
              </a:rPr>
              <a:t>PAGINACIÓN POR DEMANDA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9392183" y="1042092"/>
            <a:ext cx="8085563" cy="5793372"/>
          </a:xfrm>
          <a:custGeom>
            <a:avLst/>
            <a:gdLst/>
            <a:ahLst/>
            <a:cxnLst/>
            <a:rect r="r" b="b" t="t" l="l"/>
            <a:pathLst>
              <a:path h="5793372" w="8085563">
                <a:moveTo>
                  <a:pt x="0" y="0"/>
                </a:moveTo>
                <a:lnTo>
                  <a:pt x="8085563" y="0"/>
                </a:lnTo>
                <a:lnTo>
                  <a:pt x="8085563" y="5793372"/>
                </a:lnTo>
                <a:lnTo>
                  <a:pt x="0" y="57933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0301" y="1042092"/>
            <a:ext cx="8191548" cy="8094383"/>
          </a:xfrm>
          <a:custGeom>
            <a:avLst/>
            <a:gdLst/>
            <a:ahLst/>
            <a:cxnLst/>
            <a:rect r="r" b="b" t="t" l="l"/>
            <a:pathLst>
              <a:path h="8094383" w="8191548">
                <a:moveTo>
                  <a:pt x="0" y="0"/>
                </a:moveTo>
                <a:lnTo>
                  <a:pt x="8191548" y="0"/>
                </a:lnTo>
                <a:lnTo>
                  <a:pt x="8191548" y="8094383"/>
                </a:lnTo>
                <a:lnTo>
                  <a:pt x="0" y="8094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774679" y="1438970"/>
            <a:ext cx="7309409" cy="5016779"/>
          </a:xfrm>
          <a:custGeom>
            <a:avLst/>
            <a:gdLst/>
            <a:ahLst/>
            <a:cxnLst/>
            <a:rect r="r" b="b" t="t" l="l"/>
            <a:pathLst>
              <a:path h="5016779" w="7309409">
                <a:moveTo>
                  <a:pt x="0" y="0"/>
                </a:moveTo>
                <a:lnTo>
                  <a:pt x="7309409" y="0"/>
                </a:lnTo>
                <a:lnTo>
                  <a:pt x="7309409" y="5016780"/>
                </a:lnTo>
                <a:lnTo>
                  <a:pt x="0" y="50167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0020052" y="1828867"/>
            <a:ext cx="6829768" cy="4345438"/>
            <a:chOff x="0" y="0"/>
            <a:chExt cx="9106357" cy="5793918"/>
          </a:xfrm>
        </p:grpSpPr>
        <p:sp>
          <p:nvSpPr>
            <p:cNvPr name="Freeform 8" id="8"/>
            <p:cNvSpPr/>
            <p:nvPr/>
          </p:nvSpPr>
          <p:spPr>
            <a:xfrm flipH="false" flipV="false" rot="0">
              <a:off x="0" y="0"/>
              <a:ext cx="9106408" cy="5793867"/>
            </a:xfrm>
            <a:custGeom>
              <a:avLst/>
              <a:gdLst/>
              <a:ahLst/>
              <a:cxnLst/>
              <a:rect r="r" b="b" t="t" l="l"/>
              <a:pathLst>
                <a:path h="5793867" w="9106408">
                  <a:moveTo>
                    <a:pt x="0" y="0"/>
                  </a:moveTo>
                  <a:lnTo>
                    <a:pt x="9106408" y="0"/>
                  </a:lnTo>
                  <a:lnTo>
                    <a:pt x="9106408" y="5793867"/>
                  </a:lnTo>
                  <a:lnTo>
                    <a:pt x="0" y="5793867"/>
                  </a:lnTo>
                  <a:lnTo>
                    <a:pt x="0" y="0"/>
                  </a:lnTo>
                  <a:close/>
                </a:path>
              </a:pathLst>
            </a:custGeom>
            <a:blipFill>
              <a:blip r:embed="rId10"/>
              <a:stretch>
                <a:fillRect l="0" t="-8" r="0" b="-9"/>
              </a:stretch>
            </a:blipFill>
          </p:spPr>
        </p:sp>
      </p:grpSp>
      <p:sp>
        <p:nvSpPr>
          <p:cNvPr name="TextBox 9" id="9"/>
          <p:cNvSpPr txBox="true"/>
          <p:nvPr/>
        </p:nvSpPr>
        <p:spPr>
          <a:xfrm rot="0">
            <a:off x="1452391" y="1840544"/>
            <a:ext cx="6892804" cy="7249420"/>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Con la memoria virtual paginada bajo demanda, las páginas sólo se cargan cuando se solicitan durante la ejecución del programa; Por lo tanto, las páginas a las que nunca se accede nunca se cargan en la memoria física.</a:t>
            </a:r>
          </a:p>
          <a:p>
            <a:pPr algn="l">
              <a:lnSpc>
                <a:spcPts val="2183"/>
              </a:lnSpc>
            </a:pPr>
          </a:p>
          <a:p>
            <a:pPr algn="l">
              <a:lnSpc>
                <a:spcPts val="4056"/>
              </a:lnSpc>
            </a:pPr>
            <a:r>
              <a:rPr lang="en-US" sz="2600">
                <a:solidFill>
                  <a:srgbClr val="FFFFFF"/>
                </a:solidFill>
                <a:latin typeface="Montserrat"/>
                <a:ea typeface="Montserrat"/>
                <a:cs typeface="Montserrat"/>
                <a:sym typeface="Montserrat"/>
              </a:rPr>
              <a:t>Un sistema de paginación bajo demanda es similar a un sistema de paginación con intercambio donde los procesos residen en la memoria secundaria (generalmente un disco). Cuando queremos ejecutar un proceso, lo intercambiamos en la memoria.</a:t>
            </a:r>
          </a:p>
        </p:txBody>
      </p:sp>
      <p:sp>
        <p:nvSpPr>
          <p:cNvPr name="Freeform 10" id="10"/>
          <p:cNvSpPr/>
          <p:nvPr/>
        </p:nvSpPr>
        <p:spPr>
          <a:xfrm flipH="false" flipV="false" rot="0">
            <a:off x="9392183" y="6995922"/>
            <a:ext cx="8085563" cy="2140506"/>
          </a:xfrm>
          <a:custGeom>
            <a:avLst/>
            <a:gdLst/>
            <a:ahLst/>
            <a:cxnLst/>
            <a:rect r="r" b="b" t="t" l="l"/>
            <a:pathLst>
              <a:path h="2140506" w="8085563">
                <a:moveTo>
                  <a:pt x="0" y="0"/>
                </a:moveTo>
                <a:lnTo>
                  <a:pt x="8085563" y="0"/>
                </a:lnTo>
                <a:lnTo>
                  <a:pt x="8085563" y="2140506"/>
                </a:lnTo>
                <a:lnTo>
                  <a:pt x="0" y="21405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685648"/>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826303" y="1380049"/>
            <a:ext cx="8085563" cy="7418765"/>
          </a:xfrm>
          <a:custGeom>
            <a:avLst/>
            <a:gdLst/>
            <a:ahLst/>
            <a:cxnLst/>
            <a:rect r="r" b="b" t="t" l="l"/>
            <a:pathLst>
              <a:path h="7418765" w="8085563">
                <a:moveTo>
                  <a:pt x="0" y="0"/>
                </a:moveTo>
                <a:lnTo>
                  <a:pt x="8085563" y="0"/>
                </a:lnTo>
                <a:lnTo>
                  <a:pt x="8085563" y="7418765"/>
                </a:lnTo>
                <a:lnTo>
                  <a:pt x="0" y="74187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270206" y="1424588"/>
            <a:ext cx="8191548" cy="7418765"/>
          </a:xfrm>
          <a:custGeom>
            <a:avLst/>
            <a:gdLst/>
            <a:ahLst/>
            <a:cxnLst/>
            <a:rect r="r" b="b" t="t" l="l"/>
            <a:pathLst>
              <a:path h="7418765" w="8191548">
                <a:moveTo>
                  <a:pt x="0" y="0"/>
                </a:moveTo>
                <a:lnTo>
                  <a:pt x="8191548" y="0"/>
                </a:lnTo>
                <a:lnTo>
                  <a:pt x="8191548" y="7418765"/>
                </a:lnTo>
                <a:lnTo>
                  <a:pt x="0" y="74187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08799" y="1776927"/>
            <a:ext cx="7309409" cy="6713772"/>
          </a:xfrm>
          <a:custGeom>
            <a:avLst/>
            <a:gdLst/>
            <a:ahLst/>
            <a:cxnLst/>
            <a:rect r="r" b="b" t="t" l="l"/>
            <a:pathLst>
              <a:path h="6713772" w="7309409">
                <a:moveTo>
                  <a:pt x="0" y="0"/>
                </a:moveTo>
                <a:lnTo>
                  <a:pt x="7309409" y="0"/>
                </a:lnTo>
                <a:lnTo>
                  <a:pt x="7309409" y="6713772"/>
                </a:lnTo>
                <a:lnTo>
                  <a:pt x="0" y="67137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526829" y="2145382"/>
            <a:ext cx="6672872" cy="6085322"/>
            <a:chOff x="0" y="0"/>
            <a:chExt cx="8897163" cy="8113763"/>
          </a:xfrm>
        </p:grpSpPr>
        <p:sp>
          <p:nvSpPr>
            <p:cNvPr name="Freeform 8" id="8"/>
            <p:cNvSpPr/>
            <p:nvPr/>
          </p:nvSpPr>
          <p:spPr>
            <a:xfrm flipH="false" flipV="false" rot="0">
              <a:off x="0" y="0"/>
              <a:ext cx="8897112" cy="8113776"/>
            </a:xfrm>
            <a:custGeom>
              <a:avLst/>
              <a:gdLst/>
              <a:ahLst/>
              <a:cxnLst/>
              <a:rect r="r" b="b" t="t" l="l"/>
              <a:pathLst>
                <a:path h="8113776" w="8897112">
                  <a:moveTo>
                    <a:pt x="0" y="0"/>
                  </a:moveTo>
                  <a:lnTo>
                    <a:pt x="8897112" y="0"/>
                  </a:lnTo>
                  <a:lnTo>
                    <a:pt x="8897112" y="8113776"/>
                  </a:lnTo>
                  <a:lnTo>
                    <a:pt x="0" y="8113776"/>
                  </a:lnTo>
                  <a:lnTo>
                    <a:pt x="0" y="0"/>
                  </a:lnTo>
                  <a:close/>
                </a:path>
              </a:pathLst>
            </a:custGeom>
            <a:blipFill>
              <a:blip r:embed="rId10"/>
              <a:stretch>
                <a:fillRect l="0" t="0" r="0" b="0"/>
              </a:stretch>
            </a:blipFill>
          </p:spPr>
        </p:sp>
      </p:grpSp>
      <p:sp>
        <p:nvSpPr>
          <p:cNvPr name="TextBox 9" id="9"/>
          <p:cNvSpPr txBox="true"/>
          <p:nvPr/>
        </p:nvSpPr>
        <p:spPr>
          <a:xfrm rot="0">
            <a:off x="9689487" y="1991144"/>
            <a:ext cx="7353005" cy="672922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Cuando se va a intercambiar un proceso, el paginador “adivina” qué páginas se utilizarán antes de que se vuelva a intercambiar el proceso. En lugar de intercambiar un proceso completo, el paginador trae a memoria sólo las páginas necesarias.</a:t>
            </a:r>
          </a:p>
          <a:p>
            <a:pPr algn="l">
              <a:lnSpc>
                <a:spcPts val="2183"/>
              </a:lnSpc>
            </a:pPr>
          </a:p>
          <a:p>
            <a:pPr algn="l">
              <a:lnSpc>
                <a:spcPts val="4056"/>
              </a:lnSpc>
            </a:pPr>
            <a:r>
              <a:rPr lang="en-US" sz="2600">
                <a:solidFill>
                  <a:srgbClr val="FFFFFF"/>
                </a:solidFill>
                <a:latin typeface="Montserrat"/>
                <a:ea typeface="Montserrat"/>
                <a:cs typeface="Montserrat"/>
                <a:sym typeface="Montserrat"/>
              </a:rPr>
              <a:t>Por lo tanto, evita leer en la memoria páginas que no se utilizarán de todos modos, disminuyendo el tiempo de intercambio y la cantidad de memoria física necesaria.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38003" y="797604"/>
            <a:ext cx="7021354" cy="6886813"/>
          </a:xfrm>
          <a:custGeom>
            <a:avLst/>
            <a:gdLst/>
            <a:ahLst/>
            <a:cxnLst/>
            <a:rect r="r" b="b" t="t" l="l"/>
            <a:pathLst>
              <a:path h="6886813" w="7021354">
                <a:moveTo>
                  <a:pt x="0" y="0"/>
                </a:moveTo>
                <a:lnTo>
                  <a:pt x="7021354" y="0"/>
                </a:lnTo>
                <a:lnTo>
                  <a:pt x="7021354" y="6886814"/>
                </a:lnTo>
                <a:lnTo>
                  <a:pt x="0" y="6886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67153" y="797604"/>
            <a:ext cx="9241384" cy="6886756"/>
          </a:xfrm>
          <a:custGeom>
            <a:avLst/>
            <a:gdLst/>
            <a:ahLst/>
            <a:cxnLst/>
            <a:rect r="r" b="b" t="t" l="l"/>
            <a:pathLst>
              <a:path h="6886756" w="9241384">
                <a:moveTo>
                  <a:pt x="0" y="0"/>
                </a:moveTo>
                <a:lnTo>
                  <a:pt x="9241384" y="0"/>
                </a:lnTo>
                <a:lnTo>
                  <a:pt x="9241384" y="6886756"/>
                </a:lnTo>
                <a:lnTo>
                  <a:pt x="0" y="68867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67153" y="7858801"/>
            <a:ext cx="16492195" cy="1868033"/>
          </a:xfrm>
          <a:custGeom>
            <a:avLst/>
            <a:gdLst/>
            <a:ahLst/>
            <a:cxnLst/>
            <a:rect r="r" b="b" t="t" l="l"/>
            <a:pathLst>
              <a:path h="1868033" w="16492195">
                <a:moveTo>
                  <a:pt x="0" y="0"/>
                </a:moveTo>
                <a:lnTo>
                  <a:pt x="16492195" y="0"/>
                </a:lnTo>
                <a:lnTo>
                  <a:pt x="16492195" y="1868034"/>
                </a:lnTo>
                <a:lnTo>
                  <a:pt x="0" y="18680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0563206" y="1324813"/>
            <a:ext cx="6370892" cy="6055433"/>
            <a:chOff x="0" y="0"/>
            <a:chExt cx="8494522" cy="8073911"/>
          </a:xfrm>
        </p:grpSpPr>
        <p:sp>
          <p:nvSpPr>
            <p:cNvPr name="Freeform 8" id="8"/>
            <p:cNvSpPr/>
            <p:nvPr/>
          </p:nvSpPr>
          <p:spPr>
            <a:xfrm flipH="false" flipV="false" rot="0">
              <a:off x="0" y="0"/>
              <a:ext cx="8494522" cy="8073898"/>
            </a:xfrm>
            <a:custGeom>
              <a:avLst/>
              <a:gdLst/>
              <a:ahLst/>
              <a:cxnLst/>
              <a:rect r="r" b="b" t="t" l="l"/>
              <a:pathLst>
                <a:path h="8073898" w="8494522">
                  <a:moveTo>
                    <a:pt x="0" y="0"/>
                  </a:moveTo>
                  <a:lnTo>
                    <a:pt x="8494522" y="0"/>
                  </a:lnTo>
                  <a:lnTo>
                    <a:pt x="8494522" y="8073898"/>
                  </a:lnTo>
                  <a:lnTo>
                    <a:pt x="0" y="8073898"/>
                  </a:lnTo>
                  <a:lnTo>
                    <a:pt x="0" y="0"/>
                  </a:lnTo>
                  <a:close/>
                </a:path>
              </a:pathLst>
            </a:custGeom>
            <a:blipFill>
              <a:blip r:embed="rId10"/>
              <a:stretch>
                <a:fillRect l="-9322" t="0" r="-9322" b="0"/>
              </a:stretch>
            </a:blipFill>
          </p:spPr>
        </p:sp>
      </p:grpSp>
      <p:sp>
        <p:nvSpPr>
          <p:cNvPr name="TextBox 9" id="9"/>
          <p:cNvSpPr txBox="true"/>
          <p:nvPr/>
        </p:nvSpPr>
        <p:spPr>
          <a:xfrm rot="0">
            <a:off x="1337081" y="1348102"/>
            <a:ext cx="8101498" cy="6735004"/>
          </a:xfrm>
          <a:prstGeom prst="rect">
            <a:avLst/>
          </a:prstGeom>
        </p:spPr>
        <p:txBody>
          <a:bodyPr anchor="t" rtlCol="false" tIns="0" lIns="0" bIns="0" rIns="0">
            <a:spAutoFit/>
          </a:bodyPr>
          <a:lstStyle/>
          <a:p>
            <a:pPr algn="l">
              <a:lnSpc>
                <a:spcPts val="3588"/>
              </a:lnSpc>
            </a:pPr>
            <a:r>
              <a:rPr lang="en-US" sz="2300">
                <a:solidFill>
                  <a:srgbClr val="FFFFFF"/>
                </a:solidFill>
                <a:latin typeface="Montserrat"/>
                <a:ea typeface="Montserrat"/>
                <a:cs typeface="Montserrat"/>
                <a:sym typeface="Montserrat"/>
              </a:rPr>
              <a:t>Con este esquema, necesitamos algún tipo de soporte de hardware para distinguir entre las páginas que están en la memoria y las páginas que están en el disco.</a:t>
            </a:r>
          </a:p>
          <a:p>
            <a:pPr algn="l">
              <a:lnSpc>
                <a:spcPts val="2183"/>
              </a:lnSpc>
            </a:pPr>
          </a:p>
          <a:p>
            <a:pPr algn="l">
              <a:lnSpc>
                <a:spcPts val="3588"/>
              </a:lnSpc>
            </a:pPr>
            <a:r>
              <a:rPr lang="en-US" sz="2300">
                <a:solidFill>
                  <a:srgbClr val="FFFFFF"/>
                </a:solidFill>
                <a:latin typeface="Montserrat"/>
                <a:ea typeface="Montserrat"/>
                <a:cs typeface="Montserrat"/>
                <a:sym typeface="Montserrat"/>
              </a:rPr>
              <a:t>Para este fin se puede utilizar el esquema de bits válido-inválido. Esta vez, sin embargo, cuando este bit se establece en "válido", la página asociada es legal y está en la memoria. Si el bit se establece en "no válido", la página no es válida (es decir, no está en el espacio de direcciones lógicas del proceso) o es válida pero se encuentra actualmente en el disco.</a:t>
            </a:r>
          </a:p>
          <a:p>
            <a:pPr algn="l">
              <a:lnSpc>
                <a:spcPts val="2183"/>
              </a:lnSpc>
            </a:pPr>
          </a:p>
          <a:p>
            <a:pPr algn="l">
              <a:lnSpc>
                <a:spcPts val="2183"/>
              </a:lnSpc>
            </a:pPr>
          </a:p>
          <a:p>
            <a:pPr algn="l">
              <a:lnSpc>
                <a:spcPts val="2183"/>
              </a:lnSpc>
            </a:pPr>
          </a:p>
        </p:txBody>
      </p:sp>
      <p:sp>
        <p:nvSpPr>
          <p:cNvPr name="TextBox 10" id="10"/>
          <p:cNvSpPr txBox="true"/>
          <p:nvPr/>
        </p:nvSpPr>
        <p:spPr>
          <a:xfrm rot="0">
            <a:off x="1148124" y="8112252"/>
            <a:ext cx="15694647" cy="1352550"/>
          </a:xfrm>
          <a:prstGeom prst="rect">
            <a:avLst/>
          </a:prstGeom>
        </p:spPr>
        <p:txBody>
          <a:bodyPr anchor="t" rtlCol="false" tIns="0" lIns="0" bIns="0" rIns="0">
            <a:spAutoFit/>
          </a:bodyPr>
          <a:lstStyle/>
          <a:p>
            <a:pPr algn="l">
              <a:lnSpc>
                <a:spcPts val="3588"/>
              </a:lnSpc>
            </a:pPr>
            <a:r>
              <a:rPr lang="en-US" sz="2300">
                <a:solidFill>
                  <a:srgbClr val="FFFFFF"/>
                </a:solidFill>
                <a:latin typeface="Montserrat"/>
                <a:ea typeface="Montserrat"/>
                <a:cs typeface="Montserrat"/>
                <a:sym typeface="Montserrat"/>
              </a:rPr>
              <a:t>La entrada de la tabla de páginas para una página que se trae a la memoria se establece como habitual, pero la entrada de la tabla de páginas para una página que no está actualmente en la memoria simplemente se marca como no válida o contiene la dirección de la página en el disco.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792375" y="534724"/>
            <a:ext cx="9755219" cy="9268425"/>
          </a:xfrm>
          <a:custGeom>
            <a:avLst/>
            <a:gdLst/>
            <a:ahLst/>
            <a:cxnLst/>
            <a:rect r="r" b="b" t="t" l="l"/>
            <a:pathLst>
              <a:path h="9268425" w="9755219">
                <a:moveTo>
                  <a:pt x="0" y="0"/>
                </a:moveTo>
                <a:lnTo>
                  <a:pt x="9755219" y="0"/>
                </a:lnTo>
                <a:lnTo>
                  <a:pt x="9755219" y="9268425"/>
                </a:lnTo>
                <a:lnTo>
                  <a:pt x="0" y="9268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797445" y="718871"/>
            <a:ext cx="6685721" cy="5904176"/>
          </a:xfrm>
          <a:custGeom>
            <a:avLst/>
            <a:gdLst/>
            <a:ahLst/>
            <a:cxnLst/>
            <a:rect r="r" b="b" t="t" l="l"/>
            <a:pathLst>
              <a:path h="5904176" w="6685721">
                <a:moveTo>
                  <a:pt x="0" y="0"/>
                </a:moveTo>
                <a:lnTo>
                  <a:pt x="6685721" y="0"/>
                </a:lnTo>
                <a:lnTo>
                  <a:pt x="6685721" y="5904176"/>
                </a:lnTo>
                <a:lnTo>
                  <a:pt x="0" y="59041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1061344" y="1248204"/>
            <a:ext cx="5934065" cy="4953962"/>
            <a:chOff x="0" y="0"/>
            <a:chExt cx="7912087" cy="6605283"/>
          </a:xfrm>
        </p:grpSpPr>
        <p:sp>
          <p:nvSpPr>
            <p:cNvPr name="Freeform 7" id="7"/>
            <p:cNvSpPr/>
            <p:nvPr/>
          </p:nvSpPr>
          <p:spPr>
            <a:xfrm flipH="false" flipV="false" rot="0">
              <a:off x="0" y="0"/>
              <a:ext cx="7912100" cy="6605270"/>
            </a:xfrm>
            <a:custGeom>
              <a:avLst/>
              <a:gdLst/>
              <a:ahLst/>
              <a:cxnLst/>
              <a:rect r="r" b="b" t="t" l="l"/>
              <a:pathLst>
                <a:path h="6605270" w="7912100">
                  <a:moveTo>
                    <a:pt x="0" y="0"/>
                  </a:moveTo>
                  <a:lnTo>
                    <a:pt x="7912100" y="0"/>
                  </a:lnTo>
                  <a:lnTo>
                    <a:pt x="7912100" y="6605270"/>
                  </a:lnTo>
                  <a:lnTo>
                    <a:pt x="0" y="6605270"/>
                  </a:lnTo>
                  <a:lnTo>
                    <a:pt x="0" y="0"/>
                  </a:lnTo>
                  <a:close/>
                </a:path>
              </a:pathLst>
            </a:custGeom>
            <a:blipFill>
              <a:blip r:embed="rId8"/>
              <a:stretch>
                <a:fillRect l="0" t="0" r="0" b="0"/>
              </a:stretch>
            </a:blipFill>
          </p:spPr>
        </p:sp>
      </p:grpSp>
      <p:sp>
        <p:nvSpPr>
          <p:cNvPr name="TextBox 8" id="8"/>
          <p:cNvSpPr txBox="true"/>
          <p:nvPr/>
        </p:nvSpPr>
        <p:spPr>
          <a:xfrm rot="0">
            <a:off x="1101747" y="827723"/>
            <a:ext cx="9136504" cy="8711403"/>
          </a:xfrm>
          <a:prstGeom prst="rect">
            <a:avLst/>
          </a:prstGeom>
        </p:spPr>
        <p:txBody>
          <a:bodyPr anchor="t" rtlCol="false" tIns="0" lIns="0" bIns="0" rIns="0">
            <a:spAutoFit/>
          </a:bodyPr>
          <a:lstStyle/>
          <a:p>
            <a:pPr algn="l">
              <a:lnSpc>
                <a:spcPts val="3586"/>
              </a:lnSpc>
            </a:pPr>
            <a:r>
              <a:rPr lang="en-US" sz="2299">
                <a:solidFill>
                  <a:srgbClr val="FFFFFF"/>
                </a:solidFill>
                <a:latin typeface="Montserrat"/>
                <a:ea typeface="Montserrat"/>
                <a:cs typeface="Montserrat"/>
                <a:sym typeface="Montserrat"/>
              </a:rPr>
              <a:t>El procedimiento para manejar un fallo de página es sencillo:</a:t>
            </a:r>
          </a:p>
          <a:p>
            <a:pPr algn="l" marL="525659" indent="-175220" lvl="2">
              <a:lnSpc>
                <a:spcPts val="3586"/>
              </a:lnSpc>
              <a:buAutoNum type="arabicPeriod" startAt="1"/>
            </a:pPr>
            <a:r>
              <a:rPr lang="en-US" sz="2299">
                <a:solidFill>
                  <a:srgbClr val="FFFFFF"/>
                </a:solidFill>
                <a:latin typeface="Montserrat"/>
                <a:ea typeface="Montserrat"/>
                <a:cs typeface="Montserrat"/>
                <a:sym typeface="Montserrat"/>
              </a:rPr>
              <a:t>Verificamos una tabla interna (generalmente mantenida con el bloque de control de proceso) de este proceso para determinar si la referencia fue un acceso a memoria válido o no válido.</a:t>
            </a:r>
          </a:p>
          <a:p>
            <a:pPr algn="l" marL="525659" indent="-175220" lvl="2">
              <a:lnSpc>
                <a:spcPts val="3586"/>
              </a:lnSpc>
              <a:buAutoNum type="arabicPeriod" startAt="1"/>
            </a:pPr>
            <a:r>
              <a:rPr lang="en-US" sz="2299">
                <a:solidFill>
                  <a:srgbClr val="FFFFFF"/>
                </a:solidFill>
                <a:latin typeface="Montserrat"/>
                <a:ea typeface="Montserrat"/>
                <a:cs typeface="Montserrat"/>
                <a:sym typeface="Montserrat"/>
              </a:rPr>
              <a:t>Si la referencia no fuera válida, damos por finalizado el proceso. Si era válido, pero aún no hemos ingresado esa página, ahora la ingresamos.</a:t>
            </a:r>
          </a:p>
          <a:p>
            <a:pPr algn="l" marL="525659" indent="-175220" lvl="2">
              <a:lnSpc>
                <a:spcPts val="3586"/>
              </a:lnSpc>
              <a:buAutoNum type="arabicPeriod" startAt="1"/>
            </a:pPr>
            <a:r>
              <a:rPr lang="en-US" sz="2299">
                <a:solidFill>
                  <a:srgbClr val="FFFFFF"/>
                </a:solidFill>
                <a:latin typeface="Montserrat"/>
                <a:ea typeface="Montserrat"/>
                <a:cs typeface="Montserrat"/>
                <a:sym typeface="Montserrat"/>
              </a:rPr>
              <a:t>Encontramos un marco libre (tomando uno de la lista de marcos libres, por ejemplo).</a:t>
            </a:r>
          </a:p>
          <a:p>
            <a:pPr algn="l" marL="525659" indent="-175220" lvl="2">
              <a:lnSpc>
                <a:spcPts val="3586"/>
              </a:lnSpc>
              <a:buAutoNum type="arabicPeriod" startAt="1"/>
            </a:pPr>
            <a:r>
              <a:rPr lang="en-US" sz="2299">
                <a:solidFill>
                  <a:srgbClr val="FFFFFF"/>
                </a:solidFill>
                <a:latin typeface="Montserrat"/>
                <a:ea typeface="Montserrat"/>
                <a:cs typeface="Montserrat"/>
                <a:sym typeface="Montserrat"/>
              </a:rPr>
              <a:t>Programamos una operación de disco para leer la página deseada en el marco recién asignado.</a:t>
            </a:r>
          </a:p>
          <a:p>
            <a:pPr algn="l" marL="525659" indent="-175220" lvl="2">
              <a:lnSpc>
                <a:spcPts val="3586"/>
              </a:lnSpc>
              <a:buAutoNum type="arabicPeriod" startAt="1"/>
            </a:pPr>
            <a:r>
              <a:rPr lang="en-US" sz="2299">
                <a:solidFill>
                  <a:srgbClr val="FFFFFF"/>
                </a:solidFill>
                <a:latin typeface="Montserrat"/>
                <a:ea typeface="Montserrat"/>
                <a:cs typeface="Montserrat"/>
                <a:sym typeface="Montserrat"/>
              </a:rPr>
              <a:t>Cuando se completa la lectura del disco, modificamos la tabla interna mantenida con el proceso y la tabla de páginas para indicar que la página ahora está en la memoria.</a:t>
            </a:r>
          </a:p>
          <a:p>
            <a:pPr algn="l" marL="525659" indent="-175220" lvl="2">
              <a:lnSpc>
                <a:spcPts val="3586"/>
              </a:lnSpc>
              <a:buAutoNum type="arabicPeriod" startAt="1"/>
            </a:pPr>
            <a:r>
              <a:rPr lang="en-US" sz="2299">
                <a:solidFill>
                  <a:srgbClr val="FFFFFF"/>
                </a:solidFill>
                <a:latin typeface="Montserrat"/>
                <a:ea typeface="Montserrat"/>
                <a:cs typeface="Montserrat"/>
                <a:sym typeface="Montserrat"/>
              </a:rPr>
              <a:t>Reiniciamos la instrucción que fue interrumpida por la trampa. El proceso ahora puede acceder a la página como si siempre hubiera estado en la memoria.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63422" y="933879"/>
            <a:ext cx="5525691" cy="8676370"/>
          </a:xfrm>
          <a:custGeom>
            <a:avLst/>
            <a:gdLst/>
            <a:ahLst/>
            <a:cxnLst/>
            <a:rect r="r" b="b" t="t" l="l"/>
            <a:pathLst>
              <a:path h="8676370" w="5525691">
                <a:moveTo>
                  <a:pt x="0" y="0"/>
                </a:moveTo>
                <a:lnTo>
                  <a:pt x="5525690" y="0"/>
                </a:lnTo>
                <a:lnTo>
                  <a:pt x="5525690" y="8676370"/>
                </a:lnTo>
                <a:lnTo>
                  <a:pt x="0" y="8676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054425" y="933879"/>
            <a:ext cx="10319985" cy="8676370"/>
          </a:xfrm>
          <a:custGeom>
            <a:avLst/>
            <a:gdLst/>
            <a:ahLst/>
            <a:cxnLst/>
            <a:rect r="r" b="b" t="t" l="l"/>
            <a:pathLst>
              <a:path h="8676370" w="10319985">
                <a:moveTo>
                  <a:pt x="0" y="0"/>
                </a:moveTo>
                <a:lnTo>
                  <a:pt x="10319985" y="0"/>
                </a:lnTo>
                <a:lnTo>
                  <a:pt x="10319985" y="8676370"/>
                </a:lnTo>
                <a:lnTo>
                  <a:pt x="0" y="86763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868862" y="3092929"/>
            <a:ext cx="4114800" cy="4114800"/>
            <a:chOff x="0" y="0"/>
            <a:chExt cx="5486400" cy="5486400"/>
          </a:xfrm>
        </p:grpSpPr>
        <p:sp>
          <p:nvSpPr>
            <p:cNvPr name="Freeform 7" id="7"/>
            <p:cNvSpPr/>
            <p:nvPr/>
          </p:nvSpPr>
          <p:spPr>
            <a:xfrm flipH="false" flipV="false" rot="0">
              <a:off x="0" y="0"/>
              <a:ext cx="5486400" cy="5486400"/>
            </a:xfrm>
            <a:custGeom>
              <a:avLst/>
              <a:gdLst/>
              <a:ahLst/>
              <a:cxnLst/>
              <a:rect r="r" b="b" t="t" l="l"/>
              <a:pathLst>
                <a:path h="5486400" w="5486400">
                  <a:moveTo>
                    <a:pt x="0" y="0"/>
                  </a:moveTo>
                  <a:lnTo>
                    <a:pt x="5486400" y="0"/>
                  </a:lnTo>
                  <a:lnTo>
                    <a:pt x="5486400" y="5486400"/>
                  </a:lnTo>
                  <a:lnTo>
                    <a:pt x="0" y="5486400"/>
                  </a:lnTo>
                  <a:lnTo>
                    <a:pt x="0" y="0"/>
                  </a:lnTo>
                  <a:close/>
                </a:path>
              </a:pathLst>
            </a:custGeom>
            <a:blipFill>
              <a:blip r:embed="rId8"/>
              <a:stretch>
                <a:fillRect l="0" t="0" r="0" b="0"/>
              </a:stretch>
            </a:blipFill>
          </p:spPr>
        </p:sp>
      </p:grpSp>
      <p:sp>
        <p:nvSpPr>
          <p:cNvPr name="TextBox 8" id="8"/>
          <p:cNvSpPr txBox="true"/>
          <p:nvPr/>
        </p:nvSpPr>
        <p:spPr>
          <a:xfrm rot="0">
            <a:off x="7559640" y="1633071"/>
            <a:ext cx="9309602" cy="7769628"/>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Pero, ¿qué sucede si la página deseada reside en el disco pero no hay marcos libres?</a:t>
            </a:r>
          </a:p>
          <a:p>
            <a:pPr algn="l">
              <a:lnSpc>
                <a:spcPts val="2183"/>
              </a:lnSpc>
            </a:pPr>
          </a:p>
          <a:p>
            <a:pPr algn="l">
              <a:lnSpc>
                <a:spcPts val="4056"/>
              </a:lnSpc>
            </a:pPr>
            <a:r>
              <a:rPr lang="en-US" sz="2600">
                <a:solidFill>
                  <a:srgbClr val="FFFFFF"/>
                </a:solidFill>
                <a:latin typeface="Montserrat"/>
                <a:ea typeface="Montserrat"/>
                <a:cs typeface="Montserrat"/>
                <a:sym typeface="Montserrat"/>
              </a:rPr>
              <a:t>El sistema operativo tiene varias opciones en este punto. Podría finalizar el proceso del usuario. Sin embargo, la paginación bajo demanda es el intento del sistema operativo de mejorar la utilización y el rendimiento del sistema informático. Los usuarios no deben ser conscientes de que sus procesos se ejecutan en un sistema paginado; la paginación debe ser lógicamente transparente para el usuario. Entonces esta opción no es la mejor opción.</a:t>
            </a:r>
          </a:p>
          <a:p>
            <a:pPr algn="l">
              <a:lnSpc>
                <a:spcPts val="2183"/>
              </a:lnSpc>
            </a:pPr>
          </a:p>
          <a:p>
            <a:pPr algn="l">
              <a:lnSpc>
                <a:spcPts val="4056"/>
              </a:lnSpc>
            </a:pPr>
            <a:r>
              <a:rPr lang="en-US" sz="2600">
                <a:solidFill>
                  <a:srgbClr val="FFFFFF"/>
                </a:solidFill>
                <a:latin typeface="Montserrat"/>
                <a:ea typeface="Montserrat"/>
                <a:cs typeface="Montserrat"/>
                <a:sym typeface="Montserrat"/>
              </a:rPr>
              <a:t>En este caso, la solución más común es el reemplazo de páginas.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638691" y="4583173"/>
            <a:ext cx="6417516" cy="4395330"/>
          </a:xfrm>
          <a:custGeom>
            <a:avLst/>
            <a:gdLst/>
            <a:ahLst/>
            <a:cxnLst/>
            <a:rect r="r" b="b" t="t" l="l"/>
            <a:pathLst>
              <a:path h="4395330" w="6417516">
                <a:moveTo>
                  <a:pt x="0" y="0"/>
                </a:moveTo>
                <a:lnTo>
                  <a:pt x="6417516" y="0"/>
                </a:lnTo>
                <a:lnTo>
                  <a:pt x="6417516" y="4395330"/>
                </a:lnTo>
                <a:lnTo>
                  <a:pt x="0" y="43953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329051" y="1635547"/>
            <a:ext cx="8335718" cy="7342994"/>
          </a:xfrm>
          <a:custGeom>
            <a:avLst/>
            <a:gdLst/>
            <a:ahLst/>
            <a:cxnLst/>
            <a:rect r="r" b="b" t="t" l="l"/>
            <a:pathLst>
              <a:path h="7342994" w="8335718">
                <a:moveTo>
                  <a:pt x="0" y="0"/>
                </a:moveTo>
                <a:lnTo>
                  <a:pt x="8335718" y="0"/>
                </a:lnTo>
                <a:lnTo>
                  <a:pt x="8335718" y="7342994"/>
                </a:lnTo>
                <a:lnTo>
                  <a:pt x="0" y="73429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5400000">
            <a:off x="3392205" y="4957267"/>
            <a:ext cx="2880189" cy="3320101"/>
            <a:chOff x="0" y="0"/>
            <a:chExt cx="3840251" cy="4426801"/>
          </a:xfrm>
        </p:grpSpPr>
        <p:sp>
          <p:nvSpPr>
            <p:cNvPr name="Freeform 7" id="7"/>
            <p:cNvSpPr/>
            <p:nvPr/>
          </p:nvSpPr>
          <p:spPr>
            <a:xfrm flipH="false" flipV="false" rot="0">
              <a:off x="0" y="0"/>
              <a:ext cx="3840226" cy="4426839"/>
            </a:xfrm>
            <a:custGeom>
              <a:avLst/>
              <a:gdLst/>
              <a:ahLst/>
              <a:cxnLst/>
              <a:rect r="r" b="b" t="t" l="l"/>
              <a:pathLst>
                <a:path h="4426839" w="3840226">
                  <a:moveTo>
                    <a:pt x="0" y="0"/>
                  </a:moveTo>
                  <a:lnTo>
                    <a:pt x="3840226" y="0"/>
                  </a:lnTo>
                  <a:lnTo>
                    <a:pt x="3840226" y="4426839"/>
                  </a:lnTo>
                  <a:lnTo>
                    <a:pt x="0" y="4426839"/>
                  </a:lnTo>
                  <a:lnTo>
                    <a:pt x="0" y="0"/>
                  </a:lnTo>
                  <a:close/>
                </a:path>
              </a:pathLst>
            </a:custGeom>
            <a:blipFill>
              <a:blip r:embed="rId8"/>
              <a:stretch>
                <a:fillRect l="0" t="-35" r="0" b="-35"/>
              </a:stretch>
            </a:blipFill>
          </p:spPr>
        </p:sp>
      </p:grpSp>
      <p:sp>
        <p:nvSpPr>
          <p:cNvPr name="TextBox 8" id="8"/>
          <p:cNvSpPr txBox="true"/>
          <p:nvPr/>
        </p:nvSpPr>
        <p:spPr>
          <a:xfrm rot="0">
            <a:off x="8820121" y="2054857"/>
            <a:ext cx="7079999" cy="6729222"/>
          </a:xfrm>
          <a:prstGeom prst="rect">
            <a:avLst/>
          </a:prstGeom>
        </p:spPr>
        <p:txBody>
          <a:bodyPr anchor="t" rtlCol="false" tIns="0" lIns="0" bIns="0" rIns="0">
            <a:spAutoFit/>
          </a:bodyPr>
          <a:lstStyle/>
          <a:p>
            <a:pPr algn="l">
              <a:lnSpc>
                <a:spcPts val="4056"/>
              </a:lnSpc>
            </a:pPr>
            <a:r>
              <a:rPr lang="en-US" sz="2600">
                <a:solidFill>
                  <a:srgbClr val="FFFFFF"/>
                </a:solidFill>
                <a:latin typeface="Montserrat"/>
                <a:ea typeface="Montserrat"/>
                <a:cs typeface="Montserrat"/>
                <a:sym typeface="Montserrat"/>
              </a:rPr>
              <a:t>El reemplazo de página adopta el siguiente enfoque. Si no hay ningún marco libre, buscamos uno que no esté siendo utilizado actualmente y lo liberamos.</a:t>
            </a:r>
          </a:p>
          <a:p>
            <a:pPr algn="l">
              <a:lnSpc>
                <a:spcPts val="2183"/>
              </a:lnSpc>
            </a:pPr>
          </a:p>
          <a:p>
            <a:pPr algn="l">
              <a:lnSpc>
                <a:spcPts val="4056"/>
              </a:lnSpc>
            </a:pPr>
            <a:r>
              <a:rPr lang="en-US" sz="2600">
                <a:solidFill>
                  <a:srgbClr val="FFFFFF"/>
                </a:solidFill>
                <a:latin typeface="Montserrat"/>
                <a:ea typeface="Montserrat"/>
                <a:cs typeface="Montserrat"/>
                <a:sym typeface="Montserrat"/>
              </a:rPr>
              <a:t>Podemos liberar un marco escribiendo su contenido en el espacio de intercambio y cambiando la tabla de páginas (y todas las demás tablas) para indicar que la página ya no está en la memoria. Ahora podemos usar el marco liberado para contener la página en la que falló el proceso.</a:t>
            </a:r>
          </a:p>
        </p:txBody>
      </p:sp>
      <p:sp>
        <p:nvSpPr>
          <p:cNvPr name="TextBox 9" id="9"/>
          <p:cNvSpPr txBox="true"/>
          <p:nvPr/>
        </p:nvSpPr>
        <p:spPr>
          <a:xfrm rot="0">
            <a:off x="1933118" y="2049380"/>
            <a:ext cx="5984996" cy="2435400"/>
          </a:xfrm>
          <a:prstGeom prst="rect">
            <a:avLst/>
          </a:prstGeom>
        </p:spPr>
        <p:txBody>
          <a:bodyPr anchor="t" rtlCol="false" tIns="0" lIns="0" bIns="0" rIns="0">
            <a:spAutoFit/>
          </a:bodyPr>
          <a:lstStyle/>
          <a:p>
            <a:pPr algn="l">
              <a:lnSpc>
                <a:spcPts val="9581"/>
              </a:lnSpc>
            </a:pPr>
            <a:r>
              <a:rPr lang="en-US" sz="6598">
                <a:solidFill>
                  <a:srgbClr val="FFFFFF"/>
                </a:solidFill>
                <a:latin typeface="Arial"/>
                <a:ea typeface="Arial"/>
                <a:cs typeface="Arial"/>
                <a:sym typeface="Arial"/>
              </a:rPr>
              <a:t>REEMPLAZO DE PÁGINAS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9274778" y="1612354"/>
            <a:ext cx="8115871" cy="7342299"/>
          </a:xfrm>
          <a:custGeom>
            <a:avLst/>
            <a:gdLst/>
            <a:ahLst/>
            <a:cxnLst/>
            <a:rect r="r" b="b" t="t" l="l"/>
            <a:pathLst>
              <a:path h="7342299" w="8115871">
                <a:moveTo>
                  <a:pt x="0" y="0"/>
                </a:moveTo>
                <a:lnTo>
                  <a:pt x="8115872" y="0"/>
                </a:lnTo>
                <a:lnTo>
                  <a:pt x="8115872" y="7342299"/>
                </a:lnTo>
                <a:lnTo>
                  <a:pt x="0" y="73422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97922" y="1612344"/>
            <a:ext cx="8161439" cy="7342299"/>
          </a:xfrm>
          <a:custGeom>
            <a:avLst/>
            <a:gdLst/>
            <a:ahLst/>
            <a:cxnLst/>
            <a:rect r="r" b="b" t="t" l="l"/>
            <a:pathLst>
              <a:path h="7342299" w="8161439">
                <a:moveTo>
                  <a:pt x="0" y="0"/>
                </a:moveTo>
                <a:lnTo>
                  <a:pt x="8161439" y="0"/>
                </a:lnTo>
                <a:lnTo>
                  <a:pt x="8161439" y="7342299"/>
                </a:lnTo>
                <a:lnTo>
                  <a:pt x="0" y="73422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666475" y="2304040"/>
            <a:ext cx="7332488" cy="6162627"/>
          </a:xfrm>
          <a:custGeom>
            <a:avLst/>
            <a:gdLst/>
            <a:ahLst/>
            <a:cxnLst/>
            <a:rect r="r" b="b" t="t" l="l"/>
            <a:pathLst>
              <a:path h="6162627" w="7332488">
                <a:moveTo>
                  <a:pt x="0" y="0"/>
                </a:moveTo>
                <a:lnTo>
                  <a:pt x="7332488" y="0"/>
                </a:lnTo>
                <a:lnTo>
                  <a:pt x="7332488" y="6162628"/>
                </a:lnTo>
                <a:lnTo>
                  <a:pt x="0" y="61626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9884912" y="2761031"/>
            <a:ext cx="6774094" cy="5357098"/>
            <a:chOff x="0" y="0"/>
            <a:chExt cx="9032126" cy="7142797"/>
          </a:xfrm>
        </p:grpSpPr>
        <p:sp>
          <p:nvSpPr>
            <p:cNvPr name="Freeform 8" id="8"/>
            <p:cNvSpPr/>
            <p:nvPr/>
          </p:nvSpPr>
          <p:spPr>
            <a:xfrm flipH="false" flipV="false" rot="0">
              <a:off x="0" y="0"/>
              <a:ext cx="9032113" cy="7142861"/>
            </a:xfrm>
            <a:custGeom>
              <a:avLst/>
              <a:gdLst/>
              <a:ahLst/>
              <a:cxnLst/>
              <a:rect r="r" b="b" t="t" l="l"/>
              <a:pathLst>
                <a:path h="7142861" w="9032113">
                  <a:moveTo>
                    <a:pt x="0" y="0"/>
                  </a:moveTo>
                  <a:lnTo>
                    <a:pt x="9032113" y="0"/>
                  </a:lnTo>
                  <a:lnTo>
                    <a:pt x="9032113" y="7142861"/>
                  </a:lnTo>
                  <a:lnTo>
                    <a:pt x="0" y="7142861"/>
                  </a:lnTo>
                  <a:lnTo>
                    <a:pt x="0" y="0"/>
                  </a:lnTo>
                  <a:close/>
                </a:path>
              </a:pathLst>
            </a:custGeom>
            <a:blipFill>
              <a:blip r:embed="rId10"/>
              <a:stretch>
                <a:fillRect l="0" t="-3171" r="0" b="-3171"/>
              </a:stretch>
            </a:blipFill>
          </p:spPr>
        </p:sp>
      </p:grpSp>
      <p:sp>
        <p:nvSpPr>
          <p:cNvPr name="TextBox 9" id="9"/>
          <p:cNvSpPr txBox="true"/>
          <p:nvPr/>
        </p:nvSpPr>
        <p:spPr>
          <a:xfrm rot="0">
            <a:off x="1467850" y="2080984"/>
            <a:ext cx="7099802" cy="6873602"/>
          </a:xfrm>
          <a:prstGeom prst="rect">
            <a:avLst/>
          </a:prstGeom>
        </p:spPr>
        <p:txBody>
          <a:bodyPr anchor="t" rtlCol="false" tIns="0" lIns="0" bIns="0" rIns="0">
            <a:spAutoFit/>
          </a:bodyPr>
          <a:lstStyle/>
          <a:p>
            <a:pPr algn="l">
              <a:lnSpc>
                <a:spcPts val="3588"/>
              </a:lnSpc>
            </a:pPr>
            <a:r>
              <a:rPr lang="en-US" sz="2300">
                <a:solidFill>
                  <a:srgbClr val="FFFFFF"/>
                </a:solidFill>
                <a:latin typeface="Montserrat"/>
                <a:ea typeface="Montserrat"/>
                <a:cs typeface="Montserrat"/>
                <a:sym typeface="Montserrat"/>
              </a:rPr>
              <a:t>Modificamos la rutina de servicio de fallo de página para incluir el reemplazo de página:</a:t>
            </a:r>
          </a:p>
          <a:p>
            <a:pPr algn="l" marL="525782" indent="-175261" lvl="2">
              <a:lnSpc>
                <a:spcPts val="3588"/>
              </a:lnSpc>
              <a:buAutoNum type="arabicPeriod" startAt="1"/>
            </a:pPr>
            <a:r>
              <a:rPr lang="en-US" sz="2300">
                <a:solidFill>
                  <a:srgbClr val="FFFFFF"/>
                </a:solidFill>
                <a:latin typeface="Montserrat"/>
                <a:ea typeface="Montserrat"/>
                <a:cs typeface="Montserrat"/>
                <a:sym typeface="Montserrat"/>
              </a:rPr>
              <a:t> Buscar la ubicación de la página deseada en el disco.</a:t>
            </a:r>
          </a:p>
          <a:p>
            <a:pPr algn="l" marL="525782" indent="-175261" lvl="2">
              <a:lnSpc>
                <a:spcPts val="3588"/>
              </a:lnSpc>
              <a:buAutoNum type="arabicPeriod" startAt="1"/>
            </a:pPr>
            <a:r>
              <a:rPr lang="en-US" sz="2300">
                <a:solidFill>
                  <a:srgbClr val="FFFFFF"/>
                </a:solidFill>
                <a:latin typeface="Montserrat"/>
                <a:ea typeface="Montserrat"/>
                <a:cs typeface="Montserrat"/>
                <a:sym typeface="Montserrat"/>
              </a:rPr>
              <a:t>Encontrar un marco libre:</a:t>
            </a:r>
          </a:p>
          <a:p>
            <a:pPr algn="l" marL="939594" indent="-234898" lvl="3">
              <a:lnSpc>
                <a:spcPts val="3588"/>
              </a:lnSpc>
              <a:buFont typeface="Arial"/>
              <a:buChar char="￭"/>
            </a:pPr>
            <a:r>
              <a:rPr lang="en-US" sz="2300">
                <a:solidFill>
                  <a:srgbClr val="FFFFFF"/>
                </a:solidFill>
                <a:latin typeface="Montserrat"/>
                <a:ea typeface="Montserrat"/>
                <a:cs typeface="Montserrat"/>
                <a:sym typeface="Montserrat"/>
              </a:rPr>
              <a:t>Si hay un marco libre, se usa este.</a:t>
            </a:r>
          </a:p>
          <a:p>
            <a:pPr algn="l" marL="939594" indent="-234898" lvl="3">
              <a:lnSpc>
                <a:spcPts val="3588"/>
              </a:lnSpc>
              <a:buFont typeface="Arial"/>
              <a:buChar char="￭"/>
            </a:pPr>
            <a:r>
              <a:rPr lang="en-US" sz="2300">
                <a:solidFill>
                  <a:srgbClr val="FFFFFF"/>
                </a:solidFill>
                <a:latin typeface="Montserrat"/>
                <a:ea typeface="Montserrat"/>
                <a:cs typeface="Montserrat"/>
                <a:sym typeface="Montserrat"/>
              </a:rPr>
              <a:t>Si no hay ningún marco libre, se utiliza un algoritmo de reemplazo de página por el marco de la víctima.</a:t>
            </a:r>
          </a:p>
          <a:p>
            <a:pPr algn="l" marL="939594" indent="-234898" lvl="3">
              <a:lnSpc>
                <a:spcPts val="3588"/>
              </a:lnSpc>
            </a:pPr>
            <a:r>
              <a:rPr lang="en-US" sz="2300">
                <a:solidFill>
                  <a:srgbClr val="FFFFFF"/>
                </a:solidFill>
                <a:latin typeface="Montserrat"/>
                <a:ea typeface="Montserrat"/>
                <a:cs typeface="Montserrat"/>
                <a:sym typeface="Montserrat"/>
              </a:rPr>
              <a:t>3. Se escribe la víctima en el disco; se cambian las tablas de páginas y marcos en consecuencia.</a:t>
            </a:r>
          </a:p>
          <a:p>
            <a:pPr algn="l" marL="939594" indent="-234898" lvl="3">
              <a:lnSpc>
                <a:spcPts val="3588"/>
              </a:lnSpc>
            </a:pPr>
            <a:r>
              <a:rPr lang="en-US" sz="2300">
                <a:solidFill>
                  <a:srgbClr val="FFFFFF"/>
                </a:solidFill>
                <a:latin typeface="Montserrat"/>
                <a:ea typeface="Montserrat"/>
                <a:cs typeface="Montserrat"/>
                <a:sym typeface="Montserrat"/>
              </a:rPr>
              <a:t>4. Se lee la página deseada en el marco recién liberado; se cambian las tablas de páginas y marcos.</a:t>
            </a:r>
          </a:p>
          <a:p>
            <a:pPr algn="l" marL="939594" indent="-234898" lvl="3">
              <a:lnSpc>
                <a:spcPts val="3588"/>
              </a:lnSpc>
            </a:pPr>
            <a:r>
              <a:rPr lang="en-US" sz="2300">
                <a:solidFill>
                  <a:srgbClr val="FFFFFF"/>
                </a:solidFill>
                <a:latin typeface="Montserrat"/>
                <a:ea typeface="Montserrat"/>
                <a:cs typeface="Montserrat"/>
                <a:sym typeface="Montserrat"/>
              </a:rPr>
              <a:t>5. Se reinicia el proceso de usuario.</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2743" y="-219567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076450" y="1261424"/>
            <a:ext cx="7314095" cy="7723203"/>
          </a:xfrm>
          <a:custGeom>
            <a:avLst/>
            <a:gdLst/>
            <a:ahLst/>
            <a:cxnLst/>
            <a:rect r="r" b="b" t="t" l="l"/>
            <a:pathLst>
              <a:path h="7723203" w="7314095">
                <a:moveTo>
                  <a:pt x="0" y="0"/>
                </a:moveTo>
                <a:lnTo>
                  <a:pt x="7314095" y="0"/>
                </a:lnTo>
                <a:lnTo>
                  <a:pt x="7314095" y="7723204"/>
                </a:lnTo>
                <a:lnTo>
                  <a:pt x="0" y="77232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97922" y="1261424"/>
            <a:ext cx="8712356" cy="7723203"/>
          </a:xfrm>
          <a:custGeom>
            <a:avLst/>
            <a:gdLst/>
            <a:ahLst/>
            <a:cxnLst/>
            <a:rect r="r" b="b" t="t" l="l"/>
            <a:pathLst>
              <a:path h="7723203" w="8712356">
                <a:moveTo>
                  <a:pt x="0" y="0"/>
                </a:moveTo>
                <a:lnTo>
                  <a:pt x="8712355" y="0"/>
                </a:lnTo>
                <a:lnTo>
                  <a:pt x="8712355" y="7723204"/>
                </a:lnTo>
                <a:lnTo>
                  <a:pt x="0" y="7723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497550" y="2041703"/>
            <a:ext cx="6501117" cy="6162627"/>
          </a:xfrm>
          <a:custGeom>
            <a:avLst/>
            <a:gdLst/>
            <a:ahLst/>
            <a:cxnLst/>
            <a:rect r="r" b="b" t="t" l="l"/>
            <a:pathLst>
              <a:path h="6162627" w="6501117">
                <a:moveTo>
                  <a:pt x="0" y="0"/>
                </a:moveTo>
                <a:lnTo>
                  <a:pt x="6501117" y="0"/>
                </a:lnTo>
                <a:lnTo>
                  <a:pt x="6501117" y="6162627"/>
                </a:lnTo>
                <a:lnTo>
                  <a:pt x="0" y="6162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0693079" y="2636730"/>
            <a:ext cx="6095324" cy="5081035"/>
            <a:chOff x="0" y="0"/>
            <a:chExt cx="8127098" cy="6774713"/>
          </a:xfrm>
        </p:grpSpPr>
        <p:sp>
          <p:nvSpPr>
            <p:cNvPr name="Freeform 8" id="8"/>
            <p:cNvSpPr/>
            <p:nvPr/>
          </p:nvSpPr>
          <p:spPr>
            <a:xfrm flipH="false" flipV="false" rot="0">
              <a:off x="0" y="0"/>
              <a:ext cx="8127111" cy="6774688"/>
            </a:xfrm>
            <a:custGeom>
              <a:avLst/>
              <a:gdLst/>
              <a:ahLst/>
              <a:cxnLst/>
              <a:rect r="r" b="b" t="t" l="l"/>
              <a:pathLst>
                <a:path h="6774688" w="8127111">
                  <a:moveTo>
                    <a:pt x="0" y="0"/>
                  </a:moveTo>
                  <a:lnTo>
                    <a:pt x="8127111" y="0"/>
                  </a:lnTo>
                  <a:lnTo>
                    <a:pt x="8127111" y="6774688"/>
                  </a:lnTo>
                  <a:lnTo>
                    <a:pt x="0" y="6774688"/>
                  </a:lnTo>
                  <a:lnTo>
                    <a:pt x="0" y="0"/>
                  </a:lnTo>
                  <a:close/>
                </a:path>
              </a:pathLst>
            </a:custGeom>
            <a:blipFill>
              <a:blip r:embed="rId10"/>
              <a:stretch>
                <a:fillRect l="-6657" t="0" r="-6656" b="0"/>
              </a:stretch>
            </a:blipFill>
          </p:spPr>
        </p:sp>
      </p:grpSp>
      <p:sp>
        <p:nvSpPr>
          <p:cNvPr name="TextBox 9" id="9"/>
          <p:cNvSpPr txBox="true"/>
          <p:nvPr/>
        </p:nvSpPr>
        <p:spPr>
          <a:xfrm rot="0">
            <a:off x="1212552" y="1548775"/>
            <a:ext cx="8126997" cy="7169096"/>
          </a:xfrm>
          <a:prstGeom prst="rect">
            <a:avLst/>
          </a:prstGeom>
        </p:spPr>
        <p:txBody>
          <a:bodyPr anchor="t" rtlCol="false" tIns="0" lIns="0" bIns="0" rIns="0">
            <a:spAutoFit/>
          </a:bodyPr>
          <a:lstStyle/>
          <a:p>
            <a:pPr algn="l">
              <a:lnSpc>
                <a:spcPts val="3744"/>
              </a:lnSpc>
            </a:pPr>
            <a:r>
              <a:rPr lang="en-US" sz="2400">
                <a:solidFill>
                  <a:srgbClr val="FFFFFF"/>
                </a:solidFill>
                <a:latin typeface="Montserrat"/>
                <a:ea typeface="Montserrat"/>
                <a:cs typeface="Montserrat"/>
                <a:sym typeface="Montserrat"/>
              </a:rPr>
              <a:t>El reemplazo de página es básico para paginación por demanda. Completa la separación entre memoria lógica y memoria física. Con este mecanismo se puede proporcionar una enorme memoria virtual a los programadores en una memoria física más pequeña.</a:t>
            </a:r>
          </a:p>
          <a:p>
            <a:pPr algn="l">
              <a:lnSpc>
                <a:spcPts val="2183"/>
              </a:lnSpc>
            </a:pPr>
          </a:p>
          <a:p>
            <a:pPr algn="l">
              <a:lnSpc>
                <a:spcPts val="3744"/>
              </a:lnSpc>
            </a:pPr>
            <a:r>
              <a:rPr lang="en-US" sz="2400">
                <a:solidFill>
                  <a:srgbClr val="FFFFFF"/>
                </a:solidFill>
                <a:latin typeface="Montserrat"/>
                <a:ea typeface="Montserrat"/>
                <a:cs typeface="Montserrat"/>
                <a:sym typeface="Montserrat"/>
              </a:rPr>
              <a:t>Sin demanda, las direcciones de paginación/usuario se asignan a direcciones físicas, por lo que los dos conjuntos de direcciones pueden ser diferentes.</a:t>
            </a:r>
          </a:p>
          <a:p>
            <a:pPr algn="l">
              <a:lnSpc>
                <a:spcPts val="2183"/>
              </a:lnSpc>
            </a:pPr>
          </a:p>
          <a:p>
            <a:pPr algn="l">
              <a:lnSpc>
                <a:spcPts val="3744"/>
              </a:lnSpc>
            </a:pPr>
            <a:r>
              <a:rPr lang="en-US" sz="2400">
                <a:solidFill>
                  <a:srgbClr val="FFFFFF"/>
                </a:solidFill>
                <a:latin typeface="Montserrat"/>
                <a:ea typeface="Montserrat"/>
                <a:cs typeface="Montserrat"/>
                <a:sym typeface="Montserrat"/>
              </a:rPr>
              <a:t>Todas las páginas de un proceso aún deben estar en la memoria física; sin embargo, con la paginación bajo demanda, el tamaño del espacio de direcciones lógicas ya no está limitado por la memoria física.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135751" y="776621"/>
            <a:ext cx="10629967" cy="8639023"/>
          </a:xfrm>
          <a:custGeom>
            <a:avLst/>
            <a:gdLst/>
            <a:ahLst/>
            <a:cxnLst/>
            <a:rect r="r" b="b" t="t" l="l"/>
            <a:pathLst>
              <a:path h="8639023" w="10629967">
                <a:moveTo>
                  <a:pt x="0" y="0"/>
                </a:moveTo>
                <a:lnTo>
                  <a:pt x="10629967" y="0"/>
                </a:lnTo>
                <a:lnTo>
                  <a:pt x="10629967" y="8639022"/>
                </a:lnTo>
                <a:lnTo>
                  <a:pt x="0" y="86390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164358" y="833276"/>
            <a:ext cx="4987985" cy="8639023"/>
          </a:xfrm>
          <a:custGeom>
            <a:avLst/>
            <a:gdLst/>
            <a:ahLst/>
            <a:cxnLst/>
            <a:rect r="r" b="b" t="t" l="l"/>
            <a:pathLst>
              <a:path h="8639023" w="4987985">
                <a:moveTo>
                  <a:pt x="0" y="0"/>
                </a:moveTo>
                <a:lnTo>
                  <a:pt x="4987986" y="0"/>
                </a:lnTo>
                <a:lnTo>
                  <a:pt x="4987986" y="8639022"/>
                </a:lnTo>
                <a:lnTo>
                  <a:pt x="0" y="8639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2730172" y="3447212"/>
            <a:ext cx="3856272" cy="3446545"/>
            <a:chOff x="0" y="0"/>
            <a:chExt cx="5141697" cy="4595393"/>
          </a:xfrm>
        </p:grpSpPr>
        <p:sp>
          <p:nvSpPr>
            <p:cNvPr name="Freeform 7" id="7"/>
            <p:cNvSpPr/>
            <p:nvPr/>
          </p:nvSpPr>
          <p:spPr>
            <a:xfrm flipH="false" flipV="false" rot="0">
              <a:off x="0" y="0"/>
              <a:ext cx="5141722" cy="4595368"/>
            </a:xfrm>
            <a:custGeom>
              <a:avLst/>
              <a:gdLst/>
              <a:ahLst/>
              <a:cxnLst/>
              <a:rect r="r" b="b" t="t" l="l"/>
              <a:pathLst>
                <a:path h="4595368" w="5141722">
                  <a:moveTo>
                    <a:pt x="0" y="0"/>
                  </a:moveTo>
                  <a:lnTo>
                    <a:pt x="5141722" y="0"/>
                  </a:lnTo>
                  <a:lnTo>
                    <a:pt x="5141722" y="4595368"/>
                  </a:lnTo>
                  <a:lnTo>
                    <a:pt x="0" y="4595368"/>
                  </a:lnTo>
                  <a:lnTo>
                    <a:pt x="0" y="0"/>
                  </a:lnTo>
                  <a:close/>
                </a:path>
              </a:pathLst>
            </a:custGeom>
            <a:blipFill>
              <a:blip r:embed="rId8"/>
              <a:stretch>
                <a:fillRect l="-28" t="0" r="-28" b="0"/>
              </a:stretch>
            </a:blipFill>
          </p:spPr>
        </p:sp>
      </p:grpSp>
      <p:sp>
        <p:nvSpPr>
          <p:cNvPr name="TextBox 8" id="8"/>
          <p:cNvSpPr txBox="true"/>
          <p:nvPr/>
        </p:nvSpPr>
        <p:spPr>
          <a:xfrm rot="0">
            <a:off x="1695964" y="1130941"/>
            <a:ext cx="9509398" cy="7968529"/>
          </a:xfrm>
          <a:prstGeom prst="rect">
            <a:avLst/>
          </a:prstGeom>
        </p:spPr>
        <p:txBody>
          <a:bodyPr anchor="t" rtlCol="false" tIns="0" lIns="0" bIns="0" rIns="0">
            <a:spAutoFit/>
          </a:bodyPr>
          <a:lstStyle/>
          <a:p>
            <a:pPr algn="l">
              <a:lnSpc>
                <a:spcPts val="3664"/>
              </a:lnSpc>
            </a:pPr>
            <a:r>
              <a:rPr lang="en-US" sz="2349">
                <a:solidFill>
                  <a:srgbClr val="FFFFFF"/>
                </a:solidFill>
                <a:latin typeface="Montserrat"/>
                <a:ea typeface="Montserrat"/>
                <a:cs typeface="Montserrat"/>
                <a:sym typeface="Montserrat"/>
              </a:rPr>
              <a:t>Debemos resolver dos problemas principales para implementar la paginación bajo demanda: debemos desarrollar un algoritmo de asignación de marcos y un algoritmo de reemplazo de páginas.</a:t>
            </a:r>
          </a:p>
          <a:p>
            <a:pPr algn="l">
              <a:lnSpc>
                <a:spcPts val="2184"/>
              </a:lnSpc>
            </a:pPr>
          </a:p>
          <a:p>
            <a:pPr algn="l">
              <a:lnSpc>
                <a:spcPts val="3664"/>
              </a:lnSpc>
            </a:pPr>
            <a:r>
              <a:rPr lang="en-US" sz="2349">
                <a:solidFill>
                  <a:srgbClr val="FFFFFF"/>
                </a:solidFill>
                <a:latin typeface="Montserrat"/>
                <a:ea typeface="Montserrat"/>
                <a:cs typeface="Montserrat"/>
                <a:sym typeface="Montserrat"/>
              </a:rPr>
              <a:t>Si tenemos múltiples procesos en memoria, debemos decidir cuántos marcos deseamos asignar a cada proceso. Además, cuando sea necesario reemplazar la página, debemos seleccionar los marcos que se van a reemplazar. Diseñar algoritmos apropiados para resolver estos problemas es una tarea importante porque la E/S de disco es muy costosa.</a:t>
            </a:r>
          </a:p>
          <a:p>
            <a:pPr algn="l">
              <a:lnSpc>
                <a:spcPts val="2184"/>
              </a:lnSpc>
            </a:pPr>
          </a:p>
          <a:p>
            <a:pPr algn="l">
              <a:lnSpc>
                <a:spcPts val="3664"/>
              </a:lnSpc>
            </a:pPr>
            <a:r>
              <a:rPr lang="en-US" sz="2349">
                <a:solidFill>
                  <a:srgbClr val="FFFFFF"/>
                </a:solidFill>
                <a:latin typeface="Montserrat"/>
                <a:ea typeface="Montserrat"/>
                <a:cs typeface="Montserrat"/>
                <a:sym typeface="Montserrat"/>
              </a:rPr>
              <a:t>Existen muchos algoritmos diferentes de reemplazo de páginas. Probablemente cada sistema operativo tenga su propio esquema de reemplazo. ¿Cómo seleccionamos un algoritmo de reemplazo particular? En general, queremos el que tenga la tasa de error de página más baja.</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7846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975046" y="3536994"/>
            <a:ext cx="6620275" cy="5444757"/>
          </a:xfrm>
          <a:custGeom>
            <a:avLst/>
            <a:gdLst/>
            <a:ahLst/>
            <a:cxnLst/>
            <a:rect r="r" b="b" t="t" l="l"/>
            <a:pathLst>
              <a:path h="5444757" w="6620275">
                <a:moveTo>
                  <a:pt x="0" y="0"/>
                </a:moveTo>
                <a:lnTo>
                  <a:pt x="6620275" y="0"/>
                </a:lnTo>
                <a:lnTo>
                  <a:pt x="6620275" y="5444757"/>
                </a:lnTo>
                <a:lnTo>
                  <a:pt x="0" y="54447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925800" y="1196873"/>
            <a:ext cx="9089774" cy="7784782"/>
          </a:xfrm>
          <a:custGeom>
            <a:avLst/>
            <a:gdLst/>
            <a:ahLst/>
            <a:cxnLst/>
            <a:rect r="r" b="b" t="t" l="l"/>
            <a:pathLst>
              <a:path h="7784782" w="9089774">
                <a:moveTo>
                  <a:pt x="0" y="0"/>
                </a:moveTo>
                <a:lnTo>
                  <a:pt x="9089774" y="0"/>
                </a:lnTo>
                <a:lnTo>
                  <a:pt x="9089774" y="7784783"/>
                </a:lnTo>
                <a:lnTo>
                  <a:pt x="0" y="77847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705004" y="3883247"/>
            <a:ext cx="5755719" cy="4752261"/>
          </a:xfrm>
          <a:custGeom>
            <a:avLst/>
            <a:gdLst/>
            <a:ahLst/>
            <a:cxnLst/>
            <a:rect r="r" b="b" t="t" l="l"/>
            <a:pathLst>
              <a:path h="4752261" w="5755719">
                <a:moveTo>
                  <a:pt x="0" y="0"/>
                </a:moveTo>
                <a:lnTo>
                  <a:pt x="5755719" y="0"/>
                </a:lnTo>
                <a:lnTo>
                  <a:pt x="5755719" y="4752261"/>
                </a:lnTo>
                <a:lnTo>
                  <a:pt x="0" y="47522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899361" y="4187371"/>
            <a:ext cx="4771130" cy="4252265"/>
            <a:chOff x="0" y="0"/>
            <a:chExt cx="6361506" cy="5669686"/>
          </a:xfrm>
        </p:grpSpPr>
        <p:sp>
          <p:nvSpPr>
            <p:cNvPr name="Freeform 8" id="8"/>
            <p:cNvSpPr/>
            <p:nvPr/>
          </p:nvSpPr>
          <p:spPr>
            <a:xfrm flipH="false" flipV="false" rot="0">
              <a:off x="0" y="0"/>
              <a:ext cx="6361557" cy="5669661"/>
            </a:xfrm>
            <a:custGeom>
              <a:avLst/>
              <a:gdLst/>
              <a:ahLst/>
              <a:cxnLst/>
              <a:rect r="r" b="b" t="t" l="l"/>
              <a:pathLst>
                <a:path h="5669661" w="6361557">
                  <a:moveTo>
                    <a:pt x="0" y="0"/>
                  </a:moveTo>
                  <a:lnTo>
                    <a:pt x="6361557" y="0"/>
                  </a:lnTo>
                  <a:lnTo>
                    <a:pt x="6361557" y="5669661"/>
                  </a:lnTo>
                  <a:lnTo>
                    <a:pt x="0" y="5669661"/>
                  </a:lnTo>
                  <a:lnTo>
                    <a:pt x="0" y="0"/>
                  </a:lnTo>
                  <a:close/>
                </a:path>
              </a:pathLst>
            </a:custGeom>
            <a:blipFill>
              <a:blip r:embed="rId10"/>
              <a:stretch>
                <a:fillRect l="0" t="-21" r="0" b="-21"/>
              </a:stretch>
            </a:blipFill>
          </p:spPr>
        </p:sp>
      </p:grpSp>
      <p:sp>
        <p:nvSpPr>
          <p:cNvPr name="TextBox 9" id="9"/>
          <p:cNvSpPr txBox="true"/>
          <p:nvPr/>
        </p:nvSpPr>
        <p:spPr>
          <a:xfrm rot="0">
            <a:off x="8211550" y="1574749"/>
            <a:ext cx="8527504" cy="6964204"/>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El algoritmo de reemplazo de páginas más simple es el primero en entrar, primero en salir (FIFO). Un algoritmo de reemplazo FIFO asocia con cada página el momento en que esa página se trajo a la memoria. </a:t>
            </a:r>
          </a:p>
          <a:p>
            <a:pPr algn="l">
              <a:lnSpc>
                <a:spcPts val="2183"/>
              </a:lnSpc>
            </a:pPr>
          </a:p>
          <a:p>
            <a:pPr algn="l">
              <a:lnSpc>
                <a:spcPts val="3899"/>
              </a:lnSpc>
            </a:pPr>
            <a:r>
              <a:rPr lang="en-US" sz="2499">
                <a:solidFill>
                  <a:srgbClr val="FFFFFF"/>
                </a:solidFill>
                <a:latin typeface="Montserrat"/>
                <a:ea typeface="Montserrat"/>
                <a:cs typeface="Montserrat"/>
                <a:sym typeface="Montserrat"/>
              </a:rPr>
              <a:t>Cuando es necesario reemplazar una página, se elige la página más antigua. Tenga en cuenta que no es estrictamente necesario registrar la hora en que se ingresa una página.</a:t>
            </a:r>
          </a:p>
          <a:p>
            <a:pPr algn="l">
              <a:lnSpc>
                <a:spcPts val="2183"/>
              </a:lnSpc>
            </a:pPr>
          </a:p>
          <a:p>
            <a:pPr algn="l">
              <a:lnSpc>
                <a:spcPts val="3899"/>
              </a:lnSpc>
            </a:pPr>
            <a:r>
              <a:rPr lang="en-US" sz="2499">
                <a:solidFill>
                  <a:srgbClr val="FFFFFF"/>
                </a:solidFill>
                <a:latin typeface="Montserrat"/>
                <a:ea typeface="Montserrat"/>
                <a:cs typeface="Montserrat"/>
                <a:sym typeface="Montserrat"/>
              </a:rPr>
              <a:t>Podemos crear una cola FIFO para contener todas las páginas en la memoria. Reemplazamos la página al principio de la cola. Cuando una página llega a la memoria, la insertamos al final de la cola.</a:t>
            </a:r>
          </a:p>
        </p:txBody>
      </p:sp>
      <p:sp>
        <p:nvSpPr>
          <p:cNvPr name="TextBox 10" id="10"/>
          <p:cNvSpPr txBox="true"/>
          <p:nvPr/>
        </p:nvSpPr>
        <p:spPr>
          <a:xfrm rot="0">
            <a:off x="1272169" y="1489024"/>
            <a:ext cx="6025496" cy="2032425"/>
          </a:xfrm>
          <a:prstGeom prst="rect">
            <a:avLst/>
          </a:prstGeom>
        </p:spPr>
        <p:txBody>
          <a:bodyPr anchor="t" rtlCol="false" tIns="0" lIns="0" bIns="0" rIns="0">
            <a:spAutoFit/>
          </a:bodyPr>
          <a:lstStyle/>
          <a:p>
            <a:pPr algn="ctr">
              <a:lnSpc>
                <a:spcPts val="7984"/>
              </a:lnSpc>
            </a:pPr>
            <a:r>
              <a:rPr lang="en-US" sz="5498">
                <a:solidFill>
                  <a:srgbClr val="FFFFFF"/>
                </a:solidFill>
                <a:latin typeface="Arial"/>
                <a:ea typeface="Arial"/>
                <a:cs typeface="Arial"/>
                <a:sym typeface="Arial"/>
              </a:rPr>
              <a:t>REEMPLAZO DE PÁGINA FIFO</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2883656"/>
            <a:ext cx="6864039" cy="6082636"/>
          </a:xfrm>
          <a:custGeom>
            <a:avLst/>
            <a:gdLst/>
            <a:ahLst/>
            <a:cxnLst/>
            <a:rect r="r" b="b" t="t" l="l"/>
            <a:pathLst>
              <a:path h="6082636" w="6864039">
                <a:moveTo>
                  <a:pt x="0" y="0"/>
                </a:moveTo>
                <a:lnTo>
                  <a:pt x="6864039" y="0"/>
                </a:lnTo>
                <a:lnTo>
                  <a:pt x="6864039" y="6082636"/>
                </a:lnTo>
                <a:lnTo>
                  <a:pt x="0" y="60826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248050" y="2883646"/>
            <a:ext cx="8767420" cy="6266059"/>
          </a:xfrm>
          <a:custGeom>
            <a:avLst/>
            <a:gdLst/>
            <a:ahLst/>
            <a:cxnLst/>
            <a:rect r="r" b="b" t="t" l="l"/>
            <a:pathLst>
              <a:path h="6266059" w="8767420">
                <a:moveTo>
                  <a:pt x="0" y="0"/>
                </a:moveTo>
                <a:lnTo>
                  <a:pt x="8767420" y="0"/>
                </a:lnTo>
                <a:lnTo>
                  <a:pt x="8767420" y="6266059"/>
                </a:lnTo>
                <a:lnTo>
                  <a:pt x="0" y="62660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34522" y="3342065"/>
            <a:ext cx="6052166" cy="5063166"/>
          </a:xfrm>
          <a:custGeom>
            <a:avLst/>
            <a:gdLst/>
            <a:ahLst/>
            <a:cxnLst/>
            <a:rect r="r" b="b" t="t" l="l"/>
            <a:pathLst>
              <a:path h="5063166" w="6052166">
                <a:moveTo>
                  <a:pt x="0" y="0"/>
                </a:moveTo>
                <a:lnTo>
                  <a:pt x="6052166" y="0"/>
                </a:lnTo>
                <a:lnTo>
                  <a:pt x="6052166" y="5063166"/>
                </a:lnTo>
                <a:lnTo>
                  <a:pt x="0" y="50631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890351" y="3636931"/>
            <a:ext cx="5140471" cy="4581439"/>
            <a:chOff x="0" y="0"/>
            <a:chExt cx="6853961" cy="6108586"/>
          </a:xfrm>
        </p:grpSpPr>
        <p:sp>
          <p:nvSpPr>
            <p:cNvPr name="Freeform 8" id="8"/>
            <p:cNvSpPr/>
            <p:nvPr/>
          </p:nvSpPr>
          <p:spPr>
            <a:xfrm flipH="false" flipV="false" rot="0">
              <a:off x="0" y="0"/>
              <a:ext cx="6853936" cy="6108573"/>
            </a:xfrm>
            <a:custGeom>
              <a:avLst/>
              <a:gdLst/>
              <a:ahLst/>
              <a:cxnLst/>
              <a:rect r="r" b="b" t="t" l="l"/>
              <a:pathLst>
                <a:path h="6108573" w="6853936">
                  <a:moveTo>
                    <a:pt x="0" y="0"/>
                  </a:moveTo>
                  <a:lnTo>
                    <a:pt x="6853936" y="0"/>
                  </a:lnTo>
                  <a:lnTo>
                    <a:pt x="6853936" y="6108573"/>
                  </a:lnTo>
                  <a:lnTo>
                    <a:pt x="0" y="6108573"/>
                  </a:lnTo>
                  <a:lnTo>
                    <a:pt x="0" y="0"/>
                  </a:lnTo>
                  <a:close/>
                </a:path>
              </a:pathLst>
            </a:custGeom>
            <a:blipFill>
              <a:blip r:embed="rId10"/>
              <a:stretch>
                <a:fillRect l="-45" t="0" r="-45" b="0"/>
              </a:stretch>
            </a:blipFill>
          </p:spPr>
        </p:sp>
      </p:grpSp>
      <p:sp>
        <p:nvSpPr>
          <p:cNvPr name="TextBox 9" id="9"/>
          <p:cNvSpPr txBox="true"/>
          <p:nvPr/>
        </p:nvSpPr>
        <p:spPr>
          <a:xfrm rot="0">
            <a:off x="8680723" y="3186036"/>
            <a:ext cx="7673702" cy="5963698"/>
          </a:xfrm>
          <a:prstGeom prst="rect">
            <a:avLst/>
          </a:prstGeom>
        </p:spPr>
        <p:txBody>
          <a:bodyPr anchor="t" rtlCol="false" tIns="0" lIns="0" bIns="0" rIns="0">
            <a:spAutoFit/>
          </a:bodyPr>
          <a:lstStyle/>
          <a:p>
            <a:pPr algn="l">
              <a:lnSpc>
                <a:spcPts val="3899"/>
              </a:lnSpc>
            </a:pPr>
            <a:r>
              <a:rPr lang="en-US" sz="2499">
                <a:solidFill>
                  <a:srgbClr val="FFFFFF"/>
                </a:solidFill>
                <a:latin typeface="Montserrat"/>
                <a:ea typeface="Montserrat"/>
                <a:cs typeface="Montserrat"/>
                <a:sym typeface="Montserrat"/>
              </a:rPr>
              <a:t>El reemplazo de la menos usada recientemente (Least Recently Used o LRU) </a:t>
            </a:r>
            <a:r>
              <a:rPr lang="en-US" sz="2499">
                <a:solidFill>
                  <a:srgbClr val="67D3CD"/>
                </a:solidFill>
                <a:latin typeface="Montserrat"/>
                <a:ea typeface="Montserrat"/>
                <a:cs typeface="Montserrat"/>
                <a:sym typeface="Montserrat"/>
              </a:rPr>
              <a:t>asocia con cada página la hora del último uso de esa página. </a:t>
            </a:r>
          </a:p>
          <a:p>
            <a:pPr algn="l">
              <a:lnSpc>
                <a:spcPts val="2183"/>
              </a:lnSpc>
            </a:pPr>
          </a:p>
          <a:p>
            <a:pPr algn="l">
              <a:lnSpc>
                <a:spcPts val="3899"/>
              </a:lnSpc>
            </a:pPr>
            <a:r>
              <a:rPr lang="en-US" sz="2499">
                <a:solidFill>
                  <a:srgbClr val="FFFFFF"/>
                </a:solidFill>
                <a:latin typeface="Montserrat"/>
                <a:ea typeface="Montserrat"/>
                <a:cs typeface="Montserrat"/>
                <a:sym typeface="Montserrat"/>
              </a:rPr>
              <a:t>Cuando se debe reemplazar una página, LRU </a:t>
            </a:r>
            <a:r>
              <a:rPr lang="en-US" sz="2499">
                <a:solidFill>
                  <a:srgbClr val="67D3CD"/>
                </a:solidFill>
                <a:latin typeface="Montserrat"/>
                <a:ea typeface="Montserrat"/>
                <a:cs typeface="Montserrat"/>
                <a:sym typeface="Montserrat"/>
              </a:rPr>
              <a:t>elige la página que no se ha utilizado durante más tiempo</a:t>
            </a:r>
            <a:r>
              <a:rPr lang="en-US" sz="2499">
                <a:solidFill>
                  <a:srgbClr val="FFFFFF"/>
                </a:solidFill>
                <a:latin typeface="Montserrat"/>
                <a:ea typeface="Montserrat"/>
                <a:cs typeface="Montserrat"/>
                <a:sym typeface="Montserrat"/>
              </a:rPr>
              <a:t>.</a:t>
            </a:r>
          </a:p>
          <a:p>
            <a:pPr algn="l">
              <a:lnSpc>
                <a:spcPts val="2183"/>
              </a:lnSpc>
            </a:pPr>
          </a:p>
          <a:p>
            <a:pPr algn="l">
              <a:lnSpc>
                <a:spcPts val="3899"/>
              </a:lnSpc>
            </a:pPr>
            <a:r>
              <a:rPr lang="en-US" sz="2499">
                <a:solidFill>
                  <a:srgbClr val="FFFFFF"/>
                </a:solidFill>
                <a:latin typeface="Montserrat"/>
                <a:ea typeface="Montserrat"/>
                <a:cs typeface="Montserrat"/>
                <a:sym typeface="Montserrat"/>
              </a:rPr>
              <a:t>Podemos pensar en esta estrategia como el algoritmo óptimo de reemplazo de páginas mirando hacia atrás en el tiempo, en lugar de hacia adelante.</a:t>
            </a:r>
          </a:p>
        </p:txBody>
      </p:sp>
      <p:sp>
        <p:nvSpPr>
          <p:cNvPr name="TextBox 10" id="10"/>
          <p:cNvSpPr txBox="true"/>
          <p:nvPr/>
        </p:nvSpPr>
        <p:spPr>
          <a:xfrm rot="0">
            <a:off x="1933480" y="866775"/>
            <a:ext cx="14421002" cy="1955102"/>
          </a:xfrm>
          <a:prstGeom prst="rect">
            <a:avLst/>
          </a:prstGeom>
        </p:spPr>
        <p:txBody>
          <a:bodyPr anchor="t" rtlCol="false" tIns="0" lIns="0" bIns="0" rIns="0">
            <a:spAutoFit/>
          </a:bodyPr>
          <a:lstStyle/>
          <a:p>
            <a:pPr algn="ctr">
              <a:lnSpc>
                <a:spcPts val="7694"/>
              </a:lnSpc>
            </a:pPr>
            <a:r>
              <a:rPr lang="en-US" sz="5299">
                <a:solidFill>
                  <a:srgbClr val="FFFFFF"/>
                </a:solidFill>
                <a:latin typeface="Arial"/>
                <a:ea typeface="Arial"/>
                <a:cs typeface="Arial"/>
                <a:sym typeface="Arial"/>
              </a:rPr>
              <a:t>REEMPLAZO DE LA PÁGINA MENOS USADA RECIENTEMENTE</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920201"/>
            <a:ext cx="10830563" cy="8920105"/>
          </a:xfrm>
          <a:custGeom>
            <a:avLst/>
            <a:gdLst/>
            <a:ahLst/>
            <a:cxnLst/>
            <a:rect r="r" b="b" t="t" l="l"/>
            <a:pathLst>
              <a:path h="8920105" w="10830563">
                <a:moveTo>
                  <a:pt x="0" y="0"/>
                </a:moveTo>
                <a:lnTo>
                  <a:pt x="10830563" y="0"/>
                </a:lnTo>
                <a:lnTo>
                  <a:pt x="10830563" y="8920105"/>
                </a:lnTo>
                <a:lnTo>
                  <a:pt x="0" y="8920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205440" y="920201"/>
            <a:ext cx="5054051" cy="4088349"/>
          </a:xfrm>
          <a:custGeom>
            <a:avLst/>
            <a:gdLst/>
            <a:ahLst/>
            <a:cxnLst/>
            <a:rect r="r" b="b" t="t" l="l"/>
            <a:pathLst>
              <a:path h="4088349" w="5054051">
                <a:moveTo>
                  <a:pt x="0" y="0"/>
                </a:moveTo>
                <a:lnTo>
                  <a:pt x="5054050" y="0"/>
                </a:lnTo>
                <a:lnTo>
                  <a:pt x="5054050" y="4088349"/>
                </a:lnTo>
                <a:lnTo>
                  <a:pt x="0" y="40883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071348" y="1485643"/>
            <a:ext cx="3065936" cy="3065936"/>
            <a:chOff x="0" y="0"/>
            <a:chExt cx="4087914" cy="4087914"/>
          </a:xfrm>
        </p:grpSpPr>
        <p:sp>
          <p:nvSpPr>
            <p:cNvPr name="Freeform 7" id="7"/>
            <p:cNvSpPr/>
            <p:nvPr/>
          </p:nvSpPr>
          <p:spPr>
            <a:xfrm flipH="false" flipV="false" rot="0">
              <a:off x="0" y="0"/>
              <a:ext cx="4087876" cy="4087876"/>
            </a:xfrm>
            <a:custGeom>
              <a:avLst/>
              <a:gdLst/>
              <a:ahLst/>
              <a:cxnLst/>
              <a:rect r="r" b="b" t="t" l="l"/>
              <a:pathLst>
                <a:path h="4087876" w="4087876">
                  <a:moveTo>
                    <a:pt x="0" y="0"/>
                  </a:moveTo>
                  <a:lnTo>
                    <a:pt x="4087876" y="0"/>
                  </a:lnTo>
                  <a:lnTo>
                    <a:pt x="4087876" y="4087876"/>
                  </a:lnTo>
                  <a:lnTo>
                    <a:pt x="0" y="4087876"/>
                  </a:lnTo>
                  <a:lnTo>
                    <a:pt x="0" y="0"/>
                  </a:lnTo>
                  <a:close/>
                </a:path>
              </a:pathLst>
            </a:custGeom>
            <a:blipFill>
              <a:blip r:embed="rId8"/>
              <a:stretch>
                <a:fillRect l="0" t="0" r="0" b="0"/>
              </a:stretch>
            </a:blipFill>
          </p:spPr>
        </p:sp>
      </p:grpSp>
      <p:sp>
        <p:nvSpPr>
          <p:cNvPr name="Freeform 8" id="8"/>
          <p:cNvSpPr/>
          <p:nvPr/>
        </p:nvSpPr>
        <p:spPr>
          <a:xfrm flipH="false" flipV="false" rot="0">
            <a:off x="12205440" y="5636209"/>
            <a:ext cx="5054051" cy="4088349"/>
          </a:xfrm>
          <a:custGeom>
            <a:avLst/>
            <a:gdLst/>
            <a:ahLst/>
            <a:cxnLst/>
            <a:rect r="r" b="b" t="t" l="l"/>
            <a:pathLst>
              <a:path h="4088349" w="5054051">
                <a:moveTo>
                  <a:pt x="0" y="0"/>
                </a:moveTo>
                <a:lnTo>
                  <a:pt x="5054050" y="0"/>
                </a:lnTo>
                <a:lnTo>
                  <a:pt x="5054050" y="4088349"/>
                </a:lnTo>
                <a:lnTo>
                  <a:pt x="0" y="40883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2890525" y="6174705"/>
            <a:ext cx="3427571" cy="2879160"/>
            <a:chOff x="0" y="0"/>
            <a:chExt cx="4570095" cy="3838880"/>
          </a:xfrm>
        </p:grpSpPr>
        <p:sp>
          <p:nvSpPr>
            <p:cNvPr name="Freeform 10" id="10"/>
            <p:cNvSpPr/>
            <p:nvPr/>
          </p:nvSpPr>
          <p:spPr>
            <a:xfrm flipH="false" flipV="false" rot="0">
              <a:off x="0" y="0"/>
              <a:ext cx="4570095" cy="3838829"/>
            </a:xfrm>
            <a:custGeom>
              <a:avLst/>
              <a:gdLst/>
              <a:ahLst/>
              <a:cxnLst/>
              <a:rect r="r" b="b" t="t" l="l"/>
              <a:pathLst>
                <a:path h="3838829" w="4570095">
                  <a:moveTo>
                    <a:pt x="0" y="0"/>
                  </a:moveTo>
                  <a:lnTo>
                    <a:pt x="4570095" y="0"/>
                  </a:lnTo>
                  <a:lnTo>
                    <a:pt x="4570095" y="3838829"/>
                  </a:lnTo>
                  <a:lnTo>
                    <a:pt x="0" y="3838829"/>
                  </a:lnTo>
                  <a:lnTo>
                    <a:pt x="0" y="0"/>
                  </a:lnTo>
                  <a:close/>
                </a:path>
              </a:pathLst>
            </a:custGeom>
            <a:blipFill>
              <a:blip r:embed="rId9"/>
              <a:stretch>
                <a:fillRect l="0" t="0" r="0" b="-1"/>
              </a:stretch>
            </a:blipFill>
          </p:spPr>
        </p:sp>
      </p:grpSp>
      <p:sp>
        <p:nvSpPr>
          <p:cNvPr name="TextBox 11" id="11"/>
          <p:cNvSpPr txBox="true"/>
          <p:nvPr/>
        </p:nvSpPr>
        <p:spPr>
          <a:xfrm rot="0">
            <a:off x="1452067" y="1377953"/>
            <a:ext cx="9792900" cy="8462401"/>
          </a:xfrm>
          <a:prstGeom prst="rect">
            <a:avLst/>
          </a:prstGeom>
        </p:spPr>
        <p:txBody>
          <a:bodyPr anchor="t" rtlCol="false" tIns="0" lIns="0" bIns="0" rIns="0">
            <a:spAutoFit/>
          </a:bodyPr>
          <a:lstStyle/>
          <a:p>
            <a:pPr algn="l">
              <a:lnSpc>
                <a:spcPts val="3898"/>
              </a:lnSpc>
            </a:pPr>
            <a:r>
              <a:rPr lang="en-US" sz="2499">
                <a:solidFill>
                  <a:srgbClr val="FFFFFF"/>
                </a:solidFill>
                <a:latin typeface="Montserrat"/>
                <a:ea typeface="Montserrat"/>
                <a:cs typeface="Montserrat"/>
                <a:sym typeface="Montserrat"/>
              </a:rPr>
              <a:t>La política LRU se utiliza a menudo como algoritmo de reemplazo de páginas y se considera buena. El principal problema es cómo implementarlo sin requerir asistencia de hardware sustancial.</a:t>
            </a:r>
          </a:p>
          <a:p>
            <a:pPr algn="l">
              <a:lnSpc>
                <a:spcPts val="2184"/>
              </a:lnSpc>
            </a:pPr>
          </a:p>
          <a:p>
            <a:pPr algn="l">
              <a:lnSpc>
                <a:spcPts val="3898"/>
              </a:lnSpc>
            </a:pPr>
            <a:r>
              <a:rPr lang="en-US" sz="2499">
                <a:solidFill>
                  <a:srgbClr val="FFFFFF"/>
                </a:solidFill>
                <a:latin typeface="Montserrat"/>
                <a:ea typeface="Montserrat"/>
                <a:cs typeface="Montserrat"/>
                <a:sym typeface="Montserrat"/>
              </a:rPr>
              <a:t>En el caso más sencillo, asociaremos con cada entrada de la tabla de páginas un </a:t>
            </a:r>
            <a:r>
              <a:rPr lang="en-US" sz="2499">
                <a:solidFill>
                  <a:srgbClr val="F59F0A"/>
                </a:solidFill>
                <a:latin typeface="Montserrat"/>
                <a:ea typeface="Montserrat"/>
                <a:cs typeface="Montserrat"/>
                <a:sym typeface="Montserrat"/>
              </a:rPr>
              <a:t>campo de tiempo</a:t>
            </a:r>
            <a:r>
              <a:rPr lang="en-US" sz="2499">
                <a:solidFill>
                  <a:srgbClr val="FFFFFF"/>
                </a:solidFill>
                <a:latin typeface="Montserrat"/>
                <a:ea typeface="Montserrat"/>
                <a:cs typeface="Montserrat"/>
                <a:sym typeface="Montserrat"/>
              </a:rPr>
              <a:t> y agregaremos a la CPU un contador lógico. El reloj se incrementa para cada referencia de memoria. Cada vez que una referencia a una página se realiza, el contenido del registro de reloj se copia en el campo de tiempo.</a:t>
            </a:r>
          </a:p>
          <a:p>
            <a:pPr algn="l">
              <a:lnSpc>
                <a:spcPts val="2184"/>
              </a:lnSpc>
            </a:pPr>
          </a:p>
          <a:p>
            <a:pPr algn="l">
              <a:lnSpc>
                <a:spcPts val="3898"/>
              </a:lnSpc>
            </a:pPr>
            <a:r>
              <a:rPr lang="en-US" sz="2499">
                <a:solidFill>
                  <a:srgbClr val="FFFFFF"/>
                </a:solidFill>
                <a:latin typeface="Montserrat"/>
                <a:ea typeface="Montserrat"/>
                <a:cs typeface="Montserrat"/>
                <a:sym typeface="Montserrat"/>
              </a:rPr>
              <a:t>Otro enfoque para implementar el reemplazo de LRU es mantener una </a:t>
            </a:r>
            <a:r>
              <a:rPr lang="en-US" sz="2499">
                <a:solidFill>
                  <a:srgbClr val="67D3CD"/>
                </a:solidFill>
                <a:latin typeface="Montserrat"/>
                <a:ea typeface="Montserrat"/>
                <a:cs typeface="Montserrat"/>
                <a:sym typeface="Montserrat"/>
              </a:rPr>
              <a:t>pila de números de página</a:t>
            </a:r>
            <a:r>
              <a:rPr lang="en-US" sz="2499">
                <a:solidFill>
                  <a:srgbClr val="FFFFFF"/>
                </a:solidFill>
                <a:latin typeface="Montserrat"/>
                <a:ea typeface="Montserrat"/>
                <a:cs typeface="Montserrat"/>
                <a:sym typeface="Montserrat"/>
              </a:rPr>
              <a:t>. Cada vez que se hace referencia a una página, se elimina de la pila y se coloca en la parte superior. De esta manera, la página utilizada más recientemente siempre está en la parte superior de la pila</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393506" y="-1936814"/>
            <a:ext cx="19075013" cy="15728937"/>
            <a:chOff x="0" y="0"/>
            <a:chExt cx="25433350" cy="20971916"/>
          </a:xfrm>
        </p:grpSpPr>
        <p:sp>
          <p:nvSpPr>
            <p:cNvPr name="Freeform 3" id="3"/>
            <p:cNvSpPr/>
            <p:nvPr/>
          </p:nvSpPr>
          <p:spPr>
            <a:xfrm flipH="false" flipV="false" rot="0">
              <a:off x="0" y="0"/>
              <a:ext cx="25433401" cy="20971890"/>
            </a:xfrm>
            <a:custGeom>
              <a:avLst/>
              <a:gdLst/>
              <a:ahLst/>
              <a:cxnLst/>
              <a:rect r="r" b="b" t="t" l="l"/>
              <a:pathLst>
                <a:path h="20971890" w="25433401">
                  <a:moveTo>
                    <a:pt x="0" y="0"/>
                  </a:moveTo>
                  <a:lnTo>
                    <a:pt x="25433401" y="0"/>
                  </a:lnTo>
                  <a:lnTo>
                    <a:pt x="25433401" y="20971890"/>
                  </a:lnTo>
                  <a:lnTo>
                    <a:pt x="0" y="20971890"/>
                  </a:lnTo>
                  <a:lnTo>
                    <a:pt x="0" y="0"/>
                  </a:lnTo>
                  <a:close/>
                </a:path>
              </a:pathLst>
            </a:custGeom>
            <a:blipFill>
              <a:blip r:embed="rId3"/>
              <a:stretch>
                <a:fillRect l="-6" t="0" r="-6" b="0"/>
              </a:stretch>
            </a:blipFill>
          </p:spPr>
        </p:sp>
      </p:grpSp>
      <p:sp>
        <p:nvSpPr>
          <p:cNvPr name="Freeform 4" id="4"/>
          <p:cNvSpPr/>
          <p:nvPr/>
        </p:nvSpPr>
        <p:spPr>
          <a:xfrm flipH="false" flipV="false" rot="0">
            <a:off x="1028700" y="4499029"/>
            <a:ext cx="6864039" cy="4759300"/>
          </a:xfrm>
          <a:custGeom>
            <a:avLst/>
            <a:gdLst/>
            <a:ahLst/>
            <a:cxnLst/>
            <a:rect r="r" b="b" t="t" l="l"/>
            <a:pathLst>
              <a:path h="4759300" w="6864039">
                <a:moveTo>
                  <a:pt x="0" y="0"/>
                </a:moveTo>
                <a:lnTo>
                  <a:pt x="6864039" y="0"/>
                </a:lnTo>
                <a:lnTo>
                  <a:pt x="6864039" y="4759300"/>
                </a:lnTo>
                <a:lnTo>
                  <a:pt x="0" y="4759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248059" y="920201"/>
            <a:ext cx="8767420" cy="8338156"/>
          </a:xfrm>
          <a:custGeom>
            <a:avLst/>
            <a:gdLst/>
            <a:ahLst/>
            <a:cxnLst/>
            <a:rect r="r" b="b" t="t" l="l"/>
            <a:pathLst>
              <a:path h="8338156" w="8767420">
                <a:moveTo>
                  <a:pt x="0" y="0"/>
                </a:moveTo>
                <a:lnTo>
                  <a:pt x="8767420" y="0"/>
                </a:lnTo>
                <a:lnTo>
                  <a:pt x="8767420" y="8338156"/>
                </a:lnTo>
                <a:lnTo>
                  <a:pt x="0" y="83381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04658" y="5076796"/>
            <a:ext cx="6311856" cy="3712226"/>
            <a:chOff x="0" y="0"/>
            <a:chExt cx="8415807" cy="4949634"/>
          </a:xfrm>
        </p:grpSpPr>
        <p:sp>
          <p:nvSpPr>
            <p:cNvPr name="Freeform 7" id="7"/>
            <p:cNvSpPr/>
            <p:nvPr/>
          </p:nvSpPr>
          <p:spPr>
            <a:xfrm flipH="false" flipV="false" rot="0">
              <a:off x="0" y="0"/>
              <a:ext cx="8415782" cy="4949698"/>
            </a:xfrm>
            <a:custGeom>
              <a:avLst/>
              <a:gdLst/>
              <a:ahLst/>
              <a:cxnLst/>
              <a:rect r="r" b="b" t="t" l="l"/>
              <a:pathLst>
                <a:path h="4949698" w="8415782">
                  <a:moveTo>
                    <a:pt x="0" y="0"/>
                  </a:moveTo>
                  <a:lnTo>
                    <a:pt x="8415782" y="0"/>
                  </a:lnTo>
                  <a:lnTo>
                    <a:pt x="8415782" y="4949698"/>
                  </a:lnTo>
                  <a:lnTo>
                    <a:pt x="0" y="4949698"/>
                  </a:lnTo>
                  <a:lnTo>
                    <a:pt x="0" y="0"/>
                  </a:lnTo>
                  <a:close/>
                </a:path>
              </a:pathLst>
            </a:custGeom>
            <a:blipFill>
              <a:blip r:embed="rId8"/>
              <a:stretch>
                <a:fillRect l="0" t="-4740" r="0" b="-4739"/>
              </a:stretch>
            </a:blipFill>
          </p:spPr>
        </p:sp>
      </p:grpSp>
      <p:sp>
        <p:nvSpPr>
          <p:cNvPr name="TextBox 8" id="8"/>
          <p:cNvSpPr txBox="true"/>
          <p:nvPr/>
        </p:nvSpPr>
        <p:spPr>
          <a:xfrm rot="0">
            <a:off x="8646414" y="1184815"/>
            <a:ext cx="7970701" cy="7962300"/>
          </a:xfrm>
          <a:prstGeom prst="rect">
            <a:avLst/>
          </a:prstGeom>
        </p:spPr>
        <p:txBody>
          <a:bodyPr anchor="t" rtlCol="false" tIns="0" lIns="0" bIns="0" rIns="0">
            <a:spAutoFit/>
          </a:bodyPr>
          <a:lstStyle/>
          <a:p>
            <a:pPr algn="l">
              <a:lnSpc>
                <a:spcPts val="3898"/>
              </a:lnSpc>
            </a:pPr>
            <a:r>
              <a:rPr lang="en-US" sz="2499">
                <a:solidFill>
                  <a:srgbClr val="FFFFFF"/>
                </a:solidFill>
                <a:latin typeface="Montserrat"/>
                <a:ea typeface="Montserrat"/>
                <a:cs typeface="Montserrat"/>
                <a:sym typeface="Montserrat"/>
              </a:rPr>
              <a:t>Aquí podemos llevar un </a:t>
            </a:r>
            <a:r>
              <a:rPr lang="en-US" sz="2499">
                <a:solidFill>
                  <a:srgbClr val="67D3CD"/>
                </a:solidFill>
                <a:latin typeface="Montserrat"/>
                <a:ea typeface="Montserrat"/>
                <a:cs typeface="Montserrat"/>
                <a:sym typeface="Montserrat"/>
              </a:rPr>
              <a:t>contador del número de referencias que se han hecho a cada página</a:t>
            </a:r>
            <a:r>
              <a:rPr lang="en-US" sz="2499">
                <a:solidFill>
                  <a:srgbClr val="FFFFFF"/>
                </a:solidFill>
                <a:latin typeface="Montserrat"/>
                <a:ea typeface="Montserrat"/>
                <a:cs typeface="Montserrat"/>
                <a:sym typeface="Montserrat"/>
              </a:rPr>
              <a:t>, luego</a:t>
            </a:r>
            <a:r>
              <a:rPr lang="en-US" sz="2499">
                <a:solidFill>
                  <a:srgbClr val="67D3CD"/>
                </a:solidFill>
                <a:latin typeface="Montserrat"/>
                <a:ea typeface="Montserrat"/>
                <a:cs typeface="Montserrat"/>
                <a:sym typeface="Montserrat"/>
              </a:rPr>
              <a:t> se reemplazará la página con el menor recuento.</a:t>
            </a:r>
            <a:r>
              <a:rPr lang="en-US" sz="2499">
                <a:solidFill>
                  <a:srgbClr val="FFFFFF"/>
                </a:solidFill>
                <a:latin typeface="Montserrat"/>
                <a:ea typeface="Montserrat"/>
                <a:cs typeface="Montserrat"/>
                <a:sym typeface="Montserrat"/>
              </a:rPr>
              <a:t> El motivo de esta selección es que una página utilizada activamente debe tener un gran número de referencias.</a:t>
            </a:r>
          </a:p>
          <a:p>
            <a:pPr algn="l">
              <a:lnSpc>
                <a:spcPts val="2184"/>
              </a:lnSpc>
            </a:pPr>
          </a:p>
          <a:p>
            <a:pPr algn="l">
              <a:lnSpc>
                <a:spcPts val="3898"/>
              </a:lnSpc>
            </a:pPr>
            <a:r>
              <a:rPr lang="en-US" sz="2499">
                <a:solidFill>
                  <a:srgbClr val="FFFFFF"/>
                </a:solidFill>
                <a:latin typeface="Montserrat"/>
                <a:ea typeface="Montserrat"/>
                <a:cs typeface="Montserrat"/>
                <a:sym typeface="Montserrat"/>
              </a:rPr>
              <a:t>Sin embargo, surge un problema cuando una página se utiliza mucho durante la fase inicial de un proceso pero luego nunca se vuelve a utilizar. Como se usó mucho, tiene un gran número y permanece en la mención aunque ya no sea necesario. Una solución es desplazar los recuentos 1 bit a la derecha a intervalos regulares, formando un recuento de uso promedio que decae exponencialmente.</a:t>
            </a:r>
          </a:p>
        </p:txBody>
      </p:sp>
      <p:sp>
        <p:nvSpPr>
          <p:cNvPr name="TextBox 9" id="9"/>
          <p:cNvSpPr txBox="true"/>
          <p:nvPr/>
        </p:nvSpPr>
        <p:spPr>
          <a:xfrm rot="0">
            <a:off x="1028738" y="944785"/>
            <a:ext cx="6863696" cy="3554254"/>
          </a:xfrm>
          <a:prstGeom prst="rect">
            <a:avLst/>
          </a:prstGeom>
        </p:spPr>
        <p:txBody>
          <a:bodyPr anchor="t" rtlCol="false" tIns="0" lIns="0" bIns="0" rIns="0">
            <a:spAutoFit/>
          </a:bodyPr>
          <a:lstStyle/>
          <a:p>
            <a:pPr algn="ctr">
              <a:lnSpc>
                <a:spcPts val="6969"/>
              </a:lnSpc>
            </a:pPr>
            <a:r>
              <a:rPr lang="en-US" sz="4800">
                <a:solidFill>
                  <a:srgbClr val="FFFFFF"/>
                </a:solidFill>
                <a:latin typeface="Arial"/>
                <a:ea typeface="Arial"/>
                <a:cs typeface="Arial"/>
                <a:sym typeface="Arial"/>
              </a:rPr>
              <a:t>REEMPLAZO DE LA PÁGINA UTILIZADA CON MENOS FRECUENCIA (LFU)</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931920">
            <a:off x="-5937580" y="-3092615"/>
            <a:ext cx="8317630" cy="7243267"/>
            <a:chOff x="0" y="0"/>
            <a:chExt cx="11090173" cy="9657690"/>
          </a:xfrm>
        </p:grpSpPr>
        <p:sp>
          <p:nvSpPr>
            <p:cNvPr name="Freeform 5" id="5"/>
            <p:cNvSpPr/>
            <p:nvPr/>
          </p:nvSpPr>
          <p:spPr>
            <a:xfrm flipH="false" flipV="false" rot="0">
              <a:off x="0" y="0"/>
              <a:ext cx="11090148" cy="9657715"/>
            </a:xfrm>
            <a:custGeom>
              <a:avLst/>
              <a:gdLst/>
              <a:ahLst/>
              <a:cxnLst/>
              <a:rect r="r" b="b" t="t" l="l"/>
              <a:pathLst>
                <a:path h="9657715" w="11090148">
                  <a:moveTo>
                    <a:pt x="0" y="0"/>
                  </a:moveTo>
                  <a:lnTo>
                    <a:pt x="11090148" y="0"/>
                  </a:lnTo>
                  <a:lnTo>
                    <a:pt x="11090148" y="9657715"/>
                  </a:lnTo>
                  <a:lnTo>
                    <a:pt x="0" y="9657715"/>
                  </a:lnTo>
                  <a:lnTo>
                    <a:pt x="0" y="0"/>
                  </a:lnTo>
                  <a:close/>
                </a:path>
              </a:pathLst>
            </a:custGeom>
            <a:blipFill>
              <a:blip r:embed="rId4"/>
              <a:stretch>
                <a:fillRect l="-5" t="0" r="-5" b="0"/>
              </a:stretch>
            </a:blipFill>
          </p:spPr>
        </p:sp>
      </p:grpSp>
      <p:grpSp>
        <p:nvGrpSpPr>
          <p:cNvPr name="Group 6" id="6"/>
          <p:cNvGrpSpPr/>
          <p:nvPr/>
        </p:nvGrpSpPr>
        <p:grpSpPr>
          <a:xfrm rot="931920">
            <a:off x="16285769" y="5630923"/>
            <a:ext cx="8317630" cy="7243267"/>
            <a:chOff x="0" y="0"/>
            <a:chExt cx="11090173" cy="9657690"/>
          </a:xfrm>
        </p:grpSpPr>
        <p:sp>
          <p:nvSpPr>
            <p:cNvPr name="Freeform 7" id="7"/>
            <p:cNvSpPr/>
            <p:nvPr/>
          </p:nvSpPr>
          <p:spPr>
            <a:xfrm flipH="false" flipV="false" rot="0">
              <a:off x="0" y="0"/>
              <a:ext cx="11090148" cy="9657715"/>
            </a:xfrm>
            <a:custGeom>
              <a:avLst/>
              <a:gdLst/>
              <a:ahLst/>
              <a:cxnLst/>
              <a:rect r="r" b="b" t="t" l="l"/>
              <a:pathLst>
                <a:path h="9657715" w="11090148">
                  <a:moveTo>
                    <a:pt x="0" y="0"/>
                  </a:moveTo>
                  <a:lnTo>
                    <a:pt x="11090148" y="0"/>
                  </a:lnTo>
                  <a:lnTo>
                    <a:pt x="11090148" y="9657715"/>
                  </a:lnTo>
                  <a:lnTo>
                    <a:pt x="0" y="9657715"/>
                  </a:lnTo>
                  <a:lnTo>
                    <a:pt x="0" y="0"/>
                  </a:lnTo>
                  <a:close/>
                </a:path>
              </a:pathLst>
            </a:custGeom>
            <a:blipFill>
              <a:blip r:embed="rId4"/>
              <a:stretch>
                <a:fillRect l="-5" t="0" r="-5" b="0"/>
              </a:stretch>
            </a:blipFill>
          </p:spPr>
        </p:sp>
      </p:grpSp>
      <p:sp>
        <p:nvSpPr>
          <p:cNvPr name="TextBox 8" id="8"/>
          <p:cNvSpPr txBox="true"/>
          <p:nvPr/>
        </p:nvSpPr>
        <p:spPr>
          <a:xfrm rot="0">
            <a:off x="4335523" y="2347103"/>
            <a:ext cx="12042600" cy="3247654"/>
          </a:xfrm>
          <a:prstGeom prst="rect">
            <a:avLst/>
          </a:prstGeom>
        </p:spPr>
        <p:txBody>
          <a:bodyPr anchor="t" rtlCol="false" tIns="0" lIns="0" bIns="0" rIns="0">
            <a:spAutoFit/>
          </a:bodyPr>
          <a:lstStyle/>
          <a:p>
            <a:pPr algn="ctr">
              <a:lnSpc>
                <a:spcPts val="13068"/>
              </a:lnSpc>
            </a:pPr>
            <a:r>
              <a:rPr lang="en-US" b="true" sz="9000">
                <a:solidFill>
                  <a:srgbClr val="FFFFFF"/>
                </a:solidFill>
                <a:latin typeface="Arial Bold"/>
                <a:ea typeface="Arial Bold"/>
                <a:cs typeface="Arial Bold"/>
                <a:sym typeface="Arial Bold"/>
              </a:rPr>
              <a:t>Ejemplo Guiado:</a:t>
            </a:r>
            <a:r>
              <a:rPr lang="en-US" sz="9000">
                <a:solidFill>
                  <a:srgbClr val="FFFFFF"/>
                </a:solidFill>
                <a:latin typeface="Arial"/>
                <a:ea typeface="Arial"/>
                <a:cs typeface="Arial"/>
                <a:sym typeface="Arial"/>
              </a:rPr>
              <a:t> </a:t>
            </a:r>
          </a:p>
          <a:p>
            <a:pPr algn="ctr">
              <a:lnSpc>
                <a:spcPts val="12487"/>
              </a:lnSpc>
            </a:pPr>
            <a:r>
              <a:rPr lang="en-US" sz="8600">
                <a:solidFill>
                  <a:srgbClr val="FFFFFF"/>
                </a:solidFill>
                <a:latin typeface="Arial"/>
                <a:ea typeface="Arial"/>
                <a:cs typeface="Arial"/>
                <a:sym typeface="Arial"/>
              </a:rPr>
              <a:t>Paginación</a:t>
            </a:r>
          </a:p>
        </p:txBody>
      </p:sp>
      <p:grpSp>
        <p:nvGrpSpPr>
          <p:cNvPr name="Group 9" id="9"/>
          <p:cNvGrpSpPr/>
          <p:nvPr/>
        </p:nvGrpSpPr>
        <p:grpSpPr>
          <a:xfrm rot="0">
            <a:off x="1782823" y="3924300"/>
            <a:ext cx="2438400" cy="2438400"/>
            <a:chOff x="0" y="0"/>
            <a:chExt cx="3251200" cy="3251200"/>
          </a:xfrm>
        </p:grpSpPr>
        <p:sp>
          <p:nvSpPr>
            <p:cNvPr name="Freeform 10" id="10"/>
            <p:cNvSpPr/>
            <p:nvPr/>
          </p:nvSpPr>
          <p:spPr>
            <a:xfrm flipH="false" flipV="false" rot="0">
              <a:off x="0" y="0"/>
              <a:ext cx="3251200" cy="3251200"/>
            </a:xfrm>
            <a:custGeom>
              <a:avLst/>
              <a:gdLst/>
              <a:ahLst/>
              <a:cxnLst/>
              <a:rect r="r" b="b" t="t" l="l"/>
              <a:pathLst>
                <a:path h="3251200" w="3251200">
                  <a:moveTo>
                    <a:pt x="0" y="0"/>
                  </a:moveTo>
                  <a:lnTo>
                    <a:pt x="3251200" y="0"/>
                  </a:lnTo>
                  <a:lnTo>
                    <a:pt x="3251200" y="3251200"/>
                  </a:lnTo>
                  <a:lnTo>
                    <a:pt x="0" y="3251200"/>
                  </a:lnTo>
                  <a:lnTo>
                    <a:pt x="0" y="0"/>
                  </a:lnTo>
                  <a:close/>
                </a:path>
              </a:pathLst>
            </a:custGeom>
            <a:blipFill>
              <a:blip r:embed="rId5"/>
              <a:stretch>
                <a:fillRect l="0" t="0" r="0" b="0"/>
              </a:stretch>
            </a:blipFill>
          </p:spPr>
        </p:sp>
      </p:grpSp>
      <p:grpSp>
        <p:nvGrpSpPr>
          <p:cNvPr name="Group 11" id="11"/>
          <p:cNvGrpSpPr/>
          <p:nvPr/>
        </p:nvGrpSpPr>
        <p:grpSpPr>
          <a:xfrm rot="0">
            <a:off x="19015643" y="-4"/>
            <a:ext cx="4626464" cy="4576000"/>
            <a:chOff x="0" y="0"/>
            <a:chExt cx="6168619" cy="6101334"/>
          </a:xfrm>
        </p:grpSpPr>
        <p:sp>
          <p:nvSpPr>
            <p:cNvPr name="Freeform 12" id="12"/>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6"/>
              <a:stretch>
                <a:fillRect l="0" t="-22" r="0" b="-22"/>
              </a:stretch>
            </a:blipFill>
          </p:spPr>
        </p:sp>
      </p:grpSp>
      <p:sp>
        <p:nvSpPr>
          <p:cNvPr name="TextBox 13" id="13"/>
          <p:cNvSpPr txBox="true"/>
          <p:nvPr/>
        </p:nvSpPr>
        <p:spPr>
          <a:xfrm rot="0">
            <a:off x="19709759" y="1013174"/>
            <a:ext cx="3238205" cy="3009748"/>
          </a:xfrm>
          <a:prstGeom prst="rect">
            <a:avLst/>
          </a:prstGeom>
        </p:spPr>
        <p:txBody>
          <a:bodyPr anchor="t" rtlCol="false" tIns="0" lIns="0" bIns="0" rIns="0">
            <a:spAutoFit/>
          </a:bodyPr>
          <a:lstStyle/>
          <a:p>
            <a:pPr algn="l">
              <a:lnSpc>
                <a:spcPts val="3383"/>
              </a:lnSpc>
            </a:pPr>
            <a:r>
              <a:rPr lang="en-US" sz="2014">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CONCEPTOS CLAVE APRENDIDOS</a:t>
            </a:r>
          </a:p>
        </p:txBody>
      </p:sp>
      <p:sp>
        <p:nvSpPr>
          <p:cNvPr name="Freeform 5" id="5"/>
          <p:cNvSpPr/>
          <p:nvPr/>
        </p:nvSpPr>
        <p:spPr>
          <a:xfrm flipH="false" flipV="false" rot="0">
            <a:off x="2695527" y="2304374"/>
            <a:ext cx="12896945" cy="6162132"/>
          </a:xfrm>
          <a:custGeom>
            <a:avLst/>
            <a:gdLst/>
            <a:ahLst/>
            <a:cxnLst/>
            <a:rect r="r" b="b" t="t" l="l"/>
            <a:pathLst>
              <a:path h="6162132" w="12896945">
                <a:moveTo>
                  <a:pt x="0" y="0"/>
                </a:moveTo>
                <a:lnTo>
                  <a:pt x="12896946" y="0"/>
                </a:lnTo>
                <a:lnTo>
                  <a:pt x="12896946" y="6162132"/>
                </a:lnTo>
                <a:lnTo>
                  <a:pt x="0" y="6162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124276" y="2964228"/>
            <a:ext cx="11616452" cy="5223596"/>
          </a:xfrm>
          <a:prstGeom prst="rect">
            <a:avLst/>
          </a:prstGeom>
        </p:spPr>
        <p:txBody>
          <a:bodyPr anchor="t" rtlCol="false" tIns="0" lIns="0" bIns="0" rIns="0">
            <a:spAutoFit/>
          </a:bodyPr>
          <a:lstStyle/>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Manejo de Memoria y Tipos de Asignación: </a:t>
            </a:r>
            <a:r>
              <a:rPr lang="en-US" sz="2600">
                <a:solidFill>
                  <a:srgbClr val="FFFFFF"/>
                </a:solidFill>
                <a:latin typeface="Arial"/>
                <a:ea typeface="Arial"/>
                <a:cs typeface="Arial"/>
                <a:sym typeface="Arial"/>
              </a:rPr>
              <a:t>El manejo de memoria controla la asignación de memoria física y lógica para procesos, diferenciando entre asignación estática (en tiempo de compilación) y dinámica (en tiempo de ejecución), con la MMU encargada de mapear direcciones lógicas a físicas.</a:t>
            </a:r>
          </a:p>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Memoria Virtual: </a:t>
            </a:r>
            <a:r>
              <a:rPr lang="en-US" sz="2600">
                <a:solidFill>
                  <a:srgbClr val="FFFFFF"/>
                </a:solidFill>
                <a:latin typeface="Arial"/>
                <a:ea typeface="Arial"/>
                <a:cs typeface="Arial"/>
                <a:sym typeface="Arial"/>
              </a:rPr>
              <a:t>La memoria virtual permite que los procesos usen más memoria lógica que la física disponible, abstrae la memoria física y mejora la concurrencia y rendimiento al facilitar que programas grandes se ejecuten sin cargar todo en RAM</a:t>
            </a:r>
          </a:p>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Paginación por Demanda y Reemplazo de Páginas: </a:t>
            </a:r>
            <a:r>
              <a:rPr lang="en-US" sz="2600">
                <a:solidFill>
                  <a:srgbClr val="FFFFFF"/>
                </a:solidFill>
                <a:latin typeface="Arial"/>
                <a:ea typeface="Arial"/>
                <a:cs typeface="Arial"/>
                <a:sym typeface="Arial"/>
              </a:rPr>
              <a:t>La paginación por demanda carga páginas en memoria física solo cuando son necesarias, usando algoritmos de reemplazo como FIFO, LRU o LFU para optimizar la gestión y minimizar fallos de página</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9399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VALOR DE LA SEMANA</a:t>
            </a:r>
          </a:p>
        </p:txBody>
      </p:sp>
      <p:sp>
        <p:nvSpPr>
          <p:cNvPr name="Freeform 5" id="5"/>
          <p:cNvSpPr/>
          <p:nvPr/>
        </p:nvSpPr>
        <p:spPr>
          <a:xfrm flipH="false" flipV="false" rot="0">
            <a:off x="2293087" y="3299174"/>
            <a:ext cx="13701817" cy="4860103"/>
          </a:xfrm>
          <a:custGeom>
            <a:avLst/>
            <a:gdLst/>
            <a:ahLst/>
            <a:cxnLst/>
            <a:rect r="r" b="b" t="t" l="l"/>
            <a:pathLst>
              <a:path h="4860103" w="13701817">
                <a:moveTo>
                  <a:pt x="0" y="0"/>
                </a:moveTo>
                <a:lnTo>
                  <a:pt x="13701817" y="0"/>
                </a:lnTo>
                <a:lnTo>
                  <a:pt x="13701817" y="4860103"/>
                </a:lnTo>
                <a:lnTo>
                  <a:pt x="0" y="4860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78103" y="4468320"/>
            <a:ext cx="12531747" cy="1508027"/>
          </a:xfrm>
          <a:prstGeom prst="rect">
            <a:avLst/>
          </a:prstGeom>
        </p:spPr>
        <p:txBody>
          <a:bodyPr anchor="t" rtlCol="false" tIns="0" lIns="0" bIns="0" rIns="0">
            <a:spAutoFit/>
          </a:bodyPr>
          <a:lstStyle/>
          <a:p>
            <a:pPr algn="l" marL="411480" indent="-205740" lvl="1">
              <a:lnSpc>
                <a:spcPts val="3840"/>
              </a:lnSpc>
              <a:buFont typeface="Arial"/>
              <a:buChar char="•"/>
            </a:pPr>
            <a:r>
              <a:rPr lang="en-US" b="true" sz="3200">
                <a:solidFill>
                  <a:srgbClr val="FFFFFF"/>
                </a:solidFill>
                <a:latin typeface="Arial Bold"/>
                <a:ea typeface="Arial Bold"/>
                <a:cs typeface="Arial Bold"/>
                <a:sym typeface="Arial Bold"/>
              </a:rPr>
              <a:t>Precaucion:</a:t>
            </a:r>
            <a:r>
              <a:rPr lang="en-US" sz="3200">
                <a:solidFill>
                  <a:srgbClr val="FFFFFF"/>
                </a:solidFill>
                <a:latin typeface="Arial"/>
                <a:ea typeface="Arial"/>
                <a:cs typeface="Arial"/>
                <a:sym typeface="Arial"/>
              </a:rPr>
              <a:t> La paginación, segmentación y protección de memoria son temas delicados, comprender la importancia de estos temas, es garantizar el buen funcionamiento del sistema</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REFERENCIAS</a:t>
            </a:r>
          </a:p>
        </p:txBody>
      </p:sp>
      <p:sp>
        <p:nvSpPr>
          <p:cNvPr name="Freeform 5" id="5"/>
          <p:cNvSpPr/>
          <p:nvPr/>
        </p:nvSpPr>
        <p:spPr>
          <a:xfrm flipH="false" flipV="false" rot="0">
            <a:off x="2695527" y="2304374"/>
            <a:ext cx="12896945" cy="6162132"/>
          </a:xfrm>
          <a:custGeom>
            <a:avLst/>
            <a:gdLst/>
            <a:ahLst/>
            <a:cxnLst/>
            <a:rect r="r" b="b" t="t" l="l"/>
            <a:pathLst>
              <a:path h="6162132" w="12896945">
                <a:moveTo>
                  <a:pt x="0" y="0"/>
                </a:moveTo>
                <a:lnTo>
                  <a:pt x="12896946" y="0"/>
                </a:lnTo>
                <a:lnTo>
                  <a:pt x="12896946" y="6162132"/>
                </a:lnTo>
                <a:lnTo>
                  <a:pt x="0" y="61621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124276" y="3364401"/>
            <a:ext cx="12039448" cy="4423200"/>
          </a:xfrm>
          <a:prstGeom prst="rect">
            <a:avLst/>
          </a:prstGeom>
        </p:spPr>
        <p:txBody>
          <a:bodyPr anchor="t" rtlCol="false" tIns="0" lIns="0" bIns="0" rIns="0">
            <a:spAutoFit/>
          </a:bodyPr>
          <a:lstStyle/>
          <a:p>
            <a:pPr algn="l">
              <a:lnSpc>
                <a:spcPts val="3120"/>
              </a:lnSpc>
            </a:pPr>
            <a:r>
              <a:rPr lang="en-US" b="true" sz="2600">
                <a:solidFill>
                  <a:srgbClr val="FFFFFF"/>
                </a:solidFill>
                <a:latin typeface="Arial Bold"/>
                <a:ea typeface="Arial Bold"/>
                <a:cs typeface="Arial Bold"/>
                <a:sym typeface="Arial Bold"/>
              </a:rPr>
              <a:t>Memory management</a:t>
            </a:r>
          </a:p>
          <a:p>
            <a:pPr algn="l">
              <a:lnSpc>
                <a:spcPts val="3120"/>
              </a:lnSpc>
            </a:pPr>
            <a:r>
              <a:rPr lang="en-US" sz="2600" u="sng">
                <a:solidFill>
                  <a:srgbClr val="0000FF"/>
                </a:solidFill>
                <a:latin typeface="Arial"/>
                <a:ea typeface="Arial"/>
                <a:cs typeface="Arial"/>
                <a:sym typeface="Arial"/>
                <a:hlinkClick r:id="rId6" tooltip="https://www.geeksforgeeks.org/memory-management-in-operating-system/"/>
              </a:rPr>
              <a:t>https://www.geeksforgeeks.org/memory-management-in-operating-system/</a:t>
            </a:r>
          </a:p>
          <a:p>
            <a:pPr algn="l">
              <a:lnSpc>
                <a:spcPts val="1679"/>
              </a:lnSpc>
            </a:pPr>
          </a:p>
          <a:p>
            <a:pPr algn="l">
              <a:lnSpc>
                <a:spcPts val="3120"/>
              </a:lnSpc>
            </a:pPr>
            <a:r>
              <a:rPr lang="en-US" b="true" sz="2600">
                <a:solidFill>
                  <a:srgbClr val="FFFFFF"/>
                </a:solidFill>
                <a:latin typeface="Arial Bold"/>
                <a:ea typeface="Arial Bold"/>
                <a:cs typeface="Arial Bold"/>
                <a:sym typeface="Arial Bold"/>
              </a:rPr>
              <a:t>Virtual memory</a:t>
            </a:r>
          </a:p>
          <a:p>
            <a:pPr algn="l">
              <a:lnSpc>
                <a:spcPts val="3120"/>
              </a:lnSpc>
            </a:pPr>
            <a:r>
              <a:rPr lang="en-US" b="true" sz="2600" u="sng">
                <a:solidFill>
                  <a:srgbClr val="0000FF"/>
                </a:solidFill>
                <a:latin typeface="Arial Bold"/>
                <a:ea typeface="Arial Bold"/>
                <a:cs typeface="Arial Bold"/>
                <a:sym typeface="Arial Bold"/>
                <a:hlinkClick r:id="rId7" tooltip="https://www.geeksforgeeks.org/what-is-demand-paging-in-operating-system/"/>
              </a:rPr>
              <a:t>https://www.geeksforgeeks.org/what-is-demand-paging-in-operating-system/</a:t>
            </a:r>
          </a:p>
          <a:p>
            <a:pPr algn="l">
              <a:lnSpc>
                <a:spcPts val="1679"/>
              </a:lnSpc>
            </a:pPr>
          </a:p>
          <a:p>
            <a:pPr algn="l">
              <a:lnSpc>
                <a:spcPts val="3120"/>
              </a:lnSpc>
            </a:pPr>
            <a:r>
              <a:rPr lang="en-US" b="true" sz="2600">
                <a:solidFill>
                  <a:srgbClr val="FFFFFF"/>
                </a:solidFill>
                <a:latin typeface="Arial Bold"/>
                <a:ea typeface="Arial Bold"/>
                <a:cs typeface="Arial Bold"/>
                <a:sym typeface="Arial Bold"/>
              </a:rPr>
              <a:t>Demand Paging</a:t>
            </a:r>
          </a:p>
          <a:p>
            <a:pPr algn="l">
              <a:lnSpc>
                <a:spcPts val="3120"/>
              </a:lnSpc>
            </a:pPr>
            <a:r>
              <a:rPr lang="en-US" b="true" sz="2600" u="sng">
                <a:solidFill>
                  <a:srgbClr val="0000FF"/>
                </a:solidFill>
                <a:latin typeface="Arial Bold"/>
                <a:ea typeface="Arial Bold"/>
                <a:cs typeface="Arial Bold"/>
                <a:sym typeface="Arial Bold"/>
                <a:hlinkClick r:id="rId8" tooltip="https://www.geeksforgeeks.org/what-is-demand-paging-in-operating-system/"/>
              </a:rPr>
              <a:t>https://www.geeksforgeeks.org/what-is-demand-paging-in-operating-system/</a:t>
            </a:r>
          </a:p>
          <a:p>
            <a:pPr algn="l">
              <a:lnSpc>
                <a:spcPts val="1679"/>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933120">
            <a:off x="-5940314" y="-3090567"/>
            <a:ext cx="8326117" cy="7250659"/>
            <a:chOff x="0" y="0"/>
            <a:chExt cx="11101489" cy="9667545"/>
          </a:xfrm>
        </p:grpSpPr>
        <p:sp>
          <p:nvSpPr>
            <p:cNvPr name="Freeform 5" id="5"/>
            <p:cNvSpPr/>
            <p:nvPr/>
          </p:nvSpPr>
          <p:spPr>
            <a:xfrm flipH="false" flipV="false" rot="0">
              <a:off x="0" y="0"/>
              <a:ext cx="11101451" cy="9667494"/>
            </a:xfrm>
            <a:custGeom>
              <a:avLst/>
              <a:gdLst/>
              <a:ahLst/>
              <a:cxnLst/>
              <a:rect r="r" b="b" t="t" l="l"/>
              <a:pathLst>
                <a:path h="9667494" w="11101451">
                  <a:moveTo>
                    <a:pt x="0" y="0"/>
                  </a:moveTo>
                  <a:lnTo>
                    <a:pt x="11101451" y="0"/>
                  </a:lnTo>
                  <a:lnTo>
                    <a:pt x="11101451" y="9667494"/>
                  </a:lnTo>
                  <a:lnTo>
                    <a:pt x="0" y="9667494"/>
                  </a:lnTo>
                  <a:lnTo>
                    <a:pt x="0" y="0"/>
                  </a:lnTo>
                  <a:close/>
                </a:path>
              </a:pathLst>
            </a:custGeom>
            <a:blipFill>
              <a:blip r:embed="rId4"/>
              <a:stretch>
                <a:fillRect l="-5" t="0" r="-5" b="0"/>
              </a:stretch>
            </a:blipFill>
          </p:spPr>
        </p:sp>
      </p:grpSp>
      <p:grpSp>
        <p:nvGrpSpPr>
          <p:cNvPr name="Group 6" id="6"/>
          <p:cNvGrpSpPr/>
          <p:nvPr/>
        </p:nvGrpSpPr>
        <p:grpSpPr>
          <a:xfrm rot="933120">
            <a:off x="16283035" y="5632971"/>
            <a:ext cx="8326117" cy="7250659"/>
            <a:chOff x="0" y="0"/>
            <a:chExt cx="11101489" cy="9667545"/>
          </a:xfrm>
        </p:grpSpPr>
        <p:sp>
          <p:nvSpPr>
            <p:cNvPr name="Freeform 7" id="7"/>
            <p:cNvSpPr/>
            <p:nvPr/>
          </p:nvSpPr>
          <p:spPr>
            <a:xfrm flipH="false" flipV="false" rot="0">
              <a:off x="0" y="0"/>
              <a:ext cx="11101451" cy="9667494"/>
            </a:xfrm>
            <a:custGeom>
              <a:avLst/>
              <a:gdLst/>
              <a:ahLst/>
              <a:cxnLst/>
              <a:rect r="r" b="b" t="t" l="l"/>
              <a:pathLst>
                <a:path h="9667494" w="11101451">
                  <a:moveTo>
                    <a:pt x="0" y="0"/>
                  </a:moveTo>
                  <a:lnTo>
                    <a:pt x="11101451" y="0"/>
                  </a:lnTo>
                  <a:lnTo>
                    <a:pt x="11101451" y="9667494"/>
                  </a:lnTo>
                  <a:lnTo>
                    <a:pt x="0" y="9667494"/>
                  </a:lnTo>
                  <a:lnTo>
                    <a:pt x="0" y="0"/>
                  </a:lnTo>
                  <a:close/>
                </a:path>
              </a:pathLst>
            </a:custGeom>
            <a:blipFill>
              <a:blip r:embed="rId4"/>
              <a:stretch>
                <a:fillRect l="-5" t="0" r="-5" b="0"/>
              </a:stretch>
            </a:blipFill>
          </p:spPr>
        </p:sp>
      </p:grpSp>
      <p:sp>
        <p:nvSpPr>
          <p:cNvPr name="Freeform 8" id="8"/>
          <p:cNvSpPr/>
          <p:nvPr/>
        </p:nvSpPr>
        <p:spPr>
          <a:xfrm flipH="false" flipV="false" rot="0">
            <a:off x="6725936" y="6354794"/>
            <a:ext cx="4836128" cy="1241012"/>
          </a:xfrm>
          <a:custGeom>
            <a:avLst/>
            <a:gdLst/>
            <a:ahLst/>
            <a:cxnLst/>
            <a:rect r="r" b="b" t="t" l="l"/>
            <a:pathLst>
              <a:path h="1241012" w="4836128">
                <a:moveTo>
                  <a:pt x="0" y="0"/>
                </a:moveTo>
                <a:lnTo>
                  <a:pt x="4836128" y="0"/>
                </a:lnTo>
                <a:lnTo>
                  <a:pt x="4836128" y="1241012"/>
                </a:lnTo>
                <a:lnTo>
                  <a:pt x="0" y="1241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937273" y="2278418"/>
            <a:ext cx="10413463" cy="3501390"/>
          </a:xfrm>
          <a:prstGeom prst="rect">
            <a:avLst/>
          </a:prstGeom>
        </p:spPr>
        <p:txBody>
          <a:bodyPr anchor="t" rtlCol="false" tIns="0" lIns="0" bIns="0" rIns="0">
            <a:spAutoFit/>
          </a:bodyPr>
          <a:lstStyle/>
          <a:p>
            <a:pPr algn="ctr">
              <a:lnSpc>
                <a:spcPts val="15246"/>
              </a:lnSpc>
            </a:pPr>
            <a:r>
              <a:rPr lang="en-US" sz="10500">
                <a:solidFill>
                  <a:srgbClr val="FFFFFF"/>
                </a:solidFill>
                <a:latin typeface="Arial"/>
                <a:ea typeface="Arial"/>
                <a:cs typeface="Arial"/>
                <a:sym typeface="Arial"/>
              </a:rPr>
              <a:t>¡GRACIAS POR LA ATENCIÓN!</a:t>
            </a:r>
          </a:p>
        </p:txBody>
      </p:sp>
      <p:sp>
        <p:nvSpPr>
          <p:cNvPr name="TextBox 10" id="10"/>
          <p:cNvSpPr txBox="true"/>
          <p:nvPr/>
        </p:nvSpPr>
        <p:spPr>
          <a:xfrm rot="0">
            <a:off x="7689504" y="6263116"/>
            <a:ext cx="2908992" cy="1144267"/>
          </a:xfrm>
          <a:prstGeom prst="rect">
            <a:avLst/>
          </a:prstGeom>
        </p:spPr>
        <p:txBody>
          <a:bodyPr anchor="t" rtlCol="false" tIns="0" lIns="0" bIns="0" rIns="0">
            <a:spAutoFit/>
          </a:bodyPr>
          <a:lstStyle/>
          <a:p>
            <a:pPr algn="ctr">
              <a:lnSpc>
                <a:spcPts val="8734"/>
              </a:lnSpc>
            </a:pPr>
            <a:r>
              <a:rPr lang="en-US" sz="5198">
                <a:solidFill>
                  <a:srgbClr val="FFFFFF"/>
                </a:solidFill>
                <a:latin typeface="Arial"/>
                <a:ea typeface="Arial"/>
                <a:cs typeface="Arial"/>
                <a:sym typeface="Arial"/>
              </a:rPr>
              <a:t>¿Dudas?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DAHJU4w94Zw</dc:identifier>
  <dcterms:modified xsi:type="dcterms:W3CDTF">2011-08-01T06:04:30Z</dcterms:modified>
  <cp:revision>1</cp:revision>
  <dc:title>2S2026_Semana_8.pptx</dc:title>
</cp:coreProperties>
</file>