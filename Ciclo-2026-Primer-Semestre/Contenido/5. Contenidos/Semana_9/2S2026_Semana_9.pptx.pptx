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Arial Bold" charset="1" panose="020B0704020202020204"/>
      <p:regular r:id="rId48"/>
    </p:embeddedFont>
    <p:embeddedFont>
      <p:font typeface="Arial" charset="1" panose="020B0604020202020204"/>
      <p:regular r:id="rId49"/>
    </p:embeddedFont>
    <p:embeddedFont>
      <p:font typeface="Open Sans Bold" charset="1" panose="00000000000000000000"/>
      <p:regular r:id="rId51"/>
    </p:embeddedFont>
    <p:embeddedFont>
      <p:font typeface="Montserrat Bold" charset="1" panose="00000800000000000000"/>
      <p:regular r:id="rId53"/>
    </p:embeddedFont>
    <p:embeddedFont>
      <p:font typeface="Calibri (MS)" charset="1" panose="020F0502020204030204"/>
      <p:regular r:id="rId55"/>
    </p:embeddedFont>
    <p:embeddedFont>
      <p:font typeface="Open Sans" charset="1" panose="00000000000000000000"/>
      <p:regular r:id="rId57"/>
    </p:embeddedFont>
    <p:embeddedFont>
      <p:font typeface="Montserrat" charset="1" panose="0000050000000000000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notesMasters/notesMaster1.xml" Type="http://schemas.openxmlformats.org/officeDocument/2006/relationships/notesMaster"/><Relationship Id="rId46" Target="theme/theme2.xml" Type="http://schemas.openxmlformats.org/officeDocument/2006/relationships/theme"/><Relationship Id="rId47" Target="notesSlides/notesSlide1.xml" Type="http://schemas.openxmlformats.org/officeDocument/2006/relationships/note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2.xml" Type="http://schemas.openxmlformats.org/officeDocument/2006/relationships/notesSlide"/><Relationship Id="rId51" Target="fonts/font51.fntdata" Type="http://schemas.openxmlformats.org/officeDocument/2006/relationships/font"/><Relationship Id="rId52" Target="notesSlides/notesSlide3.xml" Type="http://schemas.openxmlformats.org/officeDocument/2006/relationships/notesSlide"/><Relationship Id="rId53" Target="fonts/font53.fntdata" Type="http://schemas.openxmlformats.org/officeDocument/2006/relationships/font"/><Relationship Id="rId54" Target="notesSlides/notesSlide4.xml" Type="http://schemas.openxmlformats.org/officeDocument/2006/relationships/notesSlide"/><Relationship Id="rId55" Target="fonts/font55.fntdata" Type="http://schemas.openxmlformats.org/officeDocument/2006/relationships/font"/><Relationship Id="rId56" Target="notesSlides/notesSlide5.xml" Type="http://schemas.openxmlformats.org/officeDocument/2006/relationships/notesSlide"/><Relationship Id="rId57" Target="fonts/font57.fntdata" Type="http://schemas.openxmlformats.org/officeDocument/2006/relationships/font"/><Relationship Id="rId58" Target="fonts/font58.fntdata" Type="http://schemas.openxmlformats.org/officeDocument/2006/relationships/font"/><Relationship Id="rId59" Target="notesSlides/notesSlide6.xml" Type="http://schemas.openxmlformats.org/officeDocument/2006/relationships/notesSlide"/><Relationship Id="rId6" Target="slides/slide1.xml" Type="http://schemas.openxmlformats.org/officeDocument/2006/relationships/slide"/><Relationship Id="rId60" Target="notesSlides/notesSlide7.xml" Type="http://schemas.openxmlformats.org/officeDocument/2006/relationships/notesSlide"/><Relationship Id="rId61" Target="notesSlides/notesSlide8.xml" Type="http://schemas.openxmlformats.org/officeDocument/2006/relationships/notesSlide"/><Relationship Id="rId62" Target="notesSlides/notesSlide9.xml" Type="http://schemas.openxmlformats.org/officeDocument/2006/relationships/notesSlide"/><Relationship Id="rId63" Target="notesSlides/notesSlide10.xml" Type="http://schemas.openxmlformats.org/officeDocument/2006/relationships/notesSlide"/><Relationship Id="rId64" Target="notesSlides/notesSlide11.xml" Type="http://schemas.openxmlformats.org/officeDocument/2006/relationships/notesSlide"/><Relationship Id="rId65" Target="notesSlides/notesSlide12.xml" Type="http://schemas.openxmlformats.org/officeDocument/2006/relationships/notesSlide"/><Relationship Id="rId66" Target="notesSlides/notesSlide13.xml" Type="http://schemas.openxmlformats.org/officeDocument/2006/relationships/notesSlide"/><Relationship Id="rId67" Target="notesSlides/notesSlide14.xml" Type="http://schemas.openxmlformats.org/officeDocument/2006/relationships/notesSlide"/><Relationship Id="rId68" Target="notesSlides/notesSlide15.xml" Type="http://schemas.openxmlformats.org/officeDocument/2006/relationships/notesSlide"/><Relationship Id="rId69" Target="notesSlides/notesSlide16.xml" Type="http://schemas.openxmlformats.org/officeDocument/2006/relationships/notesSlide"/><Relationship Id="rId7" Target="slides/slide2.xml" Type="http://schemas.openxmlformats.org/officeDocument/2006/relationships/slide"/><Relationship Id="rId70" Target="notesSlides/notesSlide17.xml" Type="http://schemas.openxmlformats.org/officeDocument/2006/relationships/notesSlide"/><Relationship Id="rId71" Target="notesSlides/notesSlide18.xml" Type="http://schemas.openxmlformats.org/officeDocument/2006/relationships/notesSlide"/><Relationship Id="rId72" Target="notesSlides/notesSlide19.xml" Type="http://schemas.openxmlformats.org/officeDocument/2006/relationships/notesSlide"/><Relationship Id="rId73" Target="notesSlides/notesSlide20.xml" Type="http://schemas.openxmlformats.org/officeDocument/2006/relationships/notesSlide"/><Relationship Id="rId74" Target="notesSlides/notesSlide21.xml" Type="http://schemas.openxmlformats.org/officeDocument/2006/relationships/notesSlide"/><Relationship Id="rId75" Target="notesSlides/notesSlide22.xml" Type="http://schemas.openxmlformats.org/officeDocument/2006/relationships/notesSlide"/><Relationship Id="rId76" Target="notesSlides/notesSlide23.xml" Type="http://schemas.openxmlformats.org/officeDocument/2006/relationships/notesSlide"/><Relationship Id="rId77" Target="notesSlides/notesSlide24.xml" Type="http://schemas.openxmlformats.org/officeDocument/2006/relationships/notesSlide"/><Relationship Id="rId78" Target="notesSlides/notesSlide25.xml" Type="http://schemas.openxmlformats.org/officeDocument/2006/relationships/notesSlide"/><Relationship Id="rId79" Target="notesSlides/notesSlide26.xml" Type="http://schemas.openxmlformats.org/officeDocument/2006/relationships/notesSlide"/><Relationship Id="rId8" Target="slides/slide3.xml" Type="http://schemas.openxmlformats.org/officeDocument/2006/relationships/slide"/><Relationship Id="rId80" Target="notesSlides/notesSlide27.xml" Type="http://schemas.openxmlformats.org/officeDocument/2006/relationships/notesSlide"/><Relationship Id="rId81" Target="notesSlides/notesSlide28.xml" Type="http://schemas.openxmlformats.org/officeDocument/2006/relationships/notesSlide"/><Relationship Id="rId82" Target="notesSlides/notesSlide29.xml" Type="http://schemas.openxmlformats.org/officeDocument/2006/relationships/notesSlide"/><Relationship Id="rId83" Target="notesSlides/notesSlide30.xml" Type="http://schemas.openxmlformats.org/officeDocument/2006/relationships/notesSlide"/><Relationship Id="rId84" Target="notesSlides/notesSlide31.xml" Type="http://schemas.openxmlformats.org/officeDocument/2006/relationships/notesSlide"/><Relationship Id="rId85" Target="notesSlides/notesSlide32.xml" Type="http://schemas.openxmlformats.org/officeDocument/2006/relationships/notesSlide"/><Relationship Id="rId86" Target="notesSlides/notesSlide33.xml" Type="http://schemas.openxmlformats.org/officeDocument/2006/relationships/notesSlide"/><Relationship Id="rId87" Target="notesSlides/notesSlide34.xml" Type="http://schemas.openxmlformats.org/officeDocument/2006/relationships/notesSlide"/><Relationship Id="rId88" Target="notesSlides/notesSlide35.xml" Type="http://schemas.openxmlformats.org/officeDocument/2006/relationships/notesSlide"/><Relationship Id="rId89" Target="notesSlides/notesSlide36.xml" Type="http://schemas.openxmlformats.org/officeDocument/2006/relationships/notesSlide"/><Relationship Id="rId9" Target="slides/slide4.xml" Type="http://schemas.openxmlformats.org/officeDocument/2006/relationships/slide"/><Relationship Id="rId90" Target="notesSlides/notesSlide37.xml" Type="http://schemas.openxmlformats.org/officeDocument/2006/relationships/notesSlide"/><Relationship Id="rId91" Target="notesSlides/notesSlide38.xml" Type="http://schemas.openxmlformats.org/officeDocument/2006/relationships/notesSlide"/><Relationship Id="rId92" Target="notesSlides/notesSlide39.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13" Target="../media/image23.jpeg" Type="http://schemas.openxmlformats.org/officeDocument/2006/relationships/image"/><Relationship Id="rId2" Target="../notesSlides/notesSlide7.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32.png" Type="http://schemas.openxmlformats.org/officeDocument/2006/relationships/image"/><Relationship Id="rId12" Target="../media/image33.png" Type="http://schemas.openxmlformats.org/officeDocument/2006/relationships/image"/><Relationship Id="rId13" Target="../media/image34.png" Type="http://schemas.openxmlformats.org/officeDocument/2006/relationships/image"/><Relationship Id="rId2" Target="../notesSlides/notesSlide8.xml" Type="http://schemas.openxmlformats.org/officeDocument/2006/relationships/notesSlid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5.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2" Target="../notesSlides/notesSlide10.xml" Type="http://schemas.openxmlformats.org/officeDocument/2006/relationships/notesSlide"/><Relationship Id="rId3" Target="../media/image35.pn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5.pn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5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5.pn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5.pn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5.pn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 Id="rId6" Target="../media/image65.png" Type="http://schemas.openxmlformats.org/officeDocument/2006/relationships/image"/><Relationship Id="rId7" Target="../media/image66.svg" Type="http://schemas.openxmlformats.org/officeDocument/2006/relationships/image"/><Relationship Id="rId8" Target="../media/image6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5.pn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5.pn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7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35.png" Type="http://schemas.openxmlformats.org/officeDocument/2006/relationships/image"/><Relationship Id="rId4" Target="../media/image76.png" Type="http://schemas.openxmlformats.org/officeDocument/2006/relationships/image"/><Relationship Id="rId5" Target="../media/image77.svg" Type="http://schemas.openxmlformats.org/officeDocument/2006/relationships/image"/><Relationship Id="rId6" Target="../media/image78.png" Type="http://schemas.openxmlformats.org/officeDocument/2006/relationships/image"/><Relationship Id="rId7" Target="../media/image79.svg" Type="http://schemas.openxmlformats.org/officeDocument/2006/relationships/image"/><Relationship Id="rId8" Target="../media/image8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5.png" Type="http://schemas.openxmlformats.org/officeDocument/2006/relationships/image"/><Relationship Id="rId4" Target="../media/image81.png" Type="http://schemas.openxmlformats.org/officeDocument/2006/relationships/image"/><Relationship Id="rId5" Target="../media/image82.svg" Type="http://schemas.openxmlformats.org/officeDocument/2006/relationships/image"/><Relationship Id="rId6" Target="../media/image83.png" Type="http://schemas.openxmlformats.org/officeDocument/2006/relationships/image"/><Relationship Id="rId7" Target="../media/image84.svg" Type="http://schemas.openxmlformats.org/officeDocument/2006/relationships/image"/><Relationship Id="rId8" Target="../media/image8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5.png" Type="http://schemas.openxmlformats.org/officeDocument/2006/relationships/image"/><Relationship Id="rId4" Target="../media/image86.png" Type="http://schemas.openxmlformats.org/officeDocument/2006/relationships/image"/><Relationship Id="rId5" Target="../media/image87.svg" Type="http://schemas.openxmlformats.org/officeDocument/2006/relationships/image"/><Relationship Id="rId6" Target="../media/image88.png" Type="http://schemas.openxmlformats.org/officeDocument/2006/relationships/image"/><Relationship Id="rId7" Target="../media/image89.svg" Type="http://schemas.openxmlformats.org/officeDocument/2006/relationships/image"/><Relationship Id="rId8" Target="../media/image9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5.png" Type="http://schemas.openxmlformats.org/officeDocument/2006/relationships/image"/><Relationship Id="rId4" Target="../media/image91.png" Type="http://schemas.openxmlformats.org/officeDocument/2006/relationships/image"/><Relationship Id="rId5" Target="../media/image92.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9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5.png" Type="http://schemas.openxmlformats.org/officeDocument/2006/relationships/image"/><Relationship Id="rId4" Target="../media/image96.png" Type="http://schemas.openxmlformats.org/officeDocument/2006/relationships/image"/><Relationship Id="rId5" Target="../media/image97.svg" Type="http://schemas.openxmlformats.org/officeDocument/2006/relationships/image"/><Relationship Id="rId6" Target="../media/image98.png" Type="http://schemas.openxmlformats.org/officeDocument/2006/relationships/image"/><Relationship Id="rId7" Target="../media/image99.svg" Type="http://schemas.openxmlformats.org/officeDocument/2006/relationships/image"/><Relationship Id="rId8" Target="../media/image10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8.svg" Type="http://schemas.openxmlformats.org/officeDocument/2006/relationships/image"/><Relationship Id="rId11" Target="../media/image109.png" Type="http://schemas.openxmlformats.org/officeDocument/2006/relationships/image"/><Relationship Id="rId12" Target="../media/image110.svg" Type="http://schemas.openxmlformats.org/officeDocument/2006/relationships/image"/><Relationship Id="rId13" Target="../media/image111.png" Type="http://schemas.openxmlformats.org/officeDocument/2006/relationships/image"/><Relationship Id="rId14" Target="../media/image112.svg" Type="http://schemas.openxmlformats.org/officeDocument/2006/relationships/image"/><Relationship Id="rId15" Target="../media/image113.png" Type="http://schemas.openxmlformats.org/officeDocument/2006/relationships/image"/><Relationship Id="rId16" Target="../media/image114.png" Type="http://schemas.openxmlformats.org/officeDocument/2006/relationships/image"/><Relationship Id="rId17" Target="../media/image115.png" Type="http://schemas.openxmlformats.org/officeDocument/2006/relationships/image"/><Relationship Id="rId18" Target="../media/image116.png" Type="http://schemas.openxmlformats.org/officeDocument/2006/relationships/image"/><Relationship Id="rId19" Target="../media/image117.png" Type="http://schemas.openxmlformats.org/officeDocument/2006/relationships/image"/><Relationship Id="rId2" Target="../notesSlides/notesSlide22.xml" Type="http://schemas.openxmlformats.org/officeDocument/2006/relationships/notesSlide"/><Relationship Id="rId3" Target="../media/image101.png" Type="http://schemas.openxmlformats.org/officeDocument/2006/relationships/image"/><Relationship Id="rId4" Target="../media/image102.svg" Type="http://schemas.openxmlformats.org/officeDocument/2006/relationships/image"/><Relationship Id="rId5" Target="../media/image103.png" Type="http://schemas.openxmlformats.org/officeDocument/2006/relationships/image"/><Relationship Id="rId6" Target="../media/image104.svg" Type="http://schemas.openxmlformats.org/officeDocument/2006/relationships/image"/><Relationship Id="rId7" Target="../media/image105.png" Type="http://schemas.openxmlformats.org/officeDocument/2006/relationships/image"/><Relationship Id="rId8" Target="../media/image106.svg" Type="http://schemas.openxmlformats.org/officeDocument/2006/relationships/image"/><Relationship Id="rId9" Target="../media/image10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4.png" Type="http://schemas.openxmlformats.org/officeDocument/2006/relationships/image"/><Relationship Id="rId11" Target="../media/image125.svg" Type="http://schemas.openxmlformats.org/officeDocument/2006/relationships/image"/><Relationship Id="rId2" Target="../notesSlides/notesSlide23.xml" Type="http://schemas.openxmlformats.org/officeDocument/2006/relationships/notesSlide"/><Relationship Id="rId3" Target="../media/image35.png" Type="http://schemas.openxmlformats.org/officeDocument/2006/relationships/image"/><Relationship Id="rId4" Target="../media/image118.png" Type="http://schemas.openxmlformats.org/officeDocument/2006/relationships/image"/><Relationship Id="rId5" Target="../media/image119.svg" Type="http://schemas.openxmlformats.org/officeDocument/2006/relationships/image"/><Relationship Id="rId6" Target="../media/image120.png" Type="http://schemas.openxmlformats.org/officeDocument/2006/relationships/image"/><Relationship Id="rId7" Target="../media/image121.svg" Type="http://schemas.openxmlformats.org/officeDocument/2006/relationships/image"/><Relationship Id="rId8" Target="../media/image122.png" Type="http://schemas.openxmlformats.org/officeDocument/2006/relationships/image"/><Relationship Id="rId9" Target="../media/image12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2.svg" Type="http://schemas.openxmlformats.org/officeDocument/2006/relationships/image"/><Relationship Id="rId2" Target="../notesSlides/notesSlide24.xml" Type="http://schemas.openxmlformats.org/officeDocument/2006/relationships/notesSlide"/><Relationship Id="rId3" Target="../media/image35.png" Type="http://schemas.openxmlformats.org/officeDocument/2006/relationships/image"/><Relationship Id="rId4" Target="../media/image126.png" Type="http://schemas.openxmlformats.org/officeDocument/2006/relationships/image"/><Relationship Id="rId5" Target="../media/image127.svg" Type="http://schemas.openxmlformats.org/officeDocument/2006/relationships/image"/><Relationship Id="rId6" Target="../media/image128.png" Type="http://schemas.openxmlformats.org/officeDocument/2006/relationships/image"/><Relationship Id="rId7" Target="../media/image129.svg" Type="http://schemas.openxmlformats.org/officeDocument/2006/relationships/image"/><Relationship Id="rId8" Target="../media/image130.png" Type="http://schemas.openxmlformats.org/officeDocument/2006/relationships/image"/><Relationship Id="rId9" Target="../media/image13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9.svg" Type="http://schemas.openxmlformats.org/officeDocument/2006/relationships/image"/><Relationship Id="rId2" Target="../notesSlides/notesSlide25.xml" Type="http://schemas.openxmlformats.org/officeDocument/2006/relationships/notesSlide"/><Relationship Id="rId3" Target="../media/image35.png" Type="http://schemas.openxmlformats.org/officeDocument/2006/relationships/image"/><Relationship Id="rId4" Target="../media/image133.png" Type="http://schemas.openxmlformats.org/officeDocument/2006/relationships/image"/><Relationship Id="rId5" Target="../media/image134.svg" Type="http://schemas.openxmlformats.org/officeDocument/2006/relationships/image"/><Relationship Id="rId6" Target="../media/image135.png" Type="http://schemas.openxmlformats.org/officeDocument/2006/relationships/image"/><Relationship Id="rId7" Target="../media/image136.svg" Type="http://schemas.openxmlformats.org/officeDocument/2006/relationships/image"/><Relationship Id="rId8" Target="../media/image137.png" Type="http://schemas.openxmlformats.org/officeDocument/2006/relationships/image"/><Relationship Id="rId9" Target="../media/image13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1.svg" Type="http://schemas.openxmlformats.org/officeDocument/2006/relationships/image"/><Relationship Id="rId11" Target="../media/image142.png" Type="http://schemas.openxmlformats.org/officeDocument/2006/relationships/image"/><Relationship Id="rId12" Target="../media/image143.png" Type="http://schemas.openxmlformats.org/officeDocument/2006/relationships/image"/><Relationship Id="rId13" Target="../media/image144.png" Type="http://schemas.openxmlformats.org/officeDocument/2006/relationships/image"/><Relationship Id="rId14" Target="../media/image145.png" Type="http://schemas.openxmlformats.org/officeDocument/2006/relationships/image"/><Relationship Id="rId2" Target="../notesSlides/notesSlide26.xml" Type="http://schemas.openxmlformats.org/officeDocument/2006/relationships/notesSlide"/><Relationship Id="rId3" Target="../media/image28.png" Type="http://schemas.openxmlformats.org/officeDocument/2006/relationships/image"/><Relationship Id="rId4" Target="../media/image29.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14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35.png" Type="http://schemas.openxmlformats.org/officeDocument/2006/relationships/image"/><Relationship Id="rId4" Target="../media/image146.png" Type="http://schemas.openxmlformats.org/officeDocument/2006/relationships/image"/><Relationship Id="rId5" Target="../media/image147.svg" Type="http://schemas.openxmlformats.org/officeDocument/2006/relationships/image"/><Relationship Id="rId6" Target="../media/image148.png" Type="http://schemas.openxmlformats.org/officeDocument/2006/relationships/image"/><Relationship Id="rId7" Target="../media/image149.svg" Type="http://schemas.openxmlformats.org/officeDocument/2006/relationships/image"/><Relationship Id="rId8" Target="../media/image15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35.png" Type="http://schemas.openxmlformats.org/officeDocument/2006/relationships/image"/><Relationship Id="rId4" Target="../media/image151.png" Type="http://schemas.openxmlformats.org/officeDocument/2006/relationships/image"/><Relationship Id="rId5" Target="../media/image152.svg" Type="http://schemas.openxmlformats.org/officeDocument/2006/relationships/image"/><Relationship Id="rId6" Target="../media/image153.png" Type="http://schemas.openxmlformats.org/officeDocument/2006/relationships/image"/><Relationship Id="rId7" Target="../media/image154.svg" Type="http://schemas.openxmlformats.org/officeDocument/2006/relationships/image"/><Relationship Id="rId8" Target="../media/image15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0.svg" Type="http://schemas.openxmlformats.org/officeDocument/2006/relationships/image"/><Relationship Id="rId2" Target="../notesSlides/notesSlide29.xml" Type="http://schemas.openxmlformats.org/officeDocument/2006/relationships/notesSlide"/><Relationship Id="rId3" Target="../media/image35.png" Type="http://schemas.openxmlformats.org/officeDocument/2006/relationships/image"/><Relationship Id="rId4" Target="../media/image156.png" Type="http://schemas.openxmlformats.org/officeDocument/2006/relationships/image"/><Relationship Id="rId5" Target="../media/image157.svg" Type="http://schemas.openxmlformats.org/officeDocument/2006/relationships/image"/><Relationship Id="rId6" Target="../media/image153.png" Type="http://schemas.openxmlformats.org/officeDocument/2006/relationships/image"/><Relationship Id="rId7" Target="../media/image154.svg" Type="http://schemas.openxmlformats.org/officeDocument/2006/relationships/image"/><Relationship Id="rId8" Target="../media/image158.png" Type="http://schemas.openxmlformats.org/officeDocument/2006/relationships/image"/><Relationship Id="rId9" Target="../media/image15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35.png" Type="http://schemas.openxmlformats.org/officeDocument/2006/relationships/image"/><Relationship Id="rId4" Target="../media/image151.png" Type="http://schemas.openxmlformats.org/officeDocument/2006/relationships/image"/><Relationship Id="rId5" Target="../media/image152.svg" Type="http://schemas.openxmlformats.org/officeDocument/2006/relationships/image"/><Relationship Id="rId6" Target="../media/image153.png" Type="http://schemas.openxmlformats.org/officeDocument/2006/relationships/image"/><Relationship Id="rId7" Target="../media/image154.svg" Type="http://schemas.openxmlformats.org/officeDocument/2006/relationships/image"/><Relationship Id="rId8" Target="../media/image16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35.png" Type="http://schemas.openxmlformats.org/officeDocument/2006/relationships/image"/><Relationship Id="rId4" Target="../media/image162.png" Type="http://schemas.openxmlformats.org/officeDocument/2006/relationships/image"/><Relationship Id="rId5" Target="../media/image163.svg" Type="http://schemas.openxmlformats.org/officeDocument/2006/relationships/image"/><Relationship Id="rId6" Target="../media/image164.png" Type="http://schemas.openxmlformats.org/officeDocument/2006/relationships/image"/><Relationship Id="rId7" Target="../media/image165.svg" Type="http://schemas.openxmlformats.org/officeDocument/2006/relationships/image"/><Relationship Id="rId8" Target="../media/image16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35.png" Type="http://schemas.openxmlformats.org/officeDocument/2006/relationships/image"/><Relationship Id="rId4" Target="../media/image167.png" Type="http://schemas.openxmlformats.org/officeDocument/2006/relationships/image"/><Relationship Id="rId5" Target="../media/image168.svg" Type="http://schemas.openxmlformats.org/officeDocument/2006/relationships/image"/><Relationship Id="rId6" Target="../media/image169.png" Type="http://schemas.openxmlformats.org/officeDocument/2006/relationships/image"/><Relationship Id="rId7" Target="../media/image170.svg" Type="http://schemas.openxmlformats.org/officeDocument/2006/relationships/image"/><Relationship Id="rId8" Target="../media/image17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35.png" Type="http://schemas.openxmlformats.org/officeDocument/2006/relationships/image"/><Relationship Id="rId4" Target="../media/image172.png" Type="http://schemas.openxmlformats.org/officeDocument/2006/relationships/image"/><Relationship Id="rId5" Target="../media/image173.svg" Type="http://schemas.openxmlformats.org/officeDocument/2006/relationships/image"/><Relationship Id="rId6" Target="../media/image174.png" Type="http://schemas.openxmlformats.org/officeDocument/2006/relationships/image"/><Relationship Id="rId7" Target="../media/image175.svg" Type="http://schemas.openxmlformats.org/officeDocument/2006/relationships/image"/><Relationship Id="rId8" Target="../media/image17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35.png" Type="http://schemas.openxmlformats.org/officeDocument/2006/relationships/image"/><Relationship Id="rId4" Target="../media/image177.png" Type="http://schemas.openxmlformats.org/officeDocument/2006/relationships/image"/><Relationship Id="rId5" Target="../media/image178.svg" Type="http://schemas.openxmlformats.org/officeDocument/2006/relationships/image"/><Relationship Id="rId6" Target="../media/image179.png" Type="http://schemas.openxmlformats.org/officeDocument/2006/relationships/image"/><Relationship Id="rId7" Target="../media/image180.svg" Type="http://schemas.openxmlformats.org/officeDocument/2006/relationships/image"/><Relationship Id="rId8" Target="../media/image181.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82.png" Type="http://schemas.openxmlformats.org/officeDocument/2006/relationships/image"/><Relationship Id="rId4" Target="../media/image183.png" Type="http://schemas.openxmlformats.org/officeDocument/2006/relationships/image"/><Relationship Id="rId5" Target="../media/image1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84.png" Type="http://schemas.openxmlformats.org/officeDocument/2006/relationships/image"/><Relationship Id="rId4" Target="../media/image185.png" Type="http://schemas.openxmlformats.org/officeDocument/2006/relationships/image"/><Relationship Id="rId5" Target="../media/image18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84.png" Type="http://schemas.openxmlformats.org/officeDocument/2006/relationships/image"/><Relationship Id="rId4" Target="../media/image187.png" Type="http://schemas.openxmlformats.org/officeDocument/2006/relationships/image"/><Relationship Id="rId5" Target="../media/image188.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84.png" Type="http://schemas.openxmlformats.org/officeDocument/2006/relationships/image"/><Relationship Id="rId4" Target="../media/image185.png" Type="http://schemas.openxmlformats.org/officeDocument/2006/relationships/image"/><Relationship Id="rId5" Target="../media/image186.svg" Type="http://schemas.openxmlformats.org/officeDocument/2006/relationships/image"/><Relationship Id="rId6" Target="https://csrc.nist.gov/glossary/term/least_privilege" TargetMode="External" Type="http://schemas.openxmlformats.org/officeDocument/2006/relationships/hyperlink"/></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182.png" Type="http://schemas.openxmlformats.org/officeDocument/2006/relationships/image"/><Relationship Id="rId4" Target="../media/image189.png" Type="http://schemas.openxmlformats.org/officeDocument/2006/relationships/image"/><Relationship Id="rId5" Target="../media/image19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804" y="0"/>
            <a:ext cx="18254196" cy="10287000"/>
            <a:chOff x="0" y="0"/>
            <a:chExt cx="24338928" cy="13716000"/>
          </a:xfrm>
        </p:grpSpPr>
        <p:sp>
          <p:nvSpPr>
            <p:cNvPr name="Freeform 3" id="3"/>
            <p:cNvSpPr/>
            <p:nvPr/>
          </p:nvSpPr>
          <p:spPr>
            <a:xfrm flipH="false" flipV="false" rot="0">
              <a:off x="0" y="0"/>
              <a:ext cx="24338914" cy="13716000"/>
            </a:xfrm>
            <a:custGeom>
              <a:avLst/>
              <a:gdLst/>
              <a:ahLst/>
              <a:cxnLst/>
              <a:rect r="r" b="b" t="t" l="l"/>
              <a:pathLst>
                <a:path h="13716000" w="24338914">
                  <a:moveTo>
                    <a:pt x="0" y="0"/>
                  </a:moveTo>
                  <a:lnTo>
                    <a:pt x="24338914" y="0"/>
                  </a:lnTo>
                  <a:lnTo>
                    <a:pt x="24338914" y="13716000"/>
                  </a:lnTo>
                  <a:lnTo>
                    <a:pt x="0" y="13716000"/>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0656400" y="1940050"/>
          <a:ext cx="7378700" cy="1358900"/>
        </p:xfrm>
        <a:graphic>
          <a:graphicData uri="http://schemas.openxmlformats.org/drawingml/2006/table">
            <a:tbl>
              <a:tblPr/>
              <a:tblGrid>
                <a:gridCol w="3035392"/>
                <a:gridCol w="4343308"/>
              </a:tblGrid>
              <a:tr h="639162">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Día, Fecha:</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359"/>
                        </a:lnSpc>
                        <a:defRPr/>
                      </a:pPr>
                      <a:r>
                        <a:rPr lang="en-US" sz="2799">
                          <a:solidFill>
                            <a:srgbClr val="000000"/>
                          </a:solidFill>
                          <a:latin typeface="Arial"/>
                          <a:ea typeface="Arial"/>
                          <a:cs typeface="Arial"/>
                          <a:sym typeface="Arial"/>
                        </a:rPr>
                        <a:t>DIA, DD/MM/2026</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9738">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Hora de inicio:</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359"/>
                        </a:lnSpc>
                        <a:defRPr/>
                      </a:pPr>
                      <a:r>
                        <a:rPr lang="en-US" sz="2799">
                          <a:solidFill>
                            <a:srgbClr val="000000"/>
                          </a:solidFill>
                          <a:latin typeface="Arial"/>
                          <a:ea typeface="Arial"/>
                          <a:cs typeface="Arial"/>
                          <a:sym typeface="Arial"/>
                        </a:rPr>
                        <a:t>00:00</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3063202" y="4670879"/>
            <a:ext cx="13218300" cy="848173"/>
          </a:xfrm>
          <a:prstGeom prst="rect">
            <a:avLst/>
          </a:prstGeom>
        </p:spPr>
        <p:txBody>
          <a:bodyPr anchor="t" rtlCol="false" tIns="0" lIns="0" bIns="0" rIns="0">
            <a:spAutoFit/>
          </a:bodyPr>
          <a:lstStyle/>
          <a:p>
            <a:pPr algn="l">
              <a:lnSpc>
                <a:spcPts val="6359"/>
              </a:lnSpc>
            </a:pPr>
            <a:r>
              <a:rPr lang="en-US" b="true" sz="5299">
                <a:solidFill>
                  <a:srgbClr val="000000"/>
                </a:solidFill>
                <a:latin typeface="Arial Bold"/>
                <a:ea typeface="Arial Bold"/>
                <a:cs typeface="Arial Bold"/>
                <a:sym typeface="Arial Bold"/>
              </a:rPr>
              <a:t>Sistemas Operativos 2 [A]</a:t>
            </a:r>
          </a:p>
        </p:txBody>
      </p:sp>
      <p:sp>
        <p:nvSpPr>
          <p:cNvPr name="TextBox 6" id="6"/>
          <p:cNvSpPr txBox="true"/>
          <p:nvPr/>
        </p:nvSpPr>
        <p:spPr>
          <a:xfrm rot="0">
            <a:off x="3740248" y="5965298"/>
            <a:ext cx="10807503" cy="700049"/>
          </a:xfrm>
          <a:prstGeom prst="rect">
            <a:avLst/>
          </a:prstGeom>
        </p:spPr>
        <p:txBody>
          <a:bodyPr anchor="t" rtlCol="false" tIns="0" lIns="0" bIns="0" rIns="0">
            <a:spAutoFit/>
          </a:bodyPr>
          <a:lstStyle/>
          <a:p>
            <a:pPr algn="l">
              <a:lnSpc>
                <a:spcPts val="5280"/>
              </a:lnSpc>
            </a:pPr>
            <a:r>
              <a:rPr lang="en-US" sz="4400">
                <a:solidFill>
                  <a:srgbClr val="000000"/>
                </a:solidFill>
                <a:latin typeface="Arial"/>
                <a:ea typeface="Arial"/>
                <a:cs typeface="Arial"/>
                <a:sym typeface="Arial"/>
              </a:rPr>
              <a:t>NOMBRE_ESTUDIANTE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405105" y="0"/>
            <a:ext cx="3898944" cy="1161383"/>
            <a:chOff x="0" y="0"/>
            <a:chExt cx="5198593" cy="1548511"/>
          </a:xfrm>
        </p:grpSpPr>
        <p:sp>
          <p:nvSpPr>
            <p:cNvPr name="Freeform 3" id="3"/>
            <p:cNvSpPr/>
            <p:nvPr/>
          </p:nvSpPr>
          <p:spPr>
            <a:xfrm flipH="false" flipV="false" rot="0">
              <a:off x="0" y="0"/>
              <a:ext cx="5198618" cy="1548511"/>
            </a:xfrm>
            <a:custGeom>
              <a:avLst/>
              <a:gdLst/>
              <a:ahLst/>
              <a:cxnLst/>
              <a:rect r="r" b="b" t="t" l="l"/>
              <a:pathLst>
                <a:path h="1548511" w="5198618">
                  <a:moveTo>
                    <a:pt x="0" y="0"/>
                  </a:moveTo>
                  <a:lnTo>
                    <a:pt x="5198618" y="0"/>
                  </a:lnTo>
                  <a:lnTo>
                    <a:pt x="5198618" y="1548511"/>
                  </a:lnTo>
                  <a:lnTo>
                    <a:pt x="0" y="1548511"/>
                  </a:lnTo>
                  <a:lnTo>
                    <a:pt x="0" y="0"/>
                  </a:lnTo>
                  <a:close/>
                </a:path>
              </a:pathLst>
            </a:custGeom>
            <a:blipFill>
              <a:blip r:embed="rId3"/>
              <a:stretch>
                <a:fillRect l="0" t="0" r="0" b="0"/>
              </a:stretch>
            </a:blipFill>
          </p:spPr>
        </p:sp>
      </p:grpSp>
      <p:sp>
        <p:nvSpPr>
          <p:cNvPr name="TextBox 4" id="4"/>
          <p:cNvSpPr txBox="true"/>
          <p:nvPr/>
        </p:nvSpPr>
        <p:spPr>
          <a:xfrm rot="0">
            <a:off x="1028700" y="8626192"/>
            <a:ext cx="6981301"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Escuela de Ingeniería de Ciencias Y Sistemas</a:t>
            </a:r>
          </a:p>
        </p:txBody>
      </p:sp>
      <p:sp>
        <p:nvSpPr>
          <p:cNvPr name="TextBox 5" id="5"/>
          <p:cNvSpPr txBox="true"/>
          <p:nvPr/>
        </p:nvSpPr>
        <p:spPr>
          <a:xfrm rot="0">
            <a:off x="1028700" y="9050988"/>
            <a:ext cx="3525298"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Facultad de Ingeniería</a:t>
            </a:r>
          </a:p>
        </p:txBody>
      </p:sp>
      <p:sp>
        <p:nvSpPr>
          <p:cNvPr name="TextBox 6" id="6"/>
          <p:cNvSpPr txBox="true"/>
          <p:nvPr/>
        </p:nvSpPr>
        <p:spPr>
          <a:xfrm rot="0">
            <a:off x="1028700" y="9471022"/>
            <a:ext cx="6408001"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Universidad de San Carlos de Guatemala</a:t>
            </a:r>
          </a:p>
        </p:txBody>
      </p:sp>
      <p:sp>
        <p:nvSpPr>
          <p:cNvPr name="TextBox 7" id="7"/>
          <p:cNvSpPr txBox="true"/>
          <p:nvPr/>
        </p:nvSpPr>
        <p:spPr>
          <a:xfrm rot="0">
            <a:off x="3503695" y="3121419"/>
            <a:ext cx="11280600" cy="3877517"/>
          </a:xfrm>
          <a:prstGeom prst="rect">
            <a:avLst/>
          </a:prstGeom>
        </p:spPr>
        <p:txBody>
          <a:bodyPr anchor="t" rtlCol="false" tIns="0" lIns="0" bIns="0" rIns="0">
            <a:spAutoFit/>
          </a:bodyPr>
          <a:lstStyle/>
          <a:p>
            <a:pPr algn="ctr">
              <a:lnSpc>
                <a:spcPts val="10187"/>
              </a:lnSpc>
            </a:pPr>
            <a:r>
              <a:rPr lang="en-US" sz="7933">
                <a:solidFill>
                  <a:srgbClr val="FFFFFF"/>
                </a:solidFill>
                <a:latin typeface="Arial"/>
                <a:ea typeface="Arial"/>
                <a:cs typeface="Arial"/>
                <a:sym typeface="Arial"/>
              </a:rPr>
              <a:t>UNIDAD 3: ADMINISTRACIÓN DE MEMORIA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75142" y="2474976"/>
            <a:ext cx="7764161" cy="618820"/>
            <a:chOff x="0" y="0"/>
            <a:chExt cx="10352214" cy="825094"/>
          </a:xfrm>
        </p:grpSpPr>
        <p:sp>
          <p:nvSpPr>
            <p:cNvPr name="Freeform 3" id="3"/>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4" id="4"/>
          <p:cNvGrpSpPr/>
          <p:nvPr/>
        </p:nvGrpSpPr>
        <p:grpSpPr>
          <a:xfrm rot="0">
            <a:off x="9975047" y="2453202"/>
            <a:ext cx="7764342" cy="662378"/>
            <a:chOff x="0" y="0"/>
            <a:chExt cx="10352456" cy="883171"/>
          </a:xfrm>
        </p:grpSpPr>
        <p:sp>
          <p:nvSpPr>
            <p:cNvPr name="Freeform 5" id="5"/>
            <p:cNvSpPr/>
            <p:nvPr/>
          </p:nvSpPr>
          <p:spPr>
            <a:xfrm flipH="false" flipV="false" rot="0">
              <a:off x="0" y="0"/>
              <a:ext cx="10352461" cy="883165"/>
            </a:xfrm>
            <a:custGeom>
              <a:avLst/>
              <a:gdLst/>
              <a:ahLst/>
              <a:cxnLst/>
              <a:rect r="r" b="b" t="t" l="l"/>
              <a:pathLst>
                <a:path h="883165" w="10352461">
                  <a:moveTo>
                    <a:pt x="0" y="0"/>
                  </a:moveTo>
                  <a:lnTo>
                    <a:pt x="10352461" y="0"/>
                  </a:lnTo>
                  <a:lnTo>
                    <a:pt x="10352461" y="883165"/>
                  </a:lnTo>
                  <a:lnTo>
                    <a:pt x="0" y="883165"/>
                  </a:lnTo>
                  <a:close/>
                </a:path>
              </a:pathLst>
            </a:custGeom>
            <a:blipFill>
              <a:blip r:embed="rId3">
                <a:alphaModFix amt="0"/>
              </a:blip>
              <a:stretch>
                <a:fillRect l="0" t="-178403" r="0" b="-178403"/>
              </a:stretch>
            </a:blipFill>
          </p:spPr>
        </p:sp>
        <p:sp>
          <p:nvSpPr>
            <p:cNvPr name="TextBox 6" id="6"/>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Anuncios Importantes</a:t>
              </a:r>
            </a:p>
          </p:txBody>
        </p:sp>
      </p:grpSp>
      <p:grpSp>
        <p:nvGrpSpPr>
          <p:cNvPr name="Group 7" id="7"/>
          <p:cNvGrpSpPr/>
          <p:nvPr/>
        </p:nvGrpSpPr>
        <p:grpSpPr>
          <a:xfrm rot="-1769340">
            <a:off x="2487701" y="2265797"/>
            <a:ext cx="3499333" cy="3372288"/>
            <a:chOff x="0" y="0"/>
            <a:chExt cx="4665777" cy="4496384"/>
          </a:xfrm>
        </p:grpSpPr>
        <p:sp>
          <p:nvSpPr>
            <p:cNvPr name="Freeform 8" id="8"/>
            <p:cNvSpPr/>
            <p:nvPr/>
          </p:nvSpPr>
          <p:spPr>
            <a:xfrm flipH="false" flipV="false" rot="0">
              <a:off x="0" y="0"/>
              <a:ext cx="4665726" cy="4496435"/>
            </a:xfrm>
            <a:custGeom>
              <a:avLst/>
              <a:gdLst/>
              <a:ahLst/>
              <a:cxnLst/>
              <a:rect r="r" b="b" t="t" l="l"/>
              <a:pathLst>
                <a:path h="4496435" w="4665726">
                  <a:moveTo>
                    <a:pt x="0" y="0"/>
                  </a:moveTo>
                  <a:lnTo>
                    <a:pt x="4665726" y="0"/>
                  </a:lnTo>
                  <a:lnTo>
                    <a:pt x="4665726" y="4496435"/>
                  </a:lnTo>
                  <a:lnTo>
                    <a:pt x="0" y="4496435"/>
                  </a:lnTo>
                  <a:lnTo>
                    <a:pt x="0" y="0"/>
                  </a:lnTo>
                  <a:close/>
                </a:path>
              </a:pathLst>
            </a:custGeom>
            <a:blipFill>
              <a:blip r:embed="rId4"/>
              <a:stretch>
                <a:fillRect l="3870" t="-145" r="-3870" b="-3619"/>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6083246" y="3459137"/>
            <a:ext cx="10228955" cy="4612872"/>
          </a:xfrm>
          <a:prstGeom prst="rect">
            <a:avLst/>
          </a:prstGeom>
        </p:spPr>
        <p:txBody>
          <a:bodyPr anchor="t" rtlCol="false" tIns="0" lIns="0" bIns="0" rIns="0">
            <a:spAutoFit/>
          </a:bodyPr>
          <a:lstStyle/>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Protección</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Privilegios de modo de usuario y kernel</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Control de acceso</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Seguridad</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Modelos y principios de seguridad</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Vulnerabilidades del sistema operativo y medidas de seguridad</a:t>
            </a:r>
          </a:p>
        </p:txBody>
      </p:sp>
      <p:grpSp>
        <p:nvGrpSpPr>
          <p:cNvPr name="Group 3" id="3"/>
          <p:cNvGrpSpPr/>
          <p:nvPr/>
        </p:nvGrpSpPr>
        <p:grpSpPr>
          <a:xfrm rot="0">
            <a:off x="5261820" y="1930165"/>
            <a:ext cx="7764161" cy="618820"/>
            <a:chOff x="0" y="0"/>
            <a:chExt cx="10352214" cy="825094"/>
          </a:xfrm>
        </p:grpSpPr>
        <p:sp>
          <p:nvSpPr>
            <p:cNvPr name="Freeform 4" id="4"/>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5" id="5"/>
          <p:cNvGrpSpPr/>
          <p:nvPr/>
        </p:nvGrpSpPr>
        <p:grpSpPr>
          <a:xfrm rot="0">
            <a:off x="5261820" y="1886655"/>
            <a:ext cx="7764342" cy="662378"/>
            <a:chOff x="0" y="0"/>
            <a:chExt cx="10352456" cy="883171"/>
          </a:xfrm>
        </p:grpSpPr>
        <p:sp>
          <p:nvSpPr>
            <p:cNvPr name="Freeform 6" id="6"/>
            <p:cNvSpPr/>
            <p:nvPr/>
          </p:nvSpPr>
          <p:spPr>
            <a:xfrm flipH="false" flipV="false" rot="0">
              <a:off x="0" y="0"/>
              <a:ext cx="10352461" cy="883165"/>
            </a:xfrm>
            <a:custGeom>
              <a:avLst/>
              <a:gdLst/>
              <a:ahLst/>
              <a:cxnLst/>
              <a:rect r="r" b="b" t="t" l="l"/>
              <a:pathLst>
                <a:path h="883165" w="10352461">
                  <a:moveTo>
                    <a:pt x="0" y="0"/>
                  </a:moveTo>
                  <a:lnTo>
                    <a:pt x="10352461" y="0"/>
                  </a:lnTo>
                  <a:lnTo>
                    <a:pt x="10352461" y="883165"/>
                  </a:lnTo>
                  <a:lnTo>
                    <a:pt x="0" y="883165"/>
                  </a:lnTo>
                  <a:close/>
                </a:path>
              </a:pathLst>
            </a:custGeom>
            <a:blipFill>
              <a:blip r:embed="rId3">
                <a:alphaModFix amt="0"/>
              </a:blip>
              <a:stretch>
                <a:fillRect l="0" t="-178403" r="0" b="-178403"/>
              </a:stretch>
            </a:blipFill>
          </p:spPr>
        </p:sp>
        <p:sp>
          <p:nvSpPr>
            <p:cNvPr name="TextBox 7" id="7"/>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AGENDA</a:t>
              </a:r>
            </a:p>
          </p:txBody>
        </p:sp>
      </p:grpSp>
      <p:grpSp>
        <p:nvGrpSpPr>
          <p:cNvPr name="Group 8" id="8"/>
          <p:cNvGrpSpPr/>
          <p:nvPr/>
        </p:nvGrpSpPr>
        <p:grpSpPr>
          <a:xfrm rot="0">
            <a:off x="7758027" y="1886645"/>
            <a:ext cx="662378" cy="662378"/>
            <a:chOff x="0" y="0"/>
            <a:chExt cx="883171" cy="883171"/>
          </a:xfrm>
        </p:grpSpPr>
        <p:sp>
          <p:nvSpPr>
            <p:cNvPr name="Freeform 9" id="9"/>
            <p:cNvSpPr/>
            <p:nvPr/>
          </p:nvSpPr>
          <p:spPr>
            <a:xfrm flipH="false" flipV="false" rot="0">
              <a:off x="0" y="0"/>
              <a:ext cx="883158" cy="883158"/>
            </a:xfrm>
            <a:custGeom>
              <a:avLst/>
              <a:gdLst/>
              <a:ahLst/>
              <a:cxnLst/>
              <a:rect r="r" b="b" t="t" l="l"/>
              <a:pathLst>
                <a:path h="883158" w="883158">
                  <a:moveTo>
                    <a:pt x="0" y="0"/>
                  </a:moveTo>
                  <a:lnTo>
                    <a:pt x="883158" y="0"/>
                  </a:lnTo>
                  <a:lnTo>
                    <a:pt x="883158" y="883158"/>
                  </a:lnTo>
                  <a:lnTo>
                    <a:pt x="0" y="883158"/>
                  </a:lnTo>
                  <a:lnTo>
                    <a:pt x="0" y="0"/>
                  </a:lnTo>
                  <a:close/>
                </a:path>
              </a:pathLst>
            </a:custGeom>
            <a:blipFill>
              <a:blip r:embed="rId4"/>
              <a:stretch>
                <a:fillRect l="0" t="0" r="-1" b="-1"/>
              </a:stretch>
            </a:blipFill>
          </p:spPr>
        </p:sp>
      </p:grpSp>
      <p:grpSp>
        <p:nvGrpSpPr>
          <p:cNvPr name="Group 10" id="10"/>
          <p:cNvGrpSpPr/>
          <p:nvPr/>
        </p:nvGrpSpPr>
        <p:grpSpPr>
          <a:xfrm rot="0">
            <a:off x="1264529" y="3317243"/>
            <a:ext cx="3652523" cy="3652523"/>
            <a:chOff x="0" y="0"/>
            <a:chExt cx="4870031" cy="4870031"/>
          </a:xfrm>
        </p:grpSpPr>
        <p:sp>
          <p:nvSpPr>
            <p:cNvPr name="Freeform 11" id="11"/>
            <p:cNvSpPr/>
            <p:nvPr/>
          </p:nvSpPr>
          <p:spPr>
            <a:xfrm flipH="false" flipV="false" rot="0">
              <a:off x="0" y="0"/>
              <a:ext cx="4870069" cy="4870069"/>
            </a:xfrm>
            <a:custGeom>
              <a:avLst/>
              <a:gdLst/>
              <a:ahLst/>
              <a:cxnLst/>
              <a:rect r="r" b="b" t="t" l="l"/>
              <a:pathLst>
                <a:path h="4870069" w="4870069">
                  <a:moveTo>
                    <a:pt x="0" y="0"/>
                  </a:moveTo>
                  <a:lnTo>
                    <a:pt x="4870069" y="0"/>
                  </a:lnTo>
                  <a:lnTo>
                    <a:pt x="4870069" y="4870069"/>
                  </a:lnTo>
                  <a:lnTo>
                    <a:pt x="0" y="4870069"/>
                  </a:lnTo>
                  <a:lnTo>
                    <a:pt x="0" y="0"/>
                  </a:lnTo>
                  <a:close/>
                </a:path>
              </a:pathLst>
            </a:custGeom>
            <a:blipFill>
              <a:blip r:embed="rId5"/>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3300298" y="3865645"/>
            <a:ext cx="11687423" cy="2780186"/>
          </a:xfrm>
          <a:custGeom>
            <a:avLst/>
            <a:gdLst/>
            <a:ahLst/>
            <a:cxnLst/>
            <a:rect r="r" b="b" t="t" l="l"/>
            <a:pathLst>
              <a:path h="2780186" w="11687423">
                <a:moveTo>
                  <a:pt x="0" y="0"/>
                </a:moveTo>
                <a:lnTo>
                  <a:pt x="11687423" y="0"/>
                </a:lnTo>
                <a:lnTo>
                  <a:pt x="11687423" y="2780186"/>
                </a:lnTo>
                <a:lnTo>
                  <a:pt x="0" y="2780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713597" y="4575229"/>
            <a:ext cx="1136542" cy="1136542"/>
          </a:xfrm>
          <a:custGeom>
            <a:avLst/>
            <a:gdLst/>
            <a:ahLst/>
            <a:cxnLst/>
            <a:rect r="r" b="b" t="t" l="l"/>
            <a:pathLst>
              <a:path h="1136542" w="1136542">
                <a:moveTo>
                  <a:pt x="0" y="0"/>
                </a:moveTo>
                <a:lnTo>
                  <a:pt x="1136543" y="0"/>
                </a:lnTo>
                <a:lnTo>
                  <a:pt x="1136543" y="1136542"/>
                </a:lnTo>
                <a:lnTo>
                  <a:pt x="0" y="11365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3925033" y="4743202"/>
            <a:ext cx="713661" cy="713661"/>
            <a:chOff x="0" y="0"/>
            <a:chExt cx="951548" cy="951548"/>
          </a:xfrm>
        </p:grpSpPr>
        <p:sp>
          <p:nvSpPr>
            <p:cNvPr name="Freeform 5" id="5"/>
            <p:cNvSpPr/>
            <p:nvPr/>
          </p:nvSpPr>
          <p:spPr>
            <a:xfrm flipH="false" flipV="false" rot="0">
              <a:off x="0" y="0"/>
              <a:ext cx="951611" cy="951611"/>
            </a:xfrm>
            <a:custGeom>
              <a:avLst/>
              <a:gdLst/>
              <a:ahLst/>
              <a:cxnLst/>
              <a:rect r="r" b="b" t="t" l="l"/>
              <a:pathLst>
                <a:path h="951611" w="951611">
                  <a:moveTo>
                    <a:pt x="0" y="0"/>
                  </a:moveTo>
                  <a:lnTo>
                    <a:pt x="951611" y="0"/>
                  </a:lnTo>
                  <a:lnTo>
                    <a:pt x="951611" y="951611"/>
                  </a:lnTo>
                  <a:lnTo>
                    <a:pt x="0" y="951611"/>
                  </a:lnTo>
                  <a:lnTo>
                    <a:pt x="0" y="0"/>
                  </a:lnTo>
                  <a:close/>
                </a:path>
              </a:pathLst>
            </a:custGeom>
            <a:blipFill>
              <a:blip r:embed="rId7"/>
              <a:stretch>
                <a:fillRect l="0" t="0" r="6" b="6"/>
              </a:stretch>
            </a:blipFill>
          </p:spPr>
        </p:sp>
      </p:grpSp>
      <p:sp>
        <p:nvSpPr>
          <p:cNvPr name="TextBox 6" id="6"/>
          <p:cNvSpPr txBox="true"/>
          <p:nvPr/>
        </p:nvSpPr>
        <p:spPr>
          <a:xfrm rot="0">
            <a:off x="1028700" y="947099"/>
            <a:ext cx="16230600" cy="912371"/>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COMPETENCIA(S) QUE DESARROLLAREMOS</a:t>
            </a:r>
          </a:p>
        </p:txBody>
      </p:sp>
      <p:grpSp>
        <p:nvGrpSpPr>
          <p:cNvPr name="Group 7" id="7"/>
          <p:cNvGrpSpPr/>
          <p:nvPr/>
        </p:nvGrpSpPr>
        <p:grpSpPr>
          <a:xfrm rot="0">
            <a:off x="18996546" y="5524224"/>
            <a:ext cx="4626464" cy="4576000"/>
            <a:chOff x="0" y="0"/>
            <a:chExt cx="6168619" cy="6101334"/>
          </a:xfrm>
        </p:grpSpPr>
        <p:sp>
          <p:nvSpPr>
            <p:cNvPr name="Freeform 8" id="8"/>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8"/>
              <a:stretch>
                <a:fillRect l="0" t="-22" r="0" b="-22"/>
              </a:stretch>
            </a:blipFill>
          </p:spPr>
        </p:sp>
      </p:grpSp>
      <p:sp>
        <p:nvSpPr>
          <p:cNvPr name="TextBox 9" id="9"/>
          <p:cNvSpPr txBox="true"/>
          <p:nvPr/>
        </p:nvSpPr>
        <p:spPr>
          <a:xfrm rot="0">
            <a:off x="19409207" y="5966508"/>
            <a:ext cx="3428400" cy="3829879"/>
          </a:xfrm>
          <a:prstGeom prst="rect">
            <a:avLst/>
          </a:prstGeom>
        </p:spPr>
        <p:txBody>
          <a:bodyPr anchor="t" rtlCol="false" tIns="0" lIns="0" bIns="0" rIns="0">
            <a:spAutoFit/>
          </a:bodyPr>
          <a:lstStyle/>
          <a:p>
            <a:pPr algn="ctr">
              <a:lnSpc>
                <a:spcPts val="3764"/>
              </a:lnSpc>
            </a:pPr>
            <a:r>
              <a:rPr lang="en-US" sz="2241">
                <a:solidFill>
                  <a:srgbClr val="131416"/>
                </a:solidFill>
                <a:latin typeface="Open Sans"/>
                <a:ea typeface="Open Sans"/>
                <a:cs typeface="Open Sans"/>
                <a:sym typeface="Open Sans"/>
              </a:rPr>
              <a:t>En el programa del curso encontrarás la competencia o competencias que debe cumplir el curso que estás impartiendo.</a:t>
            </a:r>
          </a:p>
          <a:p>
            <a:pPr algn="ctr">
              <a:lnSpc>
                <a:spcPts val="3764"/>
              </a:lnSpc>
            </a:pPr>
            <a:r>
              <a:rPr lang="en-US" sz="2241">
                <a:solidFill>
                  <a:srgbClr val="131416"/>
                </a:solidFill>
                <a:latin typeface="Open Sans"/>
                <a:ea typeface="Open Sans"/>
                <a:cs typeface="Open Sans"/>
                <a:sym typeface="Open Sans"/>
              </a:rPr>
              <a:t>Colocala(s) en este apartado </a:t>
            </a:r>
          </a:p>
        </p:txBody>
      </p:sp>
      <p:sp>
        <p:nvSpPr>
          <p:cNvPr name="TextBox 10" id="10"/>
          <p:cNvSpPr txBox="true"/>
          <p:nvPr/>
        </p:nvSpPr>
        <p:spPr>
          <a:xfrm rot="0">
            <a:off x="5040449" y="4269476"/>
            <a:ext cx="9287399" cy="1575073"/>
          </a:xfrm>
          <a:prstGeom prst="rect">
            <a:avLst/>
          </a:prstGeom>
        </p:spPr>
        <p:txBody>
          <a:bodyPr anchor="t" rtlCol="false" tIns="0" lIns="0" bIns="0" rIns="0">
            <a:spAutoFit/>
          </a:bodyPr>
          <a:lstStyle/>
          <a:p>
            <a:pPr algn="l" marL="342900" indent="-171450" lvl="1">
              <a:lnSpc>
                <a:spcPts val="3120"/>
              </a:lnSpc>
              <a:buFont typeface="Arial"/>
              <a:buChar char="•"/>
            </a:pPr>
            <a:r>
              <a:rPr lang="en-US" sz="2000">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p>
          <a:p>
            <a:pPr algn="l" marL="342900" indent="-171450" lvl="1">
              <a:lnSpc>
                <a:spcPts val="3120"/>
              </a:lnSpc>
              <a:buFont typeface="Arial"/>
              <a:buChar char="•"/>
            </a:pPr>
            <a:r>
              <a:rPr lang="en-US" sz="2000">
                <a:solidFill>
                  <a:srgbClr val="FFFFFF"/>
                </a:solidFill>
                <a:latin typeface="Montserrat"/>
                <a:ea typeface="Montserrat"/>
                <a:cs typeface="Montserrat"/>
                <a:sym typeface="Montserrat"/>
              </a:rPr>
              <a:t>Evaluar sistemas operativos para soluciones específicas.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2467004" y="4352839"/>
            <a:ext cx="13354002" cy="2809751"/>
          </a:xfrm>
          <a:prstGeom prst="rect">
            <a:avLst/>
          </a:prstGeom>
        </p:spPr>
        <p:txBody>
          <a:bodyPr anchor="t" rtlCol="false" tIns="0" lIns="0" bIns="0" rIns="0">
            <a:spAutoFit/>
          </a:bodyPr>
          <a:lstStyle/>
          <a:p>
            <a:pPr algn="ctr">
              <a:lnSpc>
                <a:spcPts val="12583"/>
              </a:lnSpc>
            </a:pPr>
            <a:r>
              <a:rPr lang="en-US" sz="9800">
                <a:solidFill>
                  <a:srgbClr val="FFFFFF"/>
                </a:solidFill>
                <a:latin typeface="Arial"/>
                <a:ea typeface="Arial"/>
                <a:cs typeface="Arial"/>
                <a:sym typeface="Arial"/>
              </a:rPr>
              <a:t>PROTECCIÓN Y SEGURIDAD</a:t>
            </a:r>
          </a:p>
        </p:txBody>
      </p:sp>
      <p:grpSp>
        <p:nvGrpSpPr>
          <p:cNvPr name="Group 3" id="3"/>
          <p:cNvGrpSpPr/>
          <p:nvPr/>
        </p:nvGrpSpPr>
        <p:grpSpPr>
          <a:xfrm rot="0">
            <a:off x="5261791" y="3444897"/>
            <a:ext cx="7764409" cy="618801"/>
            <a:chOff x="0" y="0"/>
            <a:chExt cx="10352545" cy="825068"/>
          </a:xfrm>
        </p:grpSpPr>
        <p:sp>
          <p:nvSpPr>
            <p:cNvPr name="Freeform 4" id="4"/>
            <p:cNvSpPr/>
            <p:nvPr/>
          </p:nvSpPr>
          <p:spPr>
            <a:xfrm flipH="false" flipV="false" rot="0">
              <a:off x="0" y="0"/>
              <a:ext cx="10352532" cy="824992"/>
            </a:xfrm>
            <a:custGeom>
              <a:avLst/>
              <a:gdLst/>
              <a:ahLst/>
              <a:cxnLst/>
              <a:rect r="r" b="b" t="t" l="l"/>
              <a:pathLst>
                <a:path h="824992" w="10352532">
                  <a:moveTo>
                    <a:pt x="9940036" y="0"/>
                  </a:moveTo>
                  <a:cubicBezTo>
                    <a:pt x="10167874" y="0"/>
                    <a:pt x="10352532" y="184658"/>
                    <a:pt x="10352532" y="412496"/>
                  </a:cubicBezTo>
                  <a:cubicBezTo>
                    <a:pt x="10352532" y="640334"/>
                    <a:pt x="10167874" y="824992"/>
                    <a:pt x="9940036"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5" id="5"/>
          <p:cNvGrpSpPr/>
          <p:nvPr/>
        </p:nvGrpSpPr>
        <p:grpSpPr>
          <a:xfrm rot="0">
            <a:off x="5261791" y="3401387"/>
            <a:ext cx="7764409" cy="662311"/>
            <a:chOff x="0" y="0"/>
            <a:chExt cx="10352545" cy="883082"/>
          </a:xfrm>
        </p:grpSpPr>
        <p:sp>
          <p:nvSpPr>
            <p:cNvPr name="Freeform 6" id="6"/>
            <p:cNvSpPr/>
            <p:nvPr/>
          </p:nvSpPr>
          <p:spPr>
            <a:xfrm flipH="false" flipV="false" rot="0">
              <a:off x="0" y="0"/>
              <a:ext cx="10352548" cy="883087"/>
            </a:xfrm>
            <a:custGeom>
              <a:avLst/>
              <a:gdLst/>
              <a:ahLst/>
              <a:cxnLst/>
              <a:rect r="r" b="b" t="t" l="l"/>
              <a:pathLst>
                <a:path h="883087" w="10352548">
                  <a:moveTo>
                    <a:pt x="0" y="0"/>
                  </a:moveTo>
                  <a:lnTo>
                    <a:pt x="10352548" y="0"/>
                  </a:lnTo>
                  <a:lnTo>
                    <a:pt x="10352548" y="883087"/>
                  </a:lnTo>
                  <a:lnTo>
                    <a:pt x="0" y="883087"/>
                  </a:lnTo>
                  <a:close/>
                </a:path>
              </a:pathLst>
            </a:custGeom>
            <a:blipFill>
              <a:blip r:embed="rId3">
                <a:alphaModFix amt="0"/>
              </a:blip>
              <a:stretch>
                <a:fillRect l="0" t="-178426" r="0" b="-178425"/>
              </a:stretch>
            </a:blipFill>
          </p:spPr>
        </p:sp>
        <p:sp>
          <p:nvSpPr>
            <p:cNvPr name="TextBox 7" id="7"/>
            <p:cNvSpPr txBox="true"/>
            <p:nvPr/>
          </p:nvSpPr>
          <p:spPr>
            <a:xfrm>
              <a:off x="0" y="-85725"/>
              <a:ext cx="10352545" cy="968807"/>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LABORATORIO SISTEMAS OPERATIVOS 2</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8809044" y="4635960"/>
            <a:ext cx="2311889" cy="1736541"/>
          </a:xfrm>
          <a:custGeom>
            <a:avLst/>
            <a:gdLst/>
            <a:ahLst/>
            <a:cxnLst/>
            <a:rect r="r" b="b" t="t" l="l"/>
            <a:pathLst>
              <a:path h="1736541" w="2311889">
                <a:moveTo>
                  <a:pt x="0" y="0"/>
                </a:moveTo>
                <a:lnTo>
                  <a:pt x="2311889" y="0"/>
                </a:lnTo>
                <a:lnTo>
                  <a:pt x="2311889" y="1736541"/>
                </a:lnTo>
                <a:lnTo>
                  <a:pt x="0" y="17365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45682" y="2262016"/>
            <a:ext cx="8602266" cy="6996284"/>
          </a:xfrm>
          <a:custGeom>
            <a:avLst/>
            <a:gdLst/>
            <a:ahLst/>
            <a:cxnLst/>
            <a:rect r="r" b="b" t="t" l="l"/>
            <a:pathLst>
              <a:path h="6996284" w="8602266">
                <a:moveTo>
                  <a:pt x="0" y="0"/>
                </a:moveTo>
                <a:lnTo>
                  <a:pt x="8602266" y="0"/>
                </a:lnTo>
                <a:lnTo>
                  <a:pt x="8602266" y="6996284"/>
                </a:lnTo>
                <a:lnTo>
                  <a:pt x="0" y="69962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8340061" y="2262016"/>
            <a:ext cx="8602266" cy="3027150"/>
          </a:xfrm>
          <a:custGeom>
            <a:avLst/>
            <a:gdLst/>
            <a:ahLst/>
            <a:cxnLst/>
            <a:rect r="r" b="b" t="t" l="l"/>
            <a:pathLst>
              <a:path h="3027150" w="8602266">
                <a:moveTo>
                  <a:pt x="0" y="0"/>
                </a:moveTo>
                <a:lnTo>
                  <a:pt x="8602266" y="0"/>
                </a:lnTo>
                <a:lnTo>
                  <a:pt x="8602266" y="3027150"/>
                </a:lnTo>
                <a:lnTo>
                  <a:pt x="0" y="30271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9936280" y="5180667"/>
            <a:ext cx="4052202" cy="2248395"/>
          </a:xfrm>
          <a:custGeom>
            <a:avLst/>
            <a:gdLst/>
            <a:ahLst/>
            <a:cxnLst/>
            <a:rect r="r" b="b" t="t" l="l"/>
            <a:pathLst>
              <a:path h="2248395" w="4052202">
                <a:moveTo>
                  <a:pt x="0" y="0"/>
                </a:moveTo>
                <a:lnTo>
                  <a:pt x="4052202" y="0"/>
                </a:lnTo>
                <a:lnTo>
                  <a:pt x="4052202" y="2248395"/>
                </a:lnTo>
                <a:lnTo>
                  <a:pt x="0" y="224839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0379221" y="5523567"/>
            <a:ext cx="6563106" cy="3734733"/>
          </a:xfrm>
          <a:custGeom>
            <a:avLst/>
            <a:gdLst/>
            <a:ahLst/>
            <a:cxnLst/>
            <a:rect r="r" b="b" t="t" l="l"/>
            <a:pathLst>
              <a:path h="3734733" w="6563106">
                <a:moveTo>
                  <a:pt x="0" y="0"/>
                </a:moveTo>
                <a:lnTo>
                  <a:pt x="6563106" y="0"/>
                </a:lnTo>
                <a:lnTo>
                  <a:pt x="6563106" y="3734733"/>
                </a:lnTo>
                <a:lnTo>
                  <a:pt x="0" y="37347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7" id="7"/>
          <p:cNvGrpSpPr/>
          <p:nvPr/>
        </p:nvGrpSpPr>
        <p:grpSpPr>
          <a:xfrm rot="0">
            <a:off x="10862234" y="5917816"/>
            <a:ext cx="5486971" cy="3086424"/>
            <a:chOff x="0" y="0"/>
            <a:chExt cx="7315962" cy="4115232"/>
          </a:xfrm>
        </p:grpSpPr>
        <p:sp>
          <p:nvSpPr>
            <p:cNvPr name="Freeform 8" id="8"/>
            <p:cNvSpPr/>
            <p:nvPr/>
          </p:nvSpPr>
          <p:spPr>
            <a:xfrm flipH="false" flipV="false" rot="0">
              <a:off x="0" y="0"/>
              <a:ext cx="7315962" cy="4115181"/>
            </a:xfrm>
            <a:custGeom>
              <a:avLst/>
              <a:gdLst/>
              <a:ahLst/>
              <a:cxnLst/>
              <a:rect r="r" b="b" t="t" l="l"/>
              <a:pathLst>
                <a:path h="4115181" w="7315962">
                  <a:moveTo>
                    <a:pt x="0" y="0"/>
                  </a:moveTo>
                  <a:lnTo>
                    <a:pt x="7315962" y="0"/>
                  </a:lnTo>
                  <a:lnTo>
                    <a:pt x="7315962" y="4115181"/>
                  </a:lnTo>
                  <a:lnTo>
                    <a:pt x="0" y="4115181"/>
                  </a:lnTo>
                  <a:lnTo>
                    <a:pt x="0" y="0"/>
                  </a:lnTo>
                  <a:close/>
                </a:path>
              </a:pathLst>
            </a:custGeom>
            <a:blipFill>
              <a:blip r:embed="rId13"/>
              <a:stretch>
                <a:fillRect l="0" t="0" r="0" b="-1"/>
              </a:stretch>
            </a:blipFill>
          </p:spPr>
        </p:sp>
      </p:grpSp>
      <p:sp>
        <p:nvSpPr>
          <p:cNvPr name="TextBox 9" id="9"/>
          <p:cNvSpPr txBox="true"/>
          <p:nvPr/>
        </p:nvSpPr>
        <p:spPr>
          <a:xfrm rot="0">
            <a:off x="1763506" y="2550414"/>
            <a:ext cx="14585709" cy="2214877"/>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La protección se refiere a un mecanismo para controlar el acceso de programas, procesos o usuarios a los recursos definidos por un sistema informático. </a:t>
            </a:r>
          </a:p>
          <a:p>
            <a:pPr algn="l">
              <a:lnSpc>
                <a:spcPts val="2183"/>
              </a:lnSpc>
            </a:pPr>
          </a:p>
          <a:p>
            <a:pPr algn="l">
              <a:lnSpc>
                <a:spcPts val="4056"/>
              </a:lnSpc>
            </a:pPr>
            <a:r>
              <a:rPr lang="en-US" sz="2600">
                <a:solidFill>
                  <a:srgbClr val="FFFFFF"/>
                </a:solidFill>
                <a:latin typeface="Montserrat"/>
                <a:ea typeface="Montserrat"/>
                <a:cs typeface="Montserrat"/>
                <a:sym typeface="Montserrat"/>
              </a:rPr>
              <a:t>Este mecanismo debe proporcionar un medio para especificar los controles que se impondrán, junto con un medio para hacer cumplirlos.</a:t>
            </a:r>
          </a:p>
        </p:txBody>
      </p:sp>
      <p:sp>
        <p:nvSpPr>
          <p:cNvPr name="TextBox 10" id="10"/>
          <p:cNvSpPr txBox="true"/>
          <p:nvPr/>
        </p:nvSpPr>
        <p:spPr>
          <a:xfrm rot="0">
            <a:off x="6073340" y="929507"/>
            <a:ext cx="6141329" cy="1191768"/>
          </a:xfrm>
          <a:prstGeom prst="rect">
            <a:avLst/>
          </a:prstGeom>
        </p:spPr>
        <p:txBody>
          <a:bodyPr anchor="t" rtlCol="false" tIns="0" lIns="0" bIns="0" rIns="0">
            <a:spAutoFit/>
          </a:bodyPr>
          <a:lstStyle/>
          <a:p>
            <a:pPr algn="l">
              <a:lnSpc>
                <a:spcPts val="9581"/>
              </a:lnSpc>
            </a:pPr>
            <a:r>
              <a:rPr lang="en-US" sz="6598">
                <a:solidFill>
                  <a:srgbClr val="FFFFFF"/>
                </a:solidFill>
                <a:latin typeface="Arial"/>
                <a:ea typeface="Arial"/>
                <a:cs typeface="Arial"/>
                <a:sym typeface="Arial"/>
              </a:rPr>
              <a:t>PROTECCIÓN</a:t>
            </a:r>
          </a:p>
        </p:txBody>
      </p:sp>
      <p:sp>
        <p:nvSpPr>
          <p:cNvPr name="TextBox 11" id="11"/>
          <p:cNvSpPr txBox="true"/>
          <p:nvPr/>
        </p:nvSpPr>
        <p:spPr>
          <a:xfrm rot="0">
            <a:off x="1763506" y="5074853"/>
            <a:ext cx="7877461" cy="3929377"/>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La protección se concibió originalmente como un complemento de los sistemas operativos de multiprogramación, de modo que los usuarios no confiables pudieran compartir de manera segura un espacio de nombres lógico común, como un directorio de archivos, o compartir un espacio de nombres físico común, como la memoria.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2774499" y="3128524"/>
            <a:ext cx="2307946" cy="2307946"/>
          </a:xfrm>
          <a:custGeom>
            <a:avLst/>
            <a:gdLst/>
            <a:ahLst/>
            <a:cxnLst/>
            <a:rect r="r" b="b" t="t" l="l"/>
            <a:pathLst>
              <a:path h="2307946" w="2307946">
                <a:moveTo>
                  <a:pt x="0" y="0"/>
                </a:moveTo>
                <a:lnTo>
                  <a:pt x="2307946" y="0"/>
                </a:lnTo>
                <a:lnTo>
                  <a:pt x="2307946" y="2307946"/>
                </a:lnTo>
                <a:lnTo>
                  <a:pt x="0" y="23079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rot="5347920">
            <a:off x="2671086" y="4688129"/>
            <a:ext cx="2514762" cy="0"/>
          </a:xfrm>
          <a:prstGeom prst="line">
            <a:avLst/>
          </a:prstGeom>
          <a:ln cap="rnd" w="28575">
            <a:solidFill>
              <a:srgbClr val="5CD9C1"/>
            </a:solidFill>
            <a:prstDash val="solid"/>
            <a:headEnd type="none" len="sm" w="sm"/>
            <a:tailEnd type="oval" len="lg" w="lg"/>
          </a:ln>
        </p:spPr>
      </p:sp>
      <p:sp>
        <p:nvSpPr>
          <p:cNvPr name="Freeform 4" id="4"/>
          <p:cNvSpPr/>
          <p:nvPr/>
        </p:nvSpPr>
        <p:spPr>
          <a:xfrm flipH="false" flipV="false" rot="0">
            <a:off x="3563045" y="2763098"/>
            <a:ext cx="730853" cy="730853"/>
          </a:xfrm>
          <a:custGeom>
            <a:avLst/>
            <a:gdLst/>
            <a:ahLst/>
            <a:cxnLst/>
            <a:rect r="r" b="b" t="t" l="l"/>
            <a:pathLst>
              <a:path h="730853" w="730853">
                <a:moveTo>
                  <a:pt x="0" y="0"/>
                </a:moveTo>
                <a:lnTo>
                  <a:pt x="730854" y="0"/>
                </a:lnTo>
                <a:lnTo>
                  <a:pt x="730854" y="730853"/>
                </a:lnTo>
                <a:lnTo>
                  <a:pt x="0" y="7308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5" id="5"/>
          <p:cNvSpPr/>
          <p:nvPr/>
        </p:nvSpPr>
        <p:spPr>
          <a:xfrm rot="5394240">
            <a:off x="3702253" y="5652726"/>
            <a:ext cx="5669470" cy="0"/>
          </a:xfrm>
          <a:prstGeom prst="line">
            <a:avLst/>
          </a:prstGeom>
          <a:ln cap="rnd" w="9525">
            <a:solidFill>
              <a:srgbClr val="5170FF"/>
            </a:solidFill>
            <a:prstDash val="solid"/>
            <a:headEnd type="none" len="sm" w="sm"/>
            <a:tailEnd type="none" len="sm" w="sm"/>
          </a:ln>
        </p:spPr>
      </p:sp>
      <p:sp>
        <p:nvSpPr>
          <p:cNvPr name="AutoShape 6" id="6"/>
          <p:cNvSpPr/>
          <p:nvPr/>
        </p:nvSpPr>
        <p:spPr>
          <a:xfrm rot="5347920">
            <a:off x="7886614" y="4688129"/>
            <a:ext cx="2514762" cy="0"/>
          </a:xfrm>
          <a:prstGeom prst="line">
            <a:avLst/>
          </a:prstGeom>
          <a:ln cap="rnd" w="28575">
            <a:solidFill>
              <a:srgbClr val="B084CC"/>
            </a:solidFill>
            <a:prstDash val="solid"/>
            <a:headEnd type="none" len="sm" w="sm"/>
            <a:tailEnd type="oval" len="lg" w="lg"/>
          </a:ln>
        </p:spPr>
      </p:sp>
      <p:sp>
        <p:nvSpPr>
          <p:cNvPr name="Freeform 7" id="7"/>
          <p:cNvSpPr/>
          <p:nvPr/>
        </p:nvSpPr>
        <p:spPr>
          <a:xfrm flipH="false" flipV="false" rot="0">
            <a:off x="7990027" y="3128524"/>
            <a:ext cx="2307946" cy="2307946"/>
          </a:xfrm>
          <a:custGeom>
            <a:avLst/>
            <a:gdLst/>
            <a:ahLst/>
            <a:cxnLst/>
            <a:rect r="r" b="b" t="t" l="l"/>
            <a:pathLst>
              <a:path h="2307946" w="2307946">
                <a:moveTo>
                  <a:pt x="0" y="0"/>
                </a:moveTo>
                <a:lnTo>
                  <a:pt x="2307946" y="0"/>
                </a:lnTo>
                <a:lnTo>
                  <a:pt x="2307946" y="2307946"/>
                </a:lnTo>
                <a:lnTo>
                  <a:pt x="0" y="2307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8778573" y="2763098"/>
            <a:ext cx="730853" cy="730853"/>
          </a:xfrm>
          <a:custGeom>
            <a:avLst/>
            <a:gdLst/>
            <a:ahLst/>
            <a:cxnLst/>
            <a:rect r="r" b="b" t="t" l="l"/>
            <a:pathLst>
              <a:path h="730853" w="730853">
                <a:moveTo>
                  <a:pt x="0" y="0"/>
                </a:moveTo>
                <a:lnTo>
                  <a:pt x="730854" y="0"/>
                </a:lnTo>
                <a:lnTo>
                  <a:pt x="730854" y="730853"/>
                </a:lnTo>
                <a:lnTo>
                  <a:pt x="0" y="7308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9" id="9"/>
          <p:cNvSpPr/>
          <p:nvPr/>
        </p:nvSpPr>
        <p:spPr>
          <a:xfrm rot="5394240">
            <a:off x="8917781" y="5652726"/>
            <a:ext cx="5669470" cy="0"/>
          </a:xfrm>
          <a:prstGeom prst="line">
            <a:avLst/>
          </a:prstGeom>
          <a:ln cap="rnd" w="9525">
            <a:solidFill>
              <a:srgbClr val="5170FF"/>
            </a:solidFill>
            <a:prstDash val="solid"/>
            <a:headEnd type="none" len="sm" w="sm"/>
            <a:tailEnd type="none" len="sm" w="sm"/>
          </a:ln>
        </p:spPr>
      </p:sp>
      <p:sp>
        <p:nvSpPr>
          <p:cNvPr name="Freeform 10" id="10"/>
          <p:cNvSpPr/>
          <p:nvPr/>
        </p:nvSpPr>
        <p:spPr>
          <a:xfrm flipH="false" flipV="false" rot="0">
            <a:off x="13205555" y="3192942"/>
            <a:ext cx="2307946" cy="2307946"/>
          </a:xfrm>
          <a:custGeom>
            <a:avLst/>
            <a:gdLst/>
            <a:ahLst/>
            <a:cxnLst/>
            <a:rect r="r" b="b" t="t" l="l"/>
            <a:pathLst>
              <a:path h="2307946" w="2307946">
                <a:moveTo>
                  <a:pt x="0" y="0"/>
                </a:moveTo>
                <a:lnTo>
                  <a:pt x="2307946" y="0"/>
                </a:lnTo>
                <a:lnTo>
                  <a:pt x="2307946" y="2307946"/>
                </a:lnTo>
                <a:lnTo>
                  <a:pt x="0" y="23079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11" id="11"/>
          <p:cNvSpPr/>
          <p:nvPr/>
        </p:nvSpPr>
        <p:spPr>
          <a:xfrm rot="5347920">
            <a:off x="13102142" y="4752546"/>
            <a:ext cx="2514762" cy="0"/>
          </a:xfrm>
          <a:prstGeom prst="line">
            <a:avLst/>
          </a:prstGeom>
          <a:ln cap="rnd" w="28575">
            <a:solidFill>
              <a:srgbClr val="FF914D"/>
            </a:solidFill>
            <a:prstDash val="solid"/>
            <a:headEnd type="none" len="sm" w="sm"/>
            <a:tailEnd type="oval" len="lg" w="lg"/>
          </a:ln>
        </p:spPr>
      </p:sp>
      <p:sp>
        <p:nvSpPr>
          <p:cNvPr name="Freeform 12" id="12"/>
          <p:cNvSpPr/>
          <p:nvPr/>
        </p:nvSpPr>
        <p:spPr>
          <a:xfrm flipH="false" flipV="false" rot="0">
            <a:off x="13994101" y="2827515"/>
            <a:ext cx="730853" cy="730853"/>
          </a:xfrm>
          <a:custGeom>
            <a:avLst/>
            <a:gdLst/>
            <a:ahLst/>
            <a:cxnLst/>
            <a:rect r="r" b="b" t="t" l="l"/>
            <a:pathLst>
              <a:path h="730853" w="730853">
                <a:moveTo>
                  <a:pt x="0" y="0"/>
                </a:moveTo>
                <a:lnTo>
                  <a:pt x="730854" y="0"/>
                </a:lnTo>
                <a:lnTo>
                  <a:pt x="730854"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3152423" y="3679117"/>
            <a:ext cx="1552099" cy="1206751"/>
            <a:chOff x="0" y="0"/>
            <a:chExt cx="2069465" cy="1609001"/>
          </a:xfrm>
        </p:grpSpPr>
        <p:sp>
          <p:nvSpPr>
            <p:cNvPr name="Freeform 14" id="14"/>
            <p:cNvSpPr/>
            <p:nvPr/>
          </p:nvSpPr>
          <p:spPr>
            <a:xfrm flipH="false" flipV="false" rot="0">
              <a:off x="0" y="0"/>
              <a:ext cx="2069465" cy="1608963"/>
            </a:xfrm>
            <a:custGeom>
              <a:avLst/>
              <a:gdLst/>
              <a:ahLst/>
              <a:cxnLst/>
              <a:rect r="r" b="b" t="t" l="l"/>
              <a:pathLst>
                <a:path h="1608963" w="2069465">
                  <a:moveTo>
                    <a:pt x="0" y="0"/>
                  </a:moveTo>
                  <a:lnTo>
                    <a:pt x="2069465" y="0"/>
                  </a:lnTo>
                  <a:lnTo>
                    <a:pt x="2069465" y="1608963"/>
                  </a:lnTo>
                  <a:lnTo>
                    <a:pt x="0" y="1608963"/>
                  </a:lnTo>
                  <a:lnTo>
                    <a:pt x="0" y="0"/>
                  </a:lnTo>
                  <a:close/>
                </a:path>
              </a:pathLst>
            </a:custGeom>
            <a:blipFill>
              <a:blip r:embed="rId11"/>
              <a:stretch>
                <a:fillRect l="0" t="-18" r="0" b="-20"/>
              </a:stretch>
            </a:blipFill>
          </p:spPr>
        </p:sp>
      </p:grpSp>
      <p:grpSp>
        <p:nvGrpSpPr>
          <p:cNvPr name="Group 15" id="15"/>
          <p:cNvGrpSpPr/>
          <p:nvPr/>
        </p:nvGrpSpPr>
        <p:grpSpPr>
          <a:xfrm rot="0">
            <a:off x="8364912" y="3741029"/>
            <a:ext cx="1558185" cy="1082935"/>
            <a:chOff x="0" y="0"/>
            <a:chExt cx="2077580" cy="1443914"/>
          </a:xfrm>
        </p:grpSpPr>
        <p:sp>
          <p:nvSpPr>
            <p:cNvPr name="Freeform 16" id="16"/>
            <p:cNvSpPr/>
            <p:nvPr/>
          </p:nvSpPr>
          <p:spPr>
            <a:xfrm flipH="false" flipV="false" rot="0">
              <a:off x="0" y="0"/>
              <a:ext cx="2077593" cy="1443863"/>
            </a:xfrm>
            <a:custGeom>
              <a:avLst/>
              <a:gdLst/>
              <a:ahLst/>
              <a:cxnLst/>
              <a:rect r="r" b="b" t="t" l="l"/>
              <a:pathLst>
                <a:path h="1443863" w="2077593">
                  <a:moveTo>
                    <a:pt x="0" y="0"/>
                  </a:moveTo>
                  <a:lnTo>
                    <a:pt x="2077593" y="0"/>
                  </a:lnTo>
                  <a:lnTo>
                    <a:pt x="2077593" y="1443863"/>
                  </a:lnTo>
                  <a:lnTo>
                    <a:pt x="0" y="1443863"/>
                  </a:lnTo>
                  <a:lnTo>
                    <a:pt x="0" y="0"/>
                  </a:lnTo>
                  <a:close/>
                </a:path>
              </a:pathLst>
            </a:custGeom>
            <a:blipFill>
              <a:blip r:embed="rId12"/>
              <a:stretch>
                <a:fillRect l="-6" t="0" r="-5" b="-3"/>
              </a:stretch>
            </a:blipFill>
          </p:spPr>
        </p:sp>
      </p:grpSp>
      <p:grpSp>
        <p:nvGrpSpPr>
          <p:cNvPr name="Group 17" id="17"/>
          <p:cNvGrpSpPr/>
          <p:nvPr/>
        </p:nvGrpSpPr>
        <p:grpSpPr>
          <a:xfrm rot="0">
            <a:off x="13705180" y="3692566"/>
            <a:ext cx="1308697" cy="1308697"/>
            <a:chOff x="0" y="0"/>
            <a:chExt cx="1744929" cy="1744929"/>
          </a:xfrm>
        </p:grpSpPr>
        <p:sp>
          <p:nvSpPr>
            <p:cNvPr name="Freeform 18" id="18"/>
            <p:cNvSpPr/>
            <p:nvPr/>
          </p:nvSpPr>
          <p:spPr>
            <a:xfrm flipH="false" flipV="false" rot="0">
              <a:off x="0" y="0"/>
              <a:ext cx="1744980" cy="1744980"/>
            </a:xfrm>
            <a:custGeom>
              <a:avLst/>
              <a:gdLst/>
              <a:ahLst/>
              <a:cxnLst/>
              <a:rect r="r" b="b" t="t" l="l"/>
              <a:pathLst>
                <a:path h="1744980" w="1744980">
                  <a:moveTo>
                    <a:pt x="0" y="0"/>
                  </a:moveTo>
                  <a:lnTo>
                    <a:pt x="1744980" y="0"/>
                  </a:lnTo>
                  <a:lnTo>
                    <a:pt x="1744980" y="1744980"/>
                  </a:lnTo>
                  <a:lnTo>
                    <a:pt x="0" y="1744980"/>
                  </a:lnTo>
                  <a:lnTo>
                    <a:pt x="0" y="0"/>
                  </a:lnTo>
                  <a:close/>
                </a:path>
              </a:pathLst>
            </a:custGeom>
            <a:blipFill>
              <a:blip r:embed="rId13"/>
              <a:stretch>
                <a:fillRect l="0" t="0" r="2" b="2"/>
              </a:stretch>
            </a:blipFill>
          </p:spPr>
        </p:sp>
      </p:grpSp>
      <p:sp>
        <p:nvSpPr>
          <p:cNvPr name="TextBox 19" id="19"/>
          <p:cNvSpPr txBox="true"/>
          <p:nvPr/>
        </p:nvSpPr>
        <p:spPr>
          <a:xfrm rot="0">
            <a:off x="1783423" y="6214567"/>
            <a:ext cx="4290089" cy="2520953"/>
          </a:xfrm>
          <a:prstGeom prst="rect">
            <a:avLst/>
          </a:prstGeom>
        </p:spPr>
        <p:txBody>
          <a:bodyPr anchor="t" rtlCol="false" tIns="0" lIns="0" bIns="0" rIns="0">
            <a:spAutoFit/>
          </a:bodyPr>
          <a:lstStyle/>
          <a:p>
            <a:pPr algn="ctr">
              <a:lnSpc>
                <a:spcPts val="3898"/>
              </a:lnSpc>
            </a:pPr>
            <a:r>
              <a:rPr lang="en-US" sz="2499">
                <a:solidFill>
                  <a:srgbClr val="FFFFFF"/>
                </a:solidFill>
                <a:latin typeface="Montserrat"/>
                <a:ea typeface="Montserrat"/>
                <a:cs typeface="Montserrat"/>
                <a:sym typeface="Montserrat"/>
              </a:rPr>
              <a:t>La más obvia es la necesidad de evitar la violación intencionada y maliciosa de una restricción de acceso por parte de un usuario.</a:t>
            </a:r>
          </a:p>
        </p:txBody>
      </p:sp>
      <p:sp>
        <p:nvSpPr>
          <p:cNvPr name="TextBox 20" id="20"/>
          <p:cNvSpPr txBox="true"/>
          <p:nvPr/>
        </p:nvSpPr>
        <p:spPr>
          <a:xfrm rot="0">
            <a:off x="3638369" y="2833449"/>
            <a:ext cx="580196" cy="466315"/>
          </a:xfrm>
          <a:prstGeom prst="rect">
            <a:avLst/>
          </a:prstGeom>
        </p:spPr>
        <p:txBody>
          <a:bodyPr anchor="t" rtlCol="false" tIns="0" lIns="0" bIns="0" rIns="0">
            <a:spAutoFit/>
          </a:bodyPr>
          <a:lstStyle/>
          <a:p>
            <a:pPr algn="ctr">
              <a:lnSpc>
                <a:spcPts val="3557"/>
              </a:lnSpc>
            </a:pPr>
            <a:r>
              <a:rPr lang="en-US" b="true" sz="2279">
                <a:solidFill>
                  <a:srgbClr val="24B296"/>
                </a:solidFill>
                <a:latin typeface="Arial Bold"/>
                <a:ea typeface="Arial Bold"/>
                <a:cs typeface="Arial Bold"/>
                <a:sym typeface="Arial Bold"/>
              </a:rPr>
              <a:t>01</a:t>
            </a:r>
          </a:p>
        </p:txBody>
      </p:sp>
      <p:sp>
        <p:nvSpPr>
          <p:cNvPr name="TextBox 21" id="21"/>
          <p:cNvSpPr txBox="true"/>
          <p:nvPr/>
        </p:nvSpPr>
        <p:spPr>
          <a:xfrm rot="0">
            <a:off x="6998951" y="6370149"/>
            <a:ext cx="4290089" cy="3037837"/>
          </a:xfrm>
          <a:prstGeom prst="rect">
            <a:avLst/>
          </a:prstGeom>
        </p:spPr>
        <p:txBody>
          <a:bodyPr anchor="t" rtlCol="false" tIns="0" lIns="0" bIns="0" rIns="0">
            <a:spAutoFit/>
          </a:bodyPr>
          <a:lstStyle/>
          <a:p>
            <a:pPr algn="ctr">
              <a:lnSpc>
                <a:spcPts val="3586"/>
              </a:lnSpc>
            </a:pPr>
            <a:r>
              <a:rPr lang="en-US" sz="2299">
                <a:solidFill>
                  <a:srgbClr val="FFFFFF"/>
                </a:solidFill>
                <a:latin typeface="Montserrat"/>
                <a:ea typeface="Montserrat"/>
                <a:cs typeface="Montserrat"/>
                <a:sym typeface="Montserrat"/>
              </a:rPr>
              <a:t>Asegurar que cada componente del programa activo en un sistema utilice los recursos del sistema sólo de manera consistente con las políticas establecidas.</a:t>
            </a:r>
          </a:p>
        </p:txBody>
      </p:sp>
      <p:sp>
        <p:nvSpPr>
          <p:cNvPr name="TextBox 22" id="22"/>
          <p:cNvSpPr txBox="true"/>
          <p:nvPr/>
        </p:nvSpPr>
        <p:spPr>
          <a:xfrm rot="0">
            <a:off x="8853897" y="2833440"/>
            <a:ext cx="580196" cy="466334"/>
          </a:xfrm>
          <a:prstGeom prst="rect">
            <a:avLst/>
          </a:prstGeom>
        </p:spPr>
        <p:txBody>
          <a:bodyPr anchor="t" rtlCol="false" tIns="0" lIns="0" bIns="0" rIns="0">
            <a:spAutoFit/>
          </a:bodyPr>
          <a:lstStyle/>
          <a:p>
            <a:pPr algn="ctr">
              <a:lnSpc>
                <a:spcPts val="3557"/>
              </a:lnSpc>
            </a:pPr>
            <a:r>
              <a:rPr lang="en-US" b="true" sz="2279">
                <a:solidFill>
                  <a:srgbClr val="B084CC"/>
                </a:solidFill>
                <a:latin typeface="Arial Bold"/>
                <a:ea typeface="Arial Bold"/>
                <a:cs typeface="Arial Bold"/>
                <a:sym typeface="Arial Bold"/>
              </a:rPr>
              <a:t>02</a:t>
            </a:r>
          </a:p>
        </p:txBody>
      </p:sp>
      <p:sp>
        <p:nvSpPr>
          <p:cNvPr name="TextBox 23" id="23"/>
          <p:cNvSpPr txBox="true"/>
          <p:nvPr/>
        </p:nvSpPr>
        <p:spPr>
          <a:xfrm rot="0">
            <a:off x="12214489" y="6370149"/>
            <a:ext cx="4290089" cy="1701803"/>
          </a:xfrm>
          <a:prstGeom prst="rect">
            <a:avLst/>
          </a:prstGeom>
        </p:spPr>
        <p:txBody>
          <a:bodyPr anchor="t" rtlCol="false" tIns="0" lIns="0" bIns="0" rIns="0">
            <a:spAutoFit/>
          </a:bodyPr>
          <a:lstStyle/>
          <a:p>
            <a:pPr algn="ctr">
              <a:lnSpc>
                <a:spcPts val="3898"/>
              </a:lnSpc>
            </a:pPr>
            <a:r>
              <a:rPr lang="en-US" sz="2499">
                <a:solidFill>
                  <a:srgbClr val="FFFFFF"/>
                </a:solidFill>
                <a:latin typeface="Montserrat"/>
                <a:ea typeface="Montserrat"/>
                <a:cs typeface="Montserrat"/>
                <a:sym typeface="Montserrat"/>
              </a:rPr>
              <a:t>Detección de errores latentes en las interfaces</a:t>
            </a:r>
          </a:p>
          <a:p>
            <a:pPr algn="ctr">
              <a:lnSpc>
                <a:spcPts val="3898"/>
              </a:lnSpc>
            </a:pPr>
            <a:r>
              <a:rPr lang="en-US" sz="2499">
                <a:solidFill>
                  <a:srgbClr val="FFFFFF"/>
                </a:solidFill>
                <a:latin typeface="Montserrat"/>
                <a:ea typeface="Montserrat"/>
                <a:cs typeface="Montserrat"/>
                <a:sym typeface="Montserrat"/>
              </a:rPr>
              <a:t>entre componentes.</a:t>
            </a:r>
          </a:p>
        </p:txBody>
      </p:sp>
      <p:sp>
        <p:nvSpPr>
          <p:cNvPr name="TextBox 24" id="24"/>
          <p:cNvSpPr txBox="true"/>
          <p:nvPr/>
        </p:nvSpPr>
        <p:spPr>
          <a:xfrm rot="0">
            <a:off x="14069435" y="2897857"/>
            <a:ext cx="580196" cy="466334"/>
          </a:xfrm>
          <a:prstGeom prst="rect">
            <a:avLst/>
          </a:prstGeom>
        </p:spPr>
        <p:txBody>
          <a:bodyPr anchor="t" rtlCol="false" tIns="0" lIns="0" bIns="0" rIns="0">
            <a:spAutoFit/>
          </a:bodyPr>
          <a:lstStyle/>
          <a:p>
            <a:pPr algn="ctr">
              <a:lnSpc>
                <a:spcPts val="3557"/>
              </a:lnSpc>
            </a:pPr>
            <a:r>
              <a:rPr lang="en-US" b="true" sz="2279">
                <a:solidFill>
                  <a:srgbClr val="FF914D"/>
                </a:solidFill>
                <a:latin typeface="Arial Bold"/>
                <a:ea typeface="Arial Bold"/>
                <a:cs typeface="Arial Bold"/>
                <a:sym typeface="Arial Bold"/>
              </a:rPr>
              <a:t>03</a:t>
            </a:r>
          </a:p>
        </p:txBody>
      </p:sp>
      <p:sp>
        <p:nvSpPr>
          <p:cNvPr name="TextBox 25" id="25"/>
          <p:cNvSpPr txBox="true"/>
          <p:nvPr/>
        </p:nvSpPr>
        <p:spPr>
          <a:xfrm rot="0">
            <a:off x="2641768" y="1112091"/>
            <a:ext cx="13004463" cy="908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OBJETIVOS DE LA PROTECCIÓN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789546" y="3472329"/>
            <a:ext cx="6585880" cy="5664079"/>
          </a:xfrm>
          <a:custGeom>
            <a:avLst/>
            <a:gdLst/>
            <a:ahLst/>
            <a:cxnLst/>
            <a:rect r="r" b="b" t="t" l="l"/>
            <a:pathLst>
              <a:path h="5664079" w="6585880">
                <a:moveTo>
                  <a:pt x="0" y="0"/>
                </a:moveTo>
                <a:lnTo>
                  <a:pt x="6585881" y="0"/>
                </a:lnTo>
                <a:lnTo>
                  <a:pt x="6585881" y="5664080"/>
                </a:lnTo>
                <a:lnTo>
                  <a:pt x="0" y="56640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844752" y="1042092"/>
            <a:ext cx="9653711" cy="8094326"/>
          </a:xfrm>
          <a:custGeom>
            <a:avLst/>
            <a:gdLst/>
            <a:ahLst/>
            <a:cxnLst/>
            <a:rect r="r" b="b" t="t" l="l"/>
            <a:pathLst>
              <a:path h="8094326" w="9653711">
                <a:moveTo>
                  <a:pt x="0" y="0"/>
                </a:moveTo>
                <a:lnTo>
                  <a:pt x="9653711" y="0"/>
                </a:lnTo>
                <a:lnTo>
                  <a:pt x="9653711" y="8094326"/>
                </a:lnTo>
                <a:lnTo>
                  <a:pt x="0" y="809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016462" y="3879990"/>
            <a:ext cx="3887181" cy="4683357"/>
            <a:chOff x="0" y="0"/>
            <a:chExt cx="5182908" cy="6244476"/>
          </a:xfrm>
        </p:grpSpPr>
        <p:sp>
          <p:nvSpPr>
            <p:cNvPr name="Freeform 7" id="7"/>
            <p:cNvSpPr/>
            <p:nvPr/>
          </p:nvSpPr>
          <p:spPr>
            <a:xfrm flipH="false" flipV="false" rot="0">
              <a:off x="0" y="0"/>
              <a:ext cx="5182870" cy="6244463"/>
            </a:xfrm>
            <a:custGeom>
              <a:avLst/>
              <a:gdLst/>
              <a:ahLst/>
              <a:cxnLst/>
              <a:rect r="r" b="b" t="t" l="l"/>
              <a:pathLst>
                <a:path h="6244463" w="5182870">
                  <a:moveTo>
                    <a:pt x="0" y="0"/>
                  </a:moveTo>
                  <a:lnTo>
                    <a:pt x="5182870" y="0"/>
                  </a:lnTo>
                  <a:lnTo>
                    <a:pt x="5182870" y="6244463"/>
                  </a:lnTo>
                  <a:lnTo>
                    <a:pt x="0" y="6244463"/>
                  </a:lnTo>
                  <a:lnTo>
                    <a:pt x="0" y="0"/>
                  </a:lnTo>
                  <a:close/>
                </a:path>
              </a:pathLst>
            </a:custGeom>
            <a:blipFill>
              <a:blip r:embed="rId8"/>
              <a:stretch>
                <a:fillRect l="-14" t="0" r="-15" b="0"/>
              </a:stretch>
            </a:blipFill>
          </p:spPr>
        </p:sp>
      </p:grpSp>
      <p:sp>
        <p:nvSpPr>
          <p:cNvPr name="TextBox 8" id="8"/>
          <p:cNvSpPr txBox="true"/>
          <p:nvPr/>
        </p:nvSpPr>
        <p:spPr>
          <a:xfrm rot="0">
            <a:off x="8685838" y="1626232"/>
            <a:ext cx="7971539" cy="6929752"/>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Un principio rector de protección clave y probado en el tiempo es el </a:t>
            </a:r>
            <a:r>
              <a:rPr lang="en-US" sz="2600">
                <a:solidFill>
                  <a:srgbClr val="FF914D"/>
                </a:solidFill>
                <a:latin typeface="Montserrat"/>
                <a:ea typeface="Montserrat"/>
                <a:cs typeface="Montserrat"/>
                <a:sym typeface="Montserrat"/>
              </a:rPr>
              <a:t>principio de privilegio mínimo.</a:t>
            </a:r>
            <a:r>
              <a:rPr lang="en-US" sz="2600">
                <a:solidFill>
                  <a:srgbClr val="FFFFFF"/>
                </a:solidFill>
                <a:latin typeface="Montserrat"/>
                <a:ea typeface="Montserrat"/>
                <a:cs typeface="Montserrat"/>
                <a:sym typeface="Montserrat"/>
              </a:rPr>
              <a:t> Dicta que los programas, usuarios e incluso sistemas reciban los privilegios suficientes para realizar sus tareas.</a:t>
            </a:r>
          </a:p>
          <a:p>
            <a:pPr algn="l">
              <a:lnSpc>
                <a:spcPts val="2183"/>
              </a:lnSpc>
            </a:pPr>
          </a:p>
          <a:p>
            <a:pPr algn="l">
              <a:lnSpc>
                <a:spcPts val="4056"/>
              </a:lnSpc>
            </a:pPr>
            <a:r>
              <a:rPr lang="en-US" sz="2600">
                <a:solidFill>
                  <a:srgbClr val="FFFFFF"/>
                </a:solidFill>
                <a:latin typeface="Montserrat"/>
                <a:ea typeface="Montserrat"/>
                <a:cs typeface="Montserrat"/>
                <a:sym typeface="Montserrat"/>
              </a:rPr>
              <a:t>Considere la analogía de un guardia de seguridad con una llave maestra. Si esta llave permite al guardia entrar sólo a las áreas públicas que vigila, entonces el mal uso de la llave resultará en un daño mínimo. Sin embargo, si la clave permite el acceso a todas las áreas, entonces los posibles daños por la pérdida, robo, mal uso o copiado de esta serán mucho mayores.</a:t>
            </a:r>
          </a:p>
        </p:txBody>
      </p:sp>
      <p:sp>
        <p:nvSpPr>
          <p:cNvPr name="TextBox 9" id="9"/>
          <p:cNvSpPr txBox="true"/>
          <p:nvPr/>
        </p:nvSpPr>
        <p:spPr>
          <a:xfrm rot="0">
            <a:off x="909123" y="1239193"/>
            <a:ext cx="6346803" cy="2032425"/>
          </a:xfrm>
          <a:prstGeom prst="rect">
            <a:avLst/>
          </a:prstGeom>
        </p:spPr>
        <p:txBody>
          <a:bodyPr anchor="t" rtlCol="false" tIns="0" lIns="0" bIns="0" rIns="0">
            <a:spAutoFit/>
          </a:bodyPr>
          <a:lstStyle/>
          <a:p>
            <a:pPr algn="ctr">
              <a:lnSpc>
                <a:spcPts val="7984"/>
              </a:lnSpc>
            </a:pPr>
            <a:r>
              <a:rPr lang="en-US" sz="5498">
                <a:solidFill>
                  <a:srgbClr val="FFFFFF"/>
                </a:solidFill>
                <a:latin typeface="Arial"/>
                <a:ea typeface="Arial"/>
                <a:cs typeface="Arial"/>
                <a:sym typeface="Arial"/>
              </a:rPr>
              <a:t>PRINCIPIOS DE LA PROTECCIÓN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9392183" y="1042092"/>
            <a:ext cx="8085515" cy="4834623"/>
          </a:xfrm>
          <a:custGeom>
            <a:avLst/>
            <a:gdLst/>
            <a:ahLst/>
            <a:cxnLst/>
            <a:rect r="r" b="b" t="t" l="l"/>
            <a:pathLst>
              <a:path h="4834623" w="8085515">
                <a:moveTo>
                  <a:pt x="0" y="0"/>
                </a:moveTo>
                <a:lnTo>
                  <a:pt x="8085516" y="0"/>
                </a:lnTo>
                <a:lnTo>
                  <a:pt x="8085516" y="4834623"/>
                </a:lnTo>
                <a:lnTo>
                  <a:pt x="0" y="48346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0301" y="1042092"/>
            <a:ext cx="8191490" cy="8094326"/>
          </a:xfrm>
          <a:custGeom>
            <a:avLst/>
            <a:gdLst/>
            <a:ahLst/>
            <a:cxnLst/>
            <a:rect r="r" b="b" t="t" l="l"/>
            <a:pathLst>
              <a:path h="8094326" w="8191490">
                <a:moveTo>
                  <a:pt x="0" y="0"/>
                </a:moveTo>
                <a:lnTo>
                  <a:pt x="8191491" y="0"/>
                </a:lnTo>
                <a:lnTo>
                  <a:pt x="8191491" y="8094326"/>
                </a:lnTo>
                <a:lnTo>
                  <a:pt x="0" y="809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392183" y="6067654"/>
            <a:ext cx="8085515" cy="3068764"/>
          </a:xfrm>
          <a:custGeom>
            <a:avLst/>
            <a:gdLst/>
            <a:ahLst/>
            <a:cxnLst/>
            <a:rect r="r" b="b" t="t" l="l"/>
            <a:pathLst>
              <a:path h="3068764" w="8085515">
                <a:moveTo>
                  <a:pt x="0" y="0"/>
                </a:moveTo>
                <a:lnTo>
                  <a:pt x="8085516" y="0"/>
                </a:lnTo>
                <a:lnTo>
                  <a:pt x="8085516" y="3068764"/>
                </a:lnTo>
                <a:lnTo>
                  <a:pt x="0" y="30687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9859604" y="1677991"/>
            <a:ext cx="7150675" cy="3754107"/>
            <a:chOff x="0" y="0"/>
            <a:chExt cx="9534233" cy="5005476"/>
          </a:xfrm>
        </p:grpSpPr>
        <p:sp>
          <p:nvSpPr>
            <p:cNvPr name="Freeform 8" id="8"/>
            <p:cNvSpPr/>
            <p:nvPr/>
          </p:nvSpPr>
          <p:spPr>
            <a:xfrm flipH="false" flipV="false" rot="0">
              <a:off x="0" y="0"/>
              <a:ext cx="9534271" cy="5005451"/>
            </a:xfrm>
            <a:custGeom>
              <a:avLst/>
              <a:gdLst/>
              <a:ahLst/>
              <a:cxnLst/>
              <a:rect r="r" b="b" t="t" l="l"/>
              <a:pathLst>
                <a:path h="5005451" w="9534271">
                  <a:moveTo>
                    <a:pt x="0" y="0"/>
                  </a:moveTo>
                  <a:lnTo>
                    <a:pt x="9534271" y="0"/>
                  </a:lnTo>
                  <a:lnTo>
                    <a:pt x="9534271" y="5005451"/>
                  </a:lnTo>
                  <a:lnTo>
                    <a:pt x="0" y="5005451"/>
                  </a:lnTo>
                  <a:lnTo>
                    <a:pt x="0" y="0"/>
                  </a:lnTo>
                  <a:close/>
                </a:path>
              </a:pathLst>
            </a:custGeom>
            <a:blipFill>
              <a:blip r:embed="rId10"/>
              <a:stretch>
                <a:fillRect l="0" t="-44" r="0" b="-44"/>
              </a:stretch>
            </a:blipFill>
          </p:spPr>
        </p:sp>
      </p:grpSp>
      <p:sp>
        <p:nvSpPr>
          <p:cNvPr name="TextBox 9" id="9"/>
          <p:cNvSpPr txBox="true"/>
          <p:nvPr/>
        </p:nvSpPr>
        <p:spPr>
          <a:xfrm rot="0">
            <a:off x="1155230" y="1582741"/>
            <a:ext cx="7501642" cy="7026278"/>
          </a:xfrm>
          <a:prstGeom prst="rect">
            <a:avLst/>
          </a:prstGeom>
        </p:spPr>
        <p:txBody>
          <a:bodyPr anchor="t" rtlCol="false" tIns="0" lIns="0" bIns="0" rIns="0">
            <a:spAutoFit/>
          </a:bodyPr>
          <a:lstStyle/>
          <a:p>
            <a:pPr algn="l">
              <a:lnSpc>
                <a:spcPts val="3899"/>
              </a:lnSpc>
            </a:pPr>
            <a:r>
              <a:rPr lang="en-US" sz="2499">
                <a:solidFill>
                  <a:srgbClr val="FFFFFF"/>
                </a:solidFill>
                <a:latin typeface="Montserrat"/>
                <a:ea typeface="Montserrat"/>
                <a:cs typeface="Montserrat"/>
                <a:sym typeface="Montserrat"/>
              </a:rPr>
              <a:t>Un sistema operativo que sigue el principio de privilegio mínimo implementa sus funciones, programas, llamadas al sistema y estructuras de datos de modo que la falla o el compromiso de un componente cause el daño mínimo y permita que se produzca el daño mínimo.</a:t>
            </a:r>
          </a:p>
          <a:p>
            <a:pPr algn="l">
              <a:lnSpc>
                <a:spcPts val="2183"/>
              </a:lnSpc>
            </a:pPr>
          </a:p>
          <a:p>
            <a:pPr algn="l">
              <a:lnSpc>
                <a:spcPts val="3899"/>
              </a:lnSpc>
            </a:pPr>
            <a:r>
              <a:rPr lang="en-US" sz="2499">
                <a:solidFill>
                  <a:srgbClr val="FFFFFF"/>
                </a:solidFill>
                <a:latin typeface="Montserrat"/>
                <a:ea typeface="Montserrat"/>
                <a:cs typeface="Montserrat"/>
                <a:sym typeface="Montserrat"/>
              </a:rPr>
              <a:t>El desbordamiento de un buffer en un daemon del sistema podría causar que el daemon falle, por ejemplo, pero no debería permitir la ejecución de código desde la pila del proceso que permitiría a un usuario remoto obtener privilegios máximos y acceso a todo el sistema (como sucede con demasiada frecuencia hoy en día).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685648"/>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900694"/>
            <a:ext cx="16230600" cy="3964010"/>
          </a:xfrm>
          <a:custGeom>
            <a:avLst/>
            <a:gdLst/>
            <a:ahLst/>
            <a:cxnLst/>
            <a:rect r="r" b="b" t="t" l="l"/>
            <a:pathLst>
              <a:path h="3964010" w="16230600">
                <a:moveTo>
                  <a:pt x="0" y="0"/>
                </a:moveTo>
                <a:lnTo>
                  <a:pt x="16230600" y="0"/>
                </a:lnTo>
                <a:lnTo>
                  <a:pt x="16230600" y="3964009"/>
                </a:lnTo>
                <a:lnTo>
                  <a:pt x="0" y="3964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795056" y="5035001"/>
            <a:ext cx="8697887" cy="4223299"/>
          </a:xfrm>
          <a:custGeom>
            <a:avLst/>
            <a:gdLst/>
            <a:ahLst/>
            <a:cxnLst/>
            <a:rect r="r" b="b" t="t" l="l"/>
            <a:pathLst>
              <a:path h="4223299" w="8697887">
                <a:moveTo>
                  <a:pt x="0" y="0"/>
                </a:moveTo>
                <a:lnTo>
                  <a:pt x="8697888" y="0"/>
                </a:lnTo>
                <a:lnTo>
                  <a:pt x="8697888" y="4223299"/>
                </a:lnTo>
                <a:lnTo>
                  <a:pt x="0" y="42232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5465388" y="5458158"/>
            <a:ext cx="7357224" cy="3485483"/>
            <a:chOff x="0" y="0"/>
            <a:chExt cx="9809632" cy="4647311"/>
          </a:xfrm>
        </p:grpSpPr>
        <p:sp>
          <p:nvSpPr>
            <p:cNvPr name="Freeform 7" id="7"/>
            <p:cNvSpPr/>
            <p:nvPr/>
          </p:nvSpPr>
          <p:spPr>
            <a:xfrm flipH="false" flipV="false" rot="0">
              <a:off x="0" y="0"/>
              <a:ext cx="9809607" cy="4647311"/>
            </a:xfrm>
            <a:custGeom>
              <a:avLst/>
              <a:gdLst/>
              <a:ahLst/>
              <a:cxnLst/>
              <a:rect r="r" b="b" t="t" l="l"/>
              <a:pathLst>
                <a:path h="4647311" w="9809607">
                  <a:moveTo>
                    <a:pt x="0" y="0"/>
                  </a:moveTo>
                  <a:lnTo>
                    <a:pt x="9809607" y="0"/>
                  </a:lnTo>
                  <a:lnTo>
                    <a:pt x="9809607" y="4647311"/>
                  </a:lnTo>
                  <a:lnTo>
                    <a:pt x="0" y="4647311"/>
                  </a:lnTo>
                  <a:lnTo>
                    <a:pt x="0" y="0"/>
                  </a:lnTo>
                  <a:close/>
                </a:path>
              </a:pathLst>
            </a:custGeom>
            <a:blipFill>
              <a:blip r:embed="rId8"/>
              <a:stretch>
                <a:fillRect l="0" t="-56" r="0" b="-55"/>
              </a:stretch>
            </a:blipFill>
          </p:spPr>
        </p:sp>
      </p:grpSp>
      <p:sp>
        <p:nvSpPr>
          <p:cNvPr name="TextBox 8" id="8"/>
          <p:cNvSpPr txBox="true"/>
          <p:nvPr/>
        </p:nvSpPr>
        <p:spPr>
          <a:xfrm rot="0">
            <a:off x="1488024" y="1348492"/>
            <a:ext cx="15311952" cy="3072127"/>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Administrar usuarios con el principio de privilegios mínimos implica crear una cuenta separada para cada usuario, con solo los privilegios que el usuario necesita. Un operador que necesita montar archivos de respaldo en el sistema tiene acceso solo a los comandos y archivos necesarios para realizar el trabajo. </a:t>
            </a:r>
          </a:p>
          <a:p>
            <a:pPr algn="l">
              <a:lnSpc>
                <a:spcPts val="2183"/>
              </a:lnSpc>
            </a:pPr>
          </a:p>
          <a:p>
            <a:pPr algn="l">
              <a:lnSpc>
                <a:spcPts val="4056"/>
              </a:lnSpc>
            </a:pPr>
            <a:r>
              <a:rPr lang="en-US" sz="2600">
                <a:solidFill>
                  <a:srgbClr val="FFFFFF"/>
                </a:solidFill>
                <a:latin typeface="Montserrat"/>
                <a:ea typeface="Montserrat"/>
                <a:cs typeface="Montserrat"/>
                <a:sym typeface="Montserrat"/>
              </a:rPr>
              <a:t>Algunos sistemas implementan control de acceso basado en roles (role-based access control o RBAC) para proporcionar esta funcionalidad.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310230" y="3533223"/>
            <a:ext cx="7012248" cy="5557628"/>
          </a:xfrm>
          <a:custGeom>
            <a:avLst/>
            <a:gdLst/>
            <a:ahLst/>
            <a:cxnLst/>
            <a:rect r="r" b="b" t="t" l="l"/>
            <a:pathLst>
              <a:path h="5557628" w="7012248">
                <a:moveTo>
                  <a:pt x="0" y="0"/>
                </a:moveTo>
                <a:lnTo>
                  <a:pt x="7012248" y="0"/>
                </a:lnTo>
                <a:lnTo>
                  <a:pt x="7012248" y="5557627"/>
                </a:lnTo>
                <a:lnTo>
                  <a:pt x="0" y="55576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610562" y="1087650"/>
            <a:ext cx="8367208" cy="8003200"/>
          </a:xfrm>
          <a:custGeom>
            <a:avLst/>
            <a:gdLst/>
            <a:ahLst/>
            <a:cxnLst/>
            <a:rect r="r" b="b" t="t" l="l"/>
            <a:pathLst>
              <a:path h="8003200" w="8367208">
                <a:moveTo>
                  <a:pt x="0" y="0"/>
                </a:moveTo>
                <a:lnTo>
                  <a:pt x="8367208" y="0"/>
                </a:lnTo>
                <a:lnTo>
                  <a:pt x="8367208" y="8003200"/>
                </a:lnTo>
                <a:lnTo>
                  <a:pt x="0" y="8003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980286" y="4005262"/>
            <a:ext cx="5672138" cy="4722047"/>
            <a:chOff x="0" y="0"/>
            <a:chExt cx="7562850" cy="6296063"/>
          </a:xfrm>
        </p:grpSpPr>
        <p:sp>
          <p:nvSpPr>
            <p:cNvPr name="Freeform 7" id="7"/>
            <p:cNvSpPr/>
            <p:nvPr/>
          </p:nvSpPr>
          <p:spPr>
            <a:xfrm flipH="false" flipV="false" rot="0">
              <a:off x="0" y="0"/>
              <a:ext cx="7562850" cy="6296025"/>
            </a:xfrm>
            <a:custGeom>
              <a:avLst/>
              <a:gdLst/>
              <a:ahLst/>
              <a:cxnLst/>
              <a:rect r="r" b="b" t="t" l="l"/>
              <a:pathLst>
                <a:path h="6296025" w="7562850">
                  <a:moveTo>
                    <a:pt x="0" y="0"/>
                  </a:moveTo>
                  <a:lnTo>
                    <a:pt x="7562850" y="0"/>
                  </a:lnTo>
                  <a:lnTo>
                    <a:pt x="7562850" y="6296025"/>
                  </a:lnTo>
                  <a:lnTo>
                    <a:pt x="0" y="6296025"/>
                  </a:lnTo>
                  <a:lnTo>
                    <a:pt x="0" y="0"/>
                  </a:lnTo>
                  <a:close/>
                </a:path>
              </a:pathLst>
            </a:custGeom>
            <a:blipFill>
              <a:blip r:embed="rId8"/>
              <a:stretch>
                <a:fillRect l="0" t="-107" r="0" b="-107"/>
              </a:stretch>
            </a:blipFill>
          </p:spPr>
        </p:sp>
      </p:grpSp>
      <p:sp>
        <p:nvSpPr>
          <p:cNvPr name="TextBox 8" id="8"/>
          <p:cNvSpPr txBox="true"/>
          <p:nvPr/>
        </p:nvSpPr>
        <p:spPr>
          <a:xfrm rot="0">
            <a:off x="9254223" y="1626232"/>
            <a:ext cx="7079894" cy="6929752"/>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Un sistema informático es una colección de procesos y objetos. Por objetos nos referimos tanto a objetos de hardware (como la CPU, segmentos de memoria, impresoras, discos y unidades de cinta) como a objetos de software (como archivos, programas y semáforos).</a:t>
            </a:r>
          </a:p>
          <a:p>
            <a:pPr algn="l">
              <a:lnSpc>
                <a:spcPts val="2183"/>
              </a:lnSpc>
            </a:pPr>
          </a:p>
          <a:p>
            <a:pPr algn="l">
              <a:lnSpc>
                <a:spcPts val="4056"/>
              </a:lnSpc>
            </a:pPr>
            <a:r>
              <a:rPr lang="en-US" sz="2600">
                <a:solidFill>
                  <a:srgbClr val="FFFFFF"/>
                </a:solidFill>
                <a:latin typeface="Montserrat"/>
                <a:ea typeface="Montserrat"/>
                <a:cs typeface="Montserrat"/>
                <a:sym typeface="Montserrat"/>
              </a:rPr>
              <a:t>Las operaciones posibles pueden depender del objeto. Por ejemplo, los archivos de datos se pueden crear, abrir, leer, escribir, cerrar y eliminar; mientras que los archivos de programa se pueden leer, escribir, ejecutar y eliminar.</a:t>
            </a:r>
          </a:p>
        </p:txBody>
      </p:sp>
      <p:sp>
        <p:nvSpPr>
          <p:cNvPr name="TextBox 9" id="9"/>
          <p:cNvSpPr txBox="true"/>
          <p:nvPr/>
        </p:nvSpPr>
        <p:spPr>
          <a:xfrm rot="0">
            <a:off x="1504264" y="1176776"/>
            <a:ext cx="6624171" cy="2201418"/>
          </a:xfrm>
          <a:prstGeom prst="rect">
            <a:avLst/>
          </a:prstGeom>
        </p:spPr>
        <p:txBody>
          <a:bodyPr anchor="t" rtlCol="false" tIns="0" lIns="0" bIns="0" rIns="0">
            <a:spAutoFit/>
          </a:bodyPr>
          <a:lstStyle/>
          <a:p>
            <a:pPr algn="ctr">
              <a:lnSpc>
                <a:spcPts val="9581"/>
              </a:lnSpc>
            </a:pPr>
            <a:r>
              <a:rPr lang="en-US" sz="6598">
                <a:solidFill>
                  <a:srgbClr val="FFFFFF"/>
                </a:solidFill>
                <a:latin typeface="Arial"/>
                <a:ea typeface="Arial"/>
                <a:cs typeface="Arial"/>
                <a:sym typeface="Arial"/>
              </a:rPr>
              <a:t>DOMINIOS DE PROTECCIÓN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9468088" y="1266282"/>
            <a:ext cx="7597902" cy="7645946"/>
          </a:xfrm>
          <a:custGeom>
            <a:avLst/>
            <a:gdLst/>
            <a:ahLst/>
            <a:cxnLst/>
            <a:rect r="r" b="b" t="t" l="l"/>
            <a:pathLst>
              <a:path h="7645946" w="7597902">
                <a:moveTo>
                  <a:pt x="0" y="0"/>
                </a:moveTo>
                <a:lnTo>
                  <a:pt x="7597902" y="0"/>
                </a:lnTo>
                <a:lnTo>
                  <a:pt x="7597902" y="7645946"/>
                </a:lnTo>
                <a:lnTo>
                  <a:pt x="0" y="76459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22029" y="674780"/>
            <a:ext cx="7932668" cy="8873766"/>
          </a:xfrm>
          <a:custGeom>
            <a:avLst/>
            <a:gdLst/>
            <a:ahLst/>
            <a:cxnLst/>
            <a:rect r="r" b="b" t="t" l="l"/>
            <a:pathLst>
              <a:path h="8873766" w="7932668">
                <a:moveTo>
                  <a:pt x="0" y="0"/>
                </a:moveTo>
                <a:lnTo>
                  <a:pt x="7932668" y="0"/>
                </a:lnTo>
                <a:lnTo>
                  <a:pt x="7932668" y="8873766"/>
                </a:lnTo>
                <a:lnTo>
                  <a:pt x="0" y="88737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0121217" y="1973209"/>
            <a:ext cx="6340573" cy="6340573"/>
            <a:chOff x="0" y="0"/>
            <a:chExt cx="8454098" cy="8454098"/>
          </a:xfrm>
        </p:grpSpPr>
        <p:sp>
          <p:nvSpPr>
            <p:cNvPr name="Freeform 7" id="7"/>
            <p:cNvSpPr/>
            <p:nvPr/>
          </p:nvSpPr>
          <p:spPr>
            <a:xfrm flipH="false" flipV="false" rot="0">
              <a:off x="0" y="0"/>
              <a:ext cx="8454136" cy="8454136"/>
            </a:xfrm>
            <a:custGeom>
              <a:avLst/>
              <a:gdLst/>
              <a:ahLst/>
              <a:cxnLst/>
              <a:rect r="r" b="b" t="t" l="l"/>
              <a:pathLst>
                <a:path h="8454136" w="8454136">
                  <a:moveTo>
                    <a:pt x="0" y="0"/>
                  </a:moveTo>
                  <a:lnTo>
                    <a:pt x="8454136" y="0"/>
                  </a:lnTo>
                  <a:lnTo>
                    <a:pt x="8454136" y="8454136"/>
                  </a:lnTo>
                  <a:lnTo>
                    <a:pt x="0" y="8454136"/>
                  </a:lnTo>
                  <a:lnTo>
                    <a:pt x="0" y="0"/>
                  </a:lnTo>
                  <a:close/>
                </a:path>
              </a:pathLst>
            </a:custGeom>
            <a:blipFill>
              <a:blip r:embed="rId8"/>
              <a:stretch>
                <a:fillRect l="0" t="0" r="0" b="0"/>
              </a:stretch>
            </a:blipFill>
          </p:spPr>
        </p:sp>
      </p:grpSp>
      <p:sp>
        <p:nvSpPr>
          <p:cNvPr name="TextBox 8" id="8"/>
          <p:cNvSpPr txBox="true"/>
          <p:nvPr/>
        </p:nvSpPr>
        <p:spPr>
          <a:xfrm rot="0">
            <a:off x="1576969" y="938860"/>
            <a:ext cx="7222798" cy="8609705"/>
          </a:xfrm>
          <a:prstGeom prst="rect">
            <a:avLst/>
          </a:prstGeom>
        </p:spPr>
        <p:txBody>
          <a:bodyPr anchor="t" rtlCol="false" tIns="0" lIns="0" bIns="0" rIns="0">
            <a:spAutoFit/>
          </a:bodyPr>
          <a:lstStyle/>
          <a:p>
            <a:pPr algn="l">
              <a:lnSpc>
                <a:spcPts val="3744"/>
              </a:lnSpc>
            </a:pPr>
            <a:r>
              <a:rPr lang="en-US" sz="2400">
                <a:solidFill>
                  <a:srgbClr val="FFFFFF"/>
                </a:solidFill>
                <a:latin typeface="Montserrat"/>
                <a:ea typeface="Montserrat"/>
                <a:cs typeface="Montserrat"/>
                <a:sym typeface="Montserrat"/>
              </a:rPr>
              <a:t>A un proceso se le debe permitir acceder sólo a aquellos recursos para los que tiene autorización. Además, en cualquier momento, un proceso debería poder acceder sólo a aquellos recursos que actualmente necesita para completar su tarea. Este segundo requisito, comúnmente conocido como</a:t>
            </a:r>
            <a:r>
              <a:rPr lang="en-US" sz="2400">
                <a:solidFill>
                  <a:srgbClr val="FF914D"/>
                </a:solidFill>
                <a:latin typeface="Montserrat"/>
                <a:ea typeface="Montserrat"/>
                <a:cs typeface="Montserrat"/>
                <a:sym typeface="Montserrat"/>
              </a:rPr>
              <a:t> principio de necesidad de conocimiento (need-to-known),</a:t>
            </a:r>
            <a:r>
              <a:rPr lang="en-US" sz="2400">
                <a:solidFill>
                  <a:srgbClr val="FFFFFF"/>
                </a:solidFill>
                <a:latin typeface="Montserrat"/>
                <a:ea typeface="Montserrat"/>
                <a:cs typeface="Montserrat"/>
                <a:sym typeface="Montserrat"/>
              </a:rPr>
              <a:t> es útil para limitar la cantidad de daño que un proceso defectuoso puede causar en el sistema.</a:t>
            </a:r>
          </a:p>
          <a:p>
            <a:pPr algn="l">
              <a:lnSpc>
                <a:spcPts val="2183"/>
              </a:lnSpc>
            </a:pPr>
          </a:p>
          <a:p>
            <a:pPr algn="l">
              <a:lnSpc>
                <a:spcPts val="3744"/>
              </a:lnSpc>
            </a:pPr>
            <a:r>
              <a:rPr lang="en-US" sz="2400">
                <a:solidFill>
                  <a:srgbClr val="FFFFFF"/>
                </a:solidFill>
                <a:latin typeface="Montserrat"/>
                <a:ea typeface="Montserrat"/>
                <a:cs typeface="Montserrat"/>
                <a:sym typeface="Montserrat"/>
              </a:rPr>
              <a:t>Por ejemplo, cuando el</a:t>
            </a:r>
            <a:r>
              <a:rPr lang="en-US" sz="2400">
                <a:solidFill>
                  <a:srgbClr val="5CD9C1"/>
                </a:solidFill>
                <a:latin typeface="Montserrat"/>
                <a:ea typeface="Montserrat"/>
                <a:cs typeface="Montserrat"/>
                <a:sym typeface="Montserrat"/>
              </a:rPr>
              <a:t> proceso p</a:t>
            </a:r>
            <a:r>
              <a:rPr lang="en-US" sz="2400">
                <a:solidFill>
                  <a:srgbClr val="FFFFFF"/>
                </a:solidFill>
                <a:latin typeface="Montserrat"/>
                <a:ea typeface="Montserrat"/>
                <a:cs typeface="Montserrat"/>
                <a:sym typeface="Montserrat"/>
              </a:rPr>
              <a:t> invoca el </a:t>
            </a:r>
            <a:r>
              <a:rPr lang="en-US" sz="2400">
                <a:solidFill>
                  <a:srgbClr val="5CD9C1"/>
                </a:solidFill>
                <a:latin typeface="Montserrat"/>
                <a:ea typeface="Montserrat"/>
                <a:cs typeface="Montserrat"/>
                <a:sym typeface="Montserrat"/>
              </a:rPr>
              <a:t>procedimiento A()</a:t>
            </a:r>
            <a:r>
              <a:rPr lang="en-US" sz="2400">
                <a:solidFill>
                  <a:srgbClr val="FFFFFF"/>
                </a:solidFill>
                <a:latin typeface="Montserrat"/>
                <a:ea typeface="Montserrat"/>
                <a:cs typeface="Montserrat"/>
                <a:sym typeface="Montserrat"/>
              </a:rPr>
              <a:t>, al procedimiento se le debe permitir acceder sólo a sus propias variables y a los parámetros formales que se le pasan; no debería poder acceder a todas las variables del </a:t>
            </a:r>
            <a:r>
              <a:rPr lang="en-US" sz="2400">
                <a:solidFill>
                  <a:srgbClr val="5CD9C1"/>
                </a:solidFill>
                <a:latin typeface="Montserrat"/>
                <a:ea typeface="Montserrat"/>
                <a:cs typeface="Montserrat"/>
                <a:sym typeface="Montserrat"/>
              </a:rPr>
              <a:t>proceso 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8978484" y="1227677"/>
            <a:ext cx="8160877" cy="7723156"/>
          </a:xfrm>
          <a:custGeom>
            <a:avLst/>
            <a:gdLst/>
            <a:ahLst/>
            <a:cxnLst/>
            <a:rect r="r" b="b" t="t" l="l"/>
            <a:pathLst>
              <a:path h="7723156" w="8160877">
                <a:moveTo>
                  <a:pt x="0" y="0"/>
                </a:moveTo>
                <a:lnTo>
                  <a:pt x="8160877" y="0"/>
                </a:lnTo>
                <a:lnTo>
                  <a:pt x="8160877" y="7723156"/>
                </a:lnTo>
                <a:lnTo>
                  <a:pt x="0" y="77231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7607" y="1227677"/>
            <a:ext cx="7727156" cy="7723156"/>
          </a:xfrm>
          <a:custGeom>
            <a:avLst/>
            <a:gdLst/>
            <a:ahLst/>
            <a:cxnLst/>
            <a:rect r="r" b="b" t="t" l="l"/>
            <a:pathLst>
              <a:path h="7723156" w="7727156">
                <a:moveTo>
                  <a:pt x="0" y="0"/>
                </a:moveTo>
                <a:lnTo>
                  <a:pt x="7727156" y="0"/>
                </a:lnTo>
                <a:lnTo>
                  <a:pt x="7727156" y="7723156"/>
                </a:lnTo>
                <a:lnTo>
                  <a:pt x="0" y="77231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00067" y="2452011"/>
            <a:ext cx="6162227" cy="5382987"/>
            <a:chOff x="0" y="0"/>
            <a:chExt cx="8216303" cy="7177316"/>
          </a:xfrm>
        </p:grpSpPr>
        <p:sp>
          <p:nvSpPr>
            <p:cNvPr name="Freeform 7" id="7"/>
            <p:cNvSpPr/>
            <p:nvPr/>
          </p:nvSpPr>
          <p:spPr>
            <a:xfrm flipH="false" flipV="false" rot="0">
              <a:off x="0" y="0"/>
              <a:ext cx="8216265" cy="7177278"/>
            </a:xfrm>
            <a:custGeom>
              <a:avLst/>
              <a:gdLst/>
              <a:ahLst/>
              <a:cxnLst/>
              <a:rect r="r" b="b" t="t" l="l"/>
              <a:pathLst>
                <a:path h="7177278" w="8216265">
                  <a:moveTo>
                    <a:pt x="0" y="0"/>
                  </a:moveTo>
                  <a:lnTo>
                    <a:pt x="8216265" y="0"/>
                  </a:lnTo>
                  <a:lnTo>
                    <a:pt x="8216265" y="7177278"/>
                  </a:lnTo>
                  <a:lnTo>
                    <a:pt x="0" y="7177278"/>
                  </a:lnTo>
                  <a:lnTo>
                    <a:pt x="0" y="0"/>
                  </a:lnTo>
                  <a:close/>
                </a:path>
              </a:pathLst>
            </a:custGeom>
            <a:blipFill>
              <a:blip r:embed="rId8"/>
              <a:stretch>
                <a:fillRect l="-54445" t="0" r="-54446" b="0"/>
              </a:stretch>
            </a:blipFill>
          </p:spPr>
        </p:sp>
      </p:grpSp>
      <p:sp>
        <p:nvSpPr>
          <p:cNvPr name="TextBox 8" id="8"/>
          <p:cNvSpPr txBox="true"/>
          <p:nvPr/>
        </p:nvSpPr>
        <p:spPr>
          <a:xfrm rot="0">
            <a:off x="9293114" y="2054857"/>
            <a:ext cx="7531618" cy="6072502"/>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Un proceso opera dentro de un </a:t>
            </a:r>
            <a:r>
              <a:rPr lang="en-US" sz="2600">
                <a:solidFill>
                  <a:srgbClr val="5CD9C1"/>
                </a:solidFill>
                <a:latin typeface="Montserrat"/>
                <a:ea typeface="Montserrat"/>
                <a:cs typeface="Montserrat"/>
                <a:sym typeface="Montserrat"/>
              </a:rPr>
              <a:t>dominio de protección,</a:t>
            </a:r>
            <a:r>
              <a:rPr lang="en-US" sz="2600">
                <a:solidFill>
                  <a:srgbClr val="FFFFFF"/>
                </a:solidFill>
                <a:latin typeface="Montserrat"/>
                <a:ea typeface="Montserrat"/>
                <a:cs typeface="Montserrat"/>
                <a:sym typeface="Montserrat"/>
              </a:rPr>
              <a:t> que especifica los recursos a los que el proceso puede acceder. Cada dominio define un conjunto de objetos y los tipos de operaciones que pueden invocarse en cada objeto. La capacidad de ejecutar una operación sobre un objeto es un derecho de acceso. </a:t>
            </a:r>
          </a:p>
          <a:p>
            <a:pPr algn="l">
              <a:lnSpc>
                <a:spcPts val="2183"/>
              </a:lnSpc>
            </a:pPr>
          </a:p>
          <a:p>
            <a:pPr algn="l">
              <a:lnSpc>
                <a:spcPts val="4056"/>
              </a:lnSpc>
            </a:pPr>
            <a:r>
              <a:rPr lang="en-US" sz="2600">
                <a:solidFill>
                  <a:srgbClr val="FFFFFF"/>
                </a:solidFill>
                <a:latin typeface="Montserrat"/>
                <a:ea typeface="Montserrat"/>
                <a:cs typeface="Montserrat"/>
                <a:sym typeface="Montserrat"/>
              </a:rPr>
              <a:t>Un dominio es una colección de derechos de acceso, cada uno de los cuales es un par ordenado </a:t>
            </a:r>
            <a:r>
              <a:rPr lang="en-US" sz="2600">
                <a:solidFill>
                  <a:srgbClr val="5CD9C1"/>
                </a:solidFill>
                <a:latin typeface="Montserrat"/>
                <a:ea typeface="Montserrat"/>
                <a:cs typeface="Montserrat"/>
                <a:sym typeface="Montserrat"/>
              </a:rPr>
              <a:t>&lt;nombre-objeto, conjunto-derechos&gt;.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35751" y="947195"/>
            <a:ext cx="16123549" cy="4075747"/>
          </a:xfrm>
          <a:custGeom>
            <a:avLst/>
            <a:gdLst/>
            <a:ahLst/>
            <a:cxnLst/>
            <a:rect r="r" b="b" t="t" l="l"/>
            <a:pathLst>
              <a:path h="4075747" w="16123549">
                <a:moveTo>
                  <a:pt x="0" y="0"/>
                </a:moveTo>
                <a:lnTo>
                  <a:pt x="16123549" y="0"/>
                </a:lnTo>
                <a:lnTo>
                  <a:pt x="16123549" y="4075747"/>
                </a:lnTo>
                <a:lnTo>
                  <a:pt x="0" y="40757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35751" y="5182553"/>
            <a:ext cx="16123549" cy="4075747"/>
          </a:xfrm>
          <a:custGeom>
            <a:avLst/>
            <a:gdLst/>
            <a:ahLst/>
            <a:cxnLst/>
            <a:rect r="r" b="b" t="t" l="l"/>
            <a:pathLst>
              <a:path h="4075747" w="16123549">
                <a:moveTo>
                  <a:pt x="0" y="0"/>
                </a:moveTo>
                <a:lnTo>
                  <a:pt x="16123549" y="0"/>
                </a:lnTo>
                <a:lnTo>
                  <a:pt x="16123549" y="4075747"/>
                </a:lnTo>
                <a:lnTo>
                  <a:pt x="0" y="40757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949892" y="5794591"/>
            <a:ext cx="12388205" cy="2960170"/>
            <a:chOff x="0" y="0"/>
            <a:chExt cx="16517607" cy="3946893"/>
          </a:xfrm>
        </p:grpSpPr>
        <p:sp>
          <p:nvSpPr>
            <p:cNvPr name="Freeform 7" id="7"/>
            <p:cNvSpPr/>
            <p:nvPr/>
          </p:nvSpPr>
          <p:spPr>
            <a:xfrm flipH="false" flipV="false" rot="0">
              <a:off x="0" y="0"/>
              <a:ext cx="16517620" cy="3946906"/>
            </a:xfrm>
            <a:custGeom>
              <a:avLst/>
              <a:gdLst/>
              <a:ahLst/>
              <a:cxnLst/>
              <a:rect r="r" b="b" t="t" l="l"/>
              <a:pathLst>
                <a:path h="3946906" w="16517620">
                  <a:moveTo>
                    <a:pt x="0" y="0"/>
                  </a:moveTo>
                  <a:lnTo>
                    <a:pt x="16517620" y="0"/>
                  </a:lnTo>
                  <a:lnTo>
                    <a:pt x="16517620" y="3946906"/>
                  </a:lnTo>
                  <a:lnTo>
                    <a:pt x="0" y="3946906"/>
                  </a:lnTo>
                  <a:lnTo>
                    <a:pt x="0" y="0"/>
                  </a:lnTo>
                  <a:close/>
                </a:path>
              </a:pathLst>
            </a:custGeom>
            <a:blipFill>
              <a:blip r:embed="rId6"/>
              <a:stretch>
                <a:fillRect l="0" t="0" r="0" b="0"/>
              </a:stretch>
            </a:blipFill>
          </p:spPr>
        </p:sp>
      </p:grpSp>
      <p:sp>
        <p:nvSpPr>
          <p:cNvPr name="TextBox 8" id="8"/>
          <p:cNvSpPr txBox="true"/>
          <p:nvPr/>
        </p:nvSpPr>
        <p:spPr>
          <a:xfrm rot="0">
            <a:off x="1650092" y="1519333"/>
            <a:ext cx="14987702" cy="3087224"/>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No es necesario que los dominios están separados; pueden compartir derechos de acceso. Por ejemplo, tenemos tres dominios: D1, D2 y D3. El derecho de acceso &lt;O4, {imprimir}&gt; es compartido por D2 y D3, lo que implica que un proceso que se ejecuta en cualquiera de estos dos dominios se puede imprimir el objeto O4. Aunque también es posible que un proceso debe ejecutarse en el dominio D1 para leer y escribir el objeto O1, mientras que sólo los procesos en el dominio D3 pueden ejecutar el objeto O1.</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4025389"/>
            <a:ext cx="8271986" cy="5232911"/>
          </a:xfrm>
          <a:custGeom>
            <a:avLst/>
            <a:gdLst/>
            <a:ahLst/>
            <a:cxnLst/>
            <a:rect r="r" b="b" t="t" l="l"/>
            <a:pathLst>
              <a:path h="5232911" w="8271986">
                <a:moveTo>
                  <a:pt x="0" y="0"/>
                </a:moveTo>
                <a:lnTo>
                  <a:pt x="8271986" y="0"/>
                </a:lnTo>
                <a:lnTo>
                  <a:pt x="8271986" y="5232911"/>
                </a:lnTo>
                <a:lnTo>
                  <a:pt x="0" y="52329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700460" y="920201"/>
            <a:ext cx="7314819" cy="8338099"/>
          </a:xfrm>
          <a:custGeom>
            <a:avLst/>
            <a:gdLst/>
            <a:ahLst/>
            <a:cxnLst/>
            <a:rect r="r" b="b" t="t" l="l"/>
            <a:pathLst>
              <a:path h="8338099" w="7314819">
                <a:moveTo>
                  <a:pt x="0" y="0"/>
                </a:moveTo>
                <a:lnTo>
                  <a:pt x="7314819" y="0"/>
                </a:lnTo>
                <a:lnTo>
                  <a:pt x="7314819" y="8338099"/>
                </a:lnTo>
                <a:lnTo>
                  <a:pt x="0" y="8338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433617" y="4527404"/>
            <a:ext cx="7462152" cy="4337380"/>
            <a:chOff x="0" y="0"/>
            <a:chExt cx="9949536" cy="5783174"/>
          </a:xfrm>
        </p:grpSpPr>
        <p:sp>
          <p:nvSpPr>
            <p:cNvPr name="Freeform 7" id="7"/>
            <p:cNvSpPr/>
            <p:nvPr/>
          </p:nvSpPr>
          <p:spPr>
            <a:xfrm flipH="false" flipV="false" rot="0">
              <a:off x="0" y="0"/>
              <a:ext cx="9949561" cy="5783199"/>
            </a:xfrm>
            <a:custGeom>
              <a:avLst/>
              <a:gdLst/>
              <a:ahLst/>
              <a:cxnLst/>
              <a:rect r="r" b="b" t="t" l="l"/>
              <a:pathLst>
                <a:path h="5783199" w="9949561">
                  <a:moveTo>
                    <a:pt x="0" y="0"/>
                  </a:moveTo>
                  <a:lnTo>
                    <a:pt x="9949561" y="0"/>
                  </a:lnTo>
                  <a:lnTo>
                    <a:pt x="9949561" y="5783199"/>
                  </a:lnTo>
                  <a:lnTo>
                    <a:pt x="0" y="5783199"/>
                  </a:lnTo>
                  <a:lnTo>
                    <a:pt x="0" y="0"/>
                  </a:lnTo>
                  <a:close/>
                </a:path>
              </a:pathLst>
            </a:custGeom>
            <a:blipFill>
              <a:blip r:embed="rId8"/>
              <a:stretch>
                <a:fillRect l="0" t="-62" r="0" b="-61"/>
              </a:stretch>
            </a:blipFill>
          </p:spPr>
        </p:sp>
      </p:grpSp>
      <p:sp>
        <p:nvSpPr>
          <p:cNvPr name="TextBox 8" id="8"/>
          <p:cNvSpPr txBox="true"/>
          <p:nvPr/>
        </p:nvSpPr>
        <p:spPr>
          <a:xfrm rot="0">
            <a:off x="10110559" y="1582741"/>
            <a:ext cx="6494631" cy="7026278"/>
          </a:xfrm>
          <a:prstGeom prst="rect">
            <a:avLst/>
          </a:prstGeom>
        </p:spPr>
        <p:txBody>
          <a:bodyPr anchor="t" rtlCol="false" tIns="0" lIns="0" bIns="0" rIns="0">
            <a:spAutoFit/>
          </a:bodyPr>
          <a:lstStyle/>
          <a:p>
            <a:pPr algn="l">
              <a:lnSpc>
                <a:spcPts val="3898"/>
              </a:lnSpc>
            </a:pPr>
            <a:r>
              <a:rPr lang="en-US" sz="2499">
                <a:solidFill>
                  <a:srgbClr val="FFFFFF"/>
                </a:solidFill>
                <a:latin typeface="Montserrat"/>
                <a:ea typeface="Montserrat"/>
                <a:cs typeface="Montserrat"/>
                <a:sym typeface="Montserrat"/>
              </a:rPr>
              <a:t>Nuestro modelo de protección puede verse de manera abstracta como una matriz, llamada matriz de acceso. </a:t>
            </a:r>
            <a:r>
              <a:rPr lang="en-US" sz="2499">
                <a:solidFill>
                  <a:srgbClr val="5CD9C1"/>
                </a:solidFill>
                <a:latin typeface="Montserrat"/>
                <a:ea typeface="Montserrat"/>
                <a:cs typeface="Montserrat"/>
                <a:sym typeface="Montserrat"/>
              </a:rPr>
              <a:t>Las filas de la matriz de acceso representan dominios</a:t>
            </a:r>
            <a:r>
              <a:rPr lang="en-US" sz="2499">
                <a:solidFill>
                  <a:srgbClr val="FFFFFF"/>
                </a:solidFill>
                <a:latin typeface="Montserrat"/>
                <a:ea typeface="Montserrat"/>
                <a:cs typeface="Montserrat"/>
                <a:sym typeface="Montserrat"/>
              </a:rPr>
              <a:t> y </a:t>
            </a:r>
            <a:r>
              <a:rPr lang="en-US" sz="2499">
                <a:solidFill>
                  <a:srgbClr val="FF914D"/>
                </a:solidFill>
                <a:latin typeface="Montserrat"/>
                <a:ea typeface="Montserrat"/>
                <a:cs typeface="Montserrat"/>
                <a:sym typeface="Montserrat"/>
              </a:rPr>
              <a:t>las columnas representan objetos.</a:t>
            </a:r>
            <a:r>
              <a:rPr lang="en-US" sz="2499">
                <a:solidFill>
                  <a:srgbClr val="FFFFFF"/>
                </a:solidFill>
                <a:latin typeface="Montserrat"/>
                <a:ea typeface="Montserrat"/>
                <a:cs typeface="Montserrat"/>
                <a:sym typeface="Montserrat"/>
              </a:rPr>
              <a:t> Cada entrada en la matriz consta de un conjunto de derechos de acceso.</a:t>
            </a:r>
          </a:p>
          <a:p>
            <a:pPr algn="l">
              <a:lnSpc>
                <a:spcPts val="2184"/>
              </a:lnSpc>
            </a:pPr>
          </a:p>
          <a:p>
            <a:pPr algn="l">
              <a:lnSpc>
                <a:spcPts val="3898"/>
              </a:lnSpc>
            </a:pPr>
            <a:r>
              <a:rPr lang="en-US" sz="2499">
                <a:solidFill>
                  <a:srgbClr val="FFFFFF"/>
                </a:solidFill>
                <a:latin typeface="Montserrat"/>
                <a:ea typeface="Montserrat"/>
                <a:cs typeface="Montserrat"/>
                <a:sym typeface="Montserrat"/>
              </a:rPr>
              <a:t>Debido a que la columna define objetos explícitamente, podemos omitir el nombre del objeto en el derecho de acceso. </a:t>
            </a:r>
            <a:r>
              <a:rPr lang="en-US" sz="2499">
                <a:solidFill>
                  <a:srgbClr val="FF66C4"/>
                </a:solidFill>
                <a:latin typeface="Montserrat"/>
                <a:ea typeface="Montserrat"/>
                <a:cs typeface="Montserrat"/>
                <a:sym typeface="Montserrat"/>
              </a:rPr>
              <a:t>La entrada acceso(i,j) define el conjunto de operaciones que un proceso que se ejecuta en el dominio Dj puede invocar en el objeto Di.</a:t>
            </a:r>
          </a:p>
        </p:txBody>
      </p:sp>
      <p:sp>
        <p:nvSpPr>
          <p:cNvPr name="TextBox 9" id="9"/>
          <p:cNvSpPr txBox="true"/>
          <p:nvPr/>
        </p:nvSpPr>
        <p:spPr>
          <a:xfrm rot="0">
            <a:off x="1544260" y="1520000"/>
            <a:ext cx="7237181" cy="2201418"/>
          </a:xfrm>
          <a:prstGeom prst="rect">
            <a:avLst/>
          </a:prstGeom>
        </p:spPr>
        <p:txBody>
          <a:bodyPr anchor="t" rtlCol="false" tIns="0" lIns="0" bIns="0" rIns="0">
            <a:spAutoFit/>
          </a:bodyPr>
          <a:lstStyle/>
          <a:p>
            <a:pPr algn="ctr">
              <a:lnSpc>
                <a:spcPts val="9581"/>
              </a:lnSpc>
            </a:pPr>
            <a:r>
              <a:rPr lang="en-US" sz="6598">
                <a:solidFill>
                  <a:srgbClr val="FFFFFF"/>
                </a:solidFill>
                <a:latin typeface="Arial"/>
                <a:ea typeface="Arial"/>
                <a:cs typeface="Arial"/>
                <a:sym typeface="Arial"/>
              </a:rPr>
              <a:t>MATRIZ DE ACCESO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65927" y="4037943"/>
            <a:ext cx="6619751" cy="5155387"/>
          </a:xfrm>
          <a:custGeom>
            <a:avLst/>
            <a:gdLst/>
            <a:ahLst/>
            <a:cxnLst/>
            <a:rect r="r" b="b" t="t" l="l"/>
            <a:pathLst>
              <a:path h="5155387" w="6619751">
                <a:moveTo>
                  <a:pt x="0" y="0"/>
                </a:moveTo>
                <a:lnTo>
                  <a:pt x="6619751" y="0"/>
                </a:lnTo>
                <a:lnTo>
                  <a:pt x="6619751" y="5155387"/>
                </a:lnTo>
                <a:lnTo>
                  <a:pt x="0" y="51553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10823" y="985171"/>
            <a:ext cx="9011241" cy="8208159"/>
          </a:xfrm>
          <a:custGeom>
            <a:avLst/>
            <a:gdLst/>
            <a:ahLst/>
            <a:cxnLst/>
            <a:rect r="r" b="b" t="t" l="l"/>
            <a:pathLst>
              <a:path h="8208159" w="9011241">
                <a:moveTo>
                  <a:pt x="0" y="0"/>
                </a:moveTo>
                <a:lnTo>
                  <a:pt x="9011241" y="0"/>
                </a:lnTo>
                <a:lnTo>
                  <a:pt x="9011241" y="8208159"/>
                </a:lnTo>
                <a:lnTo>
                  <a:pt x="0" y="8208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512341" y="4633541"/>
            <a:ext cx="5926912" cy="4072680"/>
            <a:chOff x="0" y="0"/>
            <a:chExt cx="7902550" cy="5430241"/>
          </a:xfrm>
        </p:grpSpPr>
        <p:sp>
          <p:nvSpPr>
            <p:cNvPr name="Freeform 7" id="7"/>
            <p:cNvSpPr/>
            <p:nvPr/>
          </p:nvSpPr>
          <p:spPr>
            <a:xfrm flipH="false" flipV="false" rot="0">
              <a:off x="0" y="0"/>
              <a:ext cx="7902575" cy="5430266"/>
            </a:xfrm>
            <a:custGeom>
              <a:avLst/>
              <a:gdLst/>
              <a:ahLst/>
              <a:cxnLst/>
              <a:rect r="r" b="b" t="t" l="l"/>
              <a:pathLst>
                <a:path h="5430266" w="7902575">
                  <a:moveTo>
                    <a:pt x="0" y="0"/>
                  </a:moveTo>
                  <a:lnTo>
                    <a:pt x="7902575" y="0"/>
                  </a:lnTo>
                  <a:lnTo>
                    <a:pt x="7902575" y="5430266"/>
                  </a:lnTo>
                  <a:lnTo>
                    <a:pt x="0" y="5430266"/>
                  </a:lnTo>
                  <a:lnTo>
                    <a:pt x="0" y="0"/>
                  </a:lnTo>
                  <a:close/>
                </a:path>
              </a:pathLst>
            </a:custGeom>
            <a:blipFill>
              <a:blip r:embed="rId8"/>
              <a:stretch>
                <a:fillRect l="0" t="0" r="0" b="0"/>
              </a:stretch>
            </a:blipFill>
          </p:spPr>
        </p:sp>
      </p:grpSp>
      <p:sp>
        <p:nvSpPr>
          <p:cNvPr name="TextBox 8" id="8"/>
          <p:cNvSpPr txBox="true"/>
          <p:nvPr/>
        </p:nvSpPr>
        <p:spPr>
          <a:xfrm rot="0">
            <a:off x="8475202" y="1483795"/>
            <a:ext cx="8282492" cy="7094220"/>
          </a:xfrm>
          <a:prstGeom prst="rect">
            <a:avLst/>
          </a:prstGeom>
        </p:spPr>
        <p:txBody>
          <a:bodyPr anchor="t" rtlCol="false" tIns="0" lIns="0" bIns="0" rIns="0">
            <a:spAutoFit/>
          </a:bodyPr>
          <a:lstStyle/>
          <a:p>
            <a:pPr algn="l">
              <a:lnSpc>
                <a:spcPts val="3742"/>
              </a:lnSpc>
            </a:pPr>
            <a:r>
              <a:rPr lang="en-US" sz="2399">
                <a:solidFill>
                  <a:srgbClr val="FFFFFF"/>
                </a:solidFill>
                <a:latin typeface="Montserrat"/>
                <a:ea typeface="Montserrat"/>
                <a:cs typeface="Montserrat"/>
                <a:sym typeface="Montserrat"/>
              </a:rPr>
              <a:t>Los dominios de protección también pueden organizarse jerárquicamente en una estructura de anillo. Cada anillo corresponde a un único dominio. Los anillos están numerados del 0 al 7.</a:t>
            </a:r>
          </a:p>
          <a:p>
            <a:pPr algn="l">
              <a:lnSpc>
                <a:spcPts val="2184"/>
              </a:lnSpc>
            </a:pPr>
          </a:p>
          <a:p>
            <a:pPr algn="l">
              <a:lnSpc>
                <a:spcPts val="3742"/>
              </a:lnSpc>
            </a:pPr>
            <a:r>
              <a:rPr lang="en-US" sz="2399">
                <a:solidFill>
                  <a:srgbClr val="FFFFFF"/>
                </a:solidFill>
                <a:latin typeface="Montserrat"/>
                <a:ea typeface="Montserrat"/>
                <a:cs typeface="Montserrat"/>
                <a:sym typeface="Montserrat"/>
              </a:rPr>
              <a:t>Cada proceso se ejecuta en un anillo, de acuerdo con el número de anillo actual. Un proceso que opera en un anillo sólo puede acceder a segmentos asociados con anillos superiores (más alejados). Los procesos no pueden acceder a los segmentos asociados con los anillos inferiores.</a:t>
            </a:r>
          </a:p>
          <a:p>
            <a:pPr algn="l">
              <a:lnSpc>
                <a:spcPts val="2184"/>
              </a:lnSpc>
            </a:pPr>
          </a:p>
          <a:p>
            <a:pPr algn="l">
              <a:lnSpc>
                <a:spcPts val="3742"/>
              </a:lnSpc>
            </a:pPr>
            <a:r>
              <a:rPr lang="en-US" sz="2399">
                <a:solidFill>
                  <a:srgbClr val="FFFFFF"/>
                </a:solidFill>
                <a:latin typeface="Montserrat"/>
                <a:ea typeface="Montserrat"/>
                <a:cs typeface="Montserrat"/>
                <a:sym typeface="Montserrat"/>
              </a:rPr>
              <a:t>Un proceso que se ejecuta en el dominio D0 tiene la mayor cantidad de privilegios. Si sólo existen dos anillos, este esquema es equivalente al modo de ejecución monitor-usuario, donde el modo monitor corresponde a D0 y el modo usuario corresponde a D1.</a:t>
            </a:r>
          </a:p>
        </p:txBody>
      </p:sp>
      <p:sp>
        <p:nvSpPr>
          <p:cNvPr name="TextBox 9" id="9"/>
          <p:cNvSpPr txBox="true"/>
          <p:nvPr/>
        </p:nvSpPr>
        <p:spPr>
          <a:xfrm rot="0">
            <a:off x="1165927" y="1293228"/>
            <a:ext cx="6619751" cy="2679068"/>
          </a:xfrm>
          <a:prstGeom prst="rect">
            <a:avLst/>
          </a:prstGeom>
        </p:spPr>
        <p:txBody>
          <a:bodyPr anchor="t" rtlCol="false" tIns="0" lIns="0" bIns="0" rIns="0">
            <a:spAutoFit/>
          </a:bodyPr>
          <a:lstStyle/>
          <a:p>
            <a:pPr algn="ctr">
              <a:lnSpc>
                <a:spcPts val="7984"/>
              </a:lnSpc>
            </a:pPr>
            <a:r>
              <a:rPr lang="en-US" sz="5498">
                <a:solidFill>
                  <a:srgbClr val="FFFFFF"/>
                </a:solidFill>
                <a:latin typeface="Arial"/>
                <a:ea typeface="Arial"/>
                <a:cs typeface="Arial"/>
                <a:sym typeface="Arial"/>
              </a:rPr>
              <a:t>CONTROL DE ACCESO POR ANILLOS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619231" y="1091098"/>
            <a:ext cx="5630609" cy="7996314"/>
          </a:xfrm>
          <a:custGeom>
            <a:avLst/>
            <a:gdLst/>
            <a:ahLst/>
            <a:cxnLst/>
            <a:rect r="r" b="b" t="t" l="l"/>
            <a:pathLst>
              <a:path h="7996314" w="5630609">
                <a:moveTo>
                  <a:pt x="0" y="0"/>
                </a:moveTo>
                <a:lnTo>
                  <a:pt x="5630608" y="0"/>
                </a:lnTo>
                <a:lnTo>
                  <a:pt x="5630608" y="7996314"/>
                </a:lnTo>
                <a:lnTo>
                  <a:pt x="0" y="79963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574985" y="2903191"/>
            <a:ext cx="9011241" cy="6184221"/>
          </a:xfrm>
          <a:custGeom>
            <a:avLst/>
            <a:gdLst/>
            <a:ahLst/>
            <a:cxnLst/>
            <a:rect r="r" b="b" t="t" l="l"/>
            <a:pathLst>
              <a:path h="6184221" w="9011241">
                <a:moveTo>
                  <a:pt x="0" y="0"/>
                </a:moveTo>
                <a:lnTo>
                  <a:pt x="9011240" y="0"/>
                </a:lnTo>
                <a:lnTo>
                  <a:pt x="9011240" y="6184221"/>
                </a:lnTo>
                <a:lnTo>
                  <a:pt x="0" y="61842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201037" y="1690221"/>
            <a:ext cx="4358421" cy="6910083"/>
            <a:chOff x="0" y="0"/>
            <a:chExt cx="5811228" cy="9213444"/>
          </a:xfrm>
        </p:grpSpPr>
        <p:sp>
          <p:nvSpPr>
            <p:cNvPr name="Freeform 7" id="7"/>
            <p:cNvSpPr/>
            <p:nvPr/>
          </p:nvSpPr>
          <p:spPr>
            <a:xfrm flipH="false" flipV="false" rot="0">
              <a:off x="0" y="0"/>
              <a:ext cx="5811266" cy="9213469"/>
            </a:xfrm>
            <a:custGeom>
              <a:avLst/>
              <a:gdLst/>
              <a:ahLst/>
              <a:cxnLst/>
              <a:rect r="r" b="b" t="t" l="l"/>
              <a:pathLst>
                <a:path h="9213469" w="5811266">
                  <a:moveTo>
                    <a:pt x="0" y="0"/>
                  </a:moveTo>
                  <a:lnTo>
                    <a:pt x="5811266" y="0"/>
                  </a:lnTo>
                  <a:lnTo>
                    <a:pt x="5811266" y="9213469"/>
                  </a:lnTo>
                  <a:lnTo>
                    <a:pt x="0" y="9213469"/>
                  </a:lnTo>
                  <a:lnTo>
                    <a:pt x="0" y="0"/>
                  </a:lnTo>
                  <a:close/>
                </a:path>
              </a:pathLst>
            </a:custGeom>
            <a:blipFill>
              <a:blip r:embed="rId8"/>
              <a:stretch>
                <a:fillRect l="0" t="0" r="0" b="0"/>
              </a:stretch>
            </a:blipFill>
          </p:spPr>
        </p:sp>
      </p:grpSp>
      <p:sp>
        <p:nvSpPr>
          <p:cNvPr name="TextBox 8" id="8"/>
          <p:cNvSpPr txBox="true"/>
          <p:nvPr/>
        </p:nvSpPr>
        <p:spPr>
          <a:xfrm rot="0">
            <a:off x="7939364" y="3385052"/>
            <a:ext cx="8282492" cy="5215252"/>
          </a:xfrm>
          <a:prstGeom prst="rect">
            <a:avLst/>
          </a:prstGeom>
        </p:spPr>
        <p:txBody>
          <a:bodyPr anchor="t" rtlCol="false" tIns="0" lIns="0" bIns="0" rIns="0">
            <a:spAutoFit/>
          </a:bodyPr>
          <a:lstStyle/>
          <a:p>
            <a:pPr algn="l">
              <a:lnSpc>
                <a:spcPts val="4054"/>
              </a:lnSpc>
            </a:pPr>
            <a:r>
              <a:rPr lang="en-US" sz="2599">
                <a:solidFill>
                  <a:srgbClr val="FFFFFF"/>
                </a:solidFill>
                <a:latin typeface="Montserrat"/>
                <a:ea typeface="Montserrat"/>
                <a:cs typeface="Montserrat"/>
                <a:sym typeface="Montserrat"/>
              </a:rPr>
              <a:t>A cada archivo y directorio se le asigna un propietario, un grupo o posiblemente una lista de usuarios, y para cada una de esas entidades, se asigna información de control de acceso.</a:t>
            </a:r>
          </a:p>
          <a:p>
            <a:pPr algn="l">
              <a:lnSpc>
                <a:spcPts val="2184"/>
              </a:lnSpc>
            </a:pPr>
          </a:p>
          <a:p>
            <a:pPr algn="l">
              <a:lnSpc>
                <a:spcPts val="4054"/>
              </a:lnSpc>
            </a:pPr>
            <a:r>
              <a:rPr lang="en-US" sz="2599">
                <a:solidFill>
                  <a:srgbClr val="FFFFFF"/>
                </a:solidFill>
                <a:latin typeface="Montserrat"/>
                <a:ea typeface="Montserrat"/>
                <a:cs typeface="Montserrat"/>
                <a:sym typeface="Montserrat"/>
              </a:rPr>
              <a:t>El control de acceso basado en roles asigna privilegios a usuarios, programas o roles según corresponda, donde "privilegios" se refieren al derecho de realizar ciertas llamadas al sistema o de usar ciertos parámetros con esas llamadas.</a:t>
            </a:r>
          </a:p>
        </p:txBody>
      </p:sp>
      <p:sp>
        <p:nvSpPr>
          <p:cNvPr name="TextBox 9" id="9"/>
          <p:cNvSpPr txBox="true"/>
          <p:nvPr/>
        </p:nvSpPr>
        <p:spPr>
          <a:xfrm rot="0">
            <a:off x="7492460" y="1028138"/>
            <a:ext cx="9176309" cy="1840868"/>
          </a:xfrm>
          <a:prstGeom prst="rect">
            <a:avLst/>
          </a:prstGeom>
        </p:spPr>
        <p:txBody>
          <a:bodyPr anchor="t" rtlCol="false" tIns="0" lIns="0" bIns="0" rIns="0">
            <a:spAutoFit/>
          </a:bodyPr>
          <a:lstStyle/>
          <a:p>
            <a:pPr algn="ctr">
              <a:lnSpc>
                <a:spcPts val="7984"/>
              </a:lnSpc>
            </a:pPr>
            <a:r>
              <a:rPr lang="en-US" sz="5498">
                <a:solidFill>
                  <a:srgbClr val="FFFFFF"/>
                </a:solidFill>
                <a:latin typeface="Arial"/>
                <a:ea typeface="Arial"/>
                <a:cs typeface="Arial"/>
                <a:sym typeface="Arial"/>
              </a:rPr>
              <a:t>CONTROL DE ACCESO BASADO EN ROLES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272721" y="3217526"/>
            <a:ext cx="5417563" cy="6040774"/>
          </a:xfrm>
          <a:custGeom>
            <a:avLst/>
            <a:gdLst/>
            <a:ahLst/>
            <a:cxnLst/>
            <a:rect r="r" b="b" t="t" l="l"/>
            <a:pathLst>
              <a:path h="6040774" w="5417563">
                <a:moveTo>
                  <a:pt x="0" y="0"/>
                </a:moveTo>
                <a:lnTo>
                  <a:pt x="5417563" y="0"/>
                </a:lnTo>
                <a:lnTo>
                  <a:pt x="5417563" y="6040774"/>
                </a:lnTo>
                <a:lnTo>
                  <a:pt x="0" y="60407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045862" y="920201"/>
            <a:ext cx="9969417" cy="8338099"/>
          </a:xfrm>
          <a:custGeom>
            <a:avLst/>
            <a:gdLst/>
            <a:ahLst/>
            <a:cxnLst/>
            <a:rect r="r" b="b" t="t" l="l"/>
            <a:pathLst>
              <a:path h="8338099" w="9969417">
                <a:moveTo>
                  <a:pt x="0" y="0"/>
                </a:moveTo>
                <a:lnTo>
                  <a:pt x="9969417" y="0"/>
                </a:lnTo>
                <a:lnTo>
                  <a:pt x="9969417" y="8338099"/>
                </a:lnTo>
                <a:lnTo>
                  <a:pt x="0" y="8338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874044" y="4234758"/>
            <a:ext cx="4214908" cy="4114800"/>
            <a:chOff x="0" y="0"/>
            <a:chExt cx="5619877" cy="5486400"/>
          </a:xfrm>
        </p:grpSpPr>
        <p:sp>
          <p:nvSpPr>
            <p:cNvPr name="Freeform 7" id="7"/>
            <p:cNvSpPr/>
            <p:nvPr/>
          </p:nvSpPr>
          <p:spPr>
            <a:xfrm flipH="false" flipV="false" rot="0">
              <a:off x="0" y="0"/>
              <a:ext cx="5619877" cy="5486400"/>
            </a:xfrm>
            <a:custGeom>
              <a:avLst/>
              <a:gdLst/>
              <a:ahLst/>
              <a:cxnLst/>
              <a:rect r="r" b="b" t="t" l="l"/>
              <a:pathLst>
                <a:path h="5486400" w="5619877">
                  <a:moveTo>
                    <a:pt x="0" y="0"/>
                  </a:moveTo>
                  <a:lnTo>
                    <a:pt x="5619877" y="0"/>
                  </a:lnTo>
                  <a:lnTo>
                    <a:pt x="5619877" y="5486400"/>
                  </a:lnTo>
                  <a:lnTo>
                    <a:pt x="0" y="5486400"/>
                  </a:lnTo>
                  <a:lnTo>
                    <a:pt x="0" y="0"/>
                  </a:lnTo>
                  <a:close/>
                </a:path>
              </a:pathLst>
            </a:custGeom>
            <a:blipFill>
              <a:blip r:embed="rId8"/>
              <a:stretch>
                <a:fillRect l="0" t="-50" r="0" b="-50"/>
              </a:stretch>
            </a:blipFill>
          </p:spPr>
        </p:sp>
      </p:grpSp>
      <p:sp>
        <p:nvSpPr>
          <p:cNvPr name="TextBox 8" id="8"/>
          <p:cNvSpPr txBox="true"/>
          <p:nvPr/>
        </p:nvSpPr>
        <p:spPr>
          <a:xfrm rot="0">
            <a:off x="7469172" y="1501454"/>
            <a:ext cx="9122807" cy="7188832"/>
          </a:xfrm>
          <a:prstGeom prst="rect">
            <a:avLst/>
          </a:prstGeom>
        </p:spPr>
        <p:txBody>
          <a:bodyPr anchor="t" rtlCol="false" tIns="0" lIns="0" bIns="0" rIns="0">
            <a:spAutoFit/>
          </a:bodyPr>
          <a:lstStyle/>
          <a:p>
            <a:pPr algn="l">
              <a:lnSpc>
                <a:spcPts val="3899"/>
              </a:lnSpc>
            </a:pPr>
            <a:r>
              <a:rPr lang="en-US" sz="2499">
                <a:solidFill>
                  <a:srgbClr val="FFFFFF"/>
                </a:solidFill>
                <a:latin typeface="Montserrat"/>
                <a:ea typeface="Montserrat"/>
                <a:cs typeface="Montserrat"/>
                <a:sym typeface="Montserrat"/>
              </a:rPr>
              <a:t>La protección, como comentamos, es estrictamente un problema interno: ¿Cómo proporcionamos acceso controlado a los programas y datos almacenados en un sistema informático?</a:t>
            </a:r>
          </a:p>
          <a:p>
            <a:pPr algn="l">
              <a:lnSpc>
                <a:spcPts val="2183"/>
              </a:lnSpc>
            </a:pPr>
          </a:p>
          <a:p>
            <a:pPr algn="l">
              <a:lnSpc>
                <a:spcPts val="3744"/>
              </a:lnSpc>
            </a:pPr>
            <a:r>
              <a:rPr lang="en-US" sz="2400">
                <a:solidFill>
                  <a:srgbClr val="FFFFFF"/>
                </a:solidFill>
                <a:latin typeface="Montserrat"/>
                <a:ea typeface="Montserrat"/>
                <a:cs typeface="Montserrat"/>
                <a:sym typeface="Montserrat"/>
              </a:rPr>
              <a:t>La </a:t>
            </a:r>
            <a:r>
              <a:rPr lang="en-US" sz="2400">
                <a:solidFill>
                  <a:srgbClr val="F59F0A"/>
                </a:solidFill>
                <a:latin typeface="Montserrat"/>
                <a:ea typeface="Montserrat"/>
                <a:cs typeface="Montserrat"/>
                <a:sym typeface="Montserrat"/>
              </a:rPr>
              <a:t>seguridad</a:t>
            </a:r>
            <a:r>
              <a:rPr lang="en-US" sz="2400">
                <a:solidFill>
                  <a:srgbClr val="FFFFFF"/>
                </a:solidFill>
                <a:latin typeface="Montserrat"/>
                <a:ea typeface="Montserrat"/>
                <a:cs typeface="Montserrat"/>
                <a:sym typeface="Montserrat"/>
              </a:rPr>
              <a:t>, por otra parte, requiere no sólo un sistema de protección adecuado sino también la consideración del entorno externo dentro del cual opera el sistema. Un sistema de protección es ineficaz si la autenticación del usuario se ve comprometida o si un usuario no autorizado ejecuta un programa. Los recursos informáticos deben protegerse contra el acceso no autorizado, la destrucción o alteración maliciosa y la introducción accidental de inconsistencia. Estos recursos incluyen información almacenada en el sistema (tanto datos como código), así como la CPU, la memoria, los discos, las cintas y las redes que constituye la computadora.</a:t>
            </a:r>
          </a:p>
        </p:txBody>
      </p:sp>
      <p:sp>
        <p:nvSpPr>
          <p:cNvPr name="TextBox 9" id="9"/>
          <p:cNvSpPr txBox="true"/>
          <p:nvPr/>
        </p:nvSpPr>
        <p:spPr>
          <a:xfrm rot="0">
            <a:off x="1272721" y="1633061"/>
            <a:ext cx="5417563" cy="1078354"/>
          </a:xfrm>
          <a:prstGeom prst="rect">
            <a:avLst/>
          </a:prstGeom>
        </p:spPr>
        <p:txBody>
          <a:bodyPr anchor="t" rtlCol="false" tIns="0" lIns="0" bIns="0" rIns="0">
            <a:spAutoFit/>
          </a:bodyPr>
          <a:lstStyle/>
          <a:p>
            <a:pPr algn="ctr">
              <a:lnSpc>
                <a:spcPts val="8565"/>
              </a:lnSpc>
            </a:pPr>
            <a:r>
              <a:rPr lang="en-US" sz="5899">
                <a:solidFill>
                  <a:srgbClr val="FFFFFF"/>
                </a:solidFill>
                <a:latin typeface="Arial"/>
                <a:ea typeface="Arial"/>
                <a:cs typeface="Arial"/>
                <a:sym typeface="Arial"/>
              </a:rPr>
              <a:t>SEGURIDAD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920201"/>
            <a:ext cx="8888968" cy="8338099"/>
          </a:xfrm>
          <a:custGeom>
            <a:avLst/>
            <a:gdLst/>
            <a:ahLst/>
            <a:cxnLst/>
            <a:rect r="r" b="b" t="t" l="l"/>
            <a:pathLst>
              <a:path h="8338099" w="8888968">
                <a:moveTo>
                  <a:pt x="0" y="0"/>
                </a:moveTo>
                <a:lnTo>
                  <a:pt x="8888968" y="0"/>
                </a:lnTo>
                <a:lnTo>
                  <a:pt x="8888968" y="8338099"/>
                </a:lnTo>
                <a:lnTo>
                  <a:pt x="0" y="83380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26878" y="920201"/>
            <a:ext cx="7032422" cy="8338099"/>
          </a:xfrm>
          <a:custGeom>
            <a:avLst/>
            <a:gdLst/>
            <a:ahLst/>
            <a:cxnLst/>
            <a:rect r="r" b="b" t="t" l="l"/>
            <a:pathLst>
              <a:path h="8338099" w="7032422">
                <a:moveTo>
                  <a:pt x="0" y="0"/>
                </a:moveTo>
                <a:lnTo>
                  <a:pt x="7032422" y="0"/>
                </a:lnTo>
                <a:lnTo>
                  <a:pt x="7032422" y="8338099"/>
                </a:lnTo>
                <a:lnTo>
                  <a:pt x="0" y="8338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0709177" y="2109587"/>
            <a:ext cx="6067825" cy="6067825"/>
            <a:chOff x="0" y="0"/>
            <a:chExt cx="8090433" cy="8090433"/>
          </a:xfrm>
        </p:grpSpPr>
        <p:sp>
          <p:nvSpPr>
            <p:cNvPr name="Freeform 7" id="7"/>
            <p:cNvSpPr/>
            <p:nvPr/>
          </p:nvSpPr>
          <p:spPr>
            <a:xfrm flipH="false" flipV="false" rot="0">
              <a:off x="0" y="0"/>
              <a:ext cx="8090408" cy="8090408"/>
            </a:xfrm>
            <a:custGeom>
              <a:avLst/>
              <a:gdLst/>
              <a:ahLst/>
              <a:cxnLst/>
              <a:rect r="r" b="b" t="t" l="l"/>
              <a:pathLst>
                <a:path h="8090408" w="8090408">
                  <a:moveTo>
                    <a:pt x="0" y="0"/>
                  </a:moveTo>
                  <a:lnTo>
                    <a:pt x="8090408" y="0"/>
                  </a:lnTo>
                  <a:lnTo>
                    <a:pt x="8090408" y="8090408"/>
                  </a:lnTo>
                  <a:lnTo>
                    <a:pt x="0" y="8090408"/>
                  </a:lnTo>
                  <a:lnTo>
                    <a:pt x="0" y="0"/>
                  </a:lnTo>
                  <a:close/>
                </a:path>
              </a:pathLst>
            </a:custGeom>
            <a:blipFill>
              <a:blip r:embed="rId8"/>
              <a:stretch>
                <a:fillRect l="0" t="0" r="0" b="0"/>
              </a:stretch>
            </a:blipFill>
          </p:spPr>
        </p:sp>
      </p:grpSp>
      <p:sp>
        <p:nvSpPr>
          <p:cNvPr name="TextBox 8" id="8"/>
          <p:cNvSpPr txBox="true"/>
          <p:nvPr/>
        </p:nvSpPr>
        <p:spPr>
          <a:xfrm rot="0">
            <a:off x="1436789" y="1377953"/>
            <a:ext cx="8057579" cy="7435853"/>
          </a:xfrm>
          <a:prstGeom prst="rect">
            <a:avLst/>
          </a:prstGeom>
        </p:spPr>
        <p:txBody>
          <a:bodyPr anchor="t" rtlCol="false" tIns="0" lIns="0" bIns="0" rIns="0">
            <a:spAutoFit/>
          </a:bodyPr>
          <a:lstStyle/>
          <a:p>
            <a:pPr algn="l">
              <a:lnSpc>
                <a:spcPts val="3898"/>
              </a:lnSpc>
            </a:pPr>
            <a:r>
              <a:rPr lang="en-US" sz="2499">
                <a:solidFill>
                  <a:srgbClr val="FFFFFF"/>
                </a:solidFill>
                <a:latin typeface="Montserrat"/>
                <a:ea typeface="Montserrat"/>
                <a:cs typeface="Montserrat"/>
                <a:sym typeface="Montserrat"/>
              </a:rPr>
              <a:t>En muchas aplicaciones, garantizar la seguridad del sistema informático merece un esfuerzo considerable. Por ejemplo, los grandes sistemas comerciales que contienen nóminas u otros datos financieros son objetivos atractivos para los ladrones. la pérdida de dichos datos, ya sea por accidente o por fraude, puede perjudicar gravemente la capacidad de funcionamiento de la empresa.</a:t>
            </a:r>
          </a:p>
          <a:p>
            <a:pPr algn="l">
              <a:lnSpc>
                <a:spcPts val="2184"/>
              </a:lnSpc>
            </a:pPr>
          </a:p>
          <a:p>
            <a:pPr algn="l">
              <a:lnSpc>
                <a:spcPts val="3898"/>
              </a:lnSpc>
            </a:pPr>
            <a:r>
              <a:rPr lang="en-US" sz="2499">
                <a:solidFill>
                  <a:srgbClr val="FFFFFF"/>
                </a:solidFill>
                <a:latin typeface="Montserrat"/>
                <a:ea typeface="Montserrat"/>
                <a:cs typeface="Montserrat"/>
                <a:sym typeface="Montserrat"/>
              </a:rPr>
              <a:t>Decimos que un sistema es seguro si sus recursos se utilizan y se accede a ellos según lo previsto en todas las circunstancias. Lamentablemente, no se puede lograr una seguridad total. No obstante, debemos contar con mecanismos para que las violaciones de seguridad sean algo poco común y no la norma.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2351037"/>
            <a:ext cx="6863772" cy="6614655"/>
          </a:xfrm>
          <a:custGeom>
            <a:avLst/>
            <a:gdLst/>
            <a:ahLst/>
            <a:cxnLst/>
            <a:rect r="r" b="b" t="t" l="l"/>
            <a:pathLst>
              <a:path h="6614655" w="6863772">
                <a:moveTo>
                  <a:pt x="0" y="0"/>
                </a:moveTo>
                <a:lnTo>
                  <a:pt x="6863772" y="0"/>
                </a:lnTo>
                <a:lnTo>
                  <a:pt x="6863772" y="6614655"/>
                </a:lnTo>
                <a:lnTo>
                  <a:pt x="0" y="66146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248059" y="2351037"/>
            <a:ext cx="8767229" cy="6614655"/>
          </a:xfrm>
          <a:custGeom>
            <a:avLst/>
            <a:gdLst/>
            <a:ahLst/>
            <a:cxnLst/>
            <a:rect r="r" b="b" t="t" l="l"/>
            <a:pathLst>
              <a:path h="6614655" w="8767229">
                <a:moveTo>
                  <a:pt x="0" y="0"/>
                </a:moveTo>
                <a:lnTo>
                  <a:pt x="8767230" y="0"/>
                </a:lnTo>
                <a:lnTo>
                  <a:pt x="8767230" y="6614655"/>
                </a:lnTo>
                <a:lnTo>
                  <a:pt x="0" y="66146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836515" y="3088548"/>
            <a:ext cx="5248142" cy="5248142"/>
            <a:chOff x="0" y="0"/>
            <a:chExt cx="6997522" cy="6997522"/>
          </a:xfrm>
        </p:grpSpPr>
        <p:sp>
          <p:nvSpPr>
            <p:cNvPr name="Freeform 7" id="7"/>
            <p:cNvSpPr/>
            <p:nvPr/>
          </p:nvSpPr>
          <p:spPr>
            <a:xfrm flipH="false" flipV="false" rot="0">
              <a:off x="0" y="0"/>
              <a:ext cx="6997573" cy="6997573"/>
            </a:xfrm>
            <a:custGeom>
              <a:avLst/>
              <a:gdLst/>
              <a:ahLst/>
              <a:cxnLst/>
              <a:rect r="r" b="b" t="t" l="l"/>
              <a:pathLst>
                <a:path h="6997573" w="6997573">
                  <a:moveTo>
                    <a:pt x="0" y="0"/>
                  </a:moveTo>
                  <a:lnTo>
                    <a:pt x="6997573" y="0"/>
                  </a:lnTo>
                  <a:lnTo>
                    <a:pt x="6997573" y="6997573"/>
                  </a:lnTo>
                  <a:lnTo>
                    <a:pt x="0" y="6997573"/>
                  </a:lnTo>
                  <a:lnTo>
                    <a:pt x="0" y="0"/>
                  </a:lnTo>
                  <a:close/>
                </a:path>
              </a:pathLst>
            </a:custGeom>
            <a:blipFill>
              <a:blip r:embed="rId8"/>
              <a:stretch>
                <a:fillRect l="-59289" t="0" r="-59288" b="0"/>
              </a:stretch>
            </a:blipFill>
          </p:spPr>
        </p:sp>
      </p:grpSp>
      <p:sp>
        <p:nvSpPr>
          <p:cNvPr name="TextBox 8" id="8"/>
          <p:cNvSpPr txBox="true"/>
          <p:nvPr/>
        </p:nvSpPr>
        <p:spPr>
          <a:xfrm rot="0">
            <a:off x="8794775" y="2766212"/>
            <a:ext cx="7673797" cy="5797553"/>
          </a:xfrm>
          <a:prstGeom prst="rect">
            <a:avLst/>
          </a:prstGeom>
        </p:spPr>
        <p:txBody>
          <a:bodyPr anchor="t" rtlCol="false" tIns="0" lIns="0" bIns="0" rIns="0">
            <a:spAutoFit/>
          </a:bodyPr>
          <a:lstStyle/>
          <a:p>
            <a:pPr algn="l">
              <a:lnSpc>
                <a:spcPts val="3899"/>
              </a:lnSpc>
            </a:pPr>
            <a:r>
              <a:rPr lang="en-US" sz="2499">
                <a:solidFill>
                  <a:srgbClr val="FFFFFF"/>
                </a:solidFill>
                <a:latin typeface="Montserrat"/>
                <a:ea typeface="Montserrat"/>
                <a:cs typeface="Montserrat"/>
                <a:sym typeface="Montserrat"/>
              </a:rPr>
              <a:t>Las</a:t>
            </a:r>
            <a:r>
              <a:rPr lang="en-US" sz="2499">
                <a:solidFill>
                  <a:srgbClr val="67D3CD"/>
                </a:solidFill>
                <a:latin typeface="Montserrat"/>
                <a:ea typeface="Montserrat"/>
                <a:cs typeface="Montserrat"/>
                <a:sym typeface="Montserrat"/>
              </a:rPr>
              <a:t> violaciones de seguridad</a:t>
            </a:r>
            <a:r>
              <a:rPr lang="en-US" sz="2499">
                <a:solidFill>
                  <a:srgbClr val="FFFFFF"/>
                </a:solidFill>
                <a:latin typeface="Montserrat"/>
                <a:ea typeface="Montserrat"/>
                <a:cs typeface="Montserrat"/>
                <a:sym typeface="Montserrat"/>
              </a:rPr>
              <a:t> (o el uso indebido) del sistema pueden clasificarse como </a:t>
            </a:r>
            <a:r>
              <a:rPr lang="en-US" sz="2499">
                <a:solidFill>
                  <a:srgbClr val="F59F0A"/>
                </a:solidFill>
                <a:latin typeface="Montserrat"/>
                <a:ea typeface="Montserrat"/>
                <a:cs typeface="Montserrat"/>
                <a:sym typeface="Montserrat"/>
              </a:rPr>
              <a:t>intencionales </a:t>
            </a:r>
            <a:r>
              <a:rPr lang="en-US" sz="2499">
                <a:solidFill>
                  <a:srgbClr val="FFFFFF"/>
                </a:solidFill>
                <a:latin typeface="Montserrat"/>
                <a:ea typeface="Montserrat"/>
                <a:cs typeface="Montserrat"/>
                <a:sym typeface="Montserrat"/>
              </a:rPr>
              <a:t>(maliciosas) o </a:t>
            </a:r>
            <a:r>
              <a:rPr lang="en-US" sz="2499">
                <a:solidFill>
                  <a:srgbClr val="FF66C4"/>
                </a:solidFill>
                <a:latin typeface="Montserrat"/>
                <a:ea typeface="Montserrat"/>
                <a:cs typeface="Montserrat"/>
                <a:sym typeface="Montserrat"/>
              </a:rPr>
              <a:t>accidentales</a:t>
            </a:r>
            <a:r>
              <a:rPr lang="en-US" sz="2499">
                <a:solidFill>
                  <a:srgbClr val="FFFFFF"/>
                </a:solidFill>
                <a:latin typeface="Montserrat"/>
                <a:ea typeface="Montserrat"/>
                <a:cs typeface="Montserrat"/>
                <a:sym typeface="Montserrat"/>
              </a:rPr>
              <a:t>. Es más fácil protegerse contra un mal uso accidental que contra un mal uso malicioso. En su mayor parte, los mecanismos de protección son el núcleo de la protección contra accidentes.</a:t>
            </a:r>
          </a:p>
          <a:p>
            <a:pPr algn="l">
              <a:lnSpc>
                <a:spcPts val="2183"/>
              </a:lnSpc>
            </a:pPr>
          </a:p>
          <a:p>
            <a:pPr algn="l">
              <a:lnSpc>
                <a:spcPts val="3899"/>
              </a:lnSpc>
            </a:pPr>
            <a:r>
              <a:rPr lang="en-US" sz="2499">
                <a:solidFill>
                  <a:srgbClr val="FFFFFF"/>
                </a:solidFill>
                <a:latin typeface="Montserrat"/>
                <a:ea typeface="Montserrat"/>
                <a:cs typeface="Montserrat"/>
                <a:sym typeface="Montserrat"/>
              </a:rPr>
              <a:t>Además, una </a:t>
            </a:r>
            <a:r>
              <a:rPr lang="en-US" sz="2499">
                <a:solidFill>
                  <a:srgbClr val="5CD9C1"/>
                </a:solidFill>
                <a:latin typeface="Montserrat"/>
                <a:ea typeface="Montserrat"/>
                <a:cs typeface="Montserrat"/>
                <a:sym typeface="Montserrat"/>
              </a:rPr>
              <a:t>amenaza </a:t>
            </a:r>
            <a:r>
              <a:rPr lang="en-US" sz="2499">
                <a:solidFill>
                  <a:srgbClr val="FFFFFF"/>
                </a:solidFill>
                <a:latin typeface="Montserrat"/>
                <a:ea typeface="Montserrat"/>
                <a:cs typeface="Montserrat"/>
                <a:sym typeface="Montserrat"/>
              </a:rPr>
              <a:t>es la posibilidad de que se produzca una violación de la seguridad, como el descubrimiento de una vulnerabilidad, mientras que un </a:t>
            </a:r>
            <a:r>
              <a:rPr lang="en-US" sz="2499">
                <a:solidFill>
                  <a:srgbClr val="FF5757"/>
                </a:solidFill>
                <a:latin typeface="Montserrat"/>
                <a:ea typeface="Montserrat"/>
                <a:cs typeface="Montserrat"/>
                <a:sym typeface="Montserrat"/>
              </a:rPr>
              <a:t>ataque </a:t>
            </a:r>
            <a:r>
              <a:rPr lang="en-US" sz="2499">
                <a:solidFill>
                  <a:srgbClr val="FFFFFF"/>
                </a:solidFill>
                <a:latin typeface="Montserrat"/>
                <a:ea typeface="Montserrat"/>
                <a:cs typeface="Montserrat"/>
                <a:sym typeface="Montserrat"/>
              </a:rPr>
              <a:t>es el intento de violar la seguridad.</a:t>
            </a:r>
          </a:p>
        </p:txBody>
      </p:sp>
      <p:sp>
        <p:nvSpPr>
          <p:cNvPr name="TextBox 9" id="9"/>
          <p:cNvSpPr txBox="true"/>
          <p:nvPr/>
        </p:nvSpPr>
        <p:spPr>
          <a:xfrm rot="0">
            <a:off x="1933480" y="978989"/>
            <a:ext cx="14421040" cy="1049912"/>
          </a:xfrm>
          <a:prstGeom prst="rect">
            <a:avLst/>
          </a:prstGeom>
        </p:spPr>
        <p:txBody>
          <a:bodyPr anchor="t" rtlCol="false" tIns="0" lIns="0" bIns="0" rIns="0">
            <a:spAutoFit/>
          </a:bodyPr>
          <a:lstStyle/>
          <a:p>
            <a:pPr algn="ctr">
              <a:lnSpc>
                <a:spcPts val="8420"/>
              </a:lnSpc>
            </a:pPr>
            <a:r>
              <a:rPr lang="en-US" sz="5798">
                <a:solidFill>
                  <a:srgbClr val="FFFFFF"/>
                </a:solidFill>
                <a:latin typeface="Arial"/>
                <a:ea typeface="Arial"/>
                <a:cs typeface="Arial"/>
                <a:sym typeface="Arial"/>
              </a:rPr>
              <a:t>VIOLACIONES DE SEGURIDAD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1509303" y="956367"/>
            <a:ext cx="7463276" cy="2420283"/>
          </a:xfrm>
          <a:custGeom>
            <a:avLst/>
            <a:gdLst/>
            <a:ahLst/>
            <a:cxnLst/>
            <a:rect r="r" b="b" t="t" l="l"/>
            <a:pathLst>
              <a:path h="2420283" w="7463276">
                <a:moveTo>
                  <a:pt x="0" y="0"/>
                </a:moveTo>
                <a:lnTo>
                  <a:pt x="7463276" y="0"/>
                </a:lnTo>
                <a:lnTo>
                  <a:pt x="7463276" y="2420284"/>
                </a:lnTo>
                <a:lnTo>
                  <a:pt x="0" y="2420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09303" y="3743935"/>
            <a:ext cx="7463276" cy="2420283"/>
          </a:xfrm>
          <a:custGeom>
            <a:avLst/>
            <a:gdLst/>
            <a:ahLst/>
            <a:cxnLst/>
            <a:rect r="r" b="b" t="t" l="l"/>
            <a:pathLst>
              <a:path h="2420283" w="7463276">
                <a:moveTo>
                  <a:pt x="0" y="0"/>
                </a:moveTo>
                <a:lnTo>
                  <a:pt x="7463276" y="0"/>
                </a:lnTo>
                <a:lnTo>
                  <a:pt x="7463276"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158460" y="956367"/>
            <a:ext cx="7463276" cy="2420283"/>
          </a:xfrm>
          <a:custGeom>
            <a:avLst/>
            <a:gdLst/>
            <a:ahLst/>
            <a:cxnLst/>
            <a:rect r="r" b="b" t="t" l="l"/>
            <a:pathLst>
              <a:path h="2420283" w="7463276">
                <a:moveTo>
                  <a:pt x="0" y="0"/>
                </a:moveTo>
                <a:lnTo>
                  <a:pt x="7463276" y="0"/>
                </a:lnTo>
                <a:lnTo>
                  <a:pt x="7463276" y="2420284"/>
                </a:lnTo>
                <a:lnTo>
                  <a:pt x="0" y="2420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158460" y="3743935"/>
            <a:ext cx="7463276" cy="2420283"/>
          </a:xfrm>
          <a:custGeom>
            <a:avLst/>
            <a:gdLst/>
            <a:ahLst/>
            <a:cxnLst/>
            <a:rect r="r" b="b" t="t" l="l"/>
            <a:pathLst>
              <a:path h="2420283" w="7463276">
                <a:moveTo>
                  <a:pt x="0" y="0"/>
                </a:moveTo>
                <a:lnTo>
                  <a:pt x="7463276" y="0"/>
                </a:lnTo>
                <a:lnTo>
                  <a:pt x="7463276"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12362" y="6703076"/>
            <a:ext cx="7463276" cy="2420283"/>
          </a:xfrm>
          <a:custGeom>
            <a:avLst/>
            <a:gdLst/>
            <a:ahLst/>
            <a:cxnLst/>
            <a:rect r="r" b="b" t="t" l="l"/>
            <a:pathLst>
              <a:path h="2420283" w="7463276">
                <a:moveTo>
                  <a:pt x="0" y="0"/>
                </a:moveTo>
                <a:lnTo>
                  <a:pt x="7463276" y="0"/>
                </a:lnTo>
                <a:lnTo>
                  <a:pt x="7463276"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02431" y="1341558"/>
            <a:ext cx="1686077" cy="1686077"/>
          </a:xfrm>
          <a:custGeom>
            <a:avLst/>
            <a:gdLst/>
            <a:ahLst/>
            <a:cxnLst/>
            <a:rect r="r" b="b" t="t" l="l"/>
            <a:pathLst>
              <a:path h="1686077" w="1686077">
                <a:moveTo>
                  <a:pt x="0" y="0"/>
                </a:moveTo>
                <a:lnTo>
                  <a:pt x="1686077" y="0"/>
                </a:lnTo>
                <a:lnTo>
                  <a:pt x="1686077" y="1686078"/>
                </a:lnTo>
                <a:lnTo>
                  <a:pt x="0" y="16860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351588" y="1341558"/>
            <a:ext cx="1686077" cy="1686077"/>
          </a:xfrm>
          <a:custGeom>
            <a:avLst/>
            <a:gdLst/>
            <a:ahLst/>
            <a:cxnLst/>
            <a:rect r="r" b="b" t="t" l="l"/>
            <a:pathLst>
              <a:path h="1686077" w="1686077">
                <a:moveTo>
                  <a:pt x="0" y="0"/>
                </a:moveTo>
                <a:lnTo>
                  <a:pt x="1686077" y="0"/>
                </a:lnTo>
                <a:lnTo>
                  <a:pt x="1686077" y="1686078"/>
                </a:lnTo>
                <a:lnTo>
                  <a:pt x="0" y="168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702431" y="4129354"/>
            <a:ext cx="1686077" cy="1686077"/>
          </a:xfrm>
          <a:custGeom>
            <a:avLst/>
            <a:gdLst/>
            <a:ahLst/>
            <a:cxnLst/>
            <a:rect r="r" b="b" t="t" l="l"/>
            <a:pathLst>
              <a:path h="1686077" w="1686077">
                <a:moveTo>
                  <a:pt x="0" y="0"/>
                </a:moveTo>
                <a:lnTo>
                  <a:pt x="1686077" y="0"/>
                </a:lnTo>
                <a:lnTo>
                  <a:pt x="1686077" y="1686078"/>
                </a:lnTo>
                <a:lnTo>
                  <a:pt x="0" y="16860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351588" y="4003243"/>
            <a:ext cx="1686077" cy="1686077"/>
          </a:xfrm>
          <a:custGeom>
            <a:avLst/>
            <a:gdLst/>
            <a:ahLst/>
            <a:cxnLst/>
            <a:rect r="r" b="b" t="t" l="l"/>
            <a:pathLst>
              <a:path h="1686077" w="1686077">
                <a:moveTo>
                  <a:pt x="0" y="0"/>
                </a:moveTo>
                <a:lnTo>
                  <a:pt x="1686077" y="0"/>
                </a:lnTo>
                <a:lnTo>
                  <a:pt x="1686077" y="1686078"/>
                </a:lnTo>
                <a:lnTo>
                  <a:pt x="0" y="16860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4605490" y="7088257"/>
            <a:ext cx="1686077" cy="1686077"/>
          </a:xfrm>
          <a:custGeom>
            <a:avLst/>
            <a:gdLst/>
            <a:ahLst/>
            <a:cxnLst/>
            <a:rect r="r" b="b" t="t" l="l"/>
            <a:pathLst>
              <a:path h="1686077" w="1686077">
                <a:moveTo>
                  <a:pt x="0" y="0"/>
                </a:moveTo>
                <a:lnTo>
                  <a:pt x="1686077" y="0"/>
                </a:lnTo>
                <a:lnTo>
                  <a:pt x="1686077" y="1686078"/>
                </a:lnTo>
                <a:lnTo>
                  <a:pt x="0" y="168607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2" id="12"/>
          <p:cNvGrpSpPr/>
          <p:nvPr/>
        </p:nvGrpSpPr>
        <p:grpSpPr>
          <a:xfrm rot="0">
            <a:off x="988447" y="1627565"/>
            <a:ext cx="1114054" cy="1114054"/>
            <a:chOff x="0" y="0"/>
            <a:chExt cx="1485405" cy="1485405"/>
          </a:xfrm>
        </p:grpSpPr>
        <p:sp>
          <p:nvSpPr>
            <p:cNvPr name="Freeform 13" id="13"/>
            <p:cNvSpPr/>
            <p:nvPr/>
          </p:nvSpPr>
          <p:spPr>
            <a:xfrm flipH="false" flipV="false" rot="0">
              <a:off x="0" y="0"/>
              <a:ext cx="1485392" cy="1485392"/>
            </a:xfrm>
            <a:custGeom>
              <a:avLst/>
              <a:gdLst/>
              <a:ahLst/>
              <a:cxnLst/>
              <a:rect r="r" b="b" t="t" l="l"/>
              <a:pathLst>
                <a:path h="1485392" w="1485392">
                  <a:moveTo>
                    <a:pt x="0" y="0"/>
                  </a:moveTo>
                  <a:lnTo>
                    <a:pt x="1485392" y="0"/>
                  </a:lnTo>
                  <a:lnTo>
                    <a:pt x="1485392" y="1485392"/>
                  </a:lnTo>
                  <a:lnTo>
                    <a:pt x="0" y="1485392"/>
                  </a:lnTo>
                  <a:lnTo>
                    <a:pt x="0" y="0"/>
                  </a:lnTo>
                  <a:close/>
                </a:path>
              </a:pathLst>
            </a:custGeom>
            <a:blipFill>
              <a:blip r:embed="rId15"/>
              <a:stretch>
                <a:fillRect l="0" t="0" r="0" b="0"/>
              </a:stretch>
            </a:blipFill>
          </p:spPr>
        </p:sp>
      </p:grpSp>
      <p:grpSp>
        <p:nvGrpSpPr>
          <p:cNvPr name="Group 14" id="14"/>
          <p:cNvGrpSpPr/>
          <p:nvPr/>
        </p:nvGrpSpPr>
        <p:grpSpPr>
          <a:xfrm rot="0">
            <a:off x="9531553" y="1669047"/>
            <a:ext cx="1326156" cy="1031091"/>
            <a:chOff x="0" y="0"/>
            <a:chExt cx="1768208" cy="1374788"/>
          </a:xfrm>
        </p:grpSpPr>
        <p:sp>
          <p:nvSpPr>
            <p:cNvPr name="Freeform 15" id="15"/>
            <p:cNvSpPr/>
            <p:nvPr/>
          </p:nvSpPr>
          <p:spPr>
            <a:xfrm flipH="false" flipV="false" rot="0">
              <a:off x="0" y="0"/>
              <a:ext cx="1768221" cy="1374775"/>
            </a:xfrm>
            <a:custGeom>
              <a:avLst/>
              <a:gdLst/>
              <a:ahLst/>
              <a:cxnLst/>
              <a:rect r="r" b="b" t="t" l="l"/>
              <a:pathLst>
                <a:path h="1374775" w="1768221">
                  <a:moveTo>
                    <a:pt x="0" y="0"/>
                  </a:moveTo>
                  <a:lnTo>
                    <a:pt x="1768221" y="0"/>
                  </a:lnTo>
                  <a:lnTo>
                    <a:pt x="1768221" y="1374775"/>
                  </a:lnTo>
                  <a:lnTo>
                    <a:pt x="0" y="1374775"/>
                  </a:lnTo>
                  <a:lnTo>
                    <a:pt x="0" y="0"/>
                  </a:lnTo>
                  <a:close/>
                </a:path>
              </a:pathLst>
            </a:custGeom>
            <a:blipFill>
              <a:blip r:embed="rId16"/>
              <a:stretch>
                <a:fillRect l="0" t="-17" r="0" b="-18"/>
              </a:stretch>
            </a:blipFill>
          </p:spPr>
        </p:sp>
      </p:grpSp>
      <p:grpSp>
        <p:nvGrpSpPr>
          <p:cNvPr name="Group 16" id="16"/>
          <p:cNvGrpSpPr/>
          <p:nvPr/>
        </p:nvGrpSpPr>
        <p:grpSpPr>
          <a:xfrm rot="0">
            <a:off x="988447" y="4440260"/>
            <a:ext cx="1032329" cy="1064257"/>
            <a:chOff x="0" y="0"/>
            <a:chExt cx="1376439" cy="1419009"/>
          </a:xfrm>
        </p:grpSpPr>
        <p:sp>
          <p:nvSpPr>
            <p:cNvPr name="Freeform 17" id="17"/>
            <p:cNvSpPr/>
            <p:nvPr/>
          </p:nvSpPr>
          <p:spPr>
            <a:xfrm flipH="false" flipV="false" rot="0">
              <a:off x="0" y="0"/>
              <a:ext cx="1376426" cy="1418971"/>
            </a:xfrm>
            <a:custGeom>
              <a:avLst/>
              <a:gdLst/>
              <a:ahLst/>
              <a:cxnLst/>
              <a:rect r="r" b="b" t="t" l="l"/>
              <a:pathLst>
                <a:path h="1418971" w="1376426">
                  <a:moveTo>
                    <a:pt x="0" y="0"/>
                  </a:moveTo>
                  <a:lnTo>
                    <a:pt x="1376426" y="0"/>
                  </a:lnTo>
                  <a:lnTo>
                    <a:pt x="1376426" y="1418971"/>
                  </a:lnTo>
                  <a:lnTo>
                    <a:pt x="0" y="1418971"/>
                  </a:lnTo>
                  <a:lnTo>
                    <a:pt x="0" y="0"/>
                  </a:lnTo>
                  <a:close/>
                </a:path>
              </a:pathLst>
            </a:custGeom>
            <a:blipFill>
              <a:blip r:embed="rId17"/>
              <a:stretch>
                <a:fillRect l="-30" t="0" r="-31" b="-2"/>
              </a:stretch>
            </a:blipFill>
          </p:spPr>
        </p:sp>
      </p:grpSp>
      <p:grpSp>
        <p:nvGrpSpPr>
          <p:cNvPr name="Group 18" id="18"/>
          <p:cNvGrpSpPr/>
          <p:nvPr/>
        </p:nvGrpSpPr>
        <p:grpSpPr>
          <a:xfrm rot="0">
            <a:off x="9637576" y="4289241"/>
            <a:ext cx="1114101" cy="1114101"/>
            <a:chOff x="0" y="0"/>
            <a:chExt cx="1485468" cy="1485468"/>
          </a:xfrm>
        </p:grpSpPr>
        <p:sp>
          <p:nvSpPr>
            <p:cNvPr name="Freeform 19" id="19"/>
            <p:cNvSpPr/>
            <p:nvPr/>
          </p:nvSpPr>
          <p:spPr>
            <a:xfrm flipH="false" flipV="false" rot="0">
              <a:off x="0" y="0"/>
              <a:ext cx="1485519" cy="1485519"/>
            </a:xfrm>
            <a:custGeom>
              <a:avLst/>
              <a:gdLst/>
              <a:ahLst/>
              <a:cxnLst/>
              <a:rect r="r" b="b" t="t" l="l"/>
              <a:pathLst>
                <a:path h="1485519" w="1485519">
                  <a:moveTo>
                    <a:pt x="0" y="0"/>
                  </a:moveTo>
                  <a:lnTo>
                    <a:pt x="1485519" y="0"/>
                  </a:lnTo>
                  <a:lnTo>
                    <a:pt x="1485519" y="1485519"/>
                  </a:lnTo>
                  <a:lnTo>
                    <a:pt x="0" y="1485519"/>
                  </a:lnTo>
                  <a:lnTo>
                    <a:pt x="0" y="0"/>
                  </a:lnTo>
                  <a:close/>
                </a:path>
              </a:pathLst>
            </a:custGeom>
            <a:blipFill>
              <a:blip r:embed="rId18"/>
              <a:stretch>
                <a:fillRect l="0" t="0" r="3" b="3"/>
              </a:stretch>
            </a:blipFill>
          </p:spPr>
        </p:sp>
      </p:grpSp>
      <p:grpSp>
        <p:nvGrpSpPr>
          <p:cNvPr name="Group 20" id="20"/>
          <p:cNvGrpSpPr/>
          <p:nvPr/>
        </p:nvGrpSpPr>
        <p:grpSpPr>
          <a:xfrm rot="0">
            <a:off x="4843567" y="7383047"/>
            <a:ext cx="1209932" cy="1096499"/>
            <a:chOff x="0" y="0"/>
            <a:chExt cx="1613243" cy="1461999"/>
          </a:xfrm>
        </p:grpSpPr>
        <p:sp>
          <p:nvSpPr>
            <p:cNvPr name="Freeform 21" id="21"/>
            <p:cNvSpPr/>
            <p:nvPr/>
          </p:nvSpPr>
          <p:spPr>
            <a:xfrm flipH="false" flipV="false" rot="0">
              <a:off x="0" y="0"/>
              <a:ext cx="1613281" cy="1462024"/>
            </a:xfrm>
            <a:custGeom>
              <a:avLst/>
              <a:gdLst/>
              <a:ahLst/>
              <a:cxnLst/>
              <a:rect r="r" b="b" t="t" l="l"/>
              <a:pathLst>
                <a:path h="1462024" w="1613281">
                  <a:moveTo>
                    <a:pt x="0" y="0"/>
                  </a:moveTo>
                  <a:lnTo>
                    <a:pt x="1613281" y="0"/>
                  </a:lnTo>
                  <a:lnTo>
                    <a:pt x="1613281" y="1462024"/>
                  </a:lnTo>
                  <a:lnTo>
                    <a:pt x="0" y="1462024"/>
                  </a:lnTo>
                  <a:lnTo>
                    <a:pt x="0" y="0"/>
                  </a:lnTo>
                  <a:close/>
                </a:path>
              </a:pathLst>
            </a:custGeom>
            <a:blipFill>
              <a:blip r:embed="rId19"/>
              <a:stretch>
                <a:fillRect l="-103" t="0" r="-101" b="1"/>
              </a:stretch>
            </a:blipFill>
          </p:spPr>
        </p:sp>
      </p:grpSp>
      <p:sp>
        <p:nvSpPr>
          <p:cNvPr name="TextBox 22" id="22"/>
          <p:cNvSpPr txBox="true"/>
          <p:nvPr/>
        </p:nvSpPr>
        <p:spPr>
          <a:xfrm rot="0">
            <a:off x="2673734" y="1154782"/>
            <a:ext cx="4390958" cy="451485"/>
          </a:xfrm>
          <a:prstGeom prst="rect">
            <a:avLst/>
          </a:prstGeom>
        </p:spPr>
        <p:txBody>
          <a:bodyPr anchor="t" rtlCol="false" tIns="0" lIns="0" bIns="0" rIns="0">
            <a:spAutoFit/>
          </a:bodyPr>
          <a:lstStyle/>
          <a:p>
            <a:pPr algn="l">
              <a:lnSpc>
                <a:spcPts val="3528"/>
              </a:lnSpc>
            </a:pPr>
            <a:r>
              <a:rPr lang="en-US" sz="2100">
                <a:solidFill>
                  <a:srgbClr val="FFFFFF"/>
                </a:solidFill>
                <a:latin typeface="Open Sans"/>
                <a:ea typeface="Open Sans"/>
                <a:cs typeface="Open Sans"/>
                <a:sym typeface="Open Sans"/>
              </a:rPr>
              <a:t>Violación de la confidencialidad</a:t>
            </a:r>
          </a:p>
        </p:txBody>
      </p:sp>
      <p:sp>
        <p:nvSpPr>
          <p:cNvPr name="TextBox 23" id="23"/>
          <p:cNvSpPr txBox="true"/>
          <p:nvPr/>
        </p:nvSpPr>
        <p:spPr>
          <a:xfrm rot="0">
            <a:off x="2673734" y="1645320"/>
            <a:ext cx="5632190" cy="1435732"/>
          </a:xfrm>
          <a:prstGeom prst="rect">
            <a:avLst/>
          </a:prstGeom>
        </p:spPr>
        <p:txBody>
          <a:bodyPr anchor="t" rtlCol="false" tIns="0" lIns="0" bIns="0" rIns="0">
            <a:spAutoFit/>
          </a:bodyPr>
          <a:lstStyle/>
          <a:p>
            <a:pPr algn="l">
              <a:lnSpc>
                <a:spcPts val="2686"/>
              </a:lnSpc>
            </a:pPr>
            <a:r>
              <a:rPr lang="en-US" sz="1599">
                <a:solidFill>
                  <a:srgbClr val="FFFFFF"/>
                </a:solidFill>
                <a:latin typeface="Open Sans"/>
                <a:ea typeface="Open Sans"/>
                <a:cs typeface="Open Sans"/>
                <a:sym typeface="Open Sans"/>
              </a:rPr>
              <a:t>Implica la lectura no autorizada de datos (o robo de información). Normalmente, el objetivo de un intruso es violar la confidencialidad. La captura de datos secretos de un sistema puede resultar directamente en dinero para el intruso.</a:t>
            </a:r>
          </a:p>
        </p:txBody>
      </p:sp>
      <p:sp>
        <p:nvSpPr>
          <p:cNvPr name="TextBox 24" id="24"/>
          <p:cNvSpPr txBox="true"/>
          <p:nvPr/>
        </p:nvSpPr>
        <p:spPr>
          <a:xfrm rot="0">
            <a:off x="11323415" y="1154782"/>
            <a:ext cx="4390958" cy="451485"/>
          </a:xfrm>
          <a:prstGeom prst="rect">
            <a:avLst/>
          </a:prstGeom>
        </p:spPr>
        <p:txBody>
          <a:bodyPr anchor="t" rtlCol="false" tIns="0" lIns="0" bIns="0" rIns="0">
            <a:spAutoFit/>
          </a:bodyPr>
          <a:lstStyle/>
          <a:p>
            <a:pPr algn="l">
              <a:lnSpc>
                <a:spcPts val="3528"/>
              </a:lnSpc>
            </a:pPr>
            <a:r>
              <a:rPr lang="en-US" sz="2100">
                <a:solidFill>
                  <a:srgbClr val="FFFFFF"/>
                </a:solidFill>
                <a:latin typeface="Open Sans"/>
                <a:ea typeface="Open Sans"/>
                <a:cs typeface="Open Sans"/>
                <a:sym typeface="Open Sans"/>
              </a:rPr>
              <a:t>Violación de la integridad</a:t>
            </a:r>
          </a:p>
        </p:txBody>
      </p:sp>
      <p:sp>
        <p:nvSpPr>
          <p:cNvPr name="TextBox 25" id="25"/>
          <p:cNvSpPr txBox="true"/>
          <p:nvPr/>
        </p:nvSpPr>
        <p:spPr>
          <a:xfrm rot="0">
            <a:off x="11323415" y="1645320"/>
            <a:ext cx="5632190" cy="1435732"/>
          </a:xfrm>
          <a:prstGeom prst="rect">
            <a:avLst/>
          </a:prstGeom>
        </p:spPr>
        <p:txBody>
          <a:bodyPr anchor="t" rtlCol="false" tIns="0" lIns="0" bIns="0" rIns="0">
            <a:spAutoFit/>
          </a:bodyPr>
          <a:lstStyle/>
          <a:p>
            <a:pPr algn="l">
              <a:lnSpc>
                <a:spcPts val="2686"/>
              </a:lnSpc>
            </a:pPr>
            <a:r>
              <a:rPr lang="en-US" sz="1599">
                <a:solidFill>
                  <a:srgbClr val="FFFFFF"/>
                </a:solidFill>
                <a:latin typeface="Open Sans"/>
                <a:ea typeface="Open Sans"/>
                <a:cs typeface="Open Sans"/>
                <a:sym typeface="Open Sans"/>
              </a:rPr>
              <a:t>Implica la modificación no autorizada de datos. Tales ataques pueden, por ejemplo, dar como resultado la transferencia de responsabilidad a una parte inocente o la modificación del código fuente de una aplicación comercial importante.</a:t>
            </a:r>
          </a:p>
        </p:txBody>
      </p:sp>
      <p:sp>
        <p:nvSpPr>
          <p:cNvPr name="TextBox 26" id="26"/>
          <p:cNvSpPr txBox="true"/>
          <p:nvPr/>
        </p:nvSpPr>
        <p:spPr>
          <a:xfrm rot="0">
            <a:off x="2632434" y="3942340"/>
            <a:ext cx="5632190" cy="451485"/>
          </a:xfrm>
          <a:prstGeom prst="rect">
            <a:avLst/>
          </a:prstGeom>
        </p:spPr>
        <p:txBody>
          <a:bodyPr anchor="t" rtlCol="false" tIns="0" lIns="0" bIns="0" rIns="0">
            <a:spAutoFit/>
          </a:bodyPr>
          <a:lstStyle/>
          <a:p>
            <a:pPr algn="l">
              <a:lnSpc>
                <a:spcPts val="3528"/>
              </a:lnSpc>
            </a:pPr>
            <a:r>
              <a:rPr lang="en-US" sz="2100">
                <a:solidFill>
                  <a:srgbClr val="FFFFFF"/>
                </a:solidFill>
                <a:latin typeface="Open Sans"/>
                <a:ea typeface="Open Sans"/>
                <a:cs typeface="Open Sans"/>
                <a:sym typeface="Open Sans"/>
              </a:rPr>
              <a:t>Incumplimiento de disponibilidad</a:t>
            </a:r>
          </a:p>
        </p:txBody>
      </p:sp>
      <p:sp>
        <p:nvSpPr>
          <p:cNvPr name="TextBox 27" id="27"/>
          <p:cNvSpPr txBox="true"/>
          <p:nvPr/>
        </p:nvSpPr>
        <p:spPr>
          <a:xfrm rot="0">
            <a:off x="2632434" y="4432878"/>
            <a:ext cx="5632190" cy="1435732"/>
          </a:xfrm>
          <a:prstGeom prst="rect">
            <a:avLst/>
          </a:prstGeom>
        </p:spPr>
        <p:txBody>
          <a:bodyPr anchor="t" rtlCol="false" tIns="0" lIns="0" bIns="0" rIns="0">
            <a:spAutoFit/>
          </a:bodyPr>
          <a:lstStyle/>
          <a:p>
            <a:pPr algn="l">
              <a:lnSpc>
                <a:spcPts val="2686"/>
              </a:lnSpc>
            </a:pPr>
            <a:r>
              <a:rPr lang="en-US" sz="1599">
                <a:solidFill>
                  <a:srgbClr val="FFFFFF"/>
                </a:solidFill>
                <a:latin typeface="Open Sans"/>
                <a:ea typeface="Open Sans"/>
                <a:cs typeface="Open Sans"/>
                <a:sym typeface="Open Sans"/>
              </a:rPr>
              <a:t>Esta infracción implica la destrucción no autorizada de datos. Algunos crackers prefieren causar estragos y ganar estatus o derechos de fanfarronear que ganar dinero financieramente. La desfiguración de un sitio web es un ejemplo común de este tipo de violación de seguridad.</a:t>
            </a:r>
          </a:p>
        </p:txBody>
      </p:sp>
      <p:sp>
        <p:nvSpPr>
          <p:cNvPr name="TextBox 28" id="28"/>
          <p:cNvSpPr txBox="true"/>
          <p:nvPr/>
        </p:nvSpPr>
        <p:spPr>
          <a:xfrm rot="0">
            <a:off x="11285315" y="3898421"/>
            <a:ext cx="4390958" cy="451485"/>
          </a:xfrm>
          <a:prstGeom prst="rect">
            <a:avLst/>
          </a:prstGeom>
        </p:spPr>
        <p:txBody>
          <a:bodyPr anchor="t" rtlCol="false" tIns="0" lIns="0" bIns="0" rIns="0">
            <a:spAutoFit/>
          </a:bodyPr>
          <a:lstStyle/>
          <a:p>
            <a:pPr algn="l">
              <a:lnSpc>
                <a:spcPts val="3528"/>
              </a:lnSpc>
            </a:pPr>
            <a:r>
              <a:rPr lang="en-US" sz="2100">
                <a:solidFill>
                  <a:srgbClr val="FFFFFF"/>
                </a:solidFill>
                <a:latin typeface="Open Sans"/>
                <a:ea typeface="Open Sans"/>
                <a:cs typeface="Open Sans"/>
                <a:sym typeface="Open Sans"/>
              </a:rPr>
              <a:t>Robo de servicio</a:t>
            </a:r>
          </a:p>
        </p:txBody>
      </p:sp>
      <p:sp>
        <p:nvSpPr>
          <p:cNvPr name="TextBox 29" id="29"/>
          <p:cNvSpPr txBox="true"/>
          <p:nvPr/>
        </p:nvSpPr>
        <p:spPr>
          <a:xfrm rot="0">
            <a:off x="11285315" y="4388958"/>
            <a:ext cx="5632190" cy="1159507"/>
          </a:xfrm>
          <a:prstGeom prst="rect">
            <a:avLst/>
          </a:prstGeom>
        </p:spPr>
        <p:txBody>
          <a:bodyPr anchor="t" rtlCol="false" tIns="0" lIns="0" bIns="0" rIns="0">
            <a:spAutoFit/>
          </a:bodyPr>
          <a:lstStyle/>
          <a:p>
            <a:pPr algn="l">
              <a:lnSpc>
                <a:spcPts val="2686"/>
              </a:lnSpc>
            </a:pPr>
            <a:r>
              <a:rPr lang="en-US" sz="1599">
                <a:solidFill>
                  <a:srgbClr val="FFFFFF"/>
                </a:solidFill>
                <a:latin typeface="Open Sans"/>
                <a:ea typeface="Open Sans"/>
                <a:cs typeface="Open Sans"/>
                <a:sym typeface="Open Sans"/>
              </a:rPr>
              <a:t>Esta infracción implica el uso no autorizado de recursos. Por ejemplo, un intruso (o programa de intrusión) puede instalar un demonio en un sistema que actúa como servidor de archivos.</a:t>
            </a:r>
          </a:p>
        </p:txBody>
      </p:sp>
      <p:sp>
        <p:nvSpPr>
          <p:cNvPr name="TextBox 30" id="30"/>
          <p:cNvSpPr txBox="true"/>
          <p:nvPr/>
        </p:nvSpPr>
        <p:spPr>
          <a:xfrm rot="0">
            <a:off x="6535493" y="6901491"/>
            <a:ext cx="4390958" cy="451485"/>
          </a:xfrm>
          <a:prstGeom prst="rect">
            <a:avLst/>
          </a:prstGeom>
        </p:spPr>
        <p:txBody>
          <a:bodyPr anchor="t" rtlCol="false" tIns="0" lIns="0" bIns="0" rIns="0">
            <a:spAutoFit/>
          </a:bodyPr>
          <a:lstStyle/>
          <a:p>
            <a:pPr algn="l">
              <a:lnSpc>
                <a:spcPts val="3528"/>
              </a:lnSpc>
            </a:pPr>
            <a:r>
              <a:rPr lang="en-US" sz="2100">
                <a:solidFill>
                  <a:srgbClr val="FFFFFF"/>
                </a:solidFill>
                <a:latin typeface="Open Sans"/>
                <a:ea typeface="Open Sans"/>
                <a:cs typeface="Open Sans"/>
                <a:sym typeface="Open Sans"/>
              </a:rPr>
              <a:t>Negación de servicio</a:t>
            </a:r>
          </a:p>
        </p:txBody>
      </p:sp>
      <p:sp>
        <p:nvSpPr>
          <p:cNvPr name="TextBox 31" id="31"/>
          <p:cNvSpPr txBox="true"/>
          <p:nvPr/>
        </p:nvSpPr>
        <p:spPr>
          <a:xfrm rot="0">
            <a:off x="6535493" y="7392029"/>
            <a:ext cx="5632190" cy="1435732"/>
          </a:xfrm>
          <a:prstGeom prst="rect">
            <a:avLst/>
          </a:prstGeom>
        </p:spPr>
        <p:txBody>
          <a:bodyPr anchor="t" rtlCol="false" tIns="0" lIns="0" bIns="0" rIns="0">
            <a:spAutoFit/>
          </a:bodyPr>
          <a:lstStyle/>
          <a:p>
            <a:pPr algn="l">
              <a:lnSpc>
                <a:spcPts val="2686"/>
              </a:lnSpc>
            </a:pPr>
            <a:r>
              <a:rPr lang="en-US" sz="1599">
                <a:solidFill>
                  <a:srgbClr val="FFFFFF"/>
                </a:solidFill>
                <a:latin typeface="Open Sans"/>
                <a:ea typeface="Open Sans"/>
                <a:cs typeface="Open Sans"/>
                <a:sym typeface="Open Sans"/>
              </a:rPr>
              <a:t>Esta infracción implica impedir el uso legítimo del sistema. Los ataques de denegación de servicio, o DOS, a veces son accidentales. El gusano de Internet original se convirtió en un ataque de DOS cuando un error no logró retrasar su rápida propagación.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50706" y="3289544"/>
            <a:ext cx="7548562" cy="5968756"/>
          </a:xfrm>
          <a:custGeom>
            <a:avLst/>
            <a:gdLst/>
            <a:ahLst/>
            <a:cxnLst/>
            <a:rect r="r" b="b" t="t" l="l"/>
            <a:pathLst>
              <a:path h="5968756" w="7548562">
                <a:moveTo>
                  <a:pt x="0" y="0"/>
                </a:moveTo>
                <a:lnTo>
                  <a:pt x="7548562" y="0"/>
                </a:lnTo>
                <a:lnTo>
                  <a:pt x="7548562" y="5968756"/>
                </a:lnTo>
                <a:lnTo>
                  <a:pt x="0" y="59687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24423" y="920201"/>
            <a:ext cx="8112871" cy="7029383"/>
          </a:xfrm>
          <a:custGeom>
            <a:avLst/>
            <a:gdLst/>
            <a:ahLst/>
            <a:cxnLst/>
            <a:rect r="r" b="b" t="t" l="l"/>
            <a:pathLst>
              <a:path h="7029383" w="8112871">
                <a:moveTo>
                  <a:pt x="0" y="0"/>
                </a:moveTo>
                <a:lnTo>
                  <a:pt x="8112871" y="0"/>
                </a:lnTo>
                <a:lnTo>
                  <a:pt x="8112871" y="7029383"/>
                </a:lnTo>
                <a:lnTo>
                  <a:pt x="0" y="70293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739103" y="3936111"/>
            <a:ext cx="6371777" cy="4784131"/>
            <a:chOff x="0" y="0"/>
            <a:chExt cx="8495703" cy="6378842"/>
          </a:xfrm>
        </p:grpSpPr>
        <p:sp>
          <p:nvSpPr>
            <p:cNvPr name="Freeform 7" id="7"/>
            <p:cNvSpPr/>
            <p:nvPr/>
          </p:nvSpPr>
          <p:spPr>
            <a:xfrm flipH="false" flipV="false" rot="0">
              <a:off x="0" y="0"/>
              <a:ext cx="8495665" cy="6378829"/>
            </a:xfrm>
            <a:custGeom>
              <a:avLst/>
              <a:gdLst/>
              <a:ahLst/>
              <a:cxnLst/>
              <a:rect r="r" b="b" t="t" l="l"/>
              <a:pathLst>
                <a:path h="6378829" w="8495665">
                  <a:moveTo>
                    <a:pt x="0" y="0"/>
                  </a:moveTo>
                  <a:lnTo>
                    <a:pt x="8495665" y="0"/>
                  </a:lnTo>
                  <a:lnTo>
                    <a:pt x="8495665" y="6378829"/>
                  </a:lnTo>
                  <a:lnTo>
                    <a:pt x="0" y="6378829"/>
                  </a:lnTo>
                  <a:lnTo>
                    <a:pt x="0" y="0"/>
                  </a:lnTo>
                  <a:close/>
                </a:path>
              </a:pathLst>
            </a:custGeom>
            <a:blipFill>
              <a:blip r:embed="rId8"/>
              <a:stretch>
                <a:fillRect l="0" t="0" r="0" b="0"/>
              </a:stretch>
            </a:blipFill>
          </p:spPr>
        </p:sp>
      </p:grpSp>
      <p:grpSp>
        <p:nvGrpSpPr>
          <p:cNvPr name="Group 8" id="8"/>
          <p:cNvGrpSpPr/>
          <p:nvPr/>
        </p:nvGrpSpPr>
        <p:grpSpPr>
          <a:xfrm rot="0">
            <a:off x="5990511" y="1253423"/>
            <a:ext cx="1887293" cy="1887293"/>
            <a:chOff x="0" y="0"/>
            <a:chExt cx="2516391" cy="2516391"/>
          </a:xfrm>
        </p:grpSpPr>
        <p:sp>
          <p:nvSpPr>
            <p:cNvPr name="Freeform 9" id="9"/>
            <p:cNvSpPr/>
            <p:nvPr/>
          </p:nvSpPr>
          <p:spPr>
            <a:xfrm flipH="false" flipV="false" rot="0">
              <a:off x="0" y="0"/>
              <a:ext cx="2516378" cy="2516378"/>
            </a:xfrm>
            <a:custGeom>
              <a:avLst/>
              <a:gdLst/>
              <a:ahLst/>
              <a:cxnLst/>
              <a:rect r="r" b="b" t="t" l="l"/>
              <a:pathLst>
                <a:path h="2516378" w="2516378">
                  <a:moveTo>
                    <a:pt x="0" y="0"/>
                  </a:moveTo>
                  <a:lnTo>
                    <a:pt x="2516378" y="0"/>
                  </a:lnTo>
                  <a:lnTo>
                    <a:pt x="2516378" y="2516378"/>
                  </a:lnTo>
                  <a:lnTo>
                    <a:pt x="0" y="2516378"/>
                  </a:lnTo>
                  <a:lnTo>
                    <a:pt x="0" y="0"/>
                  </a:lnTo>
                  <a:close/>
                </a:path>
              </a:pathLst>
            </a:custGeom>
            <a:blipFill>
              <a:blip r:embed="rId9"/>
              <a:stretch>
                <a:fillRect l="0" t="0" r="0" b="0"/>
              </a:stretch>
            </a:blipFill>
          </p:spPr>
        </p:sp>
      </p:grpSp>
      <p:sp>
        <p:nvSpPr>
          <p:cNvPr name="TextBox 10" id="10"/>
          <p:cNvSpPr txBox="true"/>
          <p:nvPr/>
        </p:nvSpPr>
        <p:spPr>
          <a:xfrm rot="0">
            <a:off x="9574844" y="1400499"/>
            <a:ext cx="7012029" cy="6072502"/>
          </a:xfrm>
          <a:prstGeom prst="rect">
            <a:avLst/>
          </a:prstGeom>
        </p:spPr>
        <p:txBody>
          <a:bodyPr anchor="t" rtlCol="false" tIns="0" lIns="0" bIns="0" rIns="0">
            <a:spAutoFit/>
          </a:bodyPr>
          <a:lstStyle/>
          <a:p>
            <a:pPr algn="l">
              <a:lnSpc>
                <a:spcPts val="4054"/>
              </a:lnSpc>
            </a:pPr>
            <a:r>
              <a:rPr lang="en-US" sz="2599">
                <a:solidFill>
                  <a:srgbClr val="FFFFFF"/>
                </a:solidFill>
                <a:latin typeface="Montserrat"/>
                <a:ea typeface="Montserrat"/>
                <a:cs typeface="Montserrat"/>
                <a:sym typeface="Montserrat"/>
              </a:rPr>
              <a:t>Los atacantes utilizan varios métodos estándar en sus intentos de violar la seguridad.</a:t>
            </a:r>
          </a:p>
          <a:p>
            <a:pPr algn="l">
              <a:lnSpc>
                <a:spcPts val="2184"/>
              </a:lnSpc>
            </a:pPr>
          </a:p>
          <a:p>
            <a:pPr algn="l">
              <a:lnSpc>
                <a:spcPts val="4054"/>
              </a:lnSpc>
            </a:pPr>
            <a:r>
              <a:rPr lang="en-US" sz="2599">
                <a:solidFill>
                  <a:srgbClr val="FFFFFF"/>
                </a:solidFill>
                <a:latin typeface="Montserrat"/>
                <a:ea typeface="Montserrat"/>
                <a:cs typeface="Montserrat"/>
                <a:sym typeface="Montserrat"/>
              </a:rPr>
              <a:t>El más común es el </a:t>
            </a:r>
            <a:r>
              <a:rPr lang="en-US" sz="2599">
                <a:solidFill>
                  <a:srgbClr val="5CD9C1"/>
                </a:solidFill>
                <a:latin typeface="Montserrat"/>
                <a:ea typeface="Montserrat"/>
                <a:cs typeface="Montserrat"/>
                <a:sym typeface="Montserrat"/>
              </a:rPr>
              <a:t>enmascaramiento</a:t>
            </a:r>
            <a:r>
              <a:rPr lang="en-US" sz="2599">
                <a:solidFill>
                  <a:srgbClr val="FFFFFF"/>
                </a:solidFill>
                <a:latin typeface="Montserrat"/>
                <a:ea typeface="Montserrat"/>
                <a:cs typeface="Montserrat"/>
                <a:sym typeface="Montserrat"/>
              </a:rPr>
              <a:t>, en el que un participante en una comunicación se hace pasar por otra persona (otro host u otra persona). Al enmascararse, los atacantes violan la autenticación, la exactitud de la identificación, luego pueden aumentar sus privilegios, obteniendo asi acceso al que normalmente no se les permitiría.</a:t>
            </a:r>
          </a:p>
        </p:txBody>
      </p:sp>
      <p:sp>
        <p:nvSpPr>
          <p:cNvPr name="TextBox 11" id="11"/>
          <p:cNvSpPr txBox="true"/>
          <p:nvPr/>
        </p:nvSpPr>
        <p:spPr>
          <a:xfrm rot="0">
            <a:off x="1865938" y="1171927"/>
            <a:ext cx="6118108" cy="1878835"/>
          </a:xfrm>
          <a:prstGeom prst="rect">
            <a:avLst/>
          </a:prstGeom>
        </p:spPr>
        <p:txBody>
          <a:bodyPr anchor="t" rtlCol="false" tIns="0" lIns="0" bIns="0" rIns="0">
            <a:spAutoFit/>
          </a:bodyPr>
          <a:lstStyle/>
          <a:p>
            <a:pPr algn="l">
              <a:lnSpc>
                <a:spcPts val="8129"/>
              </a:lnSpc>
            </a:pPr>
            <a:r>
              <a:rPr lang="en-US" sz="5599">
                <a:solidFill>
                  <a:srgbClr val="FFFFFF"/>
                </a:solidFill>
                <a:latin typeface="Arial"/>
                <a:ea typeface="Arial"/>
                <a:cs typeface="Arial"/>
                <a:sym typeface="Arial"/>
              </a:rPr>
              <a:t>TIPOS DE ATAQUES</a:t>
            </a:r>
          </a:p>
        </p:txBody>
      </p:sp>
      <p:sp>
        <p:nvSpPr>
          <p:cNvPr name="Freeform 12" id="12"/>
          <p:cNvSpPr/>
          <p:nvPr/>
        </p:nvSpPr>
        <p:spPr>
          <a:xfrm flipH="false" flipV="false" rot="0">
            <a:off x="9024423" y="8026832"/>
            <a:ext cx="8112871" cy="1231468"/>
          </a:xfrm>
          <a:custGeom>
            <a:avLst/>
            <a:gdLst/>
            <a:ahLst/>
            <a:cxnLst/>
            <a:rect r="r" b="b" t="t" l="l"/>
            <a:pathLst>
              <a:path h="1231468" w="8112871">
                <a:moveTo>
                  <a:pt x="0" y="0"/>
                </a:moveTo>
                <a:lnTo>
                  <a:pt x="8112871" y="0"/>
                </a:lnTo>
                <a:lnTo>
                  <a:pt x="8112871" y="1231468"/>
                </a:lnTo>
                <a:lnTo>
                  <a:pt x="0" y="12314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2884170"/>
            <a:ext cx="8621792" cy="6466332"/>
          </a:xfrm>
          <a:custGeom>
            <a:avLst/>
            <a:gdLst/>
            <a:ahLst/>
            <a:cxnLst/>
            <a:rect r="r" b="b" t="t" l="l"/>
            <a:pathLst>
              <a:path h="6466332" w="8621792">
                <a:moveTo>
                  <a:pt x="0" y="0"/>
                </a:moveTo>
                <a:lnTo>
                  <a:pt x="8621792" y="0"/>
                </a:lnTo>
                <a:lnTo>
                  <a:pt x="8621792" y="6466332"/>
                </a:lnTo>
                <a:lnTo>
                  <a:pt x="0" y="6466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946443" y="2884170"/>
            <a:ext cx="7312857" cy="4746736"/>
          </a:xfrm>
          <a:custGeom>
            <a:avLst/>
            <a:gdLst/>
            <a:ahLst/>
            <a:cxnLst/>
            <a:rect r="r" b="b" t="t" l="l"/>
            <a:pathLst>
              <a:path h="4746736" w="7312857">
                <a:moveTo>
                  <a:pt x="0" y="0"/>
                </a:moveTo>
                <a:lnTo>
                  <a:pt x="7312857" y="0"/>
                </a:lnTo>
                <a:lnTo>
                  <a:pt x="7312857" y="4746736"/>
                </a:lnTo>
                <a:lnTo>
                  <a:pt x="0" y="47467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0293801" y="3402025"/>
            <a:ext cx="6618151" cy="3855987"/>
            <a:chOff x="0" y="0"/>
            <a:chExt cx="8824201" cy="5141316"/>
          </a:xfrm>
        </p:grpSpPr>
        <p:sp>
          <p:nvSpPr>
            <p:cNvPr name="Freeform 7" id="7"/>
            <p:cNvSpPr/>
            <p:nvPr/>
          </p:nvSpPr>
          <p:spPr>
            <a:xfrm flipH="false" flipV="false" rot="0">
              <a:off x="0" y="0"/>
              <a:ext cx="8824214" cy="5141341"/>
            </a:xfrm>
            <a:custGeom>
              <a:avLst/>
              <a:gdLst/>
              <a:ahLst/>
              <a:cxnLst/>
              <a:rect r="r" b="b" t="t" l="l"/>
              <a:pathLst>
                <a:path h="5141341" w="8824214">
                  <a:moveTo>
                    <a:pt x="0" y="0"/>
                  </a:moveTo>
                  <a:lnTo>
                    <a:pt x="8824214" y="0"/>
                  </a:lnTo>
                  <a:lnTo>
                    <a:pt x="8824214" y="5141341"/>
                  </a:lnTo>
                  <a:lnTo>
                    <a:pt x="0" y="5141341"/>
                  </a:lnTo>
                  <a:lnTo>
                    <a:pt x="0" y="0"/>
                  </a:lnTo>
                  <a:close/>
                </a:path>
              </a:pathLst>
            </a:custGeom>
            <a:blipFill>
              <a:blip r:embed="rId8"/>
              <a:stretch>
                <a:fillRect l="0" t="0" r="0" b="0"/>
              </a:stretch>
            </a:blipFill>
          </p:spPr>
        </p:sp>
      </p:grpSp>
      <p:sp>
        <p:nvSpPr>
          <p:cNvPr name="TextBox 8" id="8"/>
          <p:cNvSpPr txBox="true"/>
          <p:nvPr/>
        </p:nvSpPr>
        <p:spPr>
          <a:xfrm rot="0">
            <a:off x="1945757" y="765058"/>
            <a:ext cx="14396485" cy="1821942"/>
          </a:xfrm>
          <a:prstGeom prst="rect">
            <a:avLst/>
          </a:prstGeom>
        </p:spPr>
        <p:txBody>
          <a:bodyPr anchor="t" rtlCol="false" tIns="0" lIns="0" bIns="0" rIns="0">
            <a:spAutoFit/>
          </a:bodyPr>
          <a:lstStyle/>
          <a:p>
            <a:pPr algn="ctr">
              <a:lnSpc>
                <a:spcPts val="7839"/>
              </a:lnSpc>
            </a:pPr>
            <a:r>
              <a:rPr lang="en-US" sz="5398">
                <a:solidFill>
                  <a:srgbClr val="FFFFFF"/>
                </a:solidFill>
                <a:latin typeface="Arial"/>
                <a:ea typeface="Arial"/>
                <a:cs typeface="Arial"/>
                <a:sym typeface="Arial"/>
              </a:rPr>
              <a:t>ATAQUE DE REPETICIÓN </a:t>
            </a:r>
          </a:p>
          <a:p>
            <a:pPr algn="ctr">
              <a:lnSpc>
                <a:spcPts val="7839"/>
              </a:lnSpc>
            </a:pPr>
            <a:r>
              <a:rPr lang="en-US" sz="5398">
                <a:solidFill>
                  <a:srgbClr val="FFFFFF"/>
                </a:solidFill>
                <a:latin typeface="Arial"/>
                <a:ea typeface="Arial"/>
                <a:cs typeface="Arial"/>
                <a:sym typeface="Arial"/>
              </a:rPr>
              <a:t>(REPLAY ATTACK)</a:t>
            </a:r>
          </a:p>
        </p:txBody>
      </p:sp>
      <p:sp>
        <p:nvSpPr>
          <p:cNvPr name="TextBox 9" id="9"/>
          <p:cNvSpPr txBox="true"/>
          <p:nvPr/>
        </p:nvSpPr>
        <p:spPr>
          <a:xfrm rot="0">
            <a:off x="1398670" y="3297250"/>
            <a:ext cx="7881852" cy="5643877"/>
          </a:xfrm>
          <a:prstGeom prst="rect">
            <a:avLst/>
          </a:prstGeom>
        </p:spPr>
        <p:txBody>
          <a:bodyPr anchor="t" rtlCol="false" tIns="0" lIns="0" bIns="0" rIns="0">
            <a:spAutoFit/>
          </a:bodyPr>
          <a:lstStyle/>
          <a:p>
            <a:pPr algn="l">
              <a:lnSpc>
                <a:spcPts val="4054"/>
              </a:lnSpc>
            </a:pPr>
            <a:r>
              <a:rPr lang="en-US" sz="2599">
                <a:solidFill>
                  <a:srgbClr val="FFFFFF"/>
                </a:solidFill>
                <a:latin typeface="Montserrat"/>
                <a:ea typeface="Montserrat"/>
                <a:cs typeface="Montserrat"/>
                <a:sym typeface="Montserrat"/>
              </a:rPr>
              <a:t>Consiste en la repetición maliciosa o fraudulenta de una transmisión de datos válida. A veces, la repetición comprende todo el ataque, por ejemplo, en la repetición de una solicitud de transferencia de dinero. Pero frecuentemente esto se hace junto con la modificación del mensaje, nuevamente para aumentar los privilegios. Considere el daño que se podría causar si en una solicitud de autenticación se reemplazara la información de un usuario legítimo por la de un usuario no autorizado.</a:t>
            </a:r>
          </a:p>
        </p:txBody>
      </p:sp>
      <p:sp>
        <p:nvSpPr>
          <p:cNvPr name="Freeform 10" id="10"/>
          <p:cNvSpPr/>
          <p:nvPr/>
        </p:nvSpPr>
        <p:spPr>
          <a:xfrm flipH="false" flipV="false" rot="0">
            <a:off x="9946443" y="7789107"/>
            <a:ext cx="7312857" cy="1561386"/>
          </a:xfrm>
          <a:custGeom>
            <a:avLst/>
            <a:gdLst/>
            <a:ahLst/>
            <a:cxnLst/>
            <a:rect r="r" b="b" t="t" l="l"/>
            <a:pathLst>
              <a:path h="1561386" w="7312857">
                <a:moveTo>
                  <a:pt x="0" y="0"/>
                </a:moveTo>
                <a:lnTo>
                  <a:pt x="7312857" y="0"/>
                </a:lnTo>
                <a:lnTo>
                  <a:pt x="7312857" y="1561385"/>
                </a:lnTo>
                <a:lnTo>
                  <a:pt x="0" y="15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2884170"/>
            <a:ext cx="6110888" cy="6466332"/>
          </a:xfrm>
          <a:custGeom>
            <a:avLst/>
            <a:gdLst/>
            <a:ahLst/>
            <a:cxnLst/>
            <a:rect r="r" b="b" t="t" l="l"/>
            <a:pathLst>
              <a:path h="6466332" w="6110888">
                <a:moveTo>
                  <a:pt x="0" y="0"/>
                </a:moveTo>
                <a:lnTo>
                  <a:pt x="6110888" y="0"/>
                </a:lnTo>
                <a:lnTo>
                  <a:pt x="6110888" y="6466332"/>
                </a:lnTo>
                <a:lnTo>
                  <a:pt x="0" y="6466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464743" y="2884170"/>
            <a:ext cx="9794557" cy="5157616"/>
          </a:xfrm>
          <a:custGeom>
            <a:avLst/>
            <a:gdLst/>
            <a:ahLst/>
            <a:cxnLst/>
            <a:rect r="r" b="b" t="t" l="l"/>
            <a:pathLst>
              <a:path h="5157616" w="9794557">
                <a:moveTo>
                  <a:pt x="0" y="0"/>
                </a:moveTo>
                <a:lnTo>
                  <a:pt x="9794557" y="0"/>
                </a:lnTo>
                <a:lnTo>
                  <a:pt x="9794557" y="5157616"/>
                </a:lnTo>
                <a:lnTo>
                  <a:pt x="0" y="5157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830379" y="3448945"/>
            <a:ext cx="9063276" cy="4055821"/>
            <a:chOff x="0" y="0"/>
            <a:chExt cx="12084368" cy="5407762"/>
          </a:xfrm>
        </p:grpSpPr>
        <p:sp>
          <p:nvSpPr>
            <p:cNvPr name="Freeform 7" id="7"/>
            <p:cNvSpPr/>
            <p:nvPr/>
          </p:nvSpPr>
          <p:spPr>
            <a:xfrm flipH="false" flipV="false" rot="0">
              <a:off x="0" y="0"/>
              <a:ext cx="12084431" cy="5407787"/>
            </a:xfrm>
            <a:custGeom>
              <a:avLst/>
              <a:gdLst/>
              <a:ahLst/>
              <a:cxnLst/>
              <a:rect r="r" b="b" t="t" l="l"/>
              <a:pathLst>
                <a:path h="5407787" w="12084431">
                  <a:moveTo>
                    <a:pt x="0" y="0"/>
                  </a:moveTo>
                  <a:lnTo>
                    <a:pt x="12084431" y="0"/>
                  </a:lnTo>
                  <a:lnTo>
                    <a:pt x="12084431" y="5407787"/>
                  </a:lnTo>
                  <a:lnTo>
                    <a:pt x="0" y="5407787"/>
                  </a:lnTo>
                  <a:lnTo>
                    <a:pt x="0" y="0"/>
                  </a:lnTo>
                  <a:close/>
                </a:path>
              </a:pathLst>
            </a:custGeom>
            <a:blipFill>
              <a:blip r:embed="rId8"/>
              <a:stretch>
                <a:fillRect l="-54" t="0" r="-54" b="0"/>
              </a:stretch>
            </a:blipFill>
          </p:spPr>
        </p:sp>
      </p:grpSp>
      <p:sp>
        <p:nvSpPr>
          <p:cNvPr name="TextBox 8" id="8"/>
          <p:cNvSpPr txBox="true"/>
          <p:nvPr/>
        </p:nvSpPr>
        <p:spPr>
          <a:xfrm rot="0">
            <a:off x="1945757" y="765058"/>
            <a:ext cx="14396485" cy="1821942"/>
          </a:xfrm>
          <a:prstGeom prst="rect">
            <a:avLst/>
          </a:prstGeom>
        </p:spPr>
        <p:txBody>
          <a:bodyPr anchor="t" rtlCol="false" tIns="0" lIns="0" bIns="0" rIns="0">
            <a:spAutoFit/>
          </a:bodyPr>
          <a:lstStyle/>
          <a:p>
            <a:pPr algn="ctr">
              <a:lnSpc>
                <a:spcPts val="7839"/>
              </a:lnSpc>
            </a:pPr>
            <a:r>
              <a:rPr lang="en-US" sz="5398">
                <a:solidFill>
                  <a:srgbClr val="FFFFFF"/>
                </a:solidFill>
                <a:latin typeface="Arial"/>
                <a:ea typeface="Arial"/>
                <a:cs typeface="Arial"/>
                <a:sym typeface="Arial"/>
              </a:rPr>
              <a:t>ATAQUE DE INTERMEDIARIO </a:t>
            </a:r>
          </a:p>
          <a:p>
            <a:pPr algn="ctr">
              <a:lnSpc>
                <a:spcPts val="7839"/>
              </a:lnSpc>
            </a:pPr>
            <a:r>
              <a:rPr lang="en-US" sz="5398">
                <a:solidFill>
                  <a:srgbClr val="FFFFFF"/>
                </a:solidFill>
                <a:latin typeface="Arial"/>
                <a:ea typeface="Arial"/>
                <a:cs typeface="Arial"/>
                <a:sym typeface="Arial"/>
              </a:rPr>
              <a:t>(MAN-IN-THE-MIDDLE)</a:t>
            </a:r>
          </a:p>
        </p:txBody>
      </p:sp>
      <p:sp>
        <p:nvSpPr>
          <p:cNvPr name="TextBox 9" id="9"/>
          <p:cNvSpPr txBox="true"/>
          <p:nvPr/>
        </p:nvSpPr>
        <p:spPr>
          <a:xfrm rot="0">
            <a:off x="1444323" y="3511563"/>
            <a:ext cx="5401380" cy="5215252"/>
          </a:xfrm>
          <a:prstGeom prst="rect">
            <a:avLst/>
          </a:prstGeom>
        </p:spPr>
        <p:txBody>
          <a:bodyPr anchor="t" rtlCol="false" tIns="0" lIns="0" bIns="0" rIns="0">
            <a:spAutoFit/>
          </a:bodyPr>
          <a:lstStyle/>
          <a:p>
            <a:pPr algn="l">
              <a:lnSpc>
                <a:spcPts val="4054"/>
              </a:lnSpc>
            </a:pPr>
            <a:r>
              <a:rPr lang="en-US" sz="2599">
                <a:solidFill>
                  <a:srgbClr val="FFFFFF"/>
                </a:solidFill>
                <a:latin typeface="Montserrat"/>
                <a:ea typeface="Montserrat"/>
                <a:cs typeface="Montserrat"/>
                <a:sym typeface="Montserrat"/>
              </a:rPr>
              <a:t>Consiste en que el atacante se sitúa en el flujo de datos de una comunicación, haciéndose pasar por el remitente ante el receptor, y viceversa. En una comunicación de red, un ataque de intermediario puede ir precedido de un secuestro de sesión, en el que se intercepta una sesión de comunicación activa.</a:t>
            </a:r>
          </a:p>
        </p:txBody>
      </p:sp>
      <p:sp>
        <p:nvSpPr>
          <p:cNvPr name="Freeform 10" id="10"/>
          <p:cNvSpPr/>
          <p:nvPr/>
        </p:nvSpPr>
        <p:spPr>
          <a:xfrm flipH="false" flipV="false" rot="0">
            <a:off x="7464743" y="8164678"/>
            <a:ext cx="9794557" cy="1185824"/>
          </a:xfrm>
          <a:custGeom>
            <a:avLst/>
            <a:gdLst/>
            <a:ahLst/>
            <a:cxnLst/>
            <a:rect r="r" b="b" t="t" l="l"/>
            <a:pathLst>
              <a:path h="1185824" w="9794557">
                <a:moveTo>
                  <a:pt x="0" y="0"/>
                </a:moveTo>
                <a:lnTo>
                  <a:pt x="9794557" y="0"/>
                </a:lnTo>
                <a:lnTo>
                  <a:pt x="9794557" y="1185824"/>
                </a:lnTo>
                <a:lnTo>
                  <a:pt x="0" y="11858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AutoShape 2" id="2"/>
          <p:cNvSpPr/>
          <p:nvPr/>
        </p:nvSpPr>
        <p:spPr>
          <a:xfrm rot="5347920">
            <a:off x="14177277" y="3824478"/>
            <a:ext cx="2514762" cy="0"/>
          </a:xfrm>
          <a:prstGeom prst="line">
            <a:avLst/>
          </a:prstGeom>
          <a:ln cap="rnd" w="28575">
            <a:solidFill>
              <a:srgbClr val="675688"/>
            </a:solidFill>
            <a:prstDash val="solid"/>
            <a:headEnd type="none" len="sm" w="sm"/>
            <a:tailEnd type="oval" len="lg" w="lg"/>
          </a:ln>
        </p:spPr>
      </p:sp>
      <p:sp>
        <p:nvSpPr>
          <p:cNvPr name="Freeform 3" id="3"/>
          <p:cNvSpPr/>
          <p:nvPr/>
        </p:nvSpPr>
        <p:spPr>
          <a:xfrm flipH="false" flipV="false" rot="0">
            <a:off x="14280690" y="2264874"/>
            <a:ext cx="2307946" cy="2307946"/>
          </a:xfrm>
          <a:custGeom>
            <a:avLst/>
            <a:gdLst/>
            <a:ahLst/>
            <a:cxnLst/>
            <a:rect r="r" b="b" t="t" l="l"/>
            <a:pathLst>
              <a:path h="2307946" w="2307946">
                <a:moveTo>
                  <a:pt x="0" y="0"/>
                </a:moveTo>
                <a:lnTo>
                  <a:pt x="2307945" y="0"/>
                </a:lnTo>
                <a:lnTo>
                  <a:pt x="2307945"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069236" y="1899456"/>
            <a:ext cx="730853" cy="730853"/>
          </a:xfrm>
          <a:custGeom>
            <a:avLst/>
            <a:gdLst/>
            <a:ahLst/>
            <a:cxnLst/>
            <a:rect r="r" b="b" t="t" l="l"/>
            <a:pathLst>
              <a:path h="730853" w="730853">
                <a:moveTo>
                  <a:pt x="0" y="0"/>
                </a:moveTo>
                <a:lnTo>
                  <a:pt x="730853" y="0"/>
                </a:lnTo>
                <a:lnTo>
                  <a:pt x="730853"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699365" y="2264874"/>
            <a:ext cx="2307946" cy="2307946"/>
          </a:xfrm>
          <a:custGeom>
            <a:avLst/>
            <a:gdLst/>
            <a:ahLst/>
            <a:cxnLst/>
            <a:rect r="r" b="b" t="t" l="l"/>
            <a:pathLst>
              <a:path h="2307946" w="2307946">
                <a:moveTo>
                  <a:pt x="0" y="0"/>
                </a:moveTo>
                <a:lnTo>
                  <a:pt x="2307945" y="0"/>
                </a:lnTo>
                <a:lnTo>
                  <a:pt x="2307945" y="2307945"/>
                </a:lnTo>
                <a:lnTo>
                  <a:pt x="0" y="2307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6" id="6"/>
          <p:cNvSpPr/>
          <p:nvPr/>
        </p:nvSpPr>
        <p:spPr>
          <a:xfrm rot="5347920">
            <a:off x="1595961" y="3824478"/>
            <a:ext cx="2514762" cy="0"/>
          </a:xfrm>
          <a:prstGeom prst="line">
            <a:avLst/>
          </a:prstGeom>
          <a:ln cap="rnd" w="28575">
            <a:solidFill>
              <a:srgbClr val="5CD9C1"/>
            </a:solidFill>
            <a:prstDash val="solid"/>
            <a:headEnd type="none" len="sm" w="sm"/>
            <a:tailEnd type="oval" len="lg" w="lg"/>
          </a:ln>
        </p:spPr>
      </p:sp>
      <p:sp>
        <p:nvSpPr>
          <p:cNvPr name="Freeform 7" id="7"/>
          <p:cNvSpPr/>
          <p:nvPr/>
        </p:nvSpPr>
        <p:spPr>
          <a:xfrm flipH="false" flipV="false" rot="0">
            <a:off x="2487911" y="1899456"/>
            <a:ext cx="730853" cy="730853"/>
          </a:xfrm>
          <a:custGeom>
            <a:avLst/>
            <a:gdLst/>
            <a:ahLst/>
            <a:cxnLst/>
            <a:rect r="r" b="b" t="t" l="l"/>
            <a:pathLst>
              <a:path h="730853" w="730853">
                <a:moveTo>
                  <a:pt x="0" y="0"/>
                </a:moveTo>
                <a:lnTo>
                  <a:pt x="730853" y="0"/>
                </a:lnTo>
                <a:lnTo>
                  <a:pt x="730853"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872810" y="2264874"/>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9" id="9"/>
          <p:cNvSpPr/>
          <p:nvPr/>
        </p:nvSpPr>
        <p:spPr>
          <a:xfrm rot="5347920">
            <a:off x="5769397" y="3824478"/>
            <a:ext cx="2514762" cy="0"/>
          </a:xfrm>
          <a:prstGeom prst="line">
            <a:avLst/>
          </a:prstGeom>
          <a:ln cap="rnd" w="28575">
            <a:solidFill>
              <a:srgbClr val="ACFDDB"/>
            </a:solidFill>
            <a:prstDash val="solid"/>
            <a:headEnd type="none" len="sm" w="sm"/>
            <a:tailEnd type="oval" len="lg" w="lg"/>
          </a:ln>
        </p:spPr>
      </p:sp>
      <p:sp>
        <p:nvSpPr>
          <p:cNvPr name="Freeform 10" id="10"/>
          <p:cNvSpPr/>
          <p:nvPr/>
        </p:nvSpPr>
        <p:spPr>
          <a:xfrm flipH="false" flipV="false" rot="0">
            <a:off x="6661356" y="1899456"/>
            <a:ext cx="730853" cy="730853"/>
          </a:xfrm>
          <a:custGeom>
            <a:avLst/>
            <a:gdLst/>
            <a:ahLst/>
            <a:cxnLst/>
            <a:rect r="r" b="b" t="t" l="l"/>
            <a:pathLst>
              <a:path h="730853" w="730853">
                <a:moveTo>
                  <a:pt x="0" y="0"/>
                </a:moveTo>
                <a:lnTo>
                  <a:pt x="730854" y="0"/>
                </a:lnTo>
                <a:lnTo>
                  <a:pt x="730854"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0107244" y="2264874"/>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2" id="12"/>
          <p:cNvSpPr/>
          <p:nvPr/>
        </p:nvSpPr>
        <p:spPr>
          <a:xfrm rot="5347920">
            <a:off x="10003841" y="3824478"/>
            <a:ext cx="2514762" cy="0"/>
          </a:xfrm>
          <a:prstGeom prst="line">
            <a:avLst/>
          </a:prstGeom>
          <a:ln cap="rnd" w="28575">
            <a:solidFill>
              <a:srgbClr val="B084CC"/>
            </a:solidFill>
            <a:prstDash val="solid"/>
            <a:headEnd type="none" len="sm" w="sm"/>
            <a:tailEnd type="oval" len="lg" w="lg"/>
          </a:ln>
        </p:spPr>
      </p:sp>
      <p:sp>
        <p:nvSpPr>
          <p:cNvPr name="Freeform 13" id="13"/>
          <p:cNvSpPr/>
          <p:nvPr/>
        </p:nvSpPr>
        <p:spPr>
          <a:xfrm flipH="false" flipV="false" rot="0">
            <a:off x="10895790" y="1899456"/>
            <a:ext cx="730853" cy="730853"/>
          </a:xfrm>
          <a:custGeom>
            <a:avLst/>
            <a:gdLst/>
            <a:ahLst/>
            <a:cxnLst/>
            <a:rect r="r" b="b" t="t" l="l"/>
            <a:pathLst>
              <a:path h="730853" w="730853">
                <a:moveTo>
                  <a:pt x="0" y="0"/>
                </a:moveTo>
                <a:lnTo>
                  <a:pt x="730854" y="0"/>
                </a:lnTo>
                <a:lnTo>
                  <a:pt x="730854"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4" id="14"/>
          <p:cNvSpPr/>
          <p:nvPr/>
        </p:nvSpPr>
        <p:spPr>
          <a:xfrm rot="5395740">
            <a:off x="1147696" y="5755500"/>
            <a:ext cx="7728995" cy="0"/>
          </a:xfrm>
          <a:prstGeom prst="line">
            <a:avLst/>
          </a:prstGeom>
          <a:ln cap="rnd" w="9525">
            <a:solidFill>
              <a:srgbClr val="5170FF"/>
            </a:solidFill>
            <a:prstDash val="solid"/>
            <a:headEnd type="none" len="sm" w="sm"/>
            <a:tailEnd type="none" len="sm" w="sm"/>
          </a:ln>
        </p:spPr>
      </p:sp>
      <p:sp>
        <p:nvSpPr>
          <p:cNvPr name="AutoShape 15" id="15"/>
          <p:cNvSpPr/>
          <p:nvPr/>
        </p:nvSpPr>
        <p:spPr>
          <a:xfrm rot="5376300">
            <a:off x="5257533" y="5755500"/>
            <a:ext cx="7729166" cy="0"/>
          </a:xfrm>
          <a:prstGeom prst="line">
            <a:avLst/>
          </a:prstGeom>
          <a:ln cap="rnd" w="9525">
            <a:solidFill>
              <a:srgbClr val="5170FF"/>
            </a:solidFill>
            <a:prstDash val="solid"/>
            <a:headEnd type="none" len="sm" w="sm"/>
            <a:tailEnd type="none" len="sm" w="sm"/>
          </a:ln>
        </p:spPr>
      </p:sp>
      <p:sp>
        <p:nvSpPr>
          <p:cNvPr name="AutoShape 16" id="16"/>
          <p:cNvSpPr/>
          <p:nvPr/>
        </p:nvSpPr>
        <p:spPr>
          <a:xfrm rot="5395740">
            <a:off x="9480966" y="5755500"/>
            <a:ext cx="7728995" cy="0"/>
          </a:xfrm>
          <a:prstGeom prst="line">
            <a:avLst/>
          </a:prstGeom>
          <a:ln cap="rnd" w="9525">
            <a:solidFill>
              <a:srgbClr val="5170FF"/>
            </a:solidFill>
            <a:prstDash val="solid"/>
            <a:headEnd type="none" len="sm" w="sm"/>
            <a:tailEnd type="none" len="sm" w="sm"/>
          </a:ln>
        </p:spPr>
      </p:sp>
      <p:grpSp>
        <p:nvGrpSpPr>
          <p:cNvPr name="Group 17" id="17"/>
          <p:cNvGrpSpPr/>
          <p:nvPr/>
        </p:nvGrpSpPr>
        <p:grpSpPr>
          <a:xfrm rot="0">
            <a:off x="2103587" y="2784138"/>
            <a:ext cx="1499511" cy="1349559"/>
            <a:chOff x="0" y="0"/>
            <a:chExt cx="1999348" cy="1799412"/>
          </a:xfrm>
        </p:grpSpPr>
        <p:sp>
          <p:nvSpPr>
            <p:cNvPr name="Freeform 18" id="18"/>
            <p:cNvSpPr/>
            <p:nvPr/>
          </p:nvSpPr>
          <p:spPr>
            <a:xfrm flipH="false" flipV="false" rot="0">
              <a:off x="0" y="0"/>
              <a:ext cx="1999361" cy="1799463"/>
            </a:xfrm>
            <a:custGeom>
              <a:avLst/>
              <a:gdLst/>
              <a:ahLst/>
              <a:cxnLst/>
              <a:rect r="r" b="b" t="t" l="l"/>
              <a:pathLst>
                <a:path h="1799463" w="1999361">
                  <a:moveTo>
                    <a:pt x="0" y="0"/>
                  </a:moveTo>
                  <a:lnTo>
                    <a:pt x="1999361" y="0"/>
                  </a:lnTo>
                  <a:lnTo>
                    <a:pt x="1999361" y="1799463"/>
                  </a:lnTo>
                  <a:lnTo>
                    <a:pt x="0" y="1799463"/>
                  </a:lnTo>
                  <a:lnTo>
                    <a:pt x="0" y="0"/>
                  </a:lnTo>
                  <a:close/>
                </a:path>
              </a:pathLst>
            </a:custGeom>
            <a:blipFill>
              <a:blip r:embed="rId11"/>
              <a:stretch>
                <a:fillRect l="0" t="0" r="0" b="2"/>
              </a:stretch>
            </a:blipFill>
          </p:spPr>
        </p:sp>
      </p:grpSp>
      <p:grpSp>
        <p:nvGrpSpPr>
          <p:cNvPr name="Group 19" id="19"/>
          <p:cNvGrpSpPr/>
          <p:nvPr/>
        </p:nvGrpSpPr>
        <p:grpSpPr>
          <a:xfrm rot="0">
            <a:off x="6300216" y="2692289"/>
            <a:ext cx="1453124" cy="1453124"/>
            <a:chOff x="0" y="0"/>
            <a:chExt cx="1937499" cy="1937499"/>
          </a:xfrm>
        </p:grpSpPr>
        <p:sp>
          <p:nvSpPr>
            <p:cNvPr name="Freeform 20" id="20"/>
            <p:cNvSpPr/>
            <p:nvPr/>
          </p:nvSpPr>
          <p:spPr>
            <a:xfrm flipH="false" flipV="false" rot="0">
              <a:off x="0" y="0"/>
              <a:ext cx="1937512" cy="1937512"/>
            </a:xfrm>
            <a:custGeom>
              <a:avLst/>
              <a:gdLst/>
              <a:ahLst/>
              <a:cxnLst/>
              <a:rect r="r" b="b" t="t" l="l"/>
              <a:pathLst>
                <a:path h="1937512" w="1937512">
                  <a:moveTo>
                    <a:pt x="0" y="0"/>
                  </a:moveTo>
                  <a:lnTo>
                    <a:pt x="1937512" y="0"/>
                  </a:lnTo>
                  <a:lnTo>
                    <a:pt x="1937512" y="1937512"/>
                  </a:lnTo>
                  <a:lnTo>
                    <a:pt x="0" y="1937512"/>
                  </a:lnTo>
                  <a:lnTo>
                    <a:pt x="0" y="0"/>
                  </a:lnTo>
                  <a:close/>
                </a:path>
              </a:pathLst>
            </a:custGeom>
            <a:blipFill>
              <a:blip r:embed="rId12"/>
              <a:stretch>
                <a:fillRect l="0" t="0" r="0" b="0"/>
              </a:stretch>
            </a:blipFill>
          </p:spPr>
        </p:sp>
      </p:grpSp>
      <p:grpSp>
        <p:nvGrpSpPr>
          <p:cNvPr name="Group 21" id="21"/>
          <p:cNvGrpSpPr/>
          <p:nvPr/>
        </p:nvGrpSpPr>
        <p:grpSpPr>
          <a:xfrm rot="0">
            <a:off x="10532069" y="2705595"/>
            <a:ext cx="1458297" cy="1503397"/>
            <a:chOff x="0" y="0"/>
            <a:chExt cx="1944395" cy="2004530"/>
          </a:xfrm>
        </p:grpSpPr>
        <p:sp>
          <p:nvSpPr>
            <p:cNvPr name="Freeform 22" id="22"/>
            <p:cNvSpPr/>
            <p:nvPr/>
          </p:nvSpPr>
          <p:spPr>
            <a:xfrm flipH="false" flipV="false" rot="0">
              <a:off x="0" y="0"/>
              <a:ext cx="1944370" cy="2004568"/>
            </a:xfrm>
            <a:custGeom>
              <a:avLst/>
              <a:gdLst/>
              <a:ahLst/>
              <a:cxnLst/>
              <a:rect r="r" b="b" t="t" l="l"/>
              <a:pathLst>
                <a:path h="2004568" w="1944370">
                  <a:moveTo>
                    <a:pt x="0" y="0"/>
                  </a:moveTo>
                  <a:lnTo>
                    <a:pt x="1944370" y="0"/>
                  </a:lnTo>
                  <a:lnTo>
                    <a:pt x="1944370" y="2004568"/>
                  </a:lnTo>
                  <a:lnTo>
                    <a:pt x="0" y="2004568"/>
                  </a:lnTo>
                  <a:lnTo>
                    <a:pt x="0" y="0"/>
                  </a:lnTo>
                  <a:close/>
                </a:path>
              </a:pathLst>
            </a:custGeom>
            <a:blipFill>
              <a:blip r:embed="rId13"/>
              <a:stretch>
                <a:fillRect l="0" t="-12" r="-1" b="-10"/>
              </a:stretch>
            </a:blipFill>
          </p:spPr>
        </p:sp>
      </p:grpSp>
      <p:grpSp>
        <p:nvGrpSpPr>
          <p:cNvPr name="Group 23" id="23"/>
          <p:cNvGrpSpPr/>
          <p:nvPr/>
        </p:nvGrpSpPr>
        <p:grpSpPr>
          <a:xfrm rot="0">
            <a:off x="14623694" y="2677220"/>
            <a:ext cx="1621927" cy="1621927"/>
            <a:chOff x="0" y="0"/>
            <a:chExt cx="2162569" cy="2162569"/>
          </a:xfrm>
        </p:grpSpPr>
        <p:sp>
          <p:nvSpPr>
            <p:cNvPr name="Freeform 24" id="24"/>
            <p:cNvSpPr/>
            <p:nvPr/>
          </p:nvSpPr>
          <p:spPr>
            <a:xfrm flipH="false" flipV="false" rot="0">
              <a:off x="0" y="0"/>
              <a:ext cx="2162556" cy="2162556"/>
            </a:xfrm>
            <a:custGeom>
              <a:avLst/>
              <a:gdLst/>
              <a:ahLst/>
              <a:cxnLst/>
              <a:rect r="r" b="b" t="t" l="l"/>
              <a:pathLst>
                <a:path h="2162556" w="2162556">
                  <a:moveTo>
                    <a:pt x="0" y="0"/>
                  </a:moveTo>
                  <a:lnTo>
                    <a:pt x="2162556" y="0"/>
                  </a:lnTo>
                  <a:lnTo>
                    <a:pt x="2162556" y="2162556"/>
                  </a:lnTo>
                  <a:lnTo>
                    <a:pt x="0" y="2162556"/>
                  </a:lnTo>
                  <a:lnTo>
                    <a:pt x="0" y="0"/>
                  </a:lnTo>
                  <a:close/>
                </a:path>
              </a:pathLst>
            </a:custGeom>
            <a:blipFill>
              <a:blip r:embed="rId14"/>
              <a:stretch>
                <a:fillRect l="0" t="0" r="0" b="0"/>
              </a:stretch>
            </a:blipFill>
          </p:spPr>
        </p:sp>
      </p:grpSp>
      <p:sp>
        <p:nvSpPr>
          <p:cNvPr name="TextBox 25" id="25"/>
          <p:cNvSpPr txBox="true"/>
          <p:nvPr/>
        </p:nvSpPr>
        <p:spPr>
          <a:xfrm rot="0">
            <a:off x="1028700" y="486032"/>
            <a:ext cx="16230600" cy="1021461"/>
          </a:xfrm>
          <a:prstGeom prst="rect">
            <a:avLst/>
          </a:prstGeom>
        </p:spPr>
        <p:txBody>
          <a:bodyPr anchor="t" rtlCol="false" tIns="0" lIns="0" bIns="0" rIns="0">
            <a:spAutoFit/>
          </a:bodyPr>
          <a:lstStyle/>
          <a:p>
            <a:pPr algn="ctr">
              <a:lnSpc>
                <a:spcPts val="8275"/>
              </a:lnSpc>
            </a:pPr>
            <a:r>
              <a:rPr lang="en-US" sz="5698">
                <a:solidFill>
                  <a:srgbClr val="FFFFFF"/>
                </a:solidFill>
                <a:latin typeface="Arial"/>
                <a:ea typeface="Arial"/>
                <a:cs typeface="Arial"/>
                <a:sym typeface="Arial"/>
              </a:rPr>
              <a:t>¿COMO PROTEGER UN SISTEMA?</a:t>
            </a:r>
          </a:p>
        </p:txBody>
      </p:sp>
      <p:sp>
        <p:nvSpPr>
          <p:cNvPr name="TextBox 26" id="26"/>
          <p:cNvSpPr txBox="true"/>
          <p:nvPr/>
        </p:nvSpPr>
        <p:spPr>
          <a:xfrm rot="0">
            <a:off x="15144560" y="1969808"/>
            <a:ext cx="580196" cy="466315"/>
          </a:xfrm>
          <a:prstGeom prst="rect">
            <a:avLst/>
          </a:prstGeom>
        </p:spPr>
        <p:txBody>
          <a:bodyPr anchor="t" rtlCol="false" tIns="0" lIns="0" bIns="0" rIns="0">
            <a:spAutoFit/>
          </a:bodyPr>
          <a:lstStyle/>
          <a:p>
            <a:pPr algn="ctr">
              <a:lnSpc>
                <a:spcPts val="3557"/>
              </a:lnSpc>
            </a:pPr>
            <a:r>
              <a:rPr lang="en-US" b="true" sz="2279">
                <a:solidFill>
                  <a:srgbClr val="482B66"/>
                </a:solidFill>
                <a:latin typeface="Arial Bold"/>
                <a:ea typeface="Arial Bold"/>
                <a:cs typeface="Arial Bold"/>
                <a:sym typeface="Arial Bold"/>
              </a:rPr>
              <a:t>04</a:t>
            </a:r>
          </a:p>
        </p:txBody>
      </p:sp>
      <p:sp>
        <p:nvSpPr>
          <p:cNvPr name="TextBox 27" id="27"/>
          <p:cNvSpPr txBox="true"/>
          <p:nvPr/>
        </p:nvSpPr>
        <p:spPr>
          <a:xfrm rot="0">
            <a:off x="13700493" y="5362708"/>
            <a:ext cx="3468338"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PROTECCIÓN DE RED</a:t>
            </a:r>
          </a:p>
        </p:txBody>
      </p:sp>
      <p:sp>
        <p:nvSpPr>
          <p:cNvPr name="TextBox 28" id="28"/>
          <p:cNvSpPr txBox="true"/>
          <p:nvPr/>
        </p:nvSpPr>
        <p:spPr>
          <a:xfrm rot="0">
            <a:off x="1119168" y="6013828"/>
            <a:ext cx="3554882" cy="3606165"/>
          </a:xfrm>
          <a:prstGeom prst="rect">
            <a:avLst/>
          </a:prstGeom>
        </p:spPr>
        <p:txBody>
          <a:bodyPr anchor="t" rtlCol="false" tIns="0" lIns="0" bIns="0" rIns="0">
            <a:spAutoFit/>
          </a:bodyPr>
          <a:lstStyle/>
          <a:p>
            <a:pPr algn="ctr">
              <a:lnSpc>
                <a:spcPts val="2808"/>
              </a:lnSpc>
            </a:pPr>
            <a:r>
              <a:rPr lang="en-US" sz="1800">
                <a:solidFill>
                  <a:srgbClr val="FFFFFF"/>
                </a:solidFill>
                <a:latin typeface="Montserrat"/>
                <a:ea typeface="Montserrat"/>
                <a:cs typeface="Montserrat"/>
                <a:sym typeface="Montserrat"/>
              </a:rPr>
              <a:t>Asegura el acceso físico a tus dispositivos restringiéndolos con contraseñas fuertes, autenticación biométrica y bloqueo de pantalla automático. En entornos sensibles, utiliza cerraduras físicas y cámaras de vigilancia, y evita dejar dispositivos desatendidos en lugares públicos. </a:t>
            </a:r>
          </a:p>
        </p:txBody>
      </p:sp>
      <p:sp>
        <p:nvSpPr>
          <p:cNvPr name="TextBox 29" id="29"/>
          <p:cNvSpPr txBox="true"/>
          <p:nvPr/>
        </p:nvSpPr>
        <p:spPr>
          <a:xfrm rot="0">
            <a:off x="1119168" y="5362708"/>
            <a:ext cx="3468338"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PROTECCIÓN FÍSICA</a:t>
            </a:r>
          </a:p>
        </p:txBody>
      </p:sp>
      <p:sp>
        <p:nvSpPr>
          <p:cNvPr name="TextBox 30" id="30"/>
          <p:cNvSpPr txBox="true"/>
          <p:nvPr/>
        </p:nvSpPr>
        <p:spPr>
          <a:xfrm rot="0">
            <a:off x="2563244" y="1969808"/>
            <a:ext cx="580196" cy="466315"/>
          </a:xfrm>
          <a:prstGeom prst="rect">
            <a:avLst/>
          </a:prstGeom>
        </p:spPr>
        <p:txBody>
          <a:bodyPr anchor="t" rtlCol="false" tIns="0" lIns="0" bIns="0" rIns="0">
            <a:spAutoFit/>
          </a:bodyPr>
          <a:lstStyle/>
          <a:p>
            <a:pPr algn="ctr">
              <a:lnSpc>
                <a:spcPts val="3557"/>
              </a:lnSpc>
            </a:pPr>
            <a:r>
              <a:rPr lang="en-US" b="true" sz="2279">
                <a:solidFill>
                  <a:srgbClr val="24B296"/>
                </a:solidFill>
                <a:latin typeface="Arial Bold"/>
                <a:ea typeface="Arial Bold"/>
                <a:cs typeface="Arial Bold"/>
                <a:sym typeface="Arial Bold"/>
              </a:rPr>
              <a:t>01</a:t>
            </a:r>
          </a:p>
        </p:txBody>
      </p:sp>
      <p:sp>
        <p:nvSpPr>
          <p:cNvPr name="TextBox 31" id="31"/>
          <p:cNvSpPr txBox="true"/>
          <p:nvPr/>
        </p:nvSpPr>
        <p:spPr>
          <a:xfrm rot="0">
            <a:off x="5292614" y="5362708"/>
            <a:ext cx="3468338"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PROTECCIÓN HUMANA</a:t>
            </a:r>
          </a:p>
        </p:txBody>
      </p:sp>
      <p:sp>
        <p:nvSpPr>
          <p:cNvPr name="TextBox 32" id="32"/>
          <p:cNvSpPr txBox="true"/>
          <p:nvPr/>
        </p:nvSpPr>
        <p:spPr>
          <a:xfrm rot="0">
            <a:off x="6736680" y="1969808"/>
            <a:ext cx="580196" cy="466315"/>
          </a:xfrm>
          <a:prstGeom prst="rect">
            <a:avLst/>
          </a:prstGeom>
        </p:spPr>
        <p:txBody>
          <a:bodyPr anchor="t" rtlCol="false" tIns="0" lIns="0" bIns="0" rIns="0">
            <a:spAutoFit/>
          </a:bodyPr>
          <a:lstStyle/>
          <a:p>
            <a:pPr algn="ctr">
              <a:lnSpc>
                <a:spcPts val="3557"/>
              </a:lnSpc>
            </a:pPr>
            <a:r>
              <a:rPr lang="en-US" b="true" sz="2279">
                <a:solidFill>
                  <a:srgbClr val="67D3CD"/>
                </a:solidFill>
                <a:latin typeface="Arial Bold"/>
                <a:ea typeface="Arial Bold"/>
                <a:cs typeface="Arial Bold"/>
                <a:sym typeface="Arial Bold"/>
              </a:rPr>
              <a:t>02</a:t>
            </a:r>
          </a:p>
        </p:txBody>
      </p:sp>
      <p:sp>
        <p:nvSpPr>
          <p:cNvPr name="TextBox 33" id="33"/>
          <p:cNvSpPr txBox="true"/>
          <p:nvPr/>
        </p:nvSpPr>
        <p:spPr>
          <a:xfrm rot="0">
            <a:off x="9488681" y="5362708"/>
            <a:ext cx="3468338"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SISTEMA OPERATIVO</a:t>
            </a:r>
          </a:p>
        </p:txBody>
      </p:sp>
      <p:sp>
        <p:nvSpPr>
          <p:cNvPr name="TextBox 34" id="34"/>
          <p:cNvSpPr txBox="true"/>
          <p:nvPr/>
        </p:nvSpPr>
        <p:spPr>
          <a:xfrm rot="0">
            <a:off x="10971124" y="1969808"/>
            <a:ext cx="580196" cy="466315"/>
          </a:xfrm>
          <a:prstGeom prst="rect">
            <a:avLst/>
          </a:prstGeom>
        </p:spPr>
        <p:txBody>
          <a:bodyPr anchor="t" rtlCol="false" tIns="0" lIns="0" bIns="0" rIns="0">
            <a:spAutoFit/>
          </a:bodyPr>
          <a:lstStyle/>
          <a:p>
            <a:pPr algn="ctr">
              <a:lnSpc>
                <a:spcPts val="3557"/>
              </a:lnSpc>
            </a:pPr>
            <a:r>
              <a:rPr lang="en-US" b="true" sz="2279">
                <a:solidFill>
                  <a:srgbClr val="675688"/>
                </a:solidFill>
                <a:latin typeface="Arial Bold"/>
                <a:ea typeface="Arial Bold"/>
                <a:cs typeface="Arial Bold"/>
                <a:sym typeface="Arial Bold"/>
              </a:rPr>
              <a:t>03</a:t>
            </a:r>
          </a:p>
        </p:txBody>
      </p:sp>
      <p:sp>
        <p:nvSpPr>
          <p:cNvPr name="TextBox 35" id="35"/>
          <p:cNvSpPr txBox="true"/>
          <p:nvPr/>
        </p:nvSpPr>
        <p:spPr>
          <a:xfrm rot="0">
            <a:off x="5360441" y="6032878"/>
            <a:ext cx="3468338" cy="3015615"/>
          </a:xfrm>
          <a:prstGeom prst="rect">
            <a:avLst/>
          </a:prstGeom>
        </p:spPr>
        <p:txBody>
          <a:bodyPr anchor="t" rtlCol="false" tIns="0" lIns="0" bIns="0" rIns="0">
            <a:spAutoFit/>
          </a:bodyPr>
          <a:lstStyle/>
          <a:p>
            <a:pPr algn="ctr">
              <a:lnSpc>
                <a:spcPts val="2808"/>
              </a:lnSpc>
            </a:pPr>
            <a:r>
              <a:rPr lang="en-US" sz="1800">
                <a:solidFill>
                  <a:srgbClr val="FFFFFF"/>
                </a:solidFill>
                <a:latin typeface="Montserrat"/>
                <a:ea typeface="Montserrat"/>
                <a:cs typeface="Montserrat"/>
                <a:sym typeface="Montserrat"/>
              </a:rPr>
              <a:t>Capacítar a los usuarios para identificar correos sospechosos, no descargar archivos o hacer clic en enlaces en correos no solicitados, y evita compartir información confidencial en llamadas o mensajes de fuentes no verificadas. </a:t>
            </a:r>
          </a:p>
        </p:txBody>
      </p:sp>
      <p:sp>
        <p:nvSpPr>
          <p:cNvPr name="TextBox 36" id="36"/>
          <p:cNvSpPr txBox="true"/>
          <p:nvPr/>
        </p:nvSpPr>
        <p:spPr>
          <a:xfrm rot="0">
            <a:off x="9444619" y="6032878"/>
            <a:ext cx="3633206" cy="2720340"/>
          </a:xfrm>
          <a:prstGeom prst="rect">
            <a:avLst/>
          </a:prstGeom>
        </p:spPr>
        <p:txBody>
          <a:bodyPr anchor="t" rtlCol="false" tIns="0" lIns="0" bIns="0" rIns="0">
            <a:spAutoFit/>
          </a:bodyPr>
          <a:lstStyle/>
          <a:p>
            <a:pPr algn="ctr">
              <a:lnSpc>
                <a:spcPts val="2808"/>
              </a:lnSpc>
            </a:pPr>
            <a:r>
              <a:rPr lang="en-US" sz="1800">
                <a:solidFill>
                  <a:srgbClr val="FFFFFF"/>
                </a:solidFill>
                <a:latin typeface="Montserrat"/>
                <a:ea typeface="Montserrat"/>
                <a:cs typeface="Montserrat"/>
                <a:sym typeface="Montserrat"/>
              </a:rPr>
              <a:t>Mantén el sistema operativo actualizado con los últimos parches de seguridad y configura el software para actualizarse automáticamente. Utiliza un antivirus y habilita el firewall para proteger contra amenazas. </a:t>
            </a:r>
          </a:p>
        </p:txBody>
      </p:sp>
      <p:sp>
        <p:nvSpPr>
          <p:cNvPr name="TextBox 37" id="37"/>
          <p:cNvSpPr txBox="true"/>
          <p:nvPr/>
        </p:nvSpPr>
        <p:spPr>
          <a:xfrm rot="0">
            <a:off x="13700493" y="6032878"/>
            <a:ext cx="3468338" cy="3606165"/>
          </a:xfrm>
          <a:prstGeom prst="rect">
            <a:avLst/>
          </a:prstGeom>
        </p:spPr>
        <p:txBody>
          <a:bodyPr anchor="t" rtlCol="false" tIns="0" lIns="0" bIns="0" rIns="0">
            <a:spAutoFit/>
          </a:bodyPr>
          <a:lstStyle/>
          <a:p>
            <a:pPr algn="ctr">
              <a:lnSpc>
                <a:spcPts val="2808"/>
              </a:lnSpc>
            </a:pPr>
            <a:r>
              <a:rPr lang="en-US" sz="1800">
                <a:solidFill>
                  <a:srgbClr val="FFFFFF"/>
                </a:solidFill>
                <a:latin typeface="Montserrat"/>
                <a:ea typeface="Montserrat"/>
                <a:cs typeface="Montserrat"/>
                <a:sym typeface="Montserrat"/>
              </a:rPr>
              <a:t>Configura contraseñas seguras y encripta la red    Wi-Fi (utilizando WPA3 o WPA2). Cambia las configuraciones por defecto del router, como el SSID y la contraseña de administración. Desactiva las conexiones remotas no necesarias y usa VPNs para proteger los datos transmitidos.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968922" y="2642606"/>
            <a:ext cx="5021904" cy="6040774"/>
          </a:xfrm>
          <a:custGeom>
            <a:avLst/>
            <a:gdLst/>
            <a:ahLst/>
            <a:cxnLst/>
            <a:rect r="r" b="b" t="t" l="l"/>
            <a:pathLst>
              <a:path h="6040774" w="5021904">
                <a:moveTo>
                  <a:pt x="0" y="0"/>
                </a:moveTo>
                <a:lnTo>
                  <a:pt x="5021904" y="0"/>
                </a:lnTo>
                <a:lnTo>
                  <a:pt x="5021904" y="6040775"/>
                </a:lnTo>
                <a:lnTo>
                  <a:pt x="0" y="6040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490974" y="2642606"/>
            <a:ext cx="8828094" cy="6040774"/>
          </a:xfrm>
          <a:custGeom>
            <a:avLst/>
            <a:gdLst/>
            <a:ahLst/>
            <a:cxnLst/>
            <a:rect r="r" b="b" t="t" l="l"/>
            <a:pathLst>
              <a:path h="6040774" w="8828094">
                <a:moveTo>
                  <a:pt x="0" y="0"/>
                </a:moveTo>
                <a:lnTo>
                  <a:pt x="8828094" y="0"/>
                </a:lnTo>
                <a:lnTo>
                  <a:pt x="8828094" y="6040775"/>
                </a:lnTo>
                <a:lnTo>
                  <a:pt x="0" y="60407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552348" y="3269590"/>
            <a:ext cx="3855053" cy="4895307"/>
            <a:chOff x="0" y="0"/>
            <a:chExt cx="5140071" cy="6527076"/>
          </a:xfrm>
        </p:grpSpPr>
        <p:sp>
          <p:nvSpPr>
            <p:cNvPr name="Freeform 7" id="7"/>
            <p:cNvSpPr/>
            <p:nvPr/>
          </p:nvSpPr>
          <p:spPr>
            <a:xfrm flipH="false" flipV="false" rot="0">
              <a:off x="0" y="0"/>
              <a:ext cx="5140071" cy="6527038"/>
            </a:xfrm>
            <a:custGeom>
              <a:avLst/>
              <a:gdLst/>
              <a:ahLst/>
              <a:cxnLst/>
              <a:rect r="r" b="b" t="t" l="l"/>
              <a:pathLst>
                <a:path h="6527038" w="5140071">
                  <a:moveTo>
                    <a:pt x="0" y="0"/>
                  </a:moveTo>
                  <a:lnTo>
                    <a:pt x="5140071" y="0"/>
                  </a:lnTo>
                  <a:lnTo>
                    <a:pt x="5140071" y="6527038"/>
                  </a:lnTo>
                  <a:lnTo>
                    <a:pt x="0" y="6527038"/>
                  </a:lnTo>
                  <a:lnTo>
                    <a:pt x="0" y="0"/>
                  </a:lnTo>
                  <a:close/>
                </a:path>
              </a:pathLst>
            </a:custGeom>
            <a:blipFill>
              <a:blip r:embed="rId8"/>
              <a:stretch>
                <a:fillRect l="0" t="-3730" r="0" b="-3730"/>
              </a:stretch>
            </a:blipFill>
          </p:spPr>
        </p:sp>
      </p:grpSp>
      <p:sp>
        <p:nvSpPr>
          <p:cNvPr name="TextBox 8" id="8"/>
          <p:cNvSpPr txBox="true"/>
          <p:nvPr/>
        </p:nvSpPr>
        <p:spPr>
          <a:xfrm rot="0">
            <a:off x="8134941" y="3023302"/>
            <a:ext cx="7540180" cy="5141595"/>
          </a:xfrm>
          <a:prstGeom prst="rect">
            <a:avLst/>
          </a:prstGeom>
        </p:spPr>
        <p:txBody>
          <a:bodyPr anchor="t" rtlCol="false" tIns="0" lIns="0" bIns="0" rIns="0">
            <a:spAutoFit/>
          </a:bodyPr>
          <a:lstStyle/>
          <a:p>
            <a:pPr algn="l">
              <a:lnSpc>
                <a:spcPts val="3744"/>
              </a:lnSpc>
            </a:pPr>
            <a:r>
              <a:rPr lang="en-US" sz="2400">
                <a:solidFill>
                  <a:srgbClr val="FFFFFF"/>
                </a:solidFill>
                <a:latin typeface="Montserrat"/>
                <a:ea typeface="Montserrat"/>
                <a:cs typeface="Montserrat"/>
                <a:sym typeface="Montserrat"/>
              </a:rPr>
              <a:t>Los procesos, junto con el kernel, son los únicos medios para realizar el trabajo en una computadora. Por lo tanto, escribir un programa que cree una violación de la seguridad, o provocar que un proceso normal cambie su comportamiento y cree una violación, es un objetivo común de los crackers. </a:t>
            </a:r>
          </a:p>
          <a:p>
            <a:pPr algn="l">
              <a:lnSpc>
                <a:spcPts val="2183"/>
              </a:lnSpc>
            </a:pPr>
          </a:p>
          <a:p>
            <a:pPr algn="l">
              <a:lnSpc>
                <a:spcPts val="3744"/>
              </a:lnSpc>
            </a:pPr>
            <a:r>
              <a:rPr lang="en-US" sz="2400">
                <a:solidFill>
                  <a:srgbClr val="FFFFFF"/>
                </a:solidFill>
                <a:latin typeface="Montserrat"/>
                <a:ea typeface="Montserrat"/>
                <a:cs typeface="Montserrat"/>
                <a:sym typeface="Montserrat"/>
              </a:rPr>
              <a:t>De hecho, incluso la mayoría de los eventos de seguridad ajenos al programa tienen como objetivo causar una amenaza al programa.</a:t>
            </a:r>
          </a:p>
        </p:txBody>
      </p:sp>
      <p:sp>
        <p:nvSpPr>
          <p:cNvPr name="TextBox 9" id="9"/>
          <p:cNvSpPr txBox="true"/>
          <p:nvPr/>
        </p:nvSpPr>
        <p:spPr>
          <a:xfrm rot="0">
            <a:off x="2250376" y="1422644"/>
            <a:ext cx="13787247" cy="1078354"/>
          </a:xfrm>
          <a:prstGeom prst="rect">
            <a:avLst/>
          </a:prstGeom>
        </p:spPr>
        <p:txBody>
          <a:bodyPr anchor="t" rtlCol="false" tIns="0" lIns="0" bIns="0" rIns="0">
            <a:spAutoFit/>
          </a:bodyPr>
          <a:lstStyle/>
          <a:p>
            <a:pPr algn="ctr">
              <a:lnSpc>
                <a:spcPts val="8565"/>
              </a:lnSpc>
            </a:pPr>
            <a:r>
              <a:rPr lang="en-US" sz="5899">
                <a:solidFill>
                  <a:srgbClr val="FFFFFF"/>
                </a:solidFill>
                <a:latin typeface="Arial"/>
                <a:ea typeface="Arial"/>
                <a:cs typeface="Arial"/>
                <a:sym typeface="Arial"/>
              </a:rPr>
              <a:t>AMENAZAS DE PROGRAMAS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50706" y="2665628"/>
            <a:ext cx="7548562" cy="6592672"/>
          </a:xfrm>
          <a:custGeom>
            <a:avLst/>
            <a:gdLst/>
            <a:ahLst/>
            <a:cxnLst/>
            <a:rect r="r" b="b" t="t" l="l"/>
            <a:pathLst>
              <a:path h="6592672" w="7548562">
                <a:moveTo>
                  <a:pt x="0" y="0"/>
                </a:moveTo>
                <a:lnTo>
                  <a:pt x="7548562" y="0"/>
                </a:lnTo>
                <a:lnTo>
                  <a:pt x="7548562" y="6592672"/>
                </a:lnTo>
                <a:lnTo>
                  <a:pt x="0" y="6592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24423" y="920201"/>
            <a:ext cx="8112871" cy="8338099"/>
          </a:xfrm>
          <a:custGeom>
            <a:avLst/>
            <a:gdLst/>
            <a:ahLst/>
            <a:cxnLst/>
            <a:rect r="r" b="b" t="t" l="l"/>
            <a:pathLst>
              <a:path h="8338099" w="8112871">
                <a:moveTo>
                  <a:pt x="0" y="0"/>
                </a:moveTo>
                <a:lnTo>
                  <a:pt x="8112871" y="0"/>
                </a:lnTo>
                <a:lnTo>
                  <a:pt x="8112871" y="8338099"/>
                </a:lnTo>
                <a:lnTo>
                  <a:pt x="0" y="8338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60817" y="3211116"/>
            <a:ext cx="6528349" cy="5610187"/>
            <a:chOff x="0" y="0"/>
            <a:chExt cx="8704466" cy="7480249"/>
          </a:xfrm>
        </p:grpSpPr>
        <p:sp>
          <p:nvSpPr>
            <p:cNvPr name="Freeform 7" id="7"/>
            <p:cNvSpPr/>
            <p:nvPr/>
          </p:nvSpPr>
          <p:spPr>
            <a:xfrm flipH="false" flipV="false" rot="0">
              <a:off x="0" y="0"/>
              <a:ext cx="8704453" cy="7480300"/>
            </a:xfrm>
            <a:custGeom>
              <a:avLst/>
              <a:gdLst/>
              <a:ahLst/>
              <a:cxnLst/>
              <a:rect r="r" b="b" t="t" l="l"/>
              <a:pathLst>
                <a:path h="7480300" w="8704453">
                  <a:moveTo>
                    <a:pt x="0" y="0"/>
                  </a:moveTo>
                  <a:lnTo>
                    <a:pt x="8704453" y="0"/>
                  </a:lnTo>
                  <a:lnTo>
                    <a:pt x="8704453" y="7480300"/>
                  </a:lnTo>
                  <a:lnTo>
                    <a:pt x="0" y="7480300"/>
                  </a:lnTo>
                  <a:lnTo>
                    <a:pt x="0" y="0"/>
                  </a:lnTo>
                  <a:close/>
                </a:path>
              </a:pathLst>
            </a:custGeom>
            <a:blipFill>
              <a:blip r:embed="rId8"/>
              <a:stretch>
                <a:fillRect l="-35935" t="0" r="-35936" b="0"/>
              </a:stretch>
            </a:blipFill>
          </p:spPr>
        </p:sp>
      </p:grpSp>
      <p:sp>
        <p:nvSpPr>
          <p:cNvPr name="TextBox 8" id="8"/>
          <p:cNvSpPr txBox="true"/>
          <p:nvPr/>
        </p:nvSpPr>
        <p:spPr>
          <a:xfrm rot="0">
            <a:off x="9483538" y="1626232"/>
            <a:ext cx="7194642" cy="6929752"/>
          </a:xfrm>
          <a:prstGeom prst="rect">
            <a:avLst/>
          </a:prstGeom>
        </p:spPr>
        <p:txBody>
          <a:bodyPr anchor="t" rtlCol="false" tIns="0" lIns="0" bIns="0" rIns="0">
            <a:spAutoFit/>
          </a:bodyPr>
          <a:lstStyle/>
          <a:p>
            <a:pPr algn="l">
              <a:lnSpc>
                <a:spcPts val="4054"/>
              </a:lnSpc>
            </a:pPr>
            <a:r>
              <a:rPr lang="en-US" sz="2599">
                <a:solidFill>
                  <a:srgbClr val="FFFFFF"/>
                </a:solidFill>
                <a:latin typeface="Montserrat"/>
                <a:ea typeface="Montserrat"/>
                <a:cs typeface="Montserrat"/>
                <a:sym typeface="Montserrat"/>
              </a:rPr>
              <a:t>Muchos sistemas tienen mecanismos para permitir que otros usuarios ejecuten programas escritos por usuarios. Estos programas se ejecutan en el dominio que proporciona los derechos de acceso del usuario que los ejecuta.</a:t>
            </a:r>
          </a:p>
          <a:p>
            <a:pPr algn="l">
              <a:lnSpc>
                <a:spcPts val="2184"/>
              </a:lnSpc>
            </a:pPr>
          </a:p>
          <a:p>
            <a:pPr algn="l">
              <a:lnSpc>
                <a:spcPts val="4054"/>
              </a:lnSpc>
            </a:pPr>
            <a:r>
              <a:rPr lang="en-US" sz="2599">
                <a:solidFill>
                  <a:srgbClr val="FFFFFF"/>
                </a:solidFill>
                <a:latin typeface="Montserrat"/>
                <a:ea typeface="Montserrat"/>
                <a:cs typeface="Montserrat"/>
                <a:sym typeface="Montserrat"/>
              </a:rPr>
              <a:t>Un virus troyano es un tipo de malware que se descarga en una computadora disfrazado de programa legítimo. El programa se ejecutaría dentro del dominio del usuario, permitiéndole hacer cualquier cosa que el usuario pueda hacer, incluida la eliminación de sus archivos, por ejemplo.</a:t>
            </a:r>
          </a:p>
        </p:txBody>
      </p:sp>
      <p:sp>
        <p:nvSpPr>
          <p:cNvPr name="TextBox 9" id="9"/>
          <p:cNvSpPr txBox="true"/>
          <p:nvPr/>
        </p:nvSpPr>
        <p:spPr>
          <a:xfrm rot="0">
            <a:off x="2238766" y="1189787"/>
            <a:ext cx="5372443" cy="1220219"/>
          </a:xfrm>
          <a:prstGeom prst="rect">
            <a:avLst/>
          </a:prstGeom>
        </p:spPr>
        <p:txBody>
          <a:bodyPr anchor="t" rtlCol="false" tIns="0" lIns="0" bIns="0" rIns="0">
            <a:spAutoFit/>
          </a:bodyPr>
          <a:lstStyle/>
          <a:p>
            <a:pPr algn="l">
              <a:lnSpc>
                <a:spcPts val="9727"/>
              </a:lnSpc>
            </a:pPr>
            <a:r>
              <a:rPr lang="en-US" sz="6698">
                <a:solidFill>
                  <a:srgbClr val="FFFFFF"/>
                </a:solidFill>
                <a:latin typeface="Arial"/>
                <a:ea typeface="Arial"/>
                <a:cs typeface="Arial"/>
                <a:sym typeface="Arial"/>
              </a:rPr>
              <a:t>TROYANOS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89708" y="2650407"/>
            <a:ext cx="7700743" cy="5131784"/>
          </a:xfrm>
          <a:custGeom>
            <a:avLst/>
            <a:gdLst/>
            <a:ahLst/>
            <a:cxnLst/>
            <a:rect r="r" b="b" t="t" l="l"/>
            <a:pathLst>
              <a:path h="5131784" w="7700743">
                <a:moveTo>
                  <a:pt x="0" y="0"/>
                </a:moveTo>
                <a:lnTo>
                  <a:pt x="7700743" y="0"/>
                </a:lnTo>
                <a:lnTo>
                  <a:pt x="7700743" y="5131785"/>
                </a:lnTo>
                <a:lnTo>
                  <a:pt x="0" y="51317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85421" y="920201"/>
            <a:ext cx="8112871" cy="8338099"/>
          </a:xfrm>
          <a:custGeom>
            <a:avLst/>
            <a:gdLst/>
            <a:ahLst/>
            <a:cxnLst/>
            <a:rect r="r" b="b" t="t" l="l"/>
            <a:pathLst>
              <a:path h="8338099" w="8112871">
                <a:moveTo>
                  <a:pt x="0" y="0"/>
                </a:moveTo>
                <a:lnTo>
                  <a:pt x="8112871" y="0"/>
                </a:lnTo>
                <a:lnTo>
                  <a:pt x="8112871" y="8338099"/>
                </a:lnTo>
                <a:lnTo>
                  <a:pt x="0" y="8338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579026" y="3296288"/>
            <a:ext cx="6722107" cy="3921300"/>
            <a:chOff x="0" y="0"/>
            <a:chExt cx="8962809" cy="5228400"/>
          </a:xfrm>
        </p:grpSpPr>
        <p:sp>
          <p:nvSpPr>
            <p:cNvPr name="Freeform 7" id="7"/>
            <p:cNvSpPr/>
            <p:nvPr/>
          </p:nvSpPr>
          <p:spPr>
            <a:xfrm flipH="false" flipV="false" rot="0">
              <a:off x="0" y="0"/>
              <a:ext cx="8962771" cy="5228336"/>
            </a:xfrm>
            <a:custGeom>
              <a:avLst/>
              <a:gdLst/>
              <a:ahLst/>
              <a:cxnLst/>
              <a:rect r="r" b="b" t="t" l="l"/>
              <a:pathLst>
                <a:path h="5228336" w="8962771">
                  <a:moveTo>
                    <a:pt x="0" y="0"/>
                  </a:moveTo>
                  <a:lnTo>
                    <a:pt x="8962771" y="0"/>
                  </a:lnTo>
                  <a:lnTo>
                    <a:pt x="8962771" y="5228336"/>
                  </a:lnTo>
                  <a:lnTo>
                    <a:pt x="0" y="5228336"/>
                  </a:lnTo>
                  <a:lnTo>
                    <a:pt x="0" y="0"/>
                  </a:lnTo>
                  <a:close/>
                </a:path>
              </a:pathLst>
            </a:custGeom>
            <a:blipFill>
              <a:blip r:embed="rId8"/>
              <a:stretch>
                <a:fillRect l="-1101" t="0" r="-1101" b="-1"/>
              </a:stretch>
            </a:blipFill>
          </p:spPr>
        </p:sp>
      </p:grpSp>
      <p:sp>
        <p:nvSpPr>
          <p:cNvPr name="TextBox 8" id="8"/>
          <p:cNvSpPr txBox="true"/>
          <p:nvPr/>
        </p:nvSpPr>
        <p:spPr>
          <a:xfrm rot="0">
            <a:off x="9544536" y="1411919"/>
            <a:ext cx="7270728" cy="7358377"/>
          </a:xfrm>
          <a:prstGeom prst="rect">
            <a:avLst/>
          </a:prstGeom>
        </p:spPr>
        <p:txBody>
          <a:bodyPr anchor="t" rtlCol="false" tIns="0" lIns="0" bIns="0" rIns="0">
            <a:spAutoFit/>
          </a:bodyPr>
          <a:lstStyle/>
          <a:p>
            <a:pPr algn="l">
              <a:lnSpc>
                <a:spcPts val="4054"/>
              </a:lnSpc>
            </a:pPr>
            <a:r>
              <a:rPr lang="en-US" sz="2599">
                <a:solidFill>
                  <a:srgbClr val="FFFFFF"/>
                </a:solidFill>
                <a:latin typeface="Montserrat"/>
                <a:ea typeface="Montserrat"/>
                <a:cs typeface="Montserrat"/>
                <a:sym typeface="Montserrat"/>
              </a:rPr>
              <a:t>El diseñador de un programa o sistema puede dejar un hueco en el software que sólo él es capaz de utilizar. Por ejemplo, el código podría buscar un ID de usuario o una contraseña específicos y podría eludir los procedimientos de seguridad normales.</a:t>
            </a:r>
          </a:p>
          <a:p>
            <a:pPr algn="l">
              <a:lnSpc>
                <a:spcPts val="2184"/>
              </a:lnSpc>
            </a:pPr>
          </a:p>
          <a:p>
            <a:pPr algn="l">
              <a:lnSpc>
                <a:spcPts val="4054"/>
              </a:lnSpc>
            </a:pPr>
            <a:r>
              <a:rPr lang="en-US" sz="2599">
                <a:solidFill>
                  <a:srgbClr val="FFFFFF"/>
                </a:solidFill>
                <a:latin typeface="Montserrat"/>
                <a:ea typeface="Montserrat"/>
                <a:cs typeface="Montserrat"/>
                <a:sym typeface="Montserrat"/>
              </a:rPr>
              <a:t>Las trampillas plantean un problema difícil porque, para detectarlas, tenemos que analizar todo el código fuente de todos los componentes de un sistema. Dado que los sistemas de software pueden constar de millones de líneas de código, este análisis no se realiza con frecuencia y, a menudo, no se realiza en absoluto.</a:t>
            </a:r>
          </a:p>
        </p:txBody>
      </p:sp>
      <p:sp>
        <p:nvSpPr>
          <p:cNvPr name="TextBox 9" id="9"/>
          <p:cNvSpPr txBox="true"/>
          <p:nvPr/>
        </p:nvSpPr>
        <p:spPr>
          <a:xfrm rot="0">
            <a:off x="1964874" y="1220229"/>
            <a:ext cx="5950401" cy="1220219"/>
          </a:xfrm>
          <a:prstGeom prst="rect">
            <a:avLst/>
          </a:prstGeom>
        </p:spPr>
        <p:txBody>
          <a:bodyPr anchor="t" rtlCol="false" tIns="0" lIns="0" bIns="0" rIns="0">
            <a:spAutoFit/>
          </a:bodyPr>
          <a:lstStyle/>
          <a:p>
            <a:pPr algn="l">
              <a:lnSpc>
                <a:spcPts val="9727"/>
              </a:lnSpc>
            </a:pPr>
            <a:r>
              <a:rPr lang="en-US" sz="6698">
                <a:solidFill>
                  <a:srgbClr val="FFFFFF"/>
                </a:solidFill>
                <a:latin typeface="Arial"/>
                <a:ea typeface="Arial"/>
                <a:cs typeface="Arial"/>
                <a:sym typeface="Arial"/>
              </a:rPr>
              <a:t>BACKDOORS</a:t>
            </a:r>
          </a:p>
        </p:txBody>
      </p:sp>
      <p:sp>
        <p:nvSpPr>
          <p:cNvPr name="Freeform 10" id="10"/>
          <p:cNvSpPr/>
          <p:nvPr/>
        </p:nvSpPr>
        <p:spPr>
          <a:xfrm flipH="false" flipV="false" rot="0">
            <a:off x="1089708" y="7854829"/>
            <a:ext cx="7700743" cy="1403471"/>
          </a:xfrm>
          <a:custGeom>
            <a:avLst/>
            <a:gdLst/>
            <a:ahLst/>
            <a:cxnLst/>
            <a:rect r="r" b="b" t="t" l="l"/>
            <a:pathLst>
              <a:path h="1403471" w="7700743">
                <a:moveTo>
                  <a:pt x="0" y="0"/>
                </a:moveTo>
                <a:lnTo>
                  <a:pt x="7700743" y="0"/>
                </a:lnTo>
                <a:lnTo>
                  <a:pt x="7700743" y="1403471"/>
                </a:lnTo>
                <a:lnTo>
                  <a:pt x="0" y="140347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50706" y="2665628"/>
            <a:ext cx="7548562" cy="6592672"/>
          </a:xfrm>
          <a:custGeom>
            <a:avLst/>
            <a:gdLst/>
            <a:ahLst/>
            <a:cxnLst/>
            <a:rect r="r" b="b" t="t" l="l"/>
            <a:pathLst>
              <a:path h="6592672" w="7548562">
                <a:moveTo>
                  <a:pt x="0" y="0"/>
                </a:moveTo>
                <a:lnTo>
                  <a:pt x="7548562" y="0"/>
                </a:lnTo>
                <a:lnTo>
                  <a:pt x="7548562" y="6592672"/>
                </a:lnTo>
                <a:lnTo>
                  <a:pt x="0" y="6592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24423" y="920201"/>
            <a:ext cx="8112871" cy="8338099"/>
          </a:xfrm>
          <a:custGeom>
            <a:avLst/>
            <a:gdLst/>
            <a:ahLst/>
            <a:cxnLst/>
            <a:rect r="r" b="b" t="t" l="l"/>
            <a:pathLst>
              <a:path h="8338099" w="8112871">
                <a:moveTo>
                  <a:pt x="0" y="0"/>
                </a:moveTo>
                <a:lnTo>
                  <a:pt x="8112871" y="0"/>
                </a:lnTo>
                <a:lnTo>
                  <a:pt x="8112871" y="8338099"/>
                </a:lnTo>
                <a:lnTo>
                  <a:pt x="0" y="8338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81734" y="3295669"/>
            <a:ext cx="6486515" cy="5441080"/>
            <a:chOff x="0" y="0"/>
            <a:chExt cx="8648687" cy="7254773"/>
          </a:xfrm>
        </p:grpSpPr>
        <p:sp>
          <p:nvSpPr>
            <p:cNvPr name="Freeform 7" id="7"/>
            <p:cNvSpPr/>
            <p:nvPr/>
          </p:nvSpPr>
          <p:spPr>
            <a:xfrm flipH="false" flipV="false" rot="0">
              <a:off x="0" y="0"/>
              <a:ext cx="8648700" cy="7254748"/>
            </a:xfrm>
            <a:custGeom>
              <a:avLst/>
              <a:gdLst/>
              <a:ahLst/>
              <a:cxnLst/>
              <a:rect r="r" b="b" t="t" l="l"/>
              <a:pathLst>
                <a:path h="7254748" w="8648700">
                  <a:moveTo>
                    <a:pt x="0" y="0"/>
                  </a:moveTo>
                  <a:lnTo>
                    <a:pt x="8648700" y="0"/>
                  </a:lnTo>
                  <a:lnTo>
                    <a:pt x="8648700" y="7254748"/>
                  </a:lnTo>
                  <a:lnTo>
                    <a:pt x="0" y="7254748"/>
                  </a:lnTo>
                  <a:lnTo>
                    <a:pt x="0" y="0"/>
                  </a:lnTo>
                  <a:close/>
                </a:path>
              </a:pathLst>
            </a:custGeom>
            <a:blipFill>
              <a:blip r:embed="rId8"/>
              <a:stretch>
                <a:fillRect l="-24562" t="0" r="-24562" b="0"/>
              </a:stretch>
            </a:blipFill>
          </p:spPr>
        </p:sp>
      </p:grpSp>
      <p:sp>
        <p:nvSpPr>
          <p:cNvPr name="TextBox 8" id="8"/>
          <p:cNvSpPr txBox="true"/>
          <p:nvPr/>
        </p:nvSpPr>
        <p:spPr>
          <a:xfrm rot="0">
            <a:off x="9483538" y="1273493"/>
            <a:ext cx="7270728" cy="7625715"/>
          </a:xfrm>
          <a:prstGeom prst="rect">
            <a:avLst/>
          </a:prstGeom>
        </p:spPr>
        <p:txBody>
          <a:bodyPr anchor="t" rtlCol="false" tIns="0" lIns="0" bIns="0" rIns="0">
            <a:spAutoFit/>
          </a:bodyPr>
          <a:lstStyle/>
          <a:p>
            <a:pPr algn="l">
              <a:lnSpc>
                <a:spcPts val="3978"/>
              </a:lnSpc>
            </a:pPr>
            <a:r>
              <a:rPr lang="en-US" sz="2550">
                <a:solidFill>
                  <a:srgbClr val="FFFFFF"/>
                </a:solidFill>
                <a:latin typeface="Montserrat"/>
                <a:ea typeface="Montserrat"/>
                <a:cs typeface="Montserrat"/>
                <a:sym typeface="Montserrat"/>
              </a:rPr>
              <a:t>Considere un programa que inicia un incidente de seguridad sólo bajo ciertas circunstancias. Sería difícil de detectar porque, en operaciones normales, no habría ningún agujero de seguridad. Sin embargo, cuando se cumpliera un conjunto predefinido de parámetros, se crearía el agujero de seguridad. Este escenario se conoce como bomba lógica.</a:t>
            </a:r>
          </a:p>
          <a:p>
            <a:pPr algn="l">
              <a:lnSpc>
                <a:spcPts val="2183"/>
              </a:lnSpc>
            </a:pPr>
          </a:p>
          <a:p>
            <a:pPr algn="l">
              <a:lnSpc>
                <a:spcPts val="3978"/>
              </a:lnSpc>
            </a:pPr>
            <a:r>
              <a:rPr lang="en-US" sz="2550">
                <a:solidFill>
                  <a:srgbClr val="FFFFFF"/>
                </a:solidFill>
                <a:latin typeface="Montserrat"/>
                <a:ea typeface="Montserrat"/>
                <a:cs typeface="Montserrat"/>
                <a:sym typeface="Montserrat"/>
              </a:rPr>
              <a:t>Un programador, por ejemplo, podría escribir código para detectar si todavía tiene empleo; si esa verificación falla, se podría generar un demonio para permitir el acceso remoto o se podría ejecutar un código para causar daños al sitio.</a:t>
            </a:r>
          </a:p>
        </p:txBody>
      </p:sp>
      <p:sp>
        <p:nvSpPr>
          <p:cNvPr name="TextBox 9" id="9"/>
          <p:cNvSpPr txBox="true"/>
          <p:nvPr/>
        </p:nvSpPr>
        <p:spPr>
          <a:xfrm rot="0">
            <a:off x="1234402" y="1197293"/>
            <a:ext cx="7381170" cy="1163450"/>
          </a:xfrm>
          <a:prstGeom prst="rect">
            <a:avLst/>
          </a:prstGeom>
        </p:spPr>
        <p:txBody>
          <a:bodyPr anchor="t" rtlCol="false" tIns="0" lIns="0" bIns="0" rIns="0">
            <a:spAutoFit/>
          </a:bodyPr>
          <a:lstStyle/>
          <a:p>
            <a:pPr algn="ctr">
              <a:lnSpc>
                <a:spcPts val="9291"/>
              </a:lnSpc>
            </a:pPr>
            <a:r>
              <a:rPr lang="en-US" sz="6398">
                <a:solidFill>
                  <a:srgbClr val="FFFFFF"/>
                </a:solidFill>
                <a:latin typeface="Arial"/>
                <a:ea typeface="Arial"/>
                <a:cs typeface="Arial"/>
                <a:sym typeface="Arial"/>
              </a:rPr>
              <a:t>BOMBA LOGICA</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50706" y="2361848"/>
            <a:ext cx="7548562" cy="6838655"/>
          </a:xfrm>
          <a:custGeom>
            <a:avLst/>
            <a:gdLst/>
            <a:ahLst/>
            <a:cxnLst/>
            <a:rect r="r" b="b" t="t" l="l"/>
            <a:pathLst>
              <a:path h="6838655" w="7548562">
                <a:moveTo>
                  <a:pt x="0" y="0"/>
                </a:moveTo>
                <a:lnTo>
                  <a:pt x="7548562" y="0"/>
                </a:lnTo>
                <a:lnTo>
                  <a:pt x="7548562" y="6838654"/>
                </a:lnTo>
                <a:lnTo>
                  <a:pt x="0" y="68386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24423" y="2361848"/>
            <a:ext cx="8112871" cy="6838655"/>
          </a:xfrm>
          <a:custGeom>
            <a:avLst/>
            <a:gdLst/>
            <a:ahLst/>
            <a:cxnLst/>
            <a:rect r="r" b="b" t="t" l="l"/>
            <a:pathLst>
              <a:path h="6838655" w="8112871">
                <a:moveTo>
                  <a:pt x="0" y="0"/>
                </a:moveTo>
                <a:lnTo>
                  <a:pt x="8112871" y="0"/>
                </a:lnTo>
                <a:lnTo>
                  <a:pt x="8112871" y="6838654"/>
                </a:lnTo>
                <a:lnTo>
                  <a:pt x="0" y="68386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53073" y="3034856"/>
            <a:ext cx="6543846" cy="5669994"/>
            <a:chOff x="0" y="0"/>
            <a:chExt cx="8725129" cy="7559992"/>
          </a:xfrm>
        </p:grpSpPr>
        <p:sp>
          <p:nvSpPr>
            <p:cNvPr name="Freeform 7" id="7"/>
            <p:cNvSpPr/>
            <p:nvPr/>
          </p:nvSpPr>
          <p:spPr>
            <a:xfrm flipH="false" flipV="false" rot="0">
              <a:off x="0" y="0"/>
              <a:ext cx="8725154" cy="7559929"/>
            </a:xfrm>
            <a:custGeom>
              <a:avLst/>
              <a:gdLst/>
              <a:ahLst/>
              <a:cxnLst/>
              <a:rect r="r" b="b" t="t" l="l"/>
              <a:pathLst>
                <a:path h="7559929" w="8725154">
                  <a:moveTo>
                    <a:pt x="0" y="0"/>
                  </a:moveTo>
                  <a:lnTo>
                    <a:pt x="8725154" y="0"/>
                  </a:lnTo>
                  <a:lnTo>
                    <a:pt x="8725154" y="7559929"/>
                  </a:lnTo>
                  <a:lnTo>
                    <a:pt x="0" y="7559929"/>
                  </a:lnTo>
                  <a:lnTo>
                    <a:pt x="0" y="0"/>
                  </a:lnTo>
                  <a:close/>
                </a:path>
              </a:pathLst>
            </a:custGeom>
            <a:blipFill>
              <a:blip r:embed="rId8"/>
              <a:stretch>
                <a:fillRect l="-14888" t="0" r="-14887" b="0"/>
              </a:stretch>
            </a:blipFill>
          </p:spPr>
        </p:sp>
      </p:grpSp>
      <p:sp>
        <p:nvSpPr>
          <p:cNvPr name="TextBox 8" id="8"/>
          <p:cNvSpPr txBox="true"/>
          <p:nvPr/>
        </p:nvSpPr>
        <p:spPr>
          <a:xfrm rot="0">
            <a:off x="9445495" y="2838050"/>
            <a:ext cx="7270728" cy="5949315"/>
          </a:xfrm>
          <a:prstGeom prst="rect">
            <a:avLst/>
          </a:prstGeom>
        </p:spPr>
        <p:txBody>
          <a:bodyPr anchor="t" rtlCol="false" tIns="0" lIns="0" bIns="0" rIns="0">
            <a:spAutoFit/>
          </a:bodyPr>
          <a:lstStyle/>
          <a:p>
            <a:pPr algn="l">
              <a:lnSpc>
                <a:spcPts val="3978"/>
              </a:lnSpc>
            </a:pPr>
            <a:r>
              <a:rPr lang="en-US" sz="2550">
                <a:solidFill>
                  <a:srgbClr val="FFFFFF"/>
                </a:solidFill>
                <a:latin typeface="Montserrat"/>
                <a:ea typeface="Montserrat"/>
                <a:cs typeface="Montserrat"/>
                <a:sym typeface="Montserrat"/>
              </a:rPr>
              <a:t>Otra forma de amenaza de programa es un virus. Un virus es un fragmento de código incrustado en un programa legítimo. Son capaces de autorreplicarse y están diseñados para "infectar" otros programas. Pueden causar estragos en un sistema al modificar o destruir archivos y provocar fallas en el sistema y mal funcionamiento del programa.</a:t>
            </a:r>
          </a:p>
          <a:p>
            <a:pPr algn="l">
              <a:lnSpc>
                <a:spcPts val="2183"/>
              </a:lnSpc>
            </a:pPr>
          </a:p>
          <a:p>
            <a:pPr algn="l">
              <a:lnSpc>
                <a:spcPts val="3978"/>
              </a:lnSpc>
            </a:pPr>
            <a:r>
              <a:rPr lang="en-US" sz="2550">
                <a:solidFill>
                  <a:srgbClr val="FFFFFF"/>
                </a:solidFill>
                <a:latin typeface="Montserrat"/>
                <a:ea typeface="Montserrat"/>
                <a:cs typeface="Montserrat"/>
                <a:sym typeface="Montserrat"/>
              </a:rPr>
              <a:t>Como ocurre con la mayoría de los ataques de penetración, los virus son muy específicos de arquitecturas, sistemas operativos y aplicaciones.</a:t>
            </a:r>
          </a:p>
        </p:txBody>
      </p:sp>
      <p:sp>
        <p:nvSpPr>
          <p:cNvPr name="TextBox 9" id="9"/>
          <p:cNvSpPr txBox="true"/>
          <p:nvPr/>
        </p:nvSpPr>
        <p:spPr>
          <a:xfrm rot="0">
            <a:off x="5453415" y="848373"/>
            <a:ext cx="7381170" cy="1485014"/>
          </a:xfrm>
          <a:prstGeom prst="rect">
            <a:avLst/>
          </a:prstGeom>
        </p:spPr>
        <p:txBody>
          <a:bodyPr anchor="t" rtlCol="false" tIns="0" lIns="0" bIns="0" rIns="0">
            <a:spAutoFit/>
          </a:bodyPr>
          <a:lstStyle/>
          <a:p>
            <a:pPr algn="ctr">
              <a:lnSpc>
                <a:spcPts val="11905"/>
              </a:lnSpc>
            </a:pPr>
            <a:r>
              <a:rPr lang="en-US" sz="8199">
                <a:solidFill>
                  <a:srgbClr val="FFFFFF"/>
                </a:solidFill>
                <a:latin typeface="Arial"/>
                <a:ea typeface="Arial"/>
                <a:cs typeface="Arial"/>
                <a:sym typeface="Arial"/>
              </a:rPr>
              <a:t>VIRUS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50706" y="2551557"/>
            <a:ext cx="7548562" cy="6390246"/>
          </a:xfrm>
          <a:custGeom>
            <a:avLst/>
            <a:gdLst/>
            <a:ahLst/>
            <a:cxnLst/>
            <a:rect r="r" b="b" t="t" l="l"/>
            <a:pathLst>
              <a:path h="6390246" w="7548562">
                <a:moveTo>
                  <a:pt x="0" y="0"/>
                </a:moveTo>
                <a:lnTo>
                  <a:pt x="7548562" y="0"/>
                </a:lnTo>
                <a:lnTo>
                  <a:pt x="7548562" y="6390246"/>
                </a:lnTo>
                <a:lnTo>
                  <a:pt x="0" y="63902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24423" y="2551557"/>
            <a:ext cx="8112871" cy="6390246"/>
          </a:xfrm>
          <a:custGeom>
            <a:avLst/>
            <a:gdLst/>
            <a:ahLst/>
            <a:cxnLst/>
            <a:rect r="r" b="b" t="t" l="l"/>
            <a:pathLst>
              <a:path h="6390246" w="8112871">
                <a:moveTo>
                  <a:pt x="0" y="0"/>
                </a:moveTo>
                <a:lnTo>
                  <a:pt x="8112871" y="0"/>
                </a:lnTo>
                <a:lnTo>
                  <a:pt x="8112871" y="6390246"/>
                </a:lnTo>
                <a:lnTo>
                  <a:pt x="0" y="63902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63151" y="3778577"/>
            <a:ext cx="6523692" cy="4044686"/>
            <a:chOff x="0" y="0"/>
            <a:chExt cx="8698255" cy="5392915"/>
          </a:xfrm>
        </p:grpSpPr>
        <p:sp>
          <p:nvSpPr>
            <p:cNvPr name="Freeform 7" id="7"/>
            <p:cNvSpPr/>
            <p:nvPr/>
          </p:nvSpPr>
          <p:spPr>
            <a:xfrm flipH="false" flipV="false" rot="0">
              <a:off x="0" y="0"/>
              <a:ext cx="8698230" cy="5392928"/>
            </a:xfrm>
            <a:custGeom>
              <a:avLst/>
              <a:gdLst/>
              <a:ahLst/>
              <a:cxnLst/>
              <a:rect r="r" b="b" t="t" l="l"/>
              <a:pathLst>
                <a:path h="5392928" w="8698230">
                  <a:moveTo>
                    <a:pt x="0" y="0"/>
                  </a:moveTo>
                  <a:lnTo>
                    <a:pt x="8698230" y="0"/>
                  </a:lnTo>
                  <a:lnTo>
                    <a:pt x="8698230" y="5392928"/>
                  </a:lnTo>
                  <a:lnTo>
                    <a:pt x="0" y="5392928"/>
                  </a:lnTo>
                  <a:lnTo>
                    <a:pt x="0" y="0"/>
                  </a:lnTo>
                  <a:close/>
                </a:path>
              </a:pathLst>
            </a:custGeom>
            <a:blipFill>
              <a:blip r:embed="rId8"/>
              <a:stretch>
                <a:fillRect l="0" t="-38" r="0" b="-38"/>
              </a:stretch>
            </a:blipFill>
          </p:spPr>
        </p:sp>
      </p:grpSp>
      <p:sp>
        <p:nvSpPr>
          <p:cNvPr name="TextBox 8" id="8"/>
          <p:cNvSpPr txBox="true"/>
          <p:nvPr/>
        </p:nvSpPr>
        <p:spPr>
          <a:xfrm rot="0">
            <a:off x="9445495" y="2978668"/>
            <a:ext cx="7270728" cy="5530215"/>
          </a:xfrm>
          <a:prstGeom prst="rect">
            <a:avLst/>
          </a:prstGeom>
        </p:spPr>
        <p:txBody>
          <a:bodyPr anchor="t" rtlCol="false" tIns="0" lIns="0" bIns="0" rIns="0">
            <a:spAutoFit/>
          </a:bodyPr>
          <a:lstStyle/>
          <a:p>
            <a:pPr algn="l">
              <a:lnSpc>
                <a:spcPts val="3978"/>
              </a:lnSpc>
            </a:pPr>
            <a:r>
              <a:rPr lang="en-US" sz="2550">
                <a:solidFill>
                  <a:srgbClr val="FFFFFF"/>
                </a:solidFill>
                <a:latin typeface="Montserrat"/>
                <a:ea typeface="Montserrat"/>
                <a:cs typeface="Montserrat"/>
                <a:sym typeface="Montserrat"/>
              </a:rPr>
              <a:t>Un gusano es un programa autónomo y autorreplicante que utiliza mecanismos de red para propagarse a otras máquinas.</a:t>
            </a:r>
          </a:p>
          <a:p>
            <a:pPr algn="l">
              <a:lnSpc>
                <a:spcPts val="2183"/>
              </a:lnSpc>
            </a:pPr>
          </a:p>
          <a:p>
            <a:pPr algn="l">
              <a:lnSpc>
                <a:spcPts val="3978"/>
              </a:lnSpc>
            </a:pPr>
            <a:r>
              <a:rPr lang="en-US" sz="2550">
                <a:solidFill>
                  <a:srgbClr val="FFFFFF"/>
                </a:solidFill>
                <a:latin typeface="Montserrat"/>
                <a:ea typeface="Montserrat"/>
                <a:cs typeface="Montserrat"/>
                <a:sym typeface="Montserrat"/>
              </a:rPr>
              <a:t>Los gusanos pueden modificar y eliminar archivos e incluso pueden inyectar software malicioso adicional en una computadora. A veces, el propósito de un gusano informático es sólo hacer copias de sí mismo una y otra vez, agotando los recursos del sistema al sobrecargar una red.</a:t>
            </a:r>
          </a:p>
        </p:txBody>
      </p:sp>
      <p:sp>
        <p:nvSpPr>
          <p:cNvPr name="TextBox 9" id="9"/>
          <p:cNvSpPr txBox="true"/>
          <p:nvPr/>
        </p:nvSpPr>
        <p:spPr>
          <a:xfrm rot="0">
            <a:off x="5333838" y="1154706"/>
            <a:ext cx="7381170" cy="1163450"/>
          </a:xfrm>
          <a:prstGeom prst="rect">
            <a:avLst/>
          </a:prstGeom>
        </p:spPr>
        <p:txBody>
          <a:bodyPr anchor="t" rtlCol="false" tIns="0" lIns="0" bIns="0" rIns="0">
            <a:spAutoFit/>
          </a:bodyPr>
          <a:lstStyle/>
          <a:p>
            <a:pPr algn="ctr">
              <a:lnSpc>
                <a:spcPts val="9291"/>
              </a:lnSpc>
            </a:pPr>
            <a:r>
              <a:rPr lang="en-US" sz="6398">
                <a:solidFill>
                  <a:srgbClr val="FFFFFF"/>
                </a:solidFill>
                <a:latin typeface="Arial"/>
                <a:ea typeface="Arial"/>
                <a:cs typeface="Arial"/>
                <a:sym typeface="Arial"/>
              </a:rPr>
              <a:t>GUSANOS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50706" y="2901563"/>
            <a:ext cx="7548562" cy="5659793"/>
          </a:xfrm>
          <a:custGeom>
            <a:avLst/>
            <a:gdLst/>
            <a:ahLst/>
            <a:cxnLst/>
            <a:rect r="r" b="b" t="t" l="l"/>
            <a:pathLst>
              <a:path h="5659793" w="7548562">
                <a:moveTo>
                  <a:pt x="0" y="0"/>
                </a:moveTo>
                <a:lnTo>
                  <a:pt x="7548562" y="0"/>
                </a:lnTo>
                <a:lnTo>
                  <a:pt x="7548562" y="5659793"/>
                </a:lnTo>
                <a:lnTo>
                  <a:pt x="0" y="56597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24423" y="2901563"/>
            <a:ext cx="8112871" cy="5659793"/>
          </a:xfrm>
          <a:custGeom>
            <a:avLst/>
            <a:gdLst/>
            <a:ahLst/>
            <a:cxnLst/>
            <a:rect r="r" b="b" t="t" l="l"/>
            <a:pathLst>
              <a:path h="5659793" w="8112871">
                <a:moveTo>
                  <a:pt x="0" y="0"/>
                </a:moveTo>
                <a:lnTo>
                  <a:pt x="8112871" y="0"/>
                </a:lnTo>
                <a:lnTo>
                  <a:pt x="8112871" y="5659793"/>
                </a:lnTo>
                <a:lnTo>
                  <a:pt x="0" y="56597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728635" y="3648142"/>
            <a:ext cx="6392713" cy="4275134"/>
            <a:chOff x="0" y="0"/>
            <a:chExt cx="8523618" cy="5700179"/>
          </a:xfrm>
        </p:grpSpPr>
        <p:sp>
          <p:nvSpPr>
            <p:cNvPr name="Freeform 7" id="7"/>
            <p:cNvSpPr/>
            <p:nvPr/>
          </p:nvSpPr>
          <p:spPr>
            <a:xfrm flipH="false" flipV="false" rot="0">
              <a:off x="0" y="0"/>
              <a:ext cx="8523605" cy="5700141"/>
            </a:xfrm>
            <a:custGeom>
              <a:avLst/>
              <a:gdLst/>
              <a:ahLst/>
              <a:cxnLst/>
              <a:rect r="r" b="b" t="t" l="l"/>
              <a:pathLst>
                <a:path h="5700141" w="8523605">
                  <a:moveTo>
                    <a:pt x="0" y="0"/>
                  </a:moveTo>
                  <a:lnTo>
                    <a:pt x="8523605" y="0"/>
                  </a:lnTo>
                  <a:lnTo>
                    <a:pt x="8523605" y="5700141"/>
                  </a:lnTo>
                  <a:lnTo>
                    <a:pt x="0" y="5700141"/>
                  </a:lnTo>
                  <a:lnTo>
                    <a:pt x="0" y="0"/>
                  </a:lnTo>
                  <a:close/>
                </a:path>
              </a:pathLst>
            </a:custGeom>
            <a:blipFill>
              <a:blip r:embed="rId8"/>
              <a:stretch>
                <a:fillRect l="0" t="0" r="0" b="0"/>
              </a:stretch>
            </a:blipFill>
          </p:spPr>
        </p:sp>
      </p:grpSp>
      <p:sp>
        <p:nvSpPr>
          <p:cNvPr name="TextBox 8" id="8"/>
          <p:cNvSpPr txBox="true"/>
          <p:nvPr/>
        </p:nvSpPr>
        <p:spPr>
          <a:xfrm rot="0">
            <a:off x="9445495" y="3470358"/>
            <a:ext cx="7270728" cy="4272915"/>
          </a:xfrm>
          <a:prstGeom prst="rect">
            <a:avLst/>
          </a:prstGeom>
        </p:spPr>
        <p:txBody>
          <a:bodyPr anchor="t" rtlCol="false" tIns="0" lIns="0" bIns="0" rIns="0">
            <a:spAutoFit/>
          </a:bodyPr>
          <a:lstStyle/>
          <a:p>
            <a:pPr algn="l">
              <a:lnSpc>
                <a:spcPts val="3978"/>
              </a:lnSpc>
            </a:pPr>
            <a:r>
              <a:rPr lang="en-US" sz="2550">
                <a:solidFill>
                  <a:srgbClr val="FFFFFF"/>
                </a:solidFill>
                <a:latin typeface="Montserrat"/>
                <a:ea typeface="Montserrat"/>
                <a:cs typeface="Montserrat"/>
                <a:sym typeface="Montserrat"/>
              </a:rPr>
              <a:t>El escaneo de puertos no es un ataque, sino más bien un medio para que un hacker detecte las vulnerabilidades de un sistema ante un ataque.</a:t>
            </a:r>
          </a:p>
          <a:p>
            <a:pPr algn="l">
              <a:lnSpc>
                <a:spcPts val="2183"/>
              </a:lnSpc>
            </a:pPr>
          </a:p>
          <a:p>
            <a:pPr algn="l">
              <a:lnSpc>
                <a:spcPts val="3978"/>
              </a:lnSpc>
            </a:pPr>
            <a:r>
              <a:rPr lang="en-US" sz="2550">
                <a:solidFill>
                  <a:srgbClr val="FFFFFF"/>
                </a:solidFill>
                <a:latin typeface="Montserrat"/>
                <a:ea typeface="Montserrat"/>
                <a:cs typeface="Montserrat"/>
                <a:sym typeface="Montserrat"/>
              </a:rPr>
              <a:t>El escaneo de puertos generalmente es automatizado e involucra una herramienta que intenta crear una conexión TCP/IP a un puerto específico o a un rango de puertos.</a:t>
            </a:r>
          </a:p>
        </p:txBody>
      </p:sp>
      <p:sp>
        <p:nvSpPr>
          <p:cNvPr name="TextBox 9" id="9"/>
          <p:cNvSpPr txBox="true"/>
          <p:nvPr/>
        </p:nvSpPr>
        <p:spPr>
          <a:xfrm rot="0">
            <a:off x="3543605" y="1535144"/>
            <a:ext cx="11200790" cy="1163450"/>
          </a:xfrm>
          <a:prstGeom prst="rect">
            <a:avLst/>
          </a:prstGeom>
        </p:spPr>
        <p:txBody>
          <a:bodyPr anchor="t" rtlCol="false" tIns="0" lIns="0" bIns="0" rIns="0">
            <a:spAutoFit/>
          </a:bodyPr>
          <a:lstStyle/>
          <a:p>
            <a:pPr algn="ctr">
              <a:lnSpc>
                <a:spcPts val="9291"/>
              </a:lnSpc>
            </a:pPr>
            <a:r>
              <a:rPr lang="en-US" sz="6398">
                <a:solidFill>
                  <a:srgbClr val="FFFFFF"/>
                </a:solidFill>
                <a:latin typeface="Arial"/>
                <a:ea typeface="Arial"/>
                <a:cs typeface="Arial"/>
                <a:sym typeface="Arial"/>
              </a:rPr>
              <a:t>ESCANEO DE PUERTOS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50706" y="2787367"/>
            <a:ext cx="6802898" cy="6470933"/>
          </a:xfrm>
          <a:custGeom>
            <a:avLst/>
            <a:gdLst/>
            <a:ahLst/>
            <a:cxnLst/>
            <a:rect r="r" b="b" t="t" l="l"/>
            <a:pathLst>
              <a:path h="6470933" w="6802898">
                <a:moveTo>
                  <a:pt x="0" y="0"/>
                </a:moveTo>
                <a:lnTo>
                  <a:pt x="6802898" y="0"/>
                </a:lnTo>
                <a:lnTo>
                  <a:pt x="6802898" y="6470933"/>
                </a:lnTo>
                <a:lnTo>
                  <a:pt x="0" y="6470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339633" y="920201"/>
            <a:ext cx="8797661" cy="8338099"/>
          </a:xfrm>
          <a:custGeom>
            <a:avLst/>
            <a:gdLst/>
            <a:ahLst/>
            <a:cxnLst/>
            <a:rect r="r" b="b" t="t" l="l"/>
            <a:pathLst>
              <a:path h="8338099" w="8797661">
                <a:moveTo>
                  <a:pt x="0" y="0"/>
                </a:moveTo>
                <a:lnTo>
                  <a:pt x="8797661" y="0"/>
                </a:lnTo>
                <a:lnTo>
                  <a:pt x="8797661" y="8338099"/>
                </a:lnTo>
                <a:lnTo>
                  <a:pt x="0" y="8338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287114" y="3297879"/>
            <a:ext cx="4530100" cy="5558399"/>
            <a:chOff x="0" y="0"/>
            <a:chExt cx="6040133" cy="7411199"/>
          </a:xfrm>
        </p:grpSpPr>
        <p:sp>
          <p:nvSpPr>
            <p:cNvPr name="Freeform 7" id="7"/>
            <p:cNvSpPr/>
            <p:nvPr/>
          </p:nvSpPr>
          <p:spPr>
            <a:xfrm flipH="false" flipV="false" rot="0">
              <a:off x="0" y="0"/>
              <a:ext cx="6040120" cy="7411212"/>
            </a:xfrm>
            <a:custGeom>
              <a:avLst/>
              <a:gdLst/>
              <a:ahLst/>
              <a:cxnLst/>
              <a:rect r="r" b="b" t="t" l="l"/>
              <a:pathLst>
                <a:path h="7411212" w="6040120">
                  <a:moveTo>
                    <a:pt x="0" y="0"/>
                  </a:moveTo>
                  <a:lnTo>
                    <a:pt x="6040120" y="0"/>
                  </a:lnTo>
                  <a:lnTo>
                    <a:pt x="6040120" y="7411212"/>
                  </a:lnTo>
                  <a:lnTo>
                    <a:pt x="0" y="7411212"/>
                  </a:lnTo>
                  <a:lnTo>
                    <a:pt x="0" y="0"/>
                  </a:lnTo>
                  <a:close/>
                </a:path>
              </a:pathLst>
            </a:custGeom>
            <a:blipFill>
              <a:blip r:embed="rId8"/>
              <a:stretch>
                <a:fillRect l="-1" t="0" r="-2" b="0"/>
              </a:stretch>
            </a:blipFill>
          </p:spPr>
        </p:sp>
      </p:grpSp>
      <p:sp>
        <p:nvSpPr>
          <p:cNvPr name="TextBox 8" id="8"/>
          <p:cNvSpPr txBox="true"/>
          <p:nvPr/>
        </p:nvSpPr>
        <p:spPr>
          <a:xfrm rot="0">
            <a:off x="8760695" y="1483043"/>
            <a:ext cx="7955528" cy="7206615"/>
          </a:xfrm>
          <a:prstGeom prst="rect">
            <a:avLst/>
          </a:prstGeom>
        </p:spPr>
        <p:txBody>
          <a:bodyPr anchor="t" rtlCol="false" tIns="0" lIns="0" bIns="0" rIns="0">
            <a:spAutoFit/>
          </a:bodyPr>
          <a:lstStyle/>
          <a:p>
            <a:pPr algn="l">
              <a:lnSpc>
                <a:spcPts val="3978"/>
              </a:lnSpc>
            </a:pPr>
            <a:r>
              <a:rPr lang="en-US" sz="2550">
                <a:solidFill>
                  <a:srgbClr val="FFFFFF"/>
                </a:solidFill>
                <a:latin typeface="Montserrat"/>
                <a:ea typeface="Montserrat"/>
                <a:cs typeface="Montserrat"/>
                <a:sym typeface="Montserrat"/>
              </a:rPr>
              <a:t>Los ataques DOS no tienen como objetivo obtener información o robar recursos, sino interrumpir el uso legítimo de un sistema o instalación. La mayoría de los ataques de denegación de servicio involucran sistemas en los que el atacante no ha penetrado. De hecho, lanzar un ataque que impida el uso legítimo es frecuentemente más fácil que irrumpir en una máquina o instalación.</a:t>
            </a:r>
          </a:p>
          <a:p>
            <a:pPr algn="l">
              <a:lnSpc>
                <a:spcPts val="2183"/>
              </a:lnSpc>
            </a:pPr>
          </a:p>
          <a:p>
            <a:pPr algn="l">
              <a:lnSpc>
                <a:spcPts val="3978"/>
              </a:lnSpc>
            </a:pPr>
            <a:r>
              <a:rPr lang="en-US" sz="2550">
                <a:solidFill>
                  <a:srgbClr val="FFFFFF"/>
                </a:solidFill>
                <a:latin typeface="Montserrat"/>
                <a:ea typeface="Montserrat"/>
                <a:cs typeface="Montserrat"/>
                <a:sym typeface="Montserrat"/>
              </a:rPr>
              <a:t>Los ataques de denegación de servicio generalmente se basan en la red. Se dividen en dos categorías. El primer caso es un ataque que utiliza tantos recursos de las instalaciones que, en esencia, no se puede realizar ningún trabajo útil. El segundo caso implica interrumpir la red de la instalación.</a:t>
            </a:r>
          </a:p>
        </p:txBody>
      </p:sp>
      <p:sp>
        <p:nvSpPr>
          <p:cNvPr name="TextBox 9" id="9"/>
          <p:cNvSpPr txBox="true"/>
          <p:nvPr/>
        </p:nvSpPr>
        <p:spPr>
          <a:xfrm rot="0">
            <a:off x="1394193" y="1013260"/>
            <a:ext cx="6315932" cy="1670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NEGACIÓN DE SERVICIO (DDOS)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931920">
            <a:off x="-5937580" y="-3092615"/>
            <a:ext cx="8317630" cy="7243267"/>
            <a:chOff x="0" y="0"/>
            <a:chExt cx="11090173" cy="9657690"/>
          </a:xfrm>
        </p:grpSpPr>
        <p:sp>
          <p:nvSpPr>
            <p:cNvPr name="Freeform 3" id="3"/>
            <p:cNvSpPr/>
            <p:nvPr/>
          </p:nvSpPr>
          <p:spPr>
            <a:xfrm flipH="false" flipV="false" rot="0">
              <a:off x="0" y="0"/>
              <a:ext cx="11090148" cy="9657715"/>
            </a:xfrm>
            <a:custGeom>
              <a:avLst/>
              <a:gdLst/>
              <a:ahLst/>
              <a:cxnLst/>
              <a:rect r="r" b="b" t="t" l="l"/>
              <a:pathLst>
                <a:path h="9657715" w="11090148">
                  <a:moveTo>
                    <a:pt x="0" y="0"/>
                  </a:moveTo>
                  <a:lnTo>
                    <a:pt x="11090148" y="0"/>
                  </a:lnTo>
                  <a:lnTo>
                    <a:pt x="11090148" y="9657715"/>
                  </a:lnTo>
                  <a:lnTo>
                    <a:pt x="0" y="9657715"/>
                  </a:lnTo>
                  <a:lnTo>
                    <a:pt x="0" y="0"/>
                  </a:lnTo>
                  <a:close/>
                </a:path>
              </a:pathLst>
            </a:custGeom>
            <a:blipFill>
              <a:blip r:embed="rId3"/>
              <a:stretch>
                <a:fillRect l="-5" t="0" r="-5" b="0"/>
              </a:stretch>
            </a:blipFill>
          </p:spPr>
        </p:sp>
      </p:grpSp>
      <p:grpSp>
        <p:nvGrpSpPr>
          <p:cNvPr name="Group 4" id="4"/>
          <p:cNvGrpSpPr/>
          <p:nvPr/>
        </p:nvGrpSpPr>
        <p:grpSpPr>
          <a:xfrm rot="931920">
            <a:off x="16285769" y="5630923"/>
            <a:ext cx="8317630" cy="7243267"/>
            <a:chOff x="0" y="0"/>
            <a:chExt cx="11090173" cy="9657690"/>
          </a:xfrm>
        </p:grpSpPr>
        <p:sp>
          <p:nvSpPr>
            <p:cNvPr name="Freeform 5" id="5"/>
            <p:cNvSpPr/>
            <p:nvPr/>
          </p:nvSpPr>
          <p:spPr>
            <a:xfrm flipH="false" flipV="false" rot="0">
              <a:off x="0" y="0"/>
              <a:ext cx="11090148" cy="9657715"/>
            </a:xfrm>
            <a:custGeom>
              <a:avLst/>
              <a:gdLst/>
              <a:ahLst/>
              <a:cxnLst/>
              <a:rect r="r" b="b" t="t" l="l"/>
              <a:pathLst>
                <a:path h="9657715" w="11090148">
                  <a:moveTo>
                    <a:pt x="0" y="0"/>
                  </a:moveTo>
                  <a:lnTo>
                    <a:pt x="11090148" y="0"/>
                  </a:lnTo>
                  <a:lnTo>
                    <a:pt x="11090148" y="9657715"/>
                  </a:lnTo>
                  <a:lnTo>
                    <a:pt x="0" y="9657715"/>
                  </a:lnTo>
                  <a:lnTo>
                    <a:pt x="0" y="0"/>
                  </a:lnTo>
                  <a:close/>
                </a:path>
              </a:pathLst>
            </a:custGeom>
            <a:blipFill>
              <a:blip r:embed="rId3"/>
              <a:stretch>
                <a:fillRect l="-5" t="0" r="-5" b="0"/>
              </a:stretch>
            </a:blipFill>
          </p:spPr>
        </p:sp>
      </p:grpSp>
      <p:sp>
        <p:nvSpPr>
          <p:cNvPr name="TextBox 6" id="6"/>
          <p:cNvSpPr txBox="true"/>
          <p:nvPr/>
        </p:nvSpPr>
        <p:spPr>
          <a:xfrm rot="0">
            <a:off x="4335523" y="2347103"/>
            <a:ext cx="12042600" cy="4849349"/>
          </a:xfrm>
          <a:prstGeom prst="rect">
            <a:avLst/>
          </a:prstGeom>
        </p:spPr>
        <p:txBody>
          <a:bodyPr anchor="t" rtlCol="false" tIns="0" lIns="0" bIns="0" rIns="0">
            <a:spAutoFit/>
          </a:bodyPr>
          <a:lstStyle/>
          <a:p>
            <a:pPr algn="ctr">
              <a:lnSpc>
                <a:spcPts val="13068"/>
              </a:lnSpc>
            </a:pPr>
            <a:r>
              <a:rPr lang="en-US" b="true" sz="9000">
                <a:solidFill>
                  <a:srgbClr val="FFFFFF"/>
                </a:solidFill>
                <a:latin typeface="Arial Bold"/>
                <a:ea typeface="Arial Bold"/>
                <a:cs typeface="Arial Bold"/>
                <a:sym typeface="Arial Bold"/>
              </a:rPr>
              <a:t>Ejemplo Guiado:</a:t>
            </a:r>
            <a:r>
              <a:rPr lang="en-US" sz="9000">
                <a:solidFill>
                  <a:srgbClr val="FFFFFF"/>
                </a:solidFill>
                <a:latin typeface="Arial"/>
                <a:ea typeface="Arial"/>
                <a:cs typeface="Arial"/>
                <a:sym typeface="Arial"/>
              </a:rPr>
              <a:t> </a:t>
            </a:r>
          </a:p>
          <a:p>
            <a:pPr algn="ctr">
              <a:lnSpc>
                <a:spcPts val="12487"/>
              </a:lnSpc>
            </a:pPr>
            <a:r>
              <a:rPr lang="en-US" sz="8600">
                <a:solidFill>
                  <a:srgbClr val="FFFFFF"/>
                </a:solidFill>
                <a:latin typeface="Arial"/>
                <a:ea typeface="Arial"/>
                <a:cs typeface="Arial"/>
                <a:sym typeface="Arial"/>
              </a:rPr>
              <a:t>Control de Acceso en Linux</a:t>
            </a:r>
          </a:p>
        </p:txBody>
      </p:sp>
      <p:grpSp>
        <p:nvGrpSpPr>
          <p:cNvPr name="Group 7" id="7"/>
          <p:cNvGrpSpPr/>
          <p:nvPr/>
        </p:nvGrpSpPr>
        <p:grpSpPr>
          <a:xfrm rot="0">
            <a:off x="1782823" y="3924300"/>
            <a:ext cx="2438400" cy="2438400"/>
            <a:chOff x="0" y="0"/>
            <a:chExt cx="3251200" cy="3251200"/>
          </a:xfrm>
        </p:grpSpPr>
        <p:sp>
          <p:nvSpPr>
            <p:cNvPr name="Freeform 8" id="8"/>
            <p:cNvSpPr/>
            <p:nvPr/>
          </p:nvSpPr>
          <p:spPr>
            <a:xfrm flipH="false" flipV="false" rot="0">
              <a:off x="0" y="0"/>
              <a:ext cx="3251200" cy="3251200"/>
            </a:xfrm>
            <a:custGeom>
              <a:avLst/>
              <a:gdLst/>
              <a:ahLst/>
              <a:cxnLst/>
              <a:rect r="r" b="b" t="t" l="l"/>
              <a:pathLst>
                <a:path h="3251200" w="3251200">
                  <a:moveTo>
                    <a:pt x="0" y="0"/>
                  </a:moveTo>
                  <a:lnTo>
                    <a:pt x="3251200" y="0"/>
                  </a:lnTo>
                  <a:lnTo>
                    <a:pt x="3251200" y="3251200"/>
                  </a:lnTo>
                  <a:lnTo>
                    <a:pt x="0" y="3251200"/>
                  </a:lnTo>
                  <a:lnTo>
                    <a:pt x="0" y="0"/>
                  </a:lnTo>
                  <a:close/>
                </a:path>
              </a:pathLst>
            </a:custGeom>
            <a:blipFill>
              <a:blip r:embed="rId4"/>
              <a:stretch>
                <a:fillRect l="0" t="0" r="0" b="0"/>
              </a:stretch>
            </a:blipFill>
          </p:spPr>
        </p:sp>
      </p:grpSp>
      <p:grpSp>
        <p:nvGrpSpPr>
          <p:cNvPr name="Group 9" id="9"/>
          <p:cNvGrpSpPr/>
          <p:nvPr/>
        </p:nvGrpSpPr>
        <p:grpSpPr>
          <a:xfrm rot="0">
            <a:off x="19015643" y="-4"/>
            <a:ext cx="4626464" cy="4576000"/>
            <a:chOff x="0" y="0"/>
            <a:chExt cx="6168619" cy="6101334"/>
          </a:xfrm>
        </p:grpSpPr>
        <p:sp>
          <p:nvSpPr>
            <p:cNvPr name="Freeform 10" id="10"/>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5"/>
              <a:stretch>
                <a:fillRect l="0" t="-22" r="0" b="-22"/>
              </a:stretch>
            </a:blipFill>
          </p:spPr>
        </p:sp>
      </p:grpSp>
      <p:sp>
        <p:nvSpPr>
          <p:cNvPr name="TextBox 11" id="11"/>
          <p:cNvSpPr txBox="true"/>
          <p:nvPr/>
        </p:nvSpPr>
        <p:spPr>
          <a:xfrm rot="0">
            <a:off x="19709759" y="1013174"/>
            <a:ext cx="3238205" cy="3009748"/>
          </a:xfrm>
          <a:prstGeom prst="rect">
            <a:avLst/>
          </a:prstGeom>
        </p:spPr>
        <p:txBody>
          <a:bodyPr anchor="t" rtlCol="false" tIns="0" lIns="0" bIns="0" rIns="0">
            <a:spAutoFit/>
          </a:bodyPr>
          <a:lstStyle/>
          <a:p>
            <a:pPr algn="l">
              <a:lnSpc>
                <a:spcPts val="3383"/>
              </a:lnSpc>
            </a:pPr>
            <a:r>
              <a:rPr lang="en-US" sz="2014">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8635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CONCEPTOS CLAVE APRENDIDOS</a:t>
            </a:r>
          </a:p>
        </p:txBody>
      </p:sp>
      <p:sp>
        <p:nvSpPr>
          <p:cNvPr name="Freeform 5" id="5"/>
          <p:cNvSpPr/>
          <p:nvPr/>
        </p:nvSpPr>
        <p:spPr>
          <a:xfrm flipH="false" flipV="false" rot="0">
            <a:off x="2695527" y="2304374"/>
            <a:ext cx="12896945" cy="6162132"/>
          </a:xfrm>
          <a:custGeom>
            <a:avLst/>
            <a:gdLst/>
            <a:ahLst/>
            <a:cxnLst/>
            <a:rect r="r" b="b" t="t" l="l"/>
            <a:pathLst>
              <a:path h="6162132" w="12896945">
                <a:moveTo>
                  <a:pt x="0" y="0"/>
                </a:moveTo>
                <a:lnTo>
                  <a:pt x="12896946" y="0"/>
                </a:lnTo>
                <a:lnTo>
                  <a:pt x="12896946" y="6162132"/>
                </a:lnTo>
                <a:lnTo>
                  <a:pt x="0" y="61621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124276" y="2964228"/>
            <a:ext cx="11616452" cy="4823403"/>
          </a:xfrm>
          <a:prstGeom prst="rect">
            <a:avLst/>
          </a:prstGeom>
        </p:spPr>
        <p:txBody>
          <a:bodyPr anchor="t" rtlCol="false" tIns="0" lIns="0" bIns="0" rIns="0">
            <a:spAutoFit/>
          </a:bodyPr>
          <a:lstStyle/>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Protección: </a:t>
            </a:r>
            <a:r>
              <a:rPr lang="en-US" sz="2600">
                <a:solidFill>
                  <a:srgbClr val="FFFFFF"/>
                </a:solidFill>
                <a:latin typeface="Arial"/>
                <a:ea typeface="Arial"/>
                <a:cs typeface="Arial"/>
                <a:sym typeface="Arial"/>
              </a:rPr>
              <a:t>La protección se define como un mecanismo diseñado para controlar el acceso de programas, procesos o usuarios a los recursos definidos por un sistema informático</a:t>
            </a:r>
          </a:p>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Principio de Privilegio Mínimo: </a:t>
            </a:r>
            <a:r>
              <a:rPr lang="en-US" sz="2600">
                <a:solidFill>
                  <a:srgbClr val="FFFFFF"/>
                </a:solidFill>
                <a:latin typeface="Arial"/>
                <a:ea typeface="Arial"/>
                <a:cs typeface="Arial"/>
                <a:sym typeface="Arial"/>
              </a:rPr>
              <a:t>Un principio rector clave y probado en el tiempo para la protección es el principio de privilegio mínimo. Este principio dicta que los programas, usuarios e incluso sistemas deben recibir solo los privilegios suficientes para realizar sus tareas</a:t>
            </a:r>
          </a:p>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Seguridad: </a:t>
            </a:r>
            <a:r>
              <a:rPr lang="en-US" sz="2600">
                <a:solidFill>
                  <a:srgbClr val="FFFFFF"/>
                </a:solidFill>
                <a:latin typeface="Arial"/>
                <a:ea typeface="Arial"/>
                <a:cs typeface="Arial"/>
                <a:sym typeface="Arial"/>
              </a:rPr>
              <a:t>Mientras que la protección es principalmente un problema interno centrado en el acceso controlado a programas y datos dentro del sistema, la seguridad, por otro lado, requiere no solo un sistema de protección adecuado, sino también considerar el entorno externo en el que opera el sistema.</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10" y="952700"/>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VALOR DE LA SEMANA</a:t>
            </a:r>
          </a:p>
        </p:txBody>
      </p:sp>
      <p:sp>
        <p:nvSpPr>
          <p:cNvPr name="Freeform 5" id="5"/>
          <p:cNvSpPr/>
          <p:nvPr/>
        </p:nvSpPr>
        <p:spPr>
          <a:xfrm flipH="false" flipV="false" rot="0">
            <a:off x="2293077" y="3299174"/>
            <a:ext cx="13701817" cy="4860103"/>
          </a:xfrm>
          <a:custGeom>
            <a:avLst/>
            <a:gdLst/>
            <a:ahLst/>
            <a:cxnLst/>
            <a:rect r="r" b="b" t="t" l="l"/>
            <a:pathLst>
              <a:path h="4860103" w="13701817">
                <a:moveTo>
                  <a:pt x="0" y="0"/>
                </a:moveTo>
                <a:lnTo>
                  <a:pt x="13701817" y="0"/>
                </a:lnTo>
                <a:lnTo>
                  <a:pt x="13701817" y="4860103"/>
                </a:lnTo>
                <a:lnTo>
                  <a:pt x="0" y="4860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78103" y="4468320"/>
            <a:ext cx="12531747" cy="2493226"/>
          </a:xfrm>
          <a:prstGeom prst="rect">
            <a:avLst/>
          </a:prstGeom>
        </p:spPr>
        <p:txBody>
          <a:bodyPr anchor="t" rtlCol="false" tIns="0" lIns="0" bIns="0" rIns="0">
            <a:spAutoFit/>
          </a:bodyPr>
          <a:lstStyle/>
          <a:p>
            <a:pPr algn="l" marL="411480" indent="-205740" lvl="1">
              <a:lnSpc>
                <a:spcPts val="3840"/>
              </a:lnSpc>
              <a:buFont typeface="Arial"/>
              <a:buChar char="•"/>
            </a:pPr>
            <a:r>
              <a:rPr lang="en-US" b="true" sz="3200">
                <a:solidFill>
                  <a:srgbClr val="FFFFFF"/>
                </a:solidFill>
                <a:latin typeface="Arial Bold"/>
                <a:ea typeface="Arial Bold"/>
                <a:cs typeface="Arial Bold"/>
                <a:sym typeface="Arial Bold"/>
              </a:rPr>
              <a:t>Etica: </a:t>
            </a:r>
            <a:r>
              <a:rPr lang="en-US" sz="3200">
                <a:solidFill>
                  <a:srgbClr val="FFFFFF"/>
                </a:solidFill>
                <a:latin typeface="Arial"/>
                <a:ea typeface="Arial"/>
                <a:cs typeface="Arial"/>
                <a:sym typeface="Arial"/>
              </a:rPr>
              <a:t>Los mecanismos de control de acceso, privilegio y seguridad deben programarse de manera responsable, siendo que somos personas que potencialmente estarán detrás de sistemas que requieren seguridad importante, es esencial mantener una ética intachable.</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8635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REFERENCIAS</a:t>
            </a:r>
          </a:p>
        </p:txBody>
      </p:sp>
      <p:sp>
        <p:nvSpPr>
          <p:cNvPr name="Freeform 5" id="5"/>
          <p:cNvSpPr/>
          <p:nvPr/>
        </p:nvSpPr>
        <p:spPr>
          <a:xfrm flipH="false" flipV="false" rot="0">
            <a:off x="2695527" y="2304374"/>
            <a:ext cx="12896945" cy="6162132"/>
          </a:xfrm>
          <a:custGeom>
            <a:avLst/>
            <a:gdLst/>
            <a:ahLst/>
            <a:cxnLst/>
            <a:rect r="r" b="b" t="t" l="l"/>
            <a:pathLst>
              <a:path h="6162132" w="12896945">
                <a:moveTo>
                  <a:pt x="0" y="0"/>
                </a:moveTo>
                <a:lnTo>
                  <a:pt x="12896946" y="0"/>
                </a:lnTo>
                <a:lnTo>
                  <a:pt x="12896946" y="6162132"/>
                </a:lnTo>
                <a:lnTo>
                  <a:pt x="0" y="61621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124276" y="3364401"/>
            <a:ext cx="12039448" cy="2422198"/>
          </a:xfrm>
          <a:prstGeom prst="rect">
            <a:avLst/>
          </a:prstGeom>
        </p:spPr>
        <p:txBody>
          <a:bodyPr anchor="t" rtlCol="false" tIns="0" lIns="0" bIns="0" rIns="0">
            <a:spAutoFit/>
          </a:bodyPr>
          <a:lstStyle/>
          <a:p>
            <a:pPr algn="l">
              <a:lnSpc>
                <a:spcPts val="3120"/>
              </a:lnSpc>
            </a:pPr>
            <a:r>
              <a:rPr lang="en-US" b="true" sz="2600">
                <a:solidFill>
                  <a:srgbClr val="FFFFFF"/>
                </a:solidFill>
                <a:latin typeface="Arial Bold"/>
                <a:ea typeface="Arial Bold"/>
                <a:cs typeface="Arial Bold"/>
                <a:sym typeface="Arial Bold"/>
              </a:rPr>
              <a:t>Least Privilege</a:t>
            </a:r>
          </a:p>
          <a:p>
            <a:pPr algn="l">
              <a:lnSpc>
                <a:spcPts val="3120"/>
              </a:lnSpc>
            </a:pPr>
            <a:r>
              <a:rPr lang="en-US" b="true" sz="2600" u="sng">
                <a:solidFill>
                  <a:srgbClr val="0000FF"/>
                </a:solidFill>
                <a:latin typeface="Arial Bold"/>
                <a:ea typeface="Arial Bold"/>
                <a:cs typeface="Arial Bold"/>
                <a:sym typeface="Arial Bold"/>
                <a:hlinkClick r:id="rId6" tooltip="https://csrc.nist.gov/glossary/term/least_privilege"/>
              </a:rPr>
              <a:t>https://csrc.nist.gov/glossary/term/least_privilege</a:t>
            </a:r>
          </a:p>
          <a:p>
            <a:pPr algn="l">
              <a:lnSpc>
                <a:spcPts val="1679"/>
              </a:lnSpc>
            </a:pPr>
          </a:p>
          <a:p>
            <a:pPr algn="l">
              <a:lnSpc>
                <a:spcPts val="3120"/>
              </a:lnSpc>
            </a:pPr>
            <a:r>
              <a:rPr lang="en-US" b="true" sz="2600">
                <a:solidFill>
                  <a:srgbClr val="FFFFFF"/>
                </a:solidFill>
                <a:latin typeface="Arial Bold"/>
                <a:ea typeface="Arial Bold"/>
                <a:cs typeface="Arial Bold"/>
                <a:sym typeface="Arial Bold"/>
              </a:rPr>
              <a:t>Seguridad</a:t>
            </a:r>
          </a:p>
          <a:p>
            <a:pPr algn="l">
              <a:lnSpc>
                <a:spcPts val="3120"/>
              </a:lnSpc>
            </a:pPr>
            <a:r>
              <a:rPr lang="en-US" b="true" sz="2600">
                <a:solidFill>
                  <a:srgbClr val="0000FF"/>
                </a:solidFill>
                <a:latin typeface="Arial Bold"/>
                <a:ea typeface="Arial Bold"/>
                <a:cs typeface="Arial Bold"/>
                <a:sym typeface="Arial Bold"/>
              </a:rPr>
              <a:t>Computer Security Basics - Kaufman, Perlman &amp; Speciner</a:t>
            </a:r>
          </a:p>
          <a:p>
            <a:pPr algn="l">
              <a:lnSpc>
                <a:spcPts val="1679"/>
              </a:lnSpc>
            </a:p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933120">
            <a:off x="-5940314" y="-3090567"/>
            <a:ext cx="8326117" cy="7250659"/>
            <a:chOff x="0" y="0"/>
            <a:chExt cx="11101489" cy="9667545"/>
          </a:xfrm>
        </p:grpSpPr>
        <p:sp>
          <p:nvSpPr>
            <p:cNvPr name="Freeform 3" id="3"/>
            <p:cNvSpPr/>
            <p:nvPr/>
          </p:nvSpPr>
          <p:spPr>
            <a:xfrm flipH="false" flipV="false" rot="0">
              <a:off x="0" y="0"/>
              <a:ext cx="11101451" cy="9667494"/>
            </a:xfrm>
            <a:custGeom>
              <a:avLst/>
              <a:gdLst/>
              <a:ahLst/>
              <a:cxnLst/>
              <a:rect r="r" b="b" t="t" l="l"/>
              <a:pathLst>
                <a:path h="9667494" w="11101451">
                  <a:moveTo>
                    <a:pt x="0" y="0"/>
                  </a:moveTo>
                  <a:lnTo>
                    <a:pt x="11101451" y="0"/>
                  </a:lnTo>
                  <a:lnTo>
                    <a:pt x="11101451" y="9667494"/>
                  </a:lnTo>
                  <a:lnTo>
                    <a:pt x="0" y="9667494"/>
                  </a:lnTo>
                  <a:lnTo>
                    <a:pt x="0" y="0"/>
                  </a:lnTo>
                  <a:close/>
                </a:path>
              </a:pathLst>
            </a:custGeom>
            <a:blipFill>
              <a:blip r:embed="rId3"/>
              <a:stretch>
                <a:fillRect l="-5" t="0" r="-5" b="0"/>
              </a:stretch>
            </a:blipFill>
          </p:spPr>
        </p:sp>
      </p:grpSp>
      <p:grpSp>
        <p:nvGrpSpPr>
          <p:cNvPr name="Group 4" id="4"/>
          <p:cNvGrpSpPr/>
          <p:nvPr/>
        </p:nvGrpSpPr>
        <p:grpSpPr>
          <a:xfrm rot="933120">
            <a:off x="16283035" y="5632971"/>
            <a:ext cx="8326117" cy="7250659"/>
            <a:chOff x="0" y="0"/>
            <a:chExt cx="11101489" cy="9667545"/>
          </a:xfrm>
        </p:grpSpPr>
        <p:sp>
          <p:nvSpPr>
            <p:cNvPr name="Freeform 5" id="5"/>
            <p:cNvSpPr/>
            <p:nvPr/>
          </p:nvSpPr>
          <p:spPr>
            <a:xfrm flipH="false" flipV="false" rot="0">
              <a:off x="0" y="0"/>
              <a:ext cx="11101451" cy="9667494"/>
            </a:xfrm>
            <a:custGeom>
              <a:avLst/>
              <a:gdLst/>
              <a:ahLst/>
              <a:cxnLst/>
              <a:rect r="r" b="b" t="t" l="l"/>
              <a:pathLst>
                <a:path h="9667494" w="11101451">
                  <a:moveTo>
                    <a:pt x="0" y="0"/>
                  </a:moveTo>
                  <a:lnTo>
                    <a:pt x="11101451" y="0"/>
                  </a:lnTo>
                  <a:lnTo>
                    <a:pt x="11101451" y="9667494"/>
                  </a:lnTo>
                  <a:lnTo>
                    <a:pt x="0" y="9667494"/>
                  </a:lnTo>
                  <a:lnTo>
                    <a:pt x="0" y="0"/>
                  </a:lnTo>
                  <a:close/>
                </a:path>
              </a:pathLst>
            </a:custGeom>
            <a:blipFill>
              <a:blip r:embed="rId3"/>
              <a:stretch>
                <a:fillRect l="-5" t="0" r="-5" b="0"/>
              </a:stretch>
            </a:blipFill>
          </p:spPr>
        </p:sp>
      </p:grpSp>
      <p:sp>
        <p:nvSpPr>
          <p:cNvPr name="Freeform 6" id="6"/>
          <p:cNvSpPr/>
          <p:nvPr/>
        </p:nvSpPr>
        <p:spPr>
          <a:xfrm flipH="false" flipV="false" rot="0">
            <a:off x="6725936" y="6354794"/>
            <a:ext cx="4836128" cy="1241012"/>
          </a:xfrm>
          <a:custGeom>
            <a:avLst/>
            <a:gdLst/>
            <a:ahLst/>
            <a:cxnLst/>
            <a:rect r="r" b="b" t="t" l="l"/>
            <a:pathLst>
              <a:path h="1241012" w="4836128">
                <a:moveTo>
                  <a:pt x="0" y="0"/>
                </a:moveTo>
                <a:lnTo>
                  <a:pt x="4836128" y="0"/>
                </a:lnTo>
                <a:lnTo>
                  <a:pt x="4836128" y="1241012"/>
                </a:lnTo>
                <a:lnTo>
                  <a:pt x="0" y="1241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937273" y="2278418"/>
            <a:ext cx="10413463" cy="3501390"/>
          </a:xfrm>
          <a:prstGeom prst="rect">
            <a:avLst/>
          </a:prstGeom>
        </p:spPr>
        <p:txBody>
          <a:bodyPr anchor="t" rtlCol="false" tIns="0" lIns="0" bIns="0" rIns="0">
            <a:spAutoFit/>
          </a:bodyPr>
          <a:lstStyle/>
          <a:p>
            <a:pPr algn="ctr">
              <a:lnSpc>
                <a:spcPts val="15246"/>
              </a:lnSpc>
            </a:pPr>
            <a:r>
              <a:rPr lang="en-US" sz="10500">
                <a:solidFill>
                  <a:srgbClr val="FFFFFF"/>
                </a:solidFill>
                <a:latin typeface="Arial"/>
                <a:ea typeface="Arial"/>
                <a:cs typeface="Arial"/>
                <a:sym typeface="Arial"/>
              </a:rPr>
              <a:t>¡GRACIAS POR LA ATENCIÓN!</a:t>
            </a:r>
          </a:p>
        </p:txBody>
      </p:sp>
      <p:sp>
        <p:nvSpPr>
          <p:cNvPr name="TextBox 8" id="8"/>
          <p:cNvSpPr txBox="true"/>
          <p:nvPr/>
        </p:nvSpPr>
        <p:spPr>
          <a:xfrm rot="0">
            <a:off x="7689504" y="6263116"/>
            <a:ext cx="2908992" cy="1144267"/>
          </a:xfrm>
          <a:prstGeom prst="rect">
            <a:avLst/>
          </a:prstGeom>
        </p:spPr>
        <p:txBody>
          <a:bodyPr anchor="t" rtlCol="false" tIns="0" lIns="0" bIns="0" rIns="0">
            <a:spAutoFit/>
          </a:bodyPr>
          <a:lstStyle/>
          <a:p>
            <a:pPr algn="ctr">
              <a:lnSpc>
                <a:spcPts val="8734"/>
              </a:lnSpc>
            </a:pPr>
            <a:r>
              <a:rPr lang="en-US" sz="5198">
                <a:solidFill>
                  <a:srgbClr val="FFFFFF"/>
                </a:solidFill>
                <a:latin typeface="Arial"/>
                <a:ea typeface="Arial"/>
                <a:cs typeface="Arial"/>
                <a:sym typeface="Arial"/>
              </a:rPr>
              <a:t>¿Dudas?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DAHJU3vPP34</dc:identifier>
  <dcterms:modified xsi:type="dcterms:W3CDTF">2011-08-01T06:04:30Z</dcterms:modified>
  <cp:revision>1</cp:revision>
  <dc:title>2S2026_Semana_9.pptx</dc:title>
</cp:coreProperties>
</file>