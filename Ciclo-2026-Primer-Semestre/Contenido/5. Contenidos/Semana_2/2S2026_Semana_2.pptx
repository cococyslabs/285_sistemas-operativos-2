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Garet Bold" charset="1" panose="00000000000000000000"/>
      <p:regular r:id="rId37"/>
    </p:embeddedFont>
    <p:embeddedFont>
      <p:font typeface="Garet" charset="1" panose="00000000000000000000"/>
      <p:regular r:id="rId38"/>
    </p:embeddedFont>
    <p:embeddedFont>
      <p:font typeface="Garet Italics" charset="1" panose="000000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embeddings/oleObject1.bin" Type="http://schemas.openxmlformats.org/officeDocument/2006/relationships/oleObjec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3.png" Type="http://schemas.openxmlformats.org/officeDocument/2006/relationships/image"/><Relationship Id="rId5" Target="https://github.com/torvalds/linux"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322399" cy="10287000"/>
          </a:xfrm>
          <a:custGeom>
            <a:avLst/>
            <a:gdLst/>
            <a:ahLst/>
            <a:cxnLst/>
            <a:rect r="r" b="b" t="t" l="l"/>
            <a:pathLst>
              <a:path h="10287000" w="18322399">
                <a:moveTo>
                  <a:pt x="0" y="0"/>
                </a:moveTo>
                <a:lnTo>
                  <a:pt x="18322399" y="0"/>
                </a:lnTo>
                <a:lnTo>
                  <a:pt x="18322399"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2045244" y="1840543"/>
          <a:ext cx="3771900" cy="2828925"/>
        </p:xfrm>
        <a:graphic>
          <a:graphicData uri="http://schemas.openxmlformats.org/presentationml/2006/ole">
            <p:oleObj imgW="4521200" imgH="3581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1028700" y="4572007"/>
            <a:ext cx="10236696" cy="1028686"/>
          </a:xfrm>
          <a:prstGeom prst="rect">
            <a:avLst/>
          </a:prstGeom>
        </p:spPr>
        <p:txBody>
          <a:bodyPr anchor="t" rtlCol="false" tIns="0" lIns="0" bIns="0" rIns="0">
            <a:spAutoFit/>
          </a:bodyPr>
          <a:lstStyle/>
          <a:p>
            <a:pPr algn="ctr">
              <a:lnSpc>
                <a:spcPts val="8400"/>
              </a:lnSpc>
              <a:spcBef>
                <a:spcPct val="0"/>
              </a:spcBef>
            </a:pPr>
            <a:r>
              <a:rPr lang="en-US" b="true" sz="6000" spc="-276">
                <a:solidFill>
                  <a:srgbClr val="000000"/>
                </a:solidFill>
                <a:latin typeface="Garet Bold"/>
                <a:ea typeface="Garet Bold"/>
                <a:cs typeface="Garet Bold"/>
                <a:sym typeface="Garet Bold"/>
              </a:rPr>
              <a:t>SISTEMAS OPERATIVOS 2 [A]</a:t>
            </a:r>
          </a:p>
        </p:txBody>
      </p:sp>
      <p:sp>
        <p:nvSpPr>
          <p:cNvPr name="TextBox 5" id="5"/>
          <p:cNvSpPr txBox="true"/>
          <p:nvPr/>
        </p:nvSpPr>
        <p:spPr>
          <a:xfrm rot="0">
            <a:off x="1028700" y="5790548"/>
            <a:ext cx="5962055" cy="752475"/>
          </a:xfrm>
          <a:prstGeom prst="rect">
            <a:avLst/>
          </a:prstGeom>
        </p:spPr>
        <p:txBody>
          <a:bodyPr anchor="t" rtlCol="false" tIns="0" lIns="0" bIns="0" rIns="0">
            <a:spAutoFit/>
          </a:bodyPr>
          <a:lstStyle/>
          <a:p>
            <a:pPr algn="ctr">
              <a:lnSpc>
                <a:spcPts val="6299"/>
              </a:lnSpc>
              <a:spcBef>
                <a:spcPct val="0"/>
              </a:spcBef>
            </a:pPr>
            <a:r>
              <a:rPr lang="en-US" sz="4499" spc="-206">
                <a:solidFill>
                  <a:srgbClr val="000000"/>
                </a:solidFill>
                <a:latin typeface="Garet"/>
                <a:ea typeface="Garet"/>
                <a:cs typeface="Garet"/>
                <a:sym typeface="Garet"/>
              </a:rPr>
              <a:t>NOMBRE_ESTUDIANTE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965300"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157614" y="898757"/>
            <a:ext cx="6372983" cy="8896297"/>
          </a:xfrm>
          <a:custGeom>
            <a:avLst/>
            <a:gdLst/>
            <a:ahLst/>
            <a:cxnLst/>
            <a:rect r="r" b="b" t="t" l="l"/>
            <a:pathLst>
              <a:path h="8896297" w="6372983">
                <a:moveTo>
                  <a:pt x="0" y="0"/>
                </a:moveTo>
                <a:lnTo>
                  <a:pt x="6372983" y="0"/>
                </a:lnTo>
                <a:lnTo>
                  <a:pt x="6372983" y="8896297"/>
                </a:lnTo>
                <a:lnTo>
                  <a:pt x="0" y="88962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407285">
            <a:off x="-5710435" y="-188170"/>
            <a:ext cx="10371714" cy="1037171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916250" y="4109509"/>
            <a:ext cx="3880862" cy="3880862"/>
          </a:xfrm>
          <a:custGeom>
            <a:avLst/>
            <a:gdLst/>
            <a:ahLst/>
            <a:cxnLst/>
            <a:rect r="r" b="b" t="t" l="l"/>
            <a:pathLst>
              <a:path h="3880862" w="3880862">
                <a:moveTo>
                  <a:pt x="0" y="0"/>
                </a:moveTo>
                <a:lnTo>
                  <a:pt x="3880862" y="0"/>
                </a:lnTo>
                <a:lnTo>
                  <a:pt x="3880862" y="3880862"/>
                </a:lnTo>
                <a:lnTo>
                  <a:pt x="0" y="3880862"/>
                </a:lnTo>
                <a:lnTo>
                  <a:pt x="0" y="0"/>
                </a:lnTo>
                <a:close/>
              </a:path>
            </a:pathLst>
          </a:custGeom>
          <a:blipFill>
            <a:blip r:embed="rId4"/>
            <a:stretch>
              <a:fillRect l="0" t="0" r="0" b="0"/>
            </a:stretch>
          </a:blipFill>
        </p:spPr>
      </p:sp>
      <p:sp>
        <p:nvSpPr>
          <p:cNvPr name="TextBox 10" id="10"/>
          <p:cNvSpPr txBox="true"/>
          <p:nvPr/>
        </p:nvSpPr>
        <p:spPr>
          <a:xfrm rot="0">
            <a:off x="1766236" y="3355577"/>
            <a:ext cx="7690481" cy="1642110"/>
          </a:xfrm>
          <a:prstGeom prst="rect">
            <a:avLst/>
          </a:prstGeom>
        </p:spPr>
        <p:txBody>
          <a:bodyPr anchor="t" rtlCol="false" tIns="0" lIns="0" bIns="0" rIns="0">
            <a:spAutoFit/>
          </a:bodyPr>
          <a:lstStyle/>
          <a:p>
            <a:pPr algn="l">
              <a:lnSpc>
                <a:spcPts val="13439"/>
              </a:lnSpc>
              <a:spcBef>
                <a:spcPct val="0"/>
              </a:spcBef>
            </a:pPr>
            <a:r>
              <a:rPr lang="en-US" sz="9600" spc="-441">
                <a:solidFill>
                  <a:srgbClr val="EBF5FE"/>
                </a:solidFill>
                <a:latin typeface="Garet"/>
                <a:ea typeface="Garet"/>
                <a:cs typeface="Garet"/>
                <a:sym typeface="Garet"/>
              </a:rPr>
              <a:t>UNIDAD 01</a:t>
            </a:r>
          </a:p>
        </p:txBody>
      </p:sp>
      <p:sp>
        <p:nvSpPr>
          <p:cNvPr name="TextBox 11" id="11"/>
          <p:cNvSpPr txBox="true"/>
          <p:nvPr/>
        </p:nvSpPr>
        <p:spPr>
          <a:xfrm rot="0">
            <a:off x="1766236" y="4883387"/>
            <a:ext cx="7690481" cy="4338320"/>
          </a:xfrm>
          <a:prstGeom prst="rect">
            <a:avLst/>
          </a:prstGeom>
        </p:spPr>
        <p:txBody>
          <a:bodyPr anchor="t" rtlCol="false" tIns="0" lIns="0" bIns="0" rIns="0">
            <a:spAutoFit/>
          </a:bodyPr>
          <a:lstStyle/>
          <a:p>
            <a:pPr algn="l">
              <a:lnSpc>
                <a:spcPts val="8679"/>
              </a:lnSpc>
              <a:spcBef>
                <a:spcPct val="0"/>
              </a:spcBef>
            </a:pPr>
            <a:r>
              <a:rPr lang="en-US" b="true" sz="6199" spc="-285">
                <a:solidFill>
                  <a:srgbClr val="EBF5FE"/>
                </a:solidFill>
                <a:latin typeface="Garet Bold"/>
                <a:ea typeface="Garet Bold"/>
                <a:cs typeface="Garet Bold"/>
                <a:sym typeface="Garet Bold"/>
              </a:rPr>
              <a:t>INTRODUCCIÓN A LOS SISTEMAS OPERATIVOS Y EL KERNEL</a:t>
            </a:r>
          </a:p>
        </p:txBody>
      </p:sp>
      <p:sp>
        <p:nvSpPr>
          <p:cNvPr name="TextBox 12" id="12"/>
          <p:cNvSpPr txBox="true"/>
          <p:nvPr/>
        </p:nvSpPr>
        <p:spPr>
          <a:xfrm rot="0">
            <a:off x="1766236" y="2388361"/>
            <a:ext cx="4452330" cy="432029"/>
          </a:xfrm>
          <a:prstGeom prst="rect">
            <a:avLst/>
          </a:prstGeom>
        </p:spPr>
        <p:txBody>
          <a:bodyPr anchor="t" rtlCol="false" tIns="0" lIns="0" bIns="0" rIns="0">
            <a:spAutoFit/>
          </a:bodyPr>
          <a:lstStyle/>
          <a:p>
            <a:pPr algn="l">
              <a:lnSpc>
                <a:spcPts val="3551"/>
              </a:lnSpc>
              <a:spcBef>
                <a:spcPct val="0"/>
              </a:spcBef>
            </a:pPr>
            <a:r>
              <a:rPr lang="en-US" sz="2536" spc="-116">
                <a:solidFill>
                  <a:srgbClr val="EBF5FE"/>
                </a:solidFill>
                <a:latin typeface="Garet"/>
                <a:ea typeface="Garet"/>
                <a:cs typeface="Garet"/>
                <a:sym typeface="Garet"/>
              </a:rPr>
              <a:t>Sistemas Operativos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70288" y="2634819"/>
            <a:ext cx="4898199" cy="5017362"/>
          </a:xfrm>
          <a:custGeom>
            <a:avLst/>
            <a:gdLst/>
            <a:ahLst/>
            <a:cxnLst/>
            <a:rect r="r" b="b" t="t" l="l"/>
            <a:pathLst>
              <a:path h="5017362" w="4898199">
                <a:moveTo>
                  <a:pt x="0" y="0"/>
                </a:moveTo>
                <a:lnTo>
                  <a:pt x="4898199" y="0"/>
                </a:lnTo>
                <a:lnTo>
                  <a:pt x="4898199" y="5017362"/>
                </a:lnTo>
                <a:lnTo>
                  <a:pt x="0" y="5017362"/>
                </a:lnTo>
                <a:lnTo>
                  <a:pt x="0" y="0"/>
                </a:lnTo>
                <a:close/>
              </a:path>
            </a:pathLst>
          </a:custGeom>
          <a:blipFill>
            <a:blip r:embed="rId4"/>
            <a:stretch>
              <a:fillRect l="0" t="0" r="0" b="0"/>
            </a:stretch>
          </a:blipFill>
        </p:spPr>
      </p:sp>
      <p:sp>
        <p:nvSpPr>
          <p:cNvPr name="TextBox 4" id="4"/>
          <p:cNvSpPr txBox="true"/>
          <p:nvPr/>
        </p:nvSpPr>
        <p:spPr>
          <a:xfrm rot="0">
            <a:off x="1727020" y="2173860"/>
            <a:ext cx="5620038" cy="1293333"/>
          </a:xfrm>
          <a:prstGeom prst="rect">
            <a:avLst/>
          </a:prstGeom>
        </p:spPr>
        <p:txBody>
          <a:bodyPr anchor="t" rtlCol="false" tIns="0" lIns="0" bIns="0" rIns="0">
            <a:spAutoFit/>
          </a:bodyPr>
          <a:lstStyle/>
          <a:p>
            <a:pPr algn="l">
              <a:lnSpc>
                <a:spcPts val="10574"/>
              </a:lnSpc>
              <a:spcBef>
                <a:spcPct val="0"/>
              </a:spcBef>
            </a:pPr>
            <a:r>
              <a:rPr lang="en-US" sz="7552" spc="-347">
                <a:solidFill>
                  <a:srgbClr val="EBF5FE"/>
                </a:solidFill>
                <a:latin typeface="Garet"/>
                <a:ea typeface="Garet"/>
                <a:cs typeface="Garet"/>
                <a:sym typeface="Garet"/>
              </a:rPr>
              <a:t>ANUNCIOS</a:t>
            </a:r>
          </a:p>
        </p:txBody>
      </p:sp>
      <p:sp>
        <p:nvSpPr>
          <p:cNvPr name="TextBox 5" id="5"/>
          <p:cNvSpPr txBox="true"/>
          <p:nvPr/>
        </p:nvSpPr>
        <p:spPr>
          <a:xfrm rot="0">
            <a:off x="1727020" y="3324317"/>
            <a:ext cx="7416980"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IMPORTANTES</a:t>
            </a:r>
          </a:p>
        </p:txBody>
      </p:sp>
      <p:sp>
        <p:nvSpPr>
          <p:cNvPr name="TextBox 6" id="6"/>
          <p:cNvSpPr txBox="true"/>
          <p:nvPr/>
        </p:nvSpPr>
        <p:spPr>
          <a:xfrm rot="0">
            <a:off x="1727020" y="5196506"/>
            <a:ext cx="7875490" cy="1652271"/>
          </a:xfrm>
          <a:prstGeom prst="rect">
            <a:avLst/>
          </a:prstGeom>
        </p:spPr>
        <p:txBody>
          <a:bodyPr anchor="t" rtlCol="false" tIns="0" lIns="0" bIns="0" rIns="0">
            <a:spAutoFit/>
          </a:bodyPr>
          <a:lstStyle/>
          <a:p>
            <a:pPr algn="l" marL="690872" indent="-345436" lvl="1">
              <a:lnSpc>
                <a:spcPts val="4479"/>
              </a:lnSpc>
              <a:buFont typeface="Arial"/>
              <a:buChar char="•"/>
            </a:pPr>
            <a:r>
              <a:rPr lang="en-US" sz="3199" spc="-147">
                <a:solidFill>
                  <a:srgbClr val="EBF5FE"/>
                </a:solidFill>
                <a:latin typeface="Garet"/>
                <a:ea typeface="Garet"/>
                <a:cs typeface="Garet"/>
                <a:sym typeface="Garet"/>
              </a:rPr>
              <a:t>Anuncio 1</a:t>
            </a:r>
          </a:p>
          <a:p>
            <a:pPr algn="l" marL="690872" indent="-345436" lvl="1">
              <a:lnSpc>
                <a:spcPts val="4479"/>
              </a:lnSpc>
              <a:buFont typeface="Arial"/>
              <a:buChar char="•"/>
            </a:pPr>
            <a:r>
              <a:rPr lang="en-US" sz="3199" spc="-147">
                <a:solidFill>
                  <a:srgbClr val="EBF5FE"/>
                </a:solidFill>
                <a:latin typeface="Garet"/>
                <a:ea typeface="Garet"/>
                <a:cs typeface="Garet"/>
                <a:sym typeface="Garet"/>
              </a:rPr>
              <a:t>Anuncio 2</a:t>
            </a:r>
          </a:p>
          <a:p>
            <a:pPr algn="l" marL="690872" indent="-345436" lvl="1">
              <a:lnSpc>
                <a:spcPts val="4479"/>
              </a:lnSpc>
              <a:spcBef>
                <a:spcPct val="0"/>
              </a:spcBef>
              <a:buFont typeface="Arial"/>
              <a:buChar char="•"/>
            </a:pPr>
            <a:r>
              <a:rPr lang="en-US" sz="3199" spc="-147">
                <a:solidFill>
                  <a:srgbClr val="EBF5FE"/>
                </a:solidFill>
                <a:latin typeface="Garet"/>
                <a:ea typeface="Garet"/>
                <a:cs typeface="Garet"/>
                <a:sym typeface="Garet"/>
              </a:rPr>
              <a:t>Anuncio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67635" y="2206653"/>
            <a:ext cx="6341371" cy="5873695"/>
          </a:xfrm>
          <a:custGeom>
            <a:avLst/>
            <a:gdLst/>
            <a:ahLst/>
            <a:cxnLst/>
            <a:rect r="r" b="b" t="t" l="l"/>
            <a:pathLst>
              <a:path h="5873695" w="6341371">
                <a:moveTo>
                  <a:pt x="0" y="0"/>
                </a:moveTo>
                <a:lnTo>
                  <a:pt x="6341371" y="0"/>
                </a:lnTo>
                <a:lnTo>
                  <a:pt x="6341371" y="5873694"/>
                </a:lnTo>
                <a:lnTo>
                  <a:pt x="0" y="5873694"/>
                </a:lnTo>
                <a:lnTo>
                  <a:pt x="0" y="0"/>
                </a:lnTo>
                <a:close/>
              </a:path>
            </a:pathLst>
          </a:custGeom>
          <a:blipFill>
            <a:blip r:embed="rId4"/>
            <a:stretch>
              <a:fillRect l="0" t="0" r="0" b="0"/>
            </a:stretch>
          </a:blipFill>
        </p:spPr>
      </p:sp>
      <p:sp>
        <p:nvSpPr>
          <p:cNvPr name="TextBox 4" id="4"/>
          <p:cNvSpPr txBox="true"/>
          <p:nvPr/>
        </p:nvSpPr>
        <p:spPr>
          <a:xfrm rot="0">
            <a:off x="1727020" y="2804344"/>
            <a:ext cx="7416980"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AGENDA</a:t>
            </a:r>
          </a:p>
        </p:txBody>
      </p:sp>
      <p:sp>
        <p:nvSpPr>
          <p:cNvPr name="TextBox 5" id="5"/>
          <p:cNvSpPr txBox="true"/>
          <p:nvPr/>
        </p:nvSpPr>
        <p:spPr>
          <a:xfrm rot="0">
            <a:off x="1727020" y="4521946"/>
            <a:ext cx="7875490" cy="1652271"/>
          </a:xfrm>
          <a:prstGeom prst="rect">
            <a:avLst/>
          </a:prstGeom>
        </p:spPr>
        <p:txBody>
          <a:bodyPr anchor="t" rtlCol="false" tIns="0" lIns="0" bIns="0" rIns="0">
            <a:spAutoFit/>
          </a:bodyPr>
          <a:lstStyle/>
          <a:p>
            <a:pPr algn="l" marL="690872" indent="-345436" lvl="1">
              <a:lnSpc>
                <a:spcPts val="4479"/>
              </a:lnSpc>
              <a:buFont typeface="Arial"/>
              <a:buChar char="•"/>
            </a:pPr>
            <a:r>
              <a:rPr lang="en-US" sz="3199" spc="-147">
                <a:solidFill>
                  <a:srgbClr val="EBF5FE"/>
                </a:solidFill>
                <a:latin typeface="Garet"/>
                <a:ea typeface="Garet"/>
                <a:cs typeface="Garet"/>
                <a:sym typeface="Garet"/>
              </a:rPr>
              <a:t>Actividad 1</a:t>
            </a:r>
          </a:p>
          <a:p>
            <a:pPr algn="l" marL="690872" indent="-345436" lvl="1">
              <a:lnSpc>
                <a:spcPts val="4479"/>
              </a:lnSpc>
              <a:buFont typeface="Arial"/>
              <a:buChar char="•"/>
            </a:pPr>
            <a:r>
              <a:rPr lang="en-US" sz="3199" spc="-147">
                <a:solidFill>
                  <a:srgbClr val="EBF5FE"/>
                </a:solidFill>
                <a:latin typeface="Garet"/>
                <a:ea typeface="Garet"/>
                <a:cs typeface="Garet"/>
                <a:sym typeface="Garet"/>
              </a:rPr>
              <a:t>Actividad 2</a:t>
            </a:r>
          </a:p>
          <a:p>
            <a:pPr algn="l" marL="690872" indent="-345436" lvl="1">
              <a:lnSpc>
                <a:spcPts val="4479"/>
              </a:lnSpc>
              <a:spcBef>
                <a:spcPct val="0"/>
              </a:spcBef>
              <a:buFont typeface="Arial"/>
              <a:buChar char="•"/>
            </a:pPr>
            <a:r>
              <a:rPr lang="en-US" sz="3199" spc="-147">
                <a:solidFill>
                  <a:srgbClr val="EBF5FE"/>
                </a:solidFill>
                <a:latin typeface="Garet"/>
                <a:ea typeface="Garet"/>
                <a:cs typeface="Garet"/>
                <a:sym typeface="Garet"/>
              </a:rPr>
              <a:t>Actividad 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27020" y="2804344"/>
            <a:ext cx="8007220"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COMPOTENCIAS</a:t>
            </a:r>
          </a:p>
        </p:txBody>
      </p:sp>
      <p:sp>
        <p:nvSpPr>
          <p:cNvPr name="TextBox 4" id="4"/>
          <p:cNvSpPr txBox="true"/>
          <p:nvPr/>
        </p:nvSpPr>
        <p:spPr>
          <a:xfrm rot="0">
            <a:off x="1727020" y="4521946"/>
            <a:ext cx="7875490" cy="3338196"/>
          </a:xfrm>
          <a:prstGeom prst="rect">
            <a:avLst/>
          </a:prstGeom>
        </p:spPr>
        <p:txBody>
          <a:bodyPr anchor="t" rtlCol="false" tIns="0" lIns="0" bIns="0" rIns="0">
            <a:spAutoFit/>
          </a:bodyPr>
          <a:lstStyle/>
          <a:p>
            <a:pPr algn="just">
              <a:lnSpc>
                <a:spcPts val="4479"/>
              </a:lnSpc>
              <a:spcBef>
                <a:spcPct val="0"/>
              </a:spcBef>
            </a:pPr>
            <a:r>
              <a:rPr lang="en-US" sz="3199" spc="-147">
                <a:solidFill>
                  <a:srgbClr val="EBF5FE"/>
                </a:solidFill>
                <a:latin typeface="Garet"/>
                <a:ea typeface="Garet"/>
                <a:cs typeface="Garet"/>
                <a:sym typeface="Garet"/>
              </a:rPr>
              <a:t>El estudiante describe la arquitectura y los componentes fundamentales de un SO analizando la separación entre espacio de usuario y kernel para establecer las bases de modificación del sistema.</a:t>
            </a:r>
          </a:p>
        </p:txBody>
      </p:sp>
      <p:sp>
        <p:nvSpPr>
          <p:cNvPr name="Freeform 5" id="5"/>
          <p:cNvSpPr/>
          <p:nvPr/>
        </p:nvSpPr>
        <p:spPr>
          <a:xfrm flipH="false" flipV="false" rot="0">
            <a:off x="10126818" y="1922954"/>
            <a:ext cx="6514380" cy="6441093"/>
          </a:xfrm>
          <a:custGeom>
            <a:avLst/>
            <a:gdLst/>
            <a:ahLst/>
            <a:cxnLst/>
            <a:rect r="r" b="b" t="t" l="l"/>
            <a:pathLst>
              <a:path h="6441093" w="6514380">
                <a:moveTo>
                  <a:pt x="0" y="0"/>
                </a:moveTo>
                <a:lnTo>
                  <a:pt x="6514380" y="0"/>
                </a:lnTo>
                <a:lnTo>
                  <a:pt x="6514380" y="6441092"/>
                </a:lnTo>
                <a:lnTo>
                  <a:pt x="0" y="6441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27020" y="2507865"/>
            <a:ext cx="8007220" cy="2635635"/>
          </a:xfrm>
          <a:prstGeom prst="rect">
            <a:avLst/>
          </a:prstGeom>
        </p:spPr>
        <p:txBody>
          <a:bodyPr anchor="t" rtlCol="false" tIns="0" lIns="0" bIns="0" rIns="0">
            <a:spAutoFit/>
          </a:bodyPr>
          <a:lstStyle/>
          <a:p>
            <a:pPr algn="l">
              <a:lnSpc>
                <a:spcPts val="10574"/>
              </a:lnSpc>
            </a:pPr>
            <a:r>
              <a:rPr lang="en-US" b="true" sz="7552" spc="-347">
                <a:solidFill>
                  <a:srgbClr val="EBF5FE"/>
                </a:solidFill>
                <a:latin typeface="Garet Bold"/>
                <a:ea typeface="Garet Bold"/>
                <a:cs typeface="Garet Bold"/>
                <a:sym typeface="Garet Bold"/>
              </a:rPr>
              <a:t>VALOR(ES) DE</a:t>
            </a:r>
          </a:p>
          <a:p>
            <a:pPr algn="l">
              <a:lnSpc>
                <a:spcPts val="10574"/>
              </a:lnSpc>
              <a:spcBef>
                <a:spcPct val="0"/>
              </a:spcBef>
            </a:pPr>
            <a:r>
              <a:rPr lang="en-US" b="true" sz="7552" spc="-347">
                <a:solidFill>
                  <a:srgbClr val="EBF5FE"/>
                </a:solidFill>
                <a:latin typeface="Garet Bold"/>
                <a:ea typeface="Garet Bold"/>
                <a:cs typeface="Garet Bold"/>
                <a:sym typeface="Garet Bold"/>
              </a:rPr>
              <a:t>LA SEMANA</a:t>
            </a:r>
          </a:p>
        </p:txBody>
      </p:sp>
      <p:sp>
        <p:nvSpPr>
          <p:cNvPr name="TextBox 4" id="4"/>
          <p:cNvSpPr txBox="true"/>
          <p:nvPr/>
        </p:nvSpPr>
        <p:spPr>
          <a:xfrm rot="0">
            <a:off x="1727020" y="5674319"/>
            <a:ext cx="7875490" cy="2776221"/>
          </a:xfrm>
          <a:prstGeom prst="rect">
            <a:avLst/>
          </a:prstGeom>
        </p:spPr>
        <p:txBody>
          <a:bodyPr anchor="t" rtlCol="false" tIns="0" lIns="0" bIns="0" rIns="0">
            <a:spAutoFit/>
          </a:bodyPr>
          <a:lstStyle/>
          <a:p>
            <a:pPr algn="just">
              <a:lnSpc>
                <a:spcPts val="4479"/>
              </a:lnSpc>
            </a:pPr>
            <a:r>
              <a:rPr lang="en-US" sz="3199" spc="-147">
                <a:solidFill>
                  <a:srgbClr val="EBF5FE"/>
                </a:solidFill>
                <a:latin typeface="Garet"/>
                <a:ea typeface="Garet"/>
                <a:cs typeface="Garet"/>
                <a:sym typeface="Garet"/>
              </a:rPr>
              <a:t>Compromiso ético y profesional que asume el estudiante al interactuar con software de código abierto y sistemas críticos.</a:t>
            </a:r>
          </a:p>
          <a:p>
            <a:pPr algn="just">
              <a:lnSpc>
                <a:spcPts val="4479"/>
              </a:lnSpc>
              <a:spcBef>
                <a:spcPct val="0"/>
              </a:spcBef>
            </a:pPr>
          </a:p>
        </p:txBody>
      </p:sp>
      <p:sp>
        <p:nvSpPr>
          <p:cNvPr name="Freeform 5" id="5"/>
          <p:cNvSpPr/>
          <p:nvPr/>
        </p:nvSpPr>
        <p:spPr>
          <a:xfrm flipH="false" flipV="false" rot="0">
            <a:off x="10782627" y="2446673"/>
            <a:ext cx="5393653" cy="5393653"/>
          </a:xfrm>
          <a:custGeom>
            <a:avLst/>
            <a:gdLst/>
            <a:ahLst/>
            <a:cxnLst/>
            <a:rect r="r" b="b" t="t" l="l"/>
            <a:pathLst>
              <a:path h="5393653" w="5393653">
                <a:moveTo>
                  <a:pt x="0" y="0"/>
                </a:moveTo>
                <a:lnTo>
                  <a:pt x="5393654" y="0"/>
                </a:lnTo>
                <a:lnTo>
                  <a:pt x="5393654" y="5393654"/>
                </a:lnTo>
                <a:lnTo>
                  <a:pt x="0" y="53936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79210" y="1730543"/>
            <a:ext cx="4492692" cy="6825913"/>
          </a:xfrm>
          <a:custGeom>
            <a:avLst/>
            <a:gdLst/>
            <a:ahLst/>
            <a:cxnLst/>
            <a:rect r="r" b="b" t="t" l="l"/>
            <a:pathLst>
              <a:path h="6825913" w="4492692">
                <a:moveTo>
                  <a:pt x="0" y="0"/>
                </a:moveTo>
                <a:lnTo>
                  <a:pt x="4492692" y="0"/>
                </a:lnTo>
                <a:lnTo>
                  <a:pt x="4492692" y="6825914"/>
                </a:lnTo>
                <a:lnTo>
                  <a:pt x="0" y="6825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41484" y="3638893"/>
            <a:ext cx="3665913" cy="4114800"/>
          </a:xfrm>
          <a:custGeom>
            <a:avLst/>
            <a:gdLst/>
            <a:ahLst/>
            <a:cxnLst/>
            <a:rect r="r" b="b" t="t" l="l"/>
            <a:pathLst>
              <a:path h="4114800" w="3665913">
                <a:moveTo>
                  <a:pt x="0" y="0"/>
                </a:moveTo>
                <a:lnTo>
                  <a:pt x="3665912" y="0"/>
                </a:lnTo>
                <a:lnTo>
                  <a:pt x="366591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194870" y="2348075"/>
            <a:ext cx="7718469" cy="1293333"/>
          </a:xfrm>
          <a:prstGeom prst="rect">
            <a:avLst/>
          </a:prstGeom>
        </p:spPr>
        <p:txBody>
          <a:bodyPr anchor="t" rtlCol="false" tIns="0" lIns="0" bIns="0" rIns="0">
            <a:spAutoFit/>
          </a:bodyPr>
          <a:lstStyle/>
          <a:p>
            <a:pPr algn="l">
              <a:lnSpc>
                <a:spcPts val="10574"/>
              </a:lnSpc>
              <a:spcBef>
                <a:spcPct val="0"/>
              </a:spcBef>
            </a:pPr>
            <a:r>
              <a:rPr lang="en-US" sz="7552" spc="-347">
                <a:solidFill>
                  <a:srgbClr val="EBF5FE"/>
                </a:solidFill>
                <a:latin typeface="Garet"/>
                <a:ea typeface="Garet"/>
                <a:cs typeface="Garet"/>
                <a:sym typeface="Garet"/>
              </a:rPr>
              <a:t>FUNDAMENTOS</a:t>
            </a:r>
          </a:p>
        </p:txBody>
      </p:sp>
      <p:sp>
        <p:nvSpPr>
          <p:cNvPr name="TextBox 5" id="5"/>
          <p:cNvSpPr txBox="true"/>
          <p:nvPr/>
        </p:nvSpPr>
        <p:spPr>
          <a:xfrm rot="0">
            <a:off x="8194870" y="3268854"/>
            <a:ext cx="5620038"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DE LOS SO</a:t>
            </a:r>
          </a:p>
        </p:txBody>
      </p:sp>
      <p:sp>
        <p:nvSpPr>
          <p:cNvPr name="TextBox 6" id="6"/>
          <p:cNvSpPr txBox="true"/>
          <p:nvPr/>
        </p:nvSpPr>
        <p:spPr>
          <a:xfrm rot="0">
            <a:off x="8194870" y="4754141"/>
            <a:ext cx="7875490" cy="2692400"/>
          </a:xfrm>
          <a:prstGeom prst="rect">
            <a:avLst/>
          </a:prstGeom>
        </p:spPr>
        <p:txBody>
          <a:bodyPr anchor="t" rtlCol="false" tIns="0" lIns="0" bIns="0" rIns="0">
            <a:spAutoFit/>
          </a:bodyPr>
          <a:lstStyle/>
          <a:p>
            <a:pPr algn="l" marL="496567" indent="-248284" lvl="1">
              <a:lnSpc>
                <a:spcPts val="3219"/>
              </a:lnSpc>
              <a:buFont typeface="Arial"/>
              <a:buChar char="•"/>
            </a:pPr>
            <a:r>
              <a:rPr lang="en-US" sz="2299" spc="-105">
                <a:solidFill>
                  <a:srgbClr val="EBF5FE"/>
                </a:solidFill>
                <a:latin typeface="Garet"/>
                <a:ea typeface="Garet"/>
                <a:cs typeface="Garet"/>
                <a:sym typeface="Garet"/>
              </a:rPr>
              <a:t>Gestión de recursos de hardware (CPU, Memoria, Almacenamiento).</a:t>
            </a:r>
          </a:p>
          <a:p>
            <a:pPr algn="just">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T</a:t>
            </a:r>
            <a:r>
              <a:rPr lang="en-US" sz="2299" spc="-105">
                <a:solidFill>
                  <a:srgbClr val="EBF5FE"/>
                </a:solidFill>
                <a:latin typeface="Garet"/>
                <a:ea typeface="Garet"/>
                <a:cs typeface="Garet"/>
                <a:sym typeface="Garet"/>
              </a:rPr>
              <a:t>ipos de sistemas operativos: por lotes, multiprogramados, multiprocesamiento, multitarea, de red y distribuidos.</a:t>
            </a:r>
          </a:p>
          <a:p>
            <a:pPr algn="just">
              <a:lnSpc>
                <a:spcPts val="238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50385" y="7709520"/>
            <a:ext cx="4017831" cy="701294"/>
          </a:xfrm>
          <a:custGeom>
            <a:avLst/>
            <a:gdLst/>
            <a:ahLst/>
            <a:cxnLst/>
            <a:rect r="r" b="b" t="t" l="l"/>
            <a:pathLst>
              <a:path h="701294" w="4017831">
                <a:moveTo>
                  <a:pt x="0" y="0"/>
                </a:moveTo>
                <a:lnTo>
                  <a:pt x="4017830" y="0"/>
                </a:lnTo>
                <a:lnTo>
                  <a:pt x="4017830" y="701294"/>
                </a:lnTo>
                <a:lnTo>
                  <a:pt x="0" y="701294"/>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219233" y="1856673"/>
            <a:ext cx="4444454" cy="2230308"/>
          </a:xfrm>
          <a:custGeom>
            <a:avLst/>
            <a:gdLst/>
            <a:ahLst/>
            <a:cxnLst/>
            <a:rect r="r" b="b" t="t" l="l"/>
            <a:pathLst>
              <a:path h="2230308" w="4444454">
                <a:moveTo>
                  <a:pt x="0" y="0"/>
                </a:moveTo>
                <a:lnTo>
                  <a:pt x="4444454" y="0"/>
                </a:lnTo>
                <a:lnTo>
                  <a:pt x="4444454" y="2230308"/>
                </a:lnTo>
                <a:lnTo>
                  <a:pt x="0" y="22303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495207" y="1856673"/>
            <a:ext cx="4444454" cy="2230308"/>
          </a:xfrm>
          <a:custGeom>
            <a:avLst/>
            <a:gdLst/>
            <a:ahLst/>
            <a:cxnLst/>
            <a:rect r="r" b="b" t="t" l="l"/>
            <a:pathLst>
              <a:path h="2230308" w="4444454">
                <a:moveTo>
                  <a:pt x="4444454" y="0"/>
                </a:moveTo>
                <a:lnTo>
                  <a:pt x="0" y="0"/>
                </a:lnTo>
                <a:lnTo>
                  <a:pt x="0" y="2230308"/>
                </a:lnTo>
                <a:lnTo>
                  <a:pt x="4444454" y="2230308"/>
                </a:lnTo>
                <a:lnTo>
                  <a:pt x="444445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342030" y="4513769"/>
            <a:ext cx="1149045" cy="1159188"/>
          </a:xfrm>
          <a:custGeom>
            <a:avLst/>
            <a:gdLst/>
            <a:ahLst/>
            <a:cxnLst/>
            <a:rect r="r" b="b" t="t" l="l"/>
            <a:pathLst>
              <a:path h="1159188" w="1149045">
                <a:moveTo>
                  <a:pt x="0" y="0"/>
                </a:moveTo>
                <a:lnTo>
                  <a:pt x="1149045" y="0"/>
                </a:lnTo>
                <a:lnTo>
                  <a:pt x="1149045" y="1159188"/>
                </a:lnTo>
                <a:lnTo>
                  <a:pt x="0" y="11591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71394" y="6320657"/>
            <a:ext cx="1311370" cy="1162202"/>
          </a:xfrm>
          <a:custGeom>
            <a:avLst/>
            <a:gdLst/>
            <a:ahLst/>
            <a:cxnLst/>
            <a:rect r="r" b="b" t="t" l="l"/>
            <a:pathLst>
              <a:path h="1162202" w="1311370">
                <a:moveTo>
                  <a:pt x="0" y="0"/>
                </a:moveTo>
                <a:lnTo>
                  <a:pt x="1311371" y="0"/>
                </a:lnTo>
                <a:lnTo>
                  <a:pt x="1311371" y="1162202"/>
                </a:lnTo>
                <a:lnTo>
                  <a:pt x="0" y="11622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0363084" y="8126191"/>
            <a:ext cx="1127991" cy="1161381"/>
          </a:xfrm>
          <a:custGeom>
            <a:avLst/>
            <a:gdLst/>
            <a:ahLst/>
            <a:cxnLst/>
            <a:rect r="r" b="b" t="t" l="l"/>
            <a:pathLst>
              <a:path h="1161381" w="1127991">
                <a:moveTo>
                  <a:pt x="0" y="0"/>
                </a:moveTo>
                <a:lnTo>
                  <a:pt x="1127991" y="0"/>
                </a:lnTo>
                <a:lnTo>
                  <a:pt x="1127991" y="1161381"/>
                </a:lnTo>
                <a:lnTo>
                  <a:pt x="0" y="11613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5299153" y="1905835"/>
            <a:ext cx="7689694" cy="1065992"/>
          </a:xfrm>
          <a:prstGeom prst="rect">
            <a:avLst/>
          </a:prstGeom>
        </p:spPr>
        <p:txBody>
          <a:bodyPr anchor="t" rtlCol="false" tIns="0" lIns="0" bIns="0" rIns="0">
            <a:spAutoFit/>
          </a:bodyPr>
          <a:lstStyle/>
          <a:p>
            <a:pPr algn="ctr">
              <a:lnSpc>
                <a:spcPts val="8703"/>
              </a:lnSpc>
              <a:spcBef>
                <a:spcPct val="0"/>
              </a:spcBef>
            </a:pPr>
            <a:r>
              <a:rPr lang="en-US" sz="6217" spc="-285">
                <a:solidFill>
                  <a:srgbClr val="EBF5FE"/>
                </a:solidFill>
                <a:latin typeface="Garet"/>
                <a:ea typeface="Garet"/>
                <a:cs typeface="Garet"/>
                <a:sym typeface="Garet"/>
              </a:rPr>
              <a:t>DEFINICIÓN DE LOS</a:t>
            </a:r>
          </a:p>
        </p:txBody>
      </p:sp>
      <p:sp>
        <p:nvSpPr>
          <p:cNvPr name="TextBox 10" id="10"/>
          <p:cNvSpPr txBox="true"/>
          <p:nvPr/>
        </p:nvSpPr>
        <p:spPr>
          <a:xfrm rot="0">
            <a:off x="4448926" y="2727566"/>
            <a:ext cx="9390148" cy="1065992"/>
          </a:xfrm>
          <a:prstGeom prst="rect">
            <a:avLst/>
          </a:prstGeom>
        </p:spPr>
        <p:txBody>
          <a:bodyPr anchor="t" rtlCol="false" tIns="0" lIns="0" bIns="0" rIns="0">
            <a:spAutoFit/>
          </a:bodyPr>
          <a:lstStyle/>
          <a:p>
            <a:pPr algn="ctr">
              <a:lnSpc>
                <a:spcPts val="8703"/>
              </a:lnSpc>
              <a:spcBef>
                <a:spcPct val="0"/>
              </a:spcBef>
            </a:pPr>
            <a:r>
              <a:rPr lang="en-US" b="true" sz="6217" spc="-285">
                <a:solidFill>
                  <a:srgbClr val="EBF5FE"/>
                </a:solidFill>
                <a:latin typeface="Garet Bold"/>
                <a:ea typeface="Garet Bold"/>
                <a:cs typeface="Garet Bold"/>
                <a:sym typeface="Garet Bold"/>
              </a:rPr>
              <a:t>SISTEMAS OPERATIVOS</a:t>
            </a:r>
          </a:p>
        </p:txBody>
      </p:sp>
      <p:sp>
        <p:nvSpPr>
          <p:cNvPr name="TextBox 11" id="11"/>
          <p:cNvSpPr txBox="true"/>
          <p:nvPr/>
        </p:nvSpPr>
        <p:spPr>
          <a:xfrm rot="0">
            <a:off x="2369724" y="4470512"/>
            <a:ext cx="6522940" cy="35896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Es el software principal que gestiona tanto el hardware como el software de una computadora.</a:t>
            </a:r>
          </a:p>
          <a:p>
            <a:pPr algn="just">
              <a:lnSpc>
                <a:spcPts val="3219"/>
              </a:lnSpc>
            </a:pPr>
          </a:p>
          <a:p>
            <a:pPr algn="just">
              <a:lnSpc>
                <a:spcPts val="3219"/>
              </a:lnSpc>
            </a:pPr>
            <a:r>
              <a:rPr lang="en-US" sz="2299" spc="-105">
                <a:solidFill>
                  <a:srgbClr val="EBF5FE"/>
                </a:solidFill>
                <a:latin typeface="Garet"/>
                <a:ea typeface="Garet"/>
                <a:cs typeface="Garet"/>
                <a:sym typeface="Garet"/>
              </a:rPr>
              <a:t>Asigna recursos: CPU, RAM y Almacenamiento.</a:t>
            </a:r>
          </a:p>
          <a:p>
            <a:pPr algn="just">
              <a:lnSpc>
                <a:spcPts val="3219"/>
              </a:lnSpc>
            </a:pPr>
            <a:r>
              <a:rPr lang="en-US" sz="2299" spc="-105">
                <a:solidFill>
                  <a:srgbClr val="EBF5FE"/>
                </a:solidFill>
                <a:latin typeface="Garet"/>
                <a:ea typeface="Garet"/>
                <a:cs typeface="Garet"/>
                <a:sym typeface="Garet"/>
              </a:rPr>
              <a:t>Permite la ejecución simultánea de programas.</a:t>
            </a:r>
          </a:p>
          <a:p>
            <a:pPr algn="just">
              <a:lnSpc>
                <a:spcPts val="3219"/>
              </a:lnSpc>
            </a:pPr>
            <a:r>
              <a:rPr lang="en-US" sz="2299" spc="-105">
                <a:solidFill>
                  <a:srgbClr val="EBF5FE"/>
                </a:solidFill>
                <a:latin typeface="Garet"/>
                <a:ea typeface="Garet"/>
                <a:cs typeface="Garet"/>
                <a:sym typeface="Garet"/>
              </a:rPr>
              <a:t>Actúa como intermediario entre el usuario y la máquina física.</a:t>
            </a:r>
          </a:p>
          <a:p>
            <a:pPr algn="just">
              <a:lnSpc>
                <a:spcPts val="3219"/>
              </a:lnSpc>
              <a:spcBef>
                <a:spcPct val="0"/>
              </a:spcBef>
            </a:pPr>
          </a:p>
        </p:txBody>
      </p:sp>
      <p:sp>
        <p:nvSpPr>
          <p:cNvPr name="TextBox 12" id="12"/>
          <p:cNvSpPr txBox="true"/>
          <p:nvPr/>
        </p:nvSpPr>
        <p:spPr>
          <a:xfrm rot="0">
            <a:off x="11793217" y="4324985"/>
            <a:ext cx="4091713" cy="158940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SUPERVISAR EL SISTEMA</a:t>
            </a:r>
          </a:p>
          <a:p>
            <a:pPr algn="just">
              <a:lnSpc>
                <a:spcPts val="3219"/>
              </a:lnSpc>
              <a:spcBef>
                <a:spcPct val="0"/>
              </a:spcBef>
            </a:pPr>
            <a:r>
              <a:rPr lang="en-US" sz="2299" spc="-105">
                <a:solidFill>
                  <a:srgbClr val="EBF5FE"/>
                </a:solidFill>
                <a:latin typeface="Garet"/>
                <a:ea typeface="Garet"/>
                <a:cs typeface="Garet"/>
                <a:sym typeface="Garet"/>
              </a:rPr>
              <a:t>Manejar memoria, iniciar y controlar la ejecución de procesos.</a:t>
            </a:r>
          </a:p>
        </p:txBody>
      </p:sp>
      <p:sp>
        <p:nvSpPr>
          <p:cNvPr name="TextBox 13" id="13"/>
          <p:cNvSpPr txBox="true"/>
          <p:nvPr/>
        </p:nvSpPr>
        <p:spPr>
          <a:xfrm rot="0">
            <a:off x="11793217" y="6083243"/>
            <a:ext cx="4091713" cy="158940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SERVICIOS DE HARDWARE</a:t>
            </a:r>
          </a:p>
          <a:p>
            <a:pPr algn="just">
              <a:lnSpc>
                <a:spcPts val="3219"/>
              </a:lnSpc>
              <a:spcBef>
                <a:spcPct val="0"/>
              </a:spcBef>
            </a:pPr>
            <a:r>
              <a:rPr lang="en-US" sz="2299" spc="-105">
                <a:solidFill>
                  <a:srgbClr val="EBF5FE"/>
                </a:solidFill>
                <a:latin typeface="Garet"/>
                <a:ea typeface="Garet"/>
                <a:cs typeface="Garet"/>
                <a:sym typeface="Garet"/>
              </a:rPr>
              <a:t>Prove</a:t>
            </a:r>
            <a:r>
              <a:rPr lang="en-US" sz="2299" spc="-105">
                <a:solidFill>
                  <a:srgbClr val="EBF5FE"/>
                </a:solidFill>
                <a:latin typeface="Garet"/>
                <a:ea typeface="Garet"/>
                <a:cs typeface="Garet"/>
                <a:sym typeface="Garet"/>
              </a:rPr>
              <a:t>er los controladores para distintos dispositivos (displays, impresoras, etc).</a:t>
            </a:r>
          </a:p>
        </p:txBody>
      </p:sp>
      <p:sp>
        <p:nvSpPr>
          <p:cNvPr name="TextBox 14" id="14"/>
          <p:cNvSpPr txBox="true"/>
          <p:nvPr/>
        </p:nvSpPr>
        <p:spPr>
          <a:xfrm rot="0">
            <a:off x="11793217" y="8078566"/>
            <a:ext cx="4091713" cy="158940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SERVICIOS DE SOFTWARE</a:t>
            </a:r>
          </a:p>
          <a:p>
            <a:pPr algn="just">
              <a:lnSpc>
                <a:spcPts val="3219"/>
              </a:lnSpc>
              <a:spcBef>
                <a:spcPct val="0"/>
              </a:spcBef>
            </a:pPr>
            <a:r>
              <a:rPr lang="en-US" sz="2299" spc="-105">
                <a:solidFill>
                  <a:srgbClr val="EBF5FE"/>
                </a:solidFill>
                <a:latin typeface="Garet"/>
                <a:ea typeface="Garet"/>
                <a:cs typeface="Garet"/>
                <a:sym typeface="Garet"/>
              </a:rPr>
              <a:t>Prove</a:t>
            </a:r>
            <a:r>
              <a:rPr lang="en-US" sz="2299" spc="-105">
                <a:solidFill>
                  <a:srgbClr val="EBF5FE"/>
                </a:solidFill>
                <a:latin typeface="Garet"/>
                <a:ea typeface="Garet"/>
                <a:cs typeface="Garet"/>
                <a:sym typeface="Garet"/>
              </a:rPr>
              <a:t>er programas como la interfaz de usuario (UI), sistemas de archivos, etc.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216469" y="2736127"/>
            <a:ext cx="3869508" cy="5726871"/>
          </a:xfrm>
          <a:custGeom>
            <a:avLst/>
            <a:gdLst/>
            <a:ahLst/>
            <a:cxnLst/>
            <a:rect r="r" b="b" t="t" l="l"/>
            <a:pathLst>
              <a:path h="5726871" w="3869508">
                <a:moveTo>
                  <a:pt x="0" y="0"/>
                </a:moveTo>
                <a:lnTo>
                  <a:pt x="3869507" y="0"/>
                </a:lnTo>
                <a:lnTo>
                  <a:pt x="3869507" y="5726872"/>
                </a:lnTo>
                <a:lnTo>
                  <a:pt x="0" y="5726872"/>
                </a:lnTo>
                <a:lnTo>
                  <a:pt x="0" y="0"/>
                </a:lnTo>
                <a:close/>
              </a:path>
            </a:pathLst>
          </a:custGeom>
          <a:blipFill>
            <a:blip r:embed="rId4"/>
            <a:stretch>
              <a:fillRect l="0" t="0" r="0" b="0"/>
            </a:stretch>
          </a:blipFill>
        </p:spPr>
      </p:sp>
      <p:sp>
        <p:nvSpPr>
          <p:cNvPr name="TextBox 4" id="4"/>
          <p:cNvSpPr txBox="true"/>
          <p:nvPr/>
        </p:nvSpPr>
        <p:spPr>
          <a:xfrm rot="0">
            <a:off x="1594777" y="2497371"/>
            <a:ext cx="3256685" cy="1070811"/>
          </a:xfrm>
          <a:prstGeom prst="rect">
            <a:avLst/>
          </a:prstGeom>
        </p:spPr>
        <p:txBody>
          <a:bodyPr anchor="t" rtlCol="false" tIns="0" lIns="0" bIns="0" rIns="0">
            <a:spAutoFit/>
          </a:bodyPr>
          <a:lstStyle/>
          <a:p>
            <a:pPr algn="l">
              <a:lnSpc>
                <a:spcPts val="8703"/>
              </a:lnSpc>
              <a:spcBef>
                <a:spcPct val="0"/>
              </a:spcBef>
            </a:pPr>
            <a:r>
              <a:rPr lang="en-US" sz="6217" spc="-285">
                <a:solidFill>
                  <a:srgbClr val="EBF5FE"/>
                </a:solidFill>
                <a:latin typeface="Garet"/>
                <a:ea typeface="Garet"/>
                <a:cs typeface="Garet"/>
                <a:sym typeface="Garet"/>
              </a:rPr>
              <a:t>CAPAS</a:t>
            </a:r>
          </a:p>
        </p:txBody>
      </p:sp>
      <p:sp>
        <p:nvSpPr>
          <p:cNvPr name="TextBox 5" id="5"/>
          <p:cNvSpPr txBox="true"/>
          <p:nvPr/>
        </p:nvSpPr>
        <p:spPr>
          <a:xfrm rot="0">
            <a:off x="4435637" y="2497355"/>
            <a:ext cx="4007720" cy="10708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SO</a:t>
            </a:r>
          </a:p>
        </p:txBody>
      </p:sp>
      <p:sp>
        <p:nvSpPr>
          <p:cNvPr name="TextBox 6" id="6"/>
          <p:cNvSpPr txBox="true"/>
          <p:nvPr/>
        </p:nvSpPr>
        <p:spPr>
          <a:xfrm rot="0">
            <a:off x="1594777" y="4073243"/>
            <a:ext cx="7761190" cy="43897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El usuario interactúa con el software de sistema y de aplicación. </a:t>
            </a:r>
          </a:p>
          <a:p>
            <a:pPr algn="just">
              <a:lnSpc>
                <a:spcPts val="3219"/>
              </a:lnSpc>
            </a:pPr>
          </a:p>
          <a:p>
            <a:pPr algn="just">
              <a:lnSpc>
                <a:spcPts val="3219"/>
              </a:lnSpc>
            </a:pPr>
            <a:r>
              <a:rPr lang="en-US" sz="2299" spc="-105">
                <a:solidFill>
                  <a:srgbClr val="EBF5FE"/>
                </a:solidFill>
                <a:latin typeface="Garet"/>
                <a:ea typeface="Garet"/>
                <a:cs typeface="Garet"/>
                <a:sym typeface="Garet"/>
              </a:rPr>
              <a:t>El software de sistema y de aplicación interactúan con el sistema operativo. </a:t>
            </a:r>
          </a:p>
          <a:p>
            <a:pPr algn="just">
              <a:lnSpc>
                <a:spcPts val="3219"/>
              </a:lnSpc>
            </a:pPr>
          </a:p>
          <a:p>
            <a:pPr algn="just">
              <a:lnSpc>
                <a:spcPts val="3219"/>
              </a:lnSpc>
            </a:pPr>
            <a:r>
              <a:rPr lang="en-US" sz="2299" spc="-105">
                <a:solidFill>
                  <a:srgbClr val="EBF5FE"/>
                </a:solidFill>
                <a:latin typeface="Garet"/>
                <a:ea typeface="Garet"/>
                <a:cs typeface="Garet"/>
                <a:sym typeface="Garet"/>
              </a:rPr>
              <a:t>El sistema operativo interactúa con el hardware. </a:t>
            </a:r>
          </a:p>
          <a:p>
            <a:pPr algn="just">
              <a:lnSpc>
                <a:spcPts val="3219"/>
              </a:lnSpc>
            </a:pPr>
          </a:p>
          <a:p>
            <a:pPr algn="just">
              <a:lnSpc>
                <a:spcPts val="3219"/>
              </a:lnSpc>
            </a:pPr>
            <a:r>
              <a:rPr lang="en-US" sz="2299" spc="-105">
                <a:solidFill>
                  <a:srgbClr val="EBF5FE"/>
                </a:solidFill>
                <a:latin typeface="Garet"/>
                <a:ea typeface="Garet"/>
                <a:cs typeface="Garet"/>
                <a:sym typeface="Garet"/>
              </a:rPr>
              <a:t>Cada una de estas interfaces son transacciones bidireccionales y cada una envía y recibe datos.</a:t>
            </a:r>
          </a:p>
          <a:p>
            <a:pPr algn="just">
              <a:lnSpc>
                <a:spcPts val="321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517729">
            <a:off x="-2903692"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30155" y="1986873"/>
            <a:ext cx="3696124" cy="6313254"/>
          </a:xfrm>
          <a:custGeom>
            <a:avLst/>
            <a:gdLst/>
            <a:ahLst/>
            <a:cxnLst/>
            <a:rect r="r" b="b" t="t" l="l"/>
            <a:pathLst>
              <a:path h="6313254" w="3696124">
                <a:moveTo>
                  <a:pt x="0" y="0"/>
                </a:moveTo>
                <a:lnTo>
                  <a:pt x="3696123" y="0"/>
                </a:lnTo>
                <a:lnTo>
                  <a:pt x="3696123" y="6313254"/>
                </a:lnTo>
                <a:lnTo>
                  <a:pt x="0" y="6313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79210" y="3411729"/>
            <a:ext cx="2827990" cy="4114800"/>
          </a:xfrm>
          <a:custGeom>
            <a:avLst/>
            <a:gdLst/>
            <a:ahLst/>
            <a:cxnLst/>
            <a:rect r="r" b="b" t="t" l="l"/>
            <a:pathLst>
              <a:path h="4114800" w="2827990">
                <a:moveTo>
                  <a:pt x="0" y="0"/>
                </a:moveTo>
                <a:lnTo>
                  <a:pt x="2827990" y="0"/>
                </a:lnTo>
                <a:lnTo>
                  <a:pt x="282799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8194870" y="3825596"/>
            <a:ext cx="6389629" cy="771525"/>
            <a:chOff x="0" y="0"/>
            <a:chExt cx="3365731" cy="406400"/>
          </a:xfrm>
        </p:grpSpPr>
        <p:sp>
          <p:nvSpPr>
            <p:cNvPr name="Freeform 8" id="8"/>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9" id="9"/>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sp>
        <p:nvSpPr>
          <p:cNvPr name="TextBox 10" id="10"/>
          <p:cNvSpPr txBox="true"/>
          <p:nvPr/>
        </p:nvSpPr>
        <p:spPr>
          <a:xfrm rot="0">
            <a:off x="8194870" y="1268779"/>
            <a:ext cx="5620038" cy="1293333"/>
          </a:xfrm>
          <a:prstGeom prst="rect">
            <a:avLst/>
          </a:prstGeom>
        </p:spPr>
        <p:txBody>
          <a:bodyPr anchor="t" rtlCol="false" tIns="0" lIns="0" bIns="0" rIns="0">
            <a:spAutoFit/>
          </a:bodyPr>
          <a:lstStyle/>
          <a:p>
            <a:pPr algn="l">
              <a:lnSpc>
                <a:spcPts val="10574"/>
              </a:lnSpc>
              <a:spcBef>
                <a:spcPct val="0"/>
              </a:spcBef>
            </a:pPr>
            <a:r>
              <a:rPr lang="en-US" sz="7552" spc="-347">
                <a:solidFill>
                  <a:srgbClr val="EBF5FE"/>
                </a:solidFill>
                <a:latin typeface="Garet"/>
                <a:ea typeface="Garet"/>
                <a:cs typeface="Garet"/>
                <a:sym typeface="Garet"/>
              </a:rPr>
              <a:t>TIPOS DE </a:t>
            </a:r>
          </a:p>
        </p:txBody>
      </p:sp>
      <p:sp>
        <p:nvSpPr>
          <p:cNvPr name="TextBox 11" id="11"/>
          <p:cNvSpPr txBox="true"/>
          <p:nvPr/>
        </p:nvSpPr>
        <p:spPr>
          <a:xfrm rot="0">
            <a:off x="8194870" y="2246935"/>
            <a:ext cx="8002468"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S.O.</a:t>
            </a:r>
          </a:p>
        </p:txBody>
      </p:sp>
      <p:grpSp>
        <p:nvGrpSpPr>
          <p:cNvPr name="Group 12" id="12"/>
          <p:cNvGrpSpPr/>
          <p:nvPr/>
        </p:nvGrpSpPr>
        <p:grpSpPr>
          <a:xfrm rot="0">
            <a:off x="8194870" y="4834507"/>
            <a:ext cx="6389629" cy="771525"/>
            <a:chOff x="0" y="0"/>
            <a:chExt cx="3365731" cy="406400"/>
          </a:xfrm>
        </p:grpSpPr>
        <p:sp>
          <p:nvSpPr>
            <p:cNvPr name="Freeform 13" id="13"/>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4" id="14"/>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grpSp>
        <p:nvGrpSpPr>
          <p:cNvPr name="Group 15" id="15"/>
          <p:cNvGrpSpPr/>
          <p:nvPr/>
        </p:nvGrpSpPr>
        <p:grpSpPr>
          <a:xfrm rot="0">
            <a:off x="8194870" y="5843417"/>
            <a:ext cx="6389629" cy="771525"/>
            <a:chOff x="0" y="0"/>
            <a:chExt cx="3365731" cy="406400"/>
          </a:xfrm>
        </p:grpSpPr>
        <p:sp>
          <p:nvSpPr>
            <p:cNvPr name="Freeform 16" id="16"/>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17" id="17"/>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grpSp>
        <p:nvGrpSpPr>
          <p:cNvPr name="Group 18" id="18"/>
          <p:cNvGrpSpPr/>
          <p:nvPr/>
        </p:nvGrpSpPr>
        <p:grpSpPr>
          <a:xfrm rot="0">
            <a:off x="8194870" y="6852327"/>
            <a:ext cx="6389629" cy="771525"/>
            <a:chOff x="0" y="0"/>
            <a:chExt cx="3365731" cy="406400"/>
          </a:xfrm>
        </p:grpSpPr>
        <p:sp>
          <p:nvSpPr>
            <p:cNvPr name="Freeform 19" id="19"/>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20" id="20"/>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sp>
        <p:nvSpPr>
          <p:cNvPr name="TextBox 21" id="21"/>
          <p:cNvSpPr txBox="true"/>
          <p:nvPr/>
        </p:nvSpPr>
        <p:spPr>
          <a:xfrm rot="0">
            <a:off x="8754640" y="3962937"/>
            <a:ext cx="3272563"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Por Lotes</a:t>
            </a:r>
          </a:p>
        </p:txBody>
      </p:sp>
      <p:sp>
        <p:nvSpPr>
          <p:cNvPr name="TextBox 22" id="22"/>
          <p:cNvSpPr txBox="true"/>
          <p:nvPr/>
        </p:nvSpPr>
        <p:spPr>
          <a:xfrm rot="0">
            <a:off x="8754640" y="4972939"/>
            <a:ext cx="3272563"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Multiprogramación</a:t>
            </a:r>
          </a:p>
        </p:txBody>
      </p:sp>
      <p:sp>
        <p:nvSpPr>
          <p:cNvPr name="TextBox 23" id="23"/>
          <p:cNvSpPr txBox="true"/>
          <p:nvPr/>
        </p:nvSpPr>
        <p:spPr>
          <a:xfrm rot="0">
            <a:off x="8754640" y="5987032"/>
            <a:ext cx="3272563"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Multitarea</a:t>
            </a:r>
          </a:p>
        </p:txBody>
      </p:sp>
      <p:sp>
        <p:nvSpPr>
          <p:cNvPr name="TextBox 24" id="24"/>
          <p:cNvSpPr txBox="true"/>
          <p:nvPr/>
        </p:nvSpPr>
        <p:spPr>
          <a:xfrm rot="0">
            <a:off x="8754640" y="6981085"/>
            <a:ext cx="3651228"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Multiprocesador</a:t>
            </a:r>
          </a:p>
        </p:txBody>
      </p:sp>
      <p:grpSp>
        <p:nvGrpSpPr>
          <p:cNvPr name="Group 25" id="25"/>
          <p:cNvGrpSpPr/>
          <p:nvPr/>
        </p:nvGrpSpPr>
        <p:grpSpPr>
          <a:xfrm rot="0">
            <a:off x="12786539" y="3824505"/>
            <a:ext cx="1797961" cy="771525"/>
            <a:chOff x="0" y="0"/>
            <a:chExt cx="947074" cy="406400"/>
          </a:xfrm>
        </p:grpSpPr>
        <p:sp>
          <p:nvSpPr>
            <p:cNvPr name="Freeform 26" id="26"/>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27" id="27"/>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grpSp>
        <p:nvGrpSpPr>
          <p:cNvPr name="Group 28" id="28"/>
          <p:cNvGrpSpPr/>
          <p:nvPr/>
        </p:nvGrpSpPr>
        <p:grpSpPr>
          <a:xfrm rot="0">
            <a:off x="12786539" y="4833767"/>
            <a:ext cx="1797961" cy="771525"/>
            <a:chOff x="0" y="0"/>
            <a:chExt cx="947074" cy="406400"/>
          </a:xfrm>
        </p:grpSpPr>
        <p:sp>
          <p:nvSpPr>
            <p:cNvPr name="Freeform 29" id="29"/>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0" id="30"/>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grpSp>
        <p:nvGrpSpPr>
          <p:cNvPr name="Group 31" id="31"/>
          <p:cNvGrpSpPr/>
          <p:nvPr/>
        </p:nvGrpSpPr>
        <p:grpSpPr>
          <a:xfrm rot="0">
            <a:off x="12786539" y="5843029"/>
            <a:ext cx="1797961" cy="771525"/>
            <a:chOff x="0" y="0"/>
            <a:chExt cx="947074" cy="406400"/>
          </a:xfrm>
        </p:grpSpPr>
        <p:sp>
          <p:nvSpPr>
            <p:cNvPr name="Freeform 32" id="32"/>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3" id="33"/>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grpSp>
        <p:nvGrpSpPr>
          <p:cNvPr name="Group 34" id="34"/>
          <p:cNvGrpSpPr/>
          <p:nvPr/>
        </p:nvGrpSpPr>
        <p:grpSpPr>
          <a:xfrm rot="0">
            <a:off x="12786539" y="6852292"/>
            <a:ext cx="1797961" cy="771525"/>
            <a:chOff x="0" y="0"/>
            <a:chExt cx="947074" cy="406400"/>
          </a:xfrm>
        </p:grpSpPr>
        <p:sp>
          <p:nvSpPr>
            <p:cNvPr name="Freeform 35" id="35"/>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36" id="36"/>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sp>
        <p:nvSpPr>
          <p:cNvPr name="TextBox 37" id="37"/>
          <p:cNvSpPr txBox="true"/>
          <p:nvPr/>
        </p:nvSpPr>
        <p:spPr>
          <a:xfrm rot="0">
            <a:off x="13240452" y="3962937"/>
            <a:ext cx="890134" cy="447035"/>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01.</a:t>
            </a:r>
          </a:p>
        </p:txBody>
      </p:sp>
      <p:sp>
        <p:nvSpPr>
          <p:cNvPr name="TextBox 38" id="38"/>
          <p:cNvSpPr txBox="true"/>
          <p:nvPr/>
        </p:nvSpPr>
        <p:spPr>
          <a:xfrm rot="0">
            <a:off x="13240452" y="4972200"/>
            <a:ext cx="890134" cy="447035"/>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02.</a:t>
            </a:r>
          </a:p>
        </p:txBody>
      </p:sp>
      <p:sp>
        <p:nvSpPr>
          <p:cNvPr name="TextBox 39" id="39"/>
          <p:cNvSpPr txBox="true"/>
          <p:nvPr/>
        </p:nvSpPr>
        <p:spPr>
          <a:xfrm rot="0">
            <a:off x="13240452" y="5977507"/>
            <a:ext cx="890134" cy="447035"/>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03.</a:t>
            </a:r>
          </a:p>
        </p:txBody>
      </p:sp>
      <p:sp>
        <p:nvSpPr>
          <p:cNvPr name="TextBox 40" id="40"/>
          <p:cNvSpPr txBox="true"/>
          <p:nvPr/>
        </p:nvSpPr>
        <p:spPr>
          <a:xfrm rot="0">
            <a:off x="13240452" y="6981085"/>
            <a:ext cx="890134" cy="447035"/>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04.</a:t>
            </a:r>
          </a:p>
        </p:txBody>
      </p:sp>
      <p:grpSp>
        <p:nvGrpSpPr>
          <p:cNvPr name="Group 41" id="41"/>
          <p:cNvGrpSpPr/>
          <p:nvPr/>
        </p:nvGrpSpPr>
        <p:grpSpPr>
          <a:xfrm rot="0">
            <a:off x="8213920" y="7814704"/>
            <a:ext cx="6389629" cy="771525"/>
            <a:chOff x="0" y="0"/>
            <a:chExt cx="3365731" cy="406400"/>
          </a:xfrm>
        </p:grpSpPr>
        <p:sp>
          <p:nvSpPr>
            <p:cNvPr name="Freeform 42" id="42"/>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43" id="43"/>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grpSp>
        <p:nvGrpSpPr>
          <p:cNvPr name="Group 44" id="44"/>
          <p:cNvGrpSpPr/>
          <p:nvPr/>
        </p:nvGrpSpPr>
        <p:grpSpPr>
          <a:xfrm rot="0">
            <a:off x="8213920" y="8823615"/>
            <a:ext cx="6389629" cy="771525"/>
            <a:chOff x="0" y="0"/>
            <a:chExt cx="3365731" cy="406400"/>
          </a:xfrm>
        </p:grpSpPr>
        <p:sp>
          <p:nvSpPr>
            <p:cNvPr name="Freeform 45" id="45"/>
            <p:cNvSpPr/>
            <p:nvPr/>
          </p:nvSpPr>
          <p:spPr>
            <a:xfrm flipH="false" flipV="false" rot="0">
              <a:off x="0" y="0"/>
              <a:ext cx="3365731" cy="406400"/>
            </a:xfrm>
            <a:custGeom>
              <a:avLst/>
              <a:gdLst/>
              <a:ahLst/>
              <a:cxnLst/>
              <a:rect r="r" b="b" t="t" l="l"/>
              <a:pathLst>
                <a:path h="406400" w="3365731">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9FCDFF">
                    <a:alpha val="0"/>
                  </a:srgbClr>
                </a:gs>
                <a:gs pos="100000">
                  <a:srgbClr val="3964CD">
                    <a:alpha val="100000"/>
                  </a:srgbClr>
                </a:gs>
              </a:gsLst>
              <a:lin ang="0"/>
            </a:gradFill>
            <a:ln w="47625" cap="sq">
              <a:solidFill>
                <a:srgbClr val="FFFFFF"/>
              </a:solidFill>
              <a:prstDash val="solid"/>
              <a:miter/>
            </a:ln>
          </p:spPr>
        </p:sp>
        <p:sp>
          <p:nvSpPr>
            <p:cNvPr name="TextBox 46" id="46"/>
            <p:cNvSpPr txBox="true"/>
            <p:nvPr/>
          </p:nvSpPr>
          <p:spPr>
            <a:xfrm>
              <a:off x="0" y="-28575"/>
              <a:ext cx="3365731" cy="434975"/>
            </a:xfrm>
            <a:prstGeom prst="rect">
              <a:avLst/>
            </a:prstGeom>
          </p:spPr>
          <p:txBody>
            <a:bodyPr anchor="ctr" rtlCol="false" tIns="50800" lIns="50800" bIns="50800" rIns="50800"/>
            <a:lstStyle/>
            <a:p>
              <a:pPr algn="ctr">
                <a:lnSpc>
                  <a:spcPts val="2487"/>
                </a:lnSpc>
              </a:pPr>
            </a:p>
          </p:txBody>
        </p:sp>
      </p:grpSp>
      <p:sp>
        <p:nvSpPr>
          <p:cNvPr name="TextBox 47" id="47"/>
          <p:cNvSpPr txBox="true"/>
          <p:nvPr/>
        </p:nvSpPr>
        <p:spPr>
          <a:xfrm rot="0">
            <a:off x="8773690" y="7958319"/>
            <a:ext cx="3272563"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Distribuidos</a:t>
            </a:r>
          </a:p>
        </p:txBody>
      </p:sp>
      <p:sp>
        <p:nvSpPr>
          <p:cNvPr name="TextBox 48" id="48"/>
          <p:cNvSpPr txBox="true"/>
          <p:nvPr/>
        </p:nvSpPr>
        <p:spPr>
          <a:xfrm rot="0">
            <a:off x="8773690" y="8952372"/>
            <a:ext cx="3651228" cy="447018"/>
          </a:xfrm>
          <a:prstGeom prst="rect">
            <a:avLst/>
          </a:prstGeom>
        </p:spPr>
        <p:txBody>
          <a:bodyPr anchor="t" rtlCol="false" tIns="0" lIns="0" bIns="0" rIns="0">
            <a:spAutoFit/>
          </a:bodyPr>
          <a:lstStyle/>
          <a:p>
            <a:pPr algn="l">
              <a:lnSpc>
                <a:spcPts val="3711"/>
              </a:lnSpc>
              <a:spcBef>
                <a:spcPct val="0"/>
              </a:spcBef>
            </a:pPr>
            <a:r>
              <a:rPr lang="en-US" b="true" sz="2650" spc="-121">
                <a:solidFill>
                  <a:srgbClr val="EBF5FE"/>
                </a:solidFill>
                <a:latin typeface="Garet Bold"/>
                <a:ea typeface="Garet Bold"/>
                <a:cs typeface="Garet Bold"/>
                <a:sym typeface="Garet Bold"/>
              </a:rPr>
              <a:t>De Red</a:t>
            </a:r>
          </a:p>
        </p:txBody>
      </p:sp>
      <p:grpSp>
        <p:nvGrpSpPr>
          <p:cNvPr name="Group 49" id="49"/>
          <p:cNvGrpSpPr/>
          <p:nvPr/>
        </p:nvGrpSpPr>
        <p:grpSpPr>
          <a:xfrm rot="0">
            <a:off x="12805589" y="7814317"/>
            <a:ext cx="1797961" cy="771525"/>
            <a:chOff x="0" y="0"/>
            <a:chExt cx="947074" cy="406400"/>
          </a:xfrm>
        </p:grpSpPr>
        <p:sp>
          <p:nvSpPr>
            <p:cNvPr name="Freeform 50" id="50"/>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51" id="51"/>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grpSp>
        <p:nvGrpSpPr>
          <p:cNvPr name="Group 52" id="52"/>
          <p:cNvGrpSpPr/>
          <p:nvPr/>
        </p:nvGrpSpPr>
        <p:grpSpPr>
          <a:xfrm rot="0">
            <a:off x="12805589" y="8823579"/>
            <a:ext cx="1797961" cy="771525"/>
            <a:chOff x="0" y="0"/>
            <a:chExt cx="947074" cy="406400"/>
          </a:xfrm>
        </p:grpSpPr>
        <p:sp>
          <p:nvSpPr>
            <p:cNvPr name="Freeform 53" id="53"/>
            <p:cNvSpPr/>
            <p:nvPr/>
          </p:nvSpPr>
          <p:spPr>
            <a:xfrm flipH="false" flipV="false" rot="0">
              <a:off x="0" y="0"/>
              <a:ext cx="947074" cy="406400"/>
            </a:xfrm>
            <a:custGeom>
              <a:avLst/>
              <a:gdLst/>
              <a:ahLst/>
              <a:cxnLst/>
              <a:rect r="r" b="b" t="t" l="l"/>
              <a:pathLst>
                <a:path h="406400" w="947074">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284FF">
                    <a:alpha val="100000"/>
                  </a:srgbClr>
                </a:gs>
                <a:gs pos="100000">
                  <a:srgbClr val="000422">
                    <a:alpha val="100000"/>
                  </a:srgbClr>
                </a:gs>
              </a:gsLst>
              <a:lin ang="0"/>
            </a:gradFill>
            <a:ln w="47625" cap="sq">
              <a:solidFill>
                <a:srgbClr val="FFFFFF"/>
              </a:solidFill>
              <a:prstDash val="solid"/>
              <a:miter/>
            </a:ln>
          </p:spPr>
        </p:sp>
        <p:sp>
          <p:nvSpPr>
            <p:cNvPr name="TextBox 54" id="54"/>
            <p:cNvSpPr txBox="true"/>
            <p:nvPr/>
          </p:nvSpPr>
          <p:spPr>
            <a:xfrm>
              <a:off x="0" y="-28575"/>
              <a:ext cx="947074" cy="434975"/>
            </a:xfrm>
            <a:prstGeom prst="rect">
              <a:avLst/>
            </a:prstGeom>
          </p:spPr>
          <p:txBody>
            <a:bodyPr anchor="ctr" rtlCol="false" tIns="50800" lIns="50800" bIns="50800" rIns="50800"/>
            <a:lstStyle/>
            <a:p>
              <a:pPr algn="ctr">
                <a:lnSpc>
                  <a:spcPts val="2487"/>
                </a:lnSpc>
              </a:pPr>
            </a:p>
          </p:txBody>
        </p:sp>
      </p:grpSp>
      <p:sp>
        <p:nvSpPr>
          <p:cNvPr name="TextBox 55" id="55"/>
          <p:cNvSpPr txBox="true"/>
          <p:nvPr/>
        </p:nvSpPr>
        <p:spPr>
          <a:xfrm rot="0">
            <a:off x="13259502" y="7948794"/>
            <a:ext cx="890134" cy="447018"/>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05.</a:t>
            </a:r>
          </a:p>
        </p:txBody>
      </p:sp>
      <p:sp>
        <p:nvSpPr>
          <p:cNvPr name="TextBox 56" id="56"/>
          <p:cNvSpPr txBox="true"/>
          <p:nvPr/>
        </p:nvSpPr>
        <p:spPr>
          <a:xfrm rot="0">
            <a:off x="13259502" y="8952372"/>
            <a:ext cx="890134" cy="447018"/>
          </a:xfrm>
          <a:prstGeom prst="rect">
            <a:avLst/>
          </a:prstGeom>
        </p:spPr>
        <p:txBody>
          <a:bodyPr anchor="t" rtlCol="false" tIns="0" lIns="0" bIns="0" rIns="0">
            <a:spAutoFit/>
          </a:bodyPr>
          <a:lstStyle/>
          <a:p>
            <a:pPr algn="ctr">
              <a:lnSpc>
                <a:spcPts val="3711"/>
              </a:lnSpc>
              <a:spcBef>
                <a:spcPct val="0"/>
              </a:spcBef>
            </a:pPr>
            <a:r>
              <a:rPr lang="en-US" b="true" sz="2650" spc="-121">
                <a:solidFill>
                  <a:srgbClr val="EBF5FE"/>
                </a:solidFill>
                <a:latin typeface="Garet Bold"/>
                <a:ea typeface="Garet Bold"/>
                <a:cs typeface="Garet Bold"/>
                <a:sym typeface="Garet Bold"/>
              </a:rPr>
              <a:t>06.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2720" y="6113680"/>
            <a:ext cx="6554968" cy="3256519"/>
          </a:xfrm>
          <a:custGeom>
            <a:avLst/>
            <a:gdLst/>
            <a:ahLst/>
            <a:cxnLst/>
            <a:rect r="r" b="b" t="t" l="l"/>
            <a:pathLst>
              <a:path h="3256519" w="6554968">
                <a:moveTo>
                  <a:pt x="0" y="0"/>
                </a:moveTo>
                <a:lnTo>
                  <a:pt x="6554968" y="0"/>
                </a:lnTo>
                <a:lnTo>
                  <a:pt x="6554968" y="3256520"/>
                </a:lnTo>
                <a:lnTo>
                  <a:pt x="0" y="3256520"/>
                </a:lnTo>
                <a:lnTo>
                  <a:pt x="0" y="0"/>
                </a:lnTo>
                <a:close/>
              </a:path>
            </a:pathLst>
          </a:custGeom>
          <a:blipFill>
            <a:blip r:embed="rId4"/>
            <a:stretch>
              <a:fillRect l="0" t="0" r="0" b="0"/>
            </a:stretch>
          </a:blipFill>
        </p:spPr>
      </p:sp>
      <p:sp>
        <p:nvSpPr>
          <p:cNvPr name="TextBox 4" id="4"/>
          <p:cNvSpPr txBox="true"/>
          <p:nvPr/>
        </p:nvSpPr>
        <p:spPr>
          <a:xfrm rot="0">
            <a:off x="1962522" y="1999153"/>
            <a:ext cx="6535166" cy="771017"/>
          </a:xfrm>
          <a:prstGeom prst="rect">
            <a:avLst/>
          </a:prstGeom>
        </p:spPr>
        <p:txBody>
          <a:bodyPr anchor="t" rtlCol="false" tIns="0" lIns="0" bIns="0" rIns="0">
            <a:spAutoFit/>
          </a:bodyPr>
          <a:lstStyle/>
          <a:p>
            <a:pPr algn="l">
              <a:lnSpc>
                <a:spcPts val="6328"/>
              </a:lnSpc>
              <a:spcBef>
                <a:spcPct val="0"/>
              </a:spcBef>
            </a:pPr>
            <a:r>
              <a:rPr lang="en-US" b="true" sz="4520" spc="-207">
                <a:solidFill>
                  <a:srgbClr val="EBF5FE"/>
                </a:solidFill>
                <a:latin typeface="Garet Bold"/>
                <a:ea typeface="Garet Bold"/>
                <a:cs typeface="Garet Bold"/>
                <a:sym typeface="Garet Bold"/>
              </a:rPr>
              <a:t>POR LOTES</a:t>
            </a:r>
          </a:p>
        </p:txBody>
      </p:sp>
      <p:sp>
        <p:nvSpPr>
          <p:cNvPr name="TextBox 5" id="5"/>
          <p:cNvSpPr txBox="true"/>
          <p:nvPr/>
        </p:nvSpPr>
        <p:spPr>
          <a:xfrm rot="0">
            <a:off x="1922918" y="3090683"/>
            <a:ext cx="6574771" cy="2223135"/>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Diseñado par</a:t>
            </a:r>
            <a:r>
              <a:rPr lang="en-US" sz="2099" spc="-96">
                <a:solidFill>
                  <a:srgbClr val="EBF5FE"/>
                </a:solidFill>
                <a:latin typeface="Garet"/>
                <a:ea typeface="Garet"/>
                <a:cs typeface="Garet"/>
                <a:sym typeface="Garet"/>
              </a:rPr>
              <a:t>a</a:t>
            </a:r>
            <a:r>
              <a:rPr lang="en-US" sz="2099" spc="-96">
                <a:solidFill>
                  <a:srgbClr val="EBF5FE"/>
                </a:solidFill>
                <a:latin typeface="Garet"/>
                <a:ea typeface="Garet"/>
                <a:cs typeface="Garet"/>
                <a:sym typeface="Garet"/>
              </a:rPr>
              <a:t> ge</a:t>
            </a:r>
            <a:r>
              <a:rPr lang="en-US" sz="2099" spc="-96">
                <a:solidFill>
                  <a:srgbClr val="EBF5FE"/>
                </a:solidFill>
                <a:latin typeface="Garet"/>
                <a:ea typeface="Garet"/>
                <a:cs typeface="Garet"/>
                <a:sym typeface="Garet"/>
              </a:rPr>
              <a:t>s</a:t>
            </a:r>
            <a:r>
              <a:rPr lang="en-US" sz="2099" spc="-96">
                <a:solidFill>
                  <a:srgbClr val="EBF5FE"/>
                </a:solidFill>
                <a:latin typeface="Garet"/>
                <a:ea typeface="Garet"/>
                <a:cs typeface="Garet"/>
                <a:sym typeface="Garet"/>
              </a:rPr>
              <a:t>tionar </a:t>
            </a:r>
            <a:r>
              <a:rPr lang="en-US" sz="2099" spc="-96">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e form</a:t>
            </a:r>
            <a:r>
              <a:rPr lang="en-US" sz="2099" spc="-96">
                <a:solidFill>
                  <a:srgbClr val="EBF5FE"/>
                </a:solidFill>
                <a:latin typeface="Garet"/>
                <a:ea typeface="Garet"/>
                <a:cs typeface="Garet"/>
                <a:sym typeface="Garet"/>
              </a:rPr>
              <a:t>a</a:t>
            </a:r>
            <a:r>
              <a:rPr lang="en-US" sz="2099" spc="-96">
                <a:solidFill>
                  <a:srgbClr val="EBF5FE"/>
                </a:solidFill>
                <a:latin typeface="Garet"/>
                <a:ea typeface="Garet"/>
                <a:cs typeface="Garet"/>
                <a:sym typeface="Garet"/>
              </a:rPr>
              <a:t> eficiente gran</a:t>
            </a:r>
            <a:r>
              <a:rPr lang="en-US" sz="2099" spc="-96">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es grupos de tare</a:t>
            </a:r>
            <a:r>
              <a:rPr lang="en-US" sz="2099" spc="-96">
                <a:solidFill>
                  <a:srgbClr val="EBF5FE"/>
                </a:solidFill>
                <a:latin typeface="Garet"/>
                <a:ea typeface="Garet"/>
                <a:cs typeface="Garet"/>
                <a:sym typeface="Garet"/>
              </a:rPr>
              <a:t>as</a:t>
            </a:r>
            <a:r>
              <a:rPr lang="en-US" sz="2099" spc="-96">
                <a:solidFill>
                  <a:srgbClr val="EBF5FE"/>
                </a:solidFill>
                <a:latin typeface="Garet"/>
                <a:ea typeface="Garet"/>
                <a:cs typeface="Garet"/>
                <a:sym typeface="Garet"/>
              </a:rPr>
              <a:t> similares. </a:t>
            </a:r>
            <a:r>
              <a:rPr lang="en-US" sz="2099" spc="-96">
                <a:solidFill>
                  <a:srgbClr val="EBF5FE"/>
                </a:solidFill>
                <a:latin typeface="Garet"/>
                <a:ea typeface="Garet"/>
                <a:cs typeface="Garet"/>
                <a:sym typeface="Garet"/>
              </a:rPr>
              <a:t>N</a:t>
            </a:r>
            <a:r>
              <a:rPr lang="en-US" sz="2099" spc="-96">
                <a:solidFill>
                  <a:srgbClr val="EBF5FE"/>
                </a:solidFill>
                <a:latin typeface="Garet"/>
                <a:ea typeface="Garet"/>
                <a:cs typeface="Garet"/>
                <a:sym typeface="Garet"/>
              </a:rPr>
              <a:t>o inter</a:t>
            </a:r>
            <a:r>
              <a:rPr lang="en-US" sz="2099" spc="-96">
                <a:solidFill>
                  <a:srgbClr val="EBF5FE"/>
                </a:solidFill>
                <a:latin typeface="Garet"/>
                <a:ea typeface="Garet"/>
                <a:cs typeface="Garet"/>
                <a:sym typeface="Garet"/>
              </a:rPr>
              <a:t>a</a:t>
            </a:r>
            <a:r>
              <a:rPr lang="en-US" sz="2099" spc="-96">
                <a:solidFill>
                  <a:srgbClr val="EBF5FE"/>
                </a:solidFill>
                <a:latin typeface="Garet"/>
                <a:ea typeface="Garet"/>
                <a:cs typeface="Garet"/>
                <a:sym typeface="Garet"/>
              </a:rPr>
              <a:t>ctúa directamente con el ordenador, </a:t>
            </a:r>
            <a:r>
              <a:rPr lang="en-US" sz="2099" spc="-96">
                <a:solidFill>
                  <a:srgbClr val="EBF5FE"/>
                </a:solidFill>
                <a:latin typeface="Garet"/>
                <a:ea typeface="Garet"/>
                <a:cs typeface="Garet"/>
                <a:sym typeface="Garet"/>
              </a:rPr>
              <a:t>s</a:t>
            </a:r>
            <a:r>
              <a:rPr lang="en-US" sz="2099" spc="-96">
                <a:solidFill>
                  <a:srgbClr val="EBF5FE"/>
                </a:solidFill>
                <a:latin typeface="Garet"/>
                <a:ea typeface="Garet"/>
                <a:cs typeface="Garet"/>
                <a:sym typeface="Garet"/>
              </a:rPr>
              <a:t>ino que procesa tareas agrupa</a:t>
            </a:r>
            <a:r>
              <a:rPr lang="en-US" sz="2099" spc="-96">
                <a:solidFill>
                  <a:srgbClr val="EBF5FE"/>
                </a:solidFill>
                <a:latin typeface="Garet"/>
                <a:ea typeface="Garet"/>
                <a:cs typeface="Garet"/>
                <a:sym typeface="Garet"/>
              </a:rPr>
              <a:t>das</a:t>
            </a:r>
            <a:r>
              <a:rPr lang="en-US" sz="2099" spc="-96">
                <a:solidFill>
                  <a:srgbClr val="EBF5FE"/>
                </a:solidFill>
                <a:latin typeface="Garet"/>
                <a:ea typeface="Garet"/>
                <a:cs typeface="Garet"/>
                <a:sym typeface="Garet"/>
              </a:rPr>
              <a:t> por un opera</a:t>
            </a:r>
            <a:r>
              <a:rPr lang="en-US" sz="2099" spc="-96">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or. Est</a:t>
            </a:r>
            <a:r>
              <a:rPr lang="en-US" sz="2099" spc="-96">
                <a:solidFill>
                  <a:srgbClr val="EBF5FE"/>
                </a:solidFill>
                <a:latin typeface="Garet"/>
                <a:ea typeface="Garet"/>
                <a:cs typeface="Garet"/>
                <a:sym typeface="Garet"/>
              </a:rPr>
              <a:t>as</a:t>
            </a:r>
            <a:r>
              <a:rPr lang="en-US" sz="2099" spc="-96">
                <a:solidFill>
                  <a:srgbClr val="EBF5FE"/>
                </a:solidFill>
                <a:latin typeface="Garet"/>
                <a:ea typeface="Garet"/>
                <a:cs typeface="Garet"/>
                <a:sym typeface="Garet"/>
              </a:rPr>
              <a:t> tareas se ponen en cola y se ejecutan una tras otra, sin intervención </a:t>
            </a:r>
            <a:r>
              <a:rPr lang="en-US" sz="2099" spc="-96">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el usuario durante el proceso.</a:t>
            </a:r>
          </a:p>
        </p:txBody>
      </p:sp>
      <p:sp>
        <p:nvSpPr>
          <p:cNvPr name="TextBox 6" id="6"/>
          <p:cNvSpPr txBox="true"/>
          <p:nvPr/>
        </p:nvSpPr>
        <p:spPr>
          <a:xfrm rot="0">
            <a:off x="9968398" y="795972"/>
            <a:ext cx="6574771" cy="901890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El sistema minimiza el tiempo de inactividad procesando las tareas de forma continua y sin intervención humana.</a:t>
            </a:r>
          </a:p>
          <a:p>
            <a:pPr algn="l" marL="453388" indent="-226694" lvl="1">
              <a:lnSpc>
                <a:spcPts val="2939"/>
              </a:lnSpc>
              <a:buFont typeface="Arial"/>
              <a:buChar char="•"/>
            </a:pPr>
            <a:r>
              <a:rPr lang="en-US" sz="2099" spc="-96">
                <a:solidFill>
                  <a:srgbClr val="EBF5FE"/>
                </a:solidFill>
                <a:latin typeface="Garet"/>
                <a:ea typeface="Garet"/>
                <a:cs typeface="Garet"/>
                <a:sym typeface="Garet"/>
              </a:rPr>
              <a:t>Ideal para gestionar tareas grandes y repetitivas, como la nómina y la facturación, con un mínimo esfuerzo.</a:t>
            </a:r>
          </a:p>
          <a:p>
            <a:pPr algn="l" marL="453388" indent="-226694" lvl="1">
              <a:lnSpc>
                <a:spcPts val="2939"/>
              </a:lnSpc>
              <a:buFont typeface="Arial"/>
              <a:buChar char="•"/>
            </a:pPr>
            <a:r>
              <a:rPr lang="en-US" sz="2099" spc="-96">
                <a:solidFill>
                  <a:srgbClr val="EBF5FE"/>
                </a:solidFill>
                <a:latin typeface="Garet"/>
                <a:ea typeface="Garet"/>
                <a:cs typeface="Garet"/>
                <a:sym typeface="Garet"/>
              </a:rPr>
              <a:t>Los sistemas de procesamiento por lotes pueden gestionar grandes volúmenes de trabajos simultáneamente, lo que mejora el rendimiento general del sistema.</a:t>
            </a: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Cuando una tarea está esperando entrada/salida (E/S), la CPU permanece inactiva, lo que conlleva una mala utilización de los recursos.</a:t>
            </a:r>
          </a:p>
          <a:p>
            <a:pPr algn="l" marL="453388" indent="-226694" lvl="1">
              <a:lnSpc>
                <a:spcPts val="2939"/>
              </a:lnSpc>
              <a:buFont typeface="Arial"/>
              <a:buChar char="•"/>
            </a:pPr>
            <a:r>
              <a:rPr lang="en-US" sz="2099" spc="-96">
                <a:solidFill>
                  <a:srgbClr val="EBF5FE"/>
                </a:solidFill>
                <a:latin typeface="Garet"/>
                <a:ea typeface="Garet"/>
                <a:cs typeface="Garet"/>
                <a:sym typeface="Garet"/>
              </a:rPr>
              <a:t>El tiempo entre el envío del trabajo y la obtención del resultado puede ser elevado, ya que todos los trabajos se procesan de forma secuencial.</a:t>
            </a:r>
          </a:p>
          <a:p>
            <a:pPr algn="l" marL="453388" indent="-226694" lvl="1">
              <a:lnSpc>
                <a:spcPts val="2939"/>
              </a:lnSpc>
              <a:buFont typeface="Arial"/>
              <a:buChar char="•"/>
            </a:pPr>
            <a:r>
              <a:rPr lang="en-US" sz="2099" spc="-96">
                <a:solidFill>
                  <a:srgbClr val="EBF5FE"/>
                </a:solidFill>
                <a:latin typeface="Garet"/>
                <a:ea typeface="Garet"/>
                <a:cs typeface="Garet"/>
                <a:sym typeface="Garet"/>
              </a:rPr>
              <a:t>Los usuarios no pueden interactuar con el sistema en tiempo real, lo que lo hace menos adecuado para tareas interactivas.</a:t>
            </a:r>
          </a:p>
          <a:p>
            <a:pPr algn="just">
              <a:lnSpc>
                <a:spcPts val="321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22918" y="5849000"/>
            <a:ext cx="6554968" cy="3594660"/>
          </a:xfrm>
          <a:custGeom>
            <a:avLst/>
            <a:gdLst/>
            <a:ahLst/>
            <a:cxnLst/>
            <a:rect r="r" b="b" t="t" l="l"/>
            <a:pathLst>
              <a:path h="3594660" w="6554968">
                <a:moveTo>
                  <a:pt x="0" y="0"/>
                </a:moveTo>
                <a:lnTo>
                  <a:pt x="6554968" y="0"/>
                </a:lnTo>
                <a:lnTo>
                  <a:pt x="6554968" y="3594660"/>
                </a:lnTo>
                <a:lnTo>
                  <a:pt x="0" y="3594660"/>
                </a:lnTo>
                <a:lnTo>
                  <a:pt x="0" y="0"/>
                </a:lnTo>
                <a:close/>
              </a:path>
            </a:pathLst>
          </a:custGeom>
          <a:blipFill>
            <a:blip r:embed="rId4"/>
            <a:stretch>
              <a:fillRect l="0" t="0" r="0" b="0"/>
            </a:stretch>
          </a:blipFill>
        </p:spPr>
      </p:sp>
      <p:sp>
        <p:nvSpPr>
          <p:cNvPr name="TextBox 4" id="4"/>
          <p:cNvSpPr txBox="true"/>
          <p:nvPr/>
        </p:nvSpPr>
        <p:spPr>
          <a:xfrm rot="0">
            <a:off x="1942720" y="1748468"/>
            <a:ext cx="6535166" cy="771090"/>
          </a:xfrm>
          <a:prstGeom prst="rect">
            <a:avLst/>
          </a:prstGeom>
        </p:spPr>
        <p:txBody>
          <a:bodyPr anchor="t" rtlCol="false" tIns="0" lIns="0" bIns="0" rIns="0">
            <a:spAutoFit/>
          </a:bodyPr>
          <a:lstStyle/>
          <a:p>
            <a:pPr algn="l">
              <a:lnSpc>
                <a:spcPts val="6324"/>
              </a:lnSpc>
              <a:spcBef>
                <a:spcPct val="0"/>
              </a:spcBef>
            </a:pPr>
            <a:r>
              <a:rPr lang="en-US" b="true" sz="4517" spc="-207">
                <a:solidFill>
                  <a:srgbClr val="EBF5FE"/>
                </a:solidFill>
                <a:latin typeface="Garet Bold"/>
                <a:ea typeface="Garet Bold"/>
                <a:cs typeface="Garet Bold"/>
                <a:sym typeface="Garet Bold"/>
              </a:rPr>
              <a:t>MULTIPROGRAMACIÓN</a:t>
            </a:r>
          </a:p>
        </p:txBody>
      </p:sp>
      <p:sp>
        <p:nvSpPr>
          <p:cNvPr name="TextBox 5" id="5"/>
          <p:cNvSpPr txBox="true"/>
          <p:nvPr/>
        </p:nvSpPr>
        <p:spPr>
          <a:xfrm rot="0">
            <a:off x="1922918" y="3090683"/>
            <a:ext cx="6574771" cy="1851660"/>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En este tipo, varios progr</a:t>
            </a:r>
            <a:r>
              <a:rPr lang="en-US" sz="2099" spc="-96">
                <a:solidFill>
                  <a:srgbClr val="EBF5FE"/>
                </a:solidFill>
                <a:latin typeface="Garet"/>
                <a:ea typeface="Garet"/>
                <a:cs typeface="Garet"/>
                <a:sym typeface="Garet"/>
              </a:rPr>
              <a:t>a</a:t>
            </a:r>
            <a:r>
              <a:rPr lang="en-US" sz="2099" spc="-96">
                <a:solidFill>
                  <a:srgbClr val="EBF5FE"/>
                </a:solidFill>
                <a:latin typeface="Garet"/>
                <a:ea typeface="Garet"/>
                <a:cs typeface="Garet"/>
                <a:sym typeface="Garet"/>
              </a:rPr>
              <a:t>mas se ejecutan simultáneamente en la memoria. La CPU alterna entre los program</a:t>
            </a:r>
            <a:r>
              <a:rPr lang="en-US" sz="2099" spc="-96">
                <a:solidFill>
                  <a:srgbClr val="EBF5FE"/>
                </a:solidFill>
                <a:latin typeface="Garet"/>
                <a:ea typeface="Garet"/>
                <a:cs typeface="Garet"/>
                <a:sym typeface="Garet"/>
              </a:rPr>
              <a:t>as,</a:t>
            </a:r>
            <a:r>
              <a:rPr lang="en-US" sz="2099" spc="-96">
                <a:solidFill>
                  <a:srgbClr val="EBF5FE"/>
                </a:solidFill>
                <a:latin typeface="Garet"/>
                <a:ea typeface="Garet"/>
                <a:cs typeface="Garet"/>
                <a:sym typeface="Garet"/>
              </a:rPr>
              <a:t> utilizan</a:t>
            </a:r>
            <a:r>
              <a:rPr lang="en-US" sz="2099" spc="-96">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o su</a:t>
            </a:r>
            <a:r>
              <a:rPr lang="en-US" sz="2099" spc="-96">
                <a:solidFill>
                  <a:srgbClr val="EBF5FE"/>
                </a:solidFill>
                <a:latin typeface="Garet"/>
                <a:ea typeface="Garet"/>
                <a:cs typeface="Garet"/>
                <a:sym typeface="Garet"/>
              </a:rPr>
              <a:t>s</a:t>
            </a:r>
            <a:r>
              <a:rPr lang="en-US" sz="2099" spc="-96">
                <a:solidFill>
                  <a:srgbClr val="EBF5FE"/>
                </a:solidFill>
                <a:latin typeface="Garet"/>
                <a:ea typeface="Garet"/>
                <a:cs typeface="Garet"/>
                <a:sym typeface="Garet"/>
              </a:rPr>
              <a:t> recursos de forma más eficaz y mejorando el ren</a:t>
            </a:r>
            <a:r>
              <a:rPr lang="en-US" sz="2099" spc="-96">
                <a:solidFill>
                  <a:srgbClr val="EBF5FE"/>
                </a:solidFill>
                <a:latin typeface="Garet"/>
                <a:ea typeface="Garet"/>
                <a:cs typeface="Garet"/>
                <a:sym typeface="Garet"/>
              </a:rPr>
              <a:t>dim</a:t>
            </a:r>
            <a:r>
              <a:rPr lang="en-US" sz="2099" spc="-96">
                <a:solidFill>
                  <a:srgbClr val="EBF5FE"/>
                </a:solidFill>
                <a:latin typeface="Garet"/>
                <a:ea typeface="Garet"/>
                <a:cs typeface="Garet"/>
                <a:sym typeface="Garet"/>
              </a:rPr>
              <a:t>iento general del sistema.</a:t>
            </a:r>
          </a:p>
        </p:txBody>
      </p:sp>
      <p:sp>
        <p:nvSpPr>
          <p:cNvPr name="TextBox 6" id="6"/>
          <p:cNvSpPr txBox="true"/>
          <p:nvPr/>
        </p:nvSpPr>
        <p:spPr>
          <a:xfrm rot="0">
            <a:off x="9898131" y="1927101"/>
            <a:ext cx="6574771" cy="7161530"/>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La</a:t>
            </a:r>
            <a:r>
              <a:rPr lang="en-US" sz="2099" spc="-96">
                <a:solidFill>
                  <a:srgbClr val="EBF5FE"/>
                </a:solidFill>
                <a:latin typeface="Garet"/>
                <a:ea typeface="Garet"/>
                <a:cs typeface="Garet"/>
                <a:sym typeface="Garet"/>
              </a:rPr>
              <a:t> CPU se mantiene ocupada cambiando a otra tarea durante la espera de E/S.</a:t>
            </a:r>
          </a:p>
          <a:p>
            <a:pPr algn="l" marL="453388" indent="-226694" lvl="1">
              <a:lnSpc>
                <a:spcPts val="2939"/>
              </a:lnSpc>
              <a:buFont typeface="Arial"/>
              <a:buChar char="•"/>
            </a:pPr>
            <a:r>
              <a:rPr lang="en-US" sz="2099" spc="-96">
                <a:solidFill>
                  <a:srgbClr val="EBF5FE"/>
                </a:solidFill>
                <a:latin typeface="Garet"/>
                <a:ea typeface="Garet"/>
                <a:cs typeface="Garet"/>
                <a:sym typeface="Garet"/>
              </a:rPr>
              <a:t>S</a:t>
            </a:r>
            <a:r>
              <a:rPr lang="en-US" sz="2099" spc="-96">
                <a:solidFill>
                  <a:srgbClr val="EBF5FE"/>
                </a:solidFill>
                <a:latin typeface="Garet"/>
                <a:ea typeface="Garet"/>
                <a:cs typeface="Garet"/>
                <a:sym typeface="Garet"/>
              </a:rPr>
              <a:t>e ejecutan varios trabajos simultáneamente, lo que aumenta el trabajo realizado por unidad de tiempo.</a:t>
            </a:r>
          </a:p>
          <a:p>
            <a:pPr algn="l" marL="453388" indent="-226694" lvl="1">
              <a:lnSpc>
                <a:spcPts val="2939"/>
              </a:lnSpc>
              <a:buFont typeface="Arial"/>
              <a:buChar char="•"/>
            </a:pPr>
            <a:r>
              <a:rPr lang="en-US" sz="2099" spc="-96">
                <a:solidFill>
                  <a:srgbClr val="EBF5FE"/>
                </a:solidFill>
                <a:latin typeface="Garet"/>
                <a:ea typeface="Garet"/>
                <a:cs typeface="Garet"/>
                <a:sym typeface="Garet"/>
              </a:rPr>
              <a:t>La CPU, la memoria y los dispositivos de E/S se comparten de forma eficaz entre los procesos.</a:t>
            </a:r>
          </a:p>
          <a:p>
            <a:pPr algn="l">
              <a:lnSpc>
                <a:spcPts val="2939"/>
              </a:lnSpc>
            </a:pP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Req</a:t>
            </a:r>
            <a:r>
              <a:rPr lang="en-US" sz="2099" spc="-96">
                <a:solidFill>
                  <a:srgbClr val="EBF5FE"/>
                </a:solidFill>
                <a:latin typeface="Garet"/>
                <a:ea typeface="Garet"/>
                <a:cs typeface="Garet"/>
                <a:sym typeface="Garet"/>
              </a:rPr>
              <a:t>uiere una gestión de memoria y una planificación de CPU avanzadas.</a:t>
            </a:r>
          </a:p>
          <a:p>
            <a:pPr algn="l" marL="453388" indent="-226694" lvl="1">
              <a:lnSpc>
                <a:spcPts val="2939"/>
              </a:lnSpc>
              <a:buFont typeface="Arial"/>
              <a:buChar char="•"/>
            </a:pPr>
            <a:r>
              <a:rPr lang="en-US" sz="2099" spc="-96">
                <a:solidFill>
                  <a:srgbClr val="EBF5FE"/>
                </a:solidFill>
                <a:latin typeface="Garet"/>
                <a:ea typeface="Garet"/>
                <a:cs typeface="Garet"/>
                <a:sym typeface="Garet"/>
              </a:rPr>
              <a:t>Cuantos más programas haya en la memoria, mayores serán las posibilidades de acceso no autorizado.</a:t>
            </a:r>
          </a:p>
          <a:p>
            <a:pPr algn="l" marL="453388" indent="-226694" lvl="1">
              <a:lnSpc>
                <a:spcPts val="2939"/>
              </a:lnSpc>
              <a:buFont typeface="Arial"/>
              <a:buChar char="•"/>
            </a:pPr>
            <a:r>
              <a:rPr lang="en-US" sz="2099" spc="-96">
                <a:solidFill>
                  <a:srgbClr val="EBF5FE"/>
                </a:solidFill>
                <a:latin typeface="Garet"/>
                <a:ea typeface="Garet"/>
                <a:cs typeface="Garet"/>
                <a:sym typeface="Garet"/>
              </a:rPr>
              <a:t>Necesita mayor cantidad de RAM para ejecutar varios programas simultáneamente.</a:t>
            </a:r>
          </a:p>
          <a:p>
            <a:pPr algn="just">
              <a:lnSpc>
                <a:spcPts val="321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22918" y="5853059"/>
            <a:ext cx="6554968" cy="3749724"/>
          </a:xfrm>
          <a:custGeom>
            <a:avLst/>
            <a:gdLst/>
            <a:ahLst/>
            <a:cxnLst/>
            <a:rect r="r" b="b" t="t" l="l"/>
            <a:pathLst>
              <a:path h="3749724" w="6554968">
                <a:moveTo>
                  <a:pt x="0" y="0"/>
                </a:moveTo>
                <a:lnTo>
                  <a:pt x="6554968" y="0"/>
                </a:lnTo>
                <a:lnTo>
                  <a:pt x="6554968" y="3749724"/>
                </a:lnTo>
                <a:lnTo>
                  <a:pt x="0" y="3749724"/>
                </a:lnTo>
                <a:lnTo>
                  <a:pt x="0" y="0"/>
                </a:lnTo>
                <a:close/>
              </a:path>
            </a:pathLst>
          </a:custGeom>
          <a:blipFill>
            <a:blip r:embed="rId4"/>
            <a:stretch>
              <a:fillRect l="0" t="0" r="0" b="0"/>
            </a:stretch>
          </a:blipFill>
        </p:spPr>
      </p:sp>
      <p:sp>
        <p:nvSpPr>
          <p:cNvPr name="TextBox 4" id="4"/>
          <p:cNvSpPr txBox="true"/>
          <p:nvPr/>
        </p:nvSpPr>
        <p:spPr>
          <a:xfrm rot="0">
            <a:off x="1942720" y="1748468"/>
            <a:ext cx="6535166" cy="771090"/>
          </a:xfrm>
          <a:prstGeom prst="rect">
            <a:avLst/>
          </a:prstGeom>
        </p:spPr>
        <p:txBody>
          <a:bodyPr anchor="t" rtlCol="false" tIns="0" lIns="0" bIns="0" rIns="0">
            <a:spAutoFit/>
          </a:bodyPr>
          <a:lstStyle/>
          <a:p>
            <a:pPr algn="l">
              <a:lnSpc>
                <a:spcPts val="6324"/>
              </a:lnSpc>
              <a:spcBef>
                <a:spcPct val="0"/>
              </a:spcBef>
            </a:pPr>
            <a:r>
              <a:rPr lang="en-US" b="true" sz="4517" spc="-207">
                <a:solidFill>
                  <a:srgbClr val="EBF5FE"/>
                </a:solidFill>
                <a:latin typeface="Garet Bold"/>
                <a:ea typeface="Garet Bold"/>
                <a:cs typeface="Garet Bold"/>
                <a:sym typeface="Garet Bold"/>
              </a:rPr>
              <a:t>MULTITAREA</a:t>
            </a:r>
          </a:p>
        </p:txBody>
      </p:sp>
      <p:sp>
        <p:nvSpPr>
          <p:cNvPr name="TextBox 5" id="5"/>
          <p:cNvSpPr txBox="true"/>
          <p:nvPr/>
        </p:nvSpPr>
        <p:spPr>
          <a:xfrm rot="0">
            <a:off x="1922918" y="2677424"/>
            <a:ext cx="6574771" cy="2966085"/>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Tipo de sistema de multiprogramación donde cada proceso se ejecuta de forma rotativa. Cada tarea dispone de un intervalo de tiempo fijo llamado “cuanto”. Una vez finalizado el cuanto, el sistema operativo p</a:t>
            </a:r>
            <a:r>
              <a:rPr lang="en-US" sz="2099" spc="-96">
                <a:solidFill>
                  <a:srgbClr val="EBF5FE"/>
                </a:solidFill>
                <a:latin typeface="Garet"/>
                <a:ea typeface="Garet"/>
                <a:cs typeface="Garet"/>
                <a:sym typeface="Garet"/>
              </a:rPr>
              <a:t>asa</a:t>
            </a:r>
            <a:r>
              <a:rPr lang="en-US" sz="2099" spc="-96">
                <a:solidFill>
                  <a:srgbClr val="EBF5FE"/>
                </a:solidFill>
                <a:latin typeface="Garet"/>
                <a:ea typeface="Garet"/>
                <a:cs typeface="Garet"/>
                <a:sym typeface="Garet"/>
              </a:rPr>
              <a:t> a la siguiente tarea, lo que permite que múltiples tareas, ya sean de un solo usuario o de varios, se ejecuten s</a:t>
            </a:r>
            <a:r>
              <a:rPr lang="en-US" sz="2099" spc="-96">
                <a:solidFill>
                  <a:srgbClr val="EBF5FE"/>
                </a:solidFill>
                <a:latin typeface="Garet"/>
                <a:ea typeface="Garet"/>
                <a:cs typeface="Garet"/>
                <a:sym typeface="Garet"/>
              </a:rPr>
              <a:t>in problemas </a:t>
            </a:r>
            <a:r>
              <a:rPr lang="en-US" sz="2099" spc="-96">
                <a:solidFill>
                  <a:srgbClr val="EBF5FE"/>
                </a:solidFill>
                <a:latin typeface="Garet"/>
                <a:ea typeface="Garet"/>
                <a:cs typeface="Garet"/>
                <a:sym typeface="Garet"/>
              </a:rPr>
              <a:t>en un único sistema.</a:t>
            </a:r>
          </a:p>
        </p:txBody>
      </p:sp>
      <p:sp>
        <p:nvSpPr>
          <p:cNvPr name="TextBox 6" id="6"/>
          <p:cNvSpPr txBox="true"/>
          <p:nvPr/>
        </p:nvSpPr>
        <p:spPr>
          <a:xfrm rot="0">
            <a:off x="9779957" y="2677424"/>
            <a:ext cx="6574771" cy="6021070"/>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Cada tarea recibe una parte justa del tiempo de CPU.</a:t>
            </a:r>
          </a:p>
          <a:p>
            <a:pPr algn="l" marL="453388" indent="-226694" lvl="1">
              <a:lnSpc>
                <a:spcPts val="2939"/>
              </a:lnSpc>
              <a:buFont typeface="Arial"/>
              <a:buChar char="•"/>
            </a:pPr>
            <a:r>
              <a:rPr lang="en-US" sz="2099" spc="-96">
                <a:solidFill>
                  <a:srgbClr val="EBF5FE"/>
                </a:solidFill>
                <a:latin typeface="Garet"/>
                <a:ea typeface="Garet"/>
                <a:cs typeface="Garet"/>
                <a:sym typeface="Garet"/>
              </a:rPr>
              <a:t>M</a:t>
            </a:r>
            <a:r>
              <a:rPr lang="en-US" sz="2099" spc="-96">
                <a:solidFill>
                  <a:srgbClr val="EBF5FE"/>
                </a:solidFill>
                <a:latin typeface="Garet"/>
                <a:ea typeface="Garet"/>
                <a:cs typeface="Garet"/>
                <a:sym typeface="Garet"/>
              </a:rPr>
              <a:t>uchos usuarios pueden ejecutar el mismo software sin necesidad de copias separadas.</a:t>
            </a:r>
          </a:p>
          <a:p>
            <a:pPr algn="l" marL="453388" indent="-226694" lvl="1">
              <a:lnSpc>
                <a:spcPts val="2939"/>
              </a:lnSpc>
              <a:buFont typeface="Arial"/>
              <a:buChar char="•"/>
            </a:pPr>
            <a:r>
              <a:rPr lang="en-US" sz="2099" spc="-96">
                <a:solidFill>
                  <a:srgbClr val="EBF5FE"/>
                </a:solidFill>
                <a:latin typeface="Garet"/>
                <a:ea typeface="Garet"/>
                <a:cs typeface="Garet"/>
                <a:sym typeface="Garet"/>
              </a:rPr>
              <a:t>Una programación eficiente mantiene la CPU ocupada.</a:t>
            </a: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Los</a:t>
            </a:r>
            <a:r>
              <a:rPr lang="en-US" sz="2099" spc="-96">
                <a:solidFill>
                  <a:srgbClr val="EBF5FE"/>
                </a:solidFill>
                <a:latin typeface="Garet"/>
                <a:ea typeface="Garet"/>
                <a:cs typeface="Garet"/>
                <a:sym typeface="Garet"/>
              </a:rPr>
              <a:t> fallos del sistema afectan a todos los usuarios.</a:t>
            </a:r>
          </a:p>
          <a:p>
            <a:pPr algn="l" marL="453388" indent="-226694" lvl="1">
              <a:lnSpc>
                <a:spcPts val="2939"/>
              </a:lnSpc>
              <a:buFont typeface="Arial"/>
              <a:buChar char="•"/>
            </a:pPr>
            <a:r>
              <a:rPr lang="en-US" sz="2099" spc="-96">
                <a:solidFill>
                  <a:srgbClr val="EBF5FE"/>
                </a:solidFill>
                <a:latin typeface="Garet"/>
                <a:ea typeface="Garet"/>
                <a:cs typeface="Garet"/>
                <a:sym typeface="Garet"/>
              </a:rPr>
              <a:t>La presencia de múltiples usuarios aumenta los riesgos para la integridad y la privacidad de los datos.</a:t>
            </a:r>
          </a:p>
          <a:p>
            <a:pPr algn="l" marL="453388" indent="-226694" lvl="1">
              <a:lnSpc>
                <a:spcPts val="2939"/>
              </a:lnSpc>
              <a:spcBef>
                <a:spcPct val="0"/>
              </a:spcBef>
              <a:buFont typeface="Arial"/>
              <a:buChar char="•"/>
            </a:pPr>
            <a:r>
              <a:rPr lang="en-US" sz="2099" spc="-96">
                <a:solidFill>
                  <a:srgbClr val="EBF5FE"/>
                </a:solidFill>
                <a:latin typeface="Garet"/>
                <a:ea typeface="Garet"/>
                <a:cs typeface="Garet"/>
                <a:sym typeface="Garet"/>
              </a:rPr>
              <a:t>El </a:t>
            </a:r>
            <a:r>
              <a:rPr lang="en-US" sz="2099" spc="-96">
                <a:solidFill>
                  <a:srgbClr val="EBF5FE"/>
                </a:solidFill>
                <a:latin typeface="Garet"/>
                <a:ea typeface="Garet"/>
                <a:cs typeface="Garet"/>
                <a:sym typeface="Garet"/>
              </a:rPr>
              <a:t>intercambio de datos entre usuarios puede provocar conflictos.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2720" y="4525510"/>
            <a:ext cx="6887098" cy="3465483"/>
          </a:xfrm>
          <a:custGeom>
            <a:avLst/>
            <a:gdLst/>
            <a:ahLst/>
            <a:cxnLst/>
            <a:rect r="r" b="b" t="t" l="l"/>
            <a:pathLst>
              <a:path h="3465483" w="6887098">
                <a:moveTo>
                  <a:pt x="0" y="0"/>
                </a:moveTo>
                <a:lnTo>
                  <a:pt x="6887098" y="0"/>
                </a:lnTo>
                <a:lnTo>
                  <a:pt x="6887098" y="3465483"/>
                </a:lnTo>
                <a:lnTo>
                  <a:pt x="0" y="3465483"/>
                </a:lnTo>
                <a:lnTo>
                  <a:pt x="0" y="0"/>
                </a:lnTo>
                <a:close/>
              </a:path>
            </a:pathLst>
          </a:custGeom>
          <a:blipFill>
            <a:blip r:embed="rId4"/>
            <a:stretch>
              <a:fillRect l="0" t="0" r="0" b="0"/>
            </a:stretch>
          </a:blipFill>
        </p:spPr>
      </p:sp>
      <p:sp>
        <p:nvSpPr>
          <p:cNvPr name="TextBox 4" id="4"/>
          <p:cNvSpPr txBox="true"/>
          <p:nvPr/>
        </p:nvSpPr>
        <p:spPr>
          <a:xfrm rot="0">
            <a:off x="1942720" y="1748468"/>
            <a:ext cx="6535166" cy="771090"/>
          </a:xfrm>
          <a:prstGeom prst="rect">
            <a:avLst/>
          </a:prstGeom>
        </p:spPr>
        <p:txBody>
          <a:bodyPr anchor="t" rtlCol="false" tIns="0" lIns="0" bIns="0" rIns="0">
            <a:spAutoFit/>
          </a:bodyPr>
          <a:lstStyle/>
          <a:p>
            <a:pPr algn="l">
              <a:lnSpc>
                <a:spcPts val="6324"/>
              </a:lnSpc>
              <a:spcBef>
                <a:spcPct val="0"/>
              </a:spcBef>
            </a:pPr>
            <a:r>
              <a:rPr lang="en-US" b="true" sz="4517" spc="-207">
                <a:solidFill>
                  <a:srgbClr val="EBF5FE"/>
                </a:solidFill>
                <a:latin typeface="Garet Bold"/>
                <a:ea typeface="Garet Bold"/>
                <a:cs typeface="Garet Bold"/>
                <a:sym typeface="Garet Bold"/>
              </a:rPr>
              <a:t>MULTIPROCESADOR</a:t>
            </a:r>
          </a:p>
        </p:txBody>
      </p:sp>
      <p:sp>
        <p:nvSpPr>
          <p:cNvPr name="TextBox 5" id="5"/>
          <p:cNvSpPr txBox="true"/>
          <p:nvPr/>
        </p:nvSpPr>
        <p:spPr>
          <a:xfrm rot="0">
            <a:off x="1942720" y="2744306"/>
            <a:ext cx="6574771" cy="1108710"/>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Tipo de sistema operativo en el que se utiliza más de una CPU p</a:t>
            </a:r>
            <a:r>
              <a:rPr lang="en-US" sz="2099" spc="-96">
                <a:solidFill>
                  <a:srgbClr val="EBF5FE"/>
                </a:solidFill>
                <a:latin typeface="Garet"/>
                <a:ea typeface="Garet"/>
                <a:cs typeface="Garet"/>
                <a:sym typeface="Garet"/>
              </a:rPr>
              <a:t>ar</a:t>
            </a:r>
            <a:r>
              <a:rPr lang="en-US" sz="2099" spc="-96">
                <a:solidFill>
                  <a:srgbClr val="EBF5FE"/>
                </a:solidFill>
                <a:latin typeface="Garet"/>
                <a:ea typeface="Garet"/>
                <a:cs typeface="Garet"/>
                <a:sym typeface="Garet"/>
              </a:rPr>
              <a:t>a la ejecución de procesos. Esto mejora el rendim</a:t>
            </a:r>
            <a:r>
              <a:rPr lang="en-US" sz="2099" spc="-96">
                <a:solidFill>
                  <a:srgbClr val="EBF5FE"/>
                </a:solidFill>
                <a:latin typeface="Garet"/>
                <a:ea typeface="Garet"/>
                <a:cs typeface="Garet"/>
                <a:sym typeface="Garet"/>
              </a:rPr>
              <a:t>iento d</a:t>
            </a:r>
            <a:r>
              <a:rPr lang="en-US" sz="2099" spc="-96">
                <a:solidFill>
                  <a:srgbClr val="EBF5FE"/>
                </a:solidFill>
                <a:latin typeface="Garet"/>
                <a:ea typeface="Garet"/>
                <a:cs typeface="Garet"/>
                <a:sym typeface="Garet"/>
              </a:rPr>
              <a:t>el sistema.</a:t>
            </a:r>
          </a:p>
        </p:txBody>
      </p:sp>
      <p:sp>
        <p:nvSpPr>
          <p:cNvPr name="TextBox 6" id="6"/>
          <p:cNvSpPr txBox="true"/>
          <p:nvPr/>
        </p:nvSpPr>
        <p:spPr>
          <a:xfrm rot="0">
            <a:off x="9779957" y="2677424"/>
            <a:ext cx="6574771" cy="639254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V</a:t>
            </a:r>
            <a:r>
              <a:rPr lang="en-US" sz="2099" spc="-96">
                <a:solidFill>
                  <a:srgbClr val="EBF5FE"/>
                </a:solidFill>
                <a:latin typeface="Garet"/>
                <a:ea typeface="Garet"/>
                <a:cs typeface="Garet"/>
                <a:sym typeface="Garet"/>
              </a:rPr>
              <a:t>arias CPU trabajan simultáneamente, lo que aumenta la velocidad general del sistema.</a:t>
            </a:r>
          </a:p>
          <a:p>
            <a:pPr algn="l" marL="453388" indent="-226694" lvl="1">
              <a:lnSpc>
                <a:spcPts val="2939"/>
              </a:lnSpc>
              <a:buFont typeface="Arial"/>
              <a:buChar char="•"/>
            </a:pPr>
            <a:r>
              <a:rPr lang="en-US" sz="2099" spc="-96">
                <a:solidFill>
                  <a:srgbClr val="EBF5FE"/>
                </a:solidFill>
                <a:latin typeface="Garet"/>
                <a:ea typeface="Garet"/>
                <a:cs typeface="Garet"/>
                <a:sym typeface="Garet"/>
              </a:rPr>
              <a:t>Si un procesador falla, los demás pueden seguir funcionando (tolerancia a fallos).</a:t>
            </a:r>
          </a:p>
          <a:p>
            <a:pPr algn="l" marL="453388" indent="-226694" lvl="1">
              <a:lnSpc>
                <a:spcPts val="2939"/>
              </a:lnSpc>
              <a:buFont typeface="Arial"/>
              <a:buChar char="•"/>
            </a:pPr>
            <a:r>
              <a:rPr lang="en-US" sz="2099" spc="-96">
                <a:solidFill>
                  <a:srgbClr val="EBF5FE"/>
                </a:solidFill>
                <a:latin typeface="Garet"/>
                <a:ea typeface="Garet"/>
                <a:cs typeface="Garet"/>
                <a:sym typeface="Garet"/>
              </a:rPr>
              <a:t>Ide</a:t>
            </a:r>
            <a:r>
              <a:rPr lang="en-US" sz="2099" spc="-96">
                <a:solidFill>
                  <a:srgbClr val="EBF5FE"/>
                </a:solidFill>
                <a:latin typeface="Garet"/>
                <a:ea typeface="Garet"/>
                <a:cs typeface="Garet"/>
                <a:sym typeface="Garet"/>
              </a:rPr>
              <a:t>al para aplicaciones que requieren mucha capacidad de cálculo, como tareas científicas o industriales.</a:t>
            </a: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Los</a:t>
            </a:r>
            <a:r>
              <a:rPr lang="en-US" sz="2099" spc="-96">
                <a:solidFill>
                  <a:srgbClr val="EBF5FE"/>
                </a:solidFill>
                <a:latin typeface="Garet"/>
                <a:ea typeface="Garet"/>
                <a:cs typeface="Garet"/>
                <a:sym typeface="Garet"/>
              </a:rPr>
              <a:t> múltiples procesadores y el hardware complejo aumentan el coste del sistema.</a:t>
            </a:r>
          </a:p>
          <a:p>
            <a:pPr algn="l" marL="453388" indent="-226694" lvl="1">
              <a:lnSpc>
                <a:spcPts val="2939"/>
              </a:lnSpc>
              <a:buFont typeface="Arial"/>
              <a:buChar char="•"/>
            </a:pPr>
            <a:r>
              <a:rPr lang="en-US" sz="2099" spc="-96">
                <a:solidFill>
                  <a:srgbClr val="EBF5FE"/>
                </a:solidFill>
                <a:latin typeface="Garet"/>
                <a:ea typeface="Garet"/>
                <a:cs typeface="Garet"/>
                <a:sym typeface="Garet"/>
              </a:rPr>
              <a:t>Requie</a:t>
            </a:r>
            <a:r>
              <a:rPr lang="en-US" sz="2099" spc="-96">
                <a:solidFill>
                  <a:srgbClr val="EBF5FE"/>
                </a:solidFill>
                <a:latin typeface="Garet"/>
                <a:ea typeface="Garet"/>
                <a:cs typeface="Garet"/>
                <a:sym typeface="Garet"/>
              </a:rPr>
              <a:t>re soporte avanzado del sistema operativo para la comunicación y la distribución de tareas.</a:t>
            </a:r>
          </a:p>
          <a:p>
            <a:pPr algn="l" marL="453388" indent="-226694" lvl="1">
              <a:lnSpc>
                <a:spcPts val="2939"/>
              </a:lnSpc>
              <a:spcBef>
                <a:spcPct val="0"/>
              </a:spcBef>
              <a:buFont typeface="Arial"/>
              <a:buChar char="•"/>
            </a:pPr>
            <a:r>
              <a:rPr lang="en-US" sz="2099" spc="-96">
                <a:solidFill>
                  <a:srgbClr val="EBF5FE"/>
                </a:solidFill>
                <a:latin typeface="Garet"/>
                <a:ea typeface="Garet"/>
                <a:cs typeface="Garet"/>
                <a:sym typeface="Garet"/>
              </a:rPr>
              <a:t>Una mala d</a:t>
            </a:r>
            <a:r>
              <a:rPr lang="en-US" sz="2099" spc="-96">
                <a:solidFill>
                  <a:srgbClr val="EBF5FE"/>
                </a:solidFill>
                <a:latin typeface="Garet"/>
                <a:ea typeface="Garet"/>
                <a:cs typeface="Garet"/>
                <a:sym typeface="Garet"/>
              </a:rPr>
              <a:t>istribución de las tareas puede provocar que los procesadores queden inactivos y que se desperdicien recursos.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2720" y="5853059"/>
            <a:ext cx="6535166" cy="2145666"/>
          </a:xfrm>
          <a:custGeom>
            <a:avLst/>
            <a:gdLst/>
            <a:ahLst/>
            <a:cxnLst/>
            <a:rect r="r" b="b" t="t" l="l"/>
            <a:pathLst>
              <a:path h="2145666" w="6535166">
                <a:moveTo>
                  <a:pt x="0" y="0"/>
                </a:moveTo>
                <a:lnTo>
                  <a:pt x="6535166" y="0"/>
                </a:lnTo>
                <a:lnTo>
                  <a:pt x="6535166" y="2145666"/>
                </a:lnTo>
                <a:lnTo>
                  <a:pt x="0" y="2145666"/>
                </a:lnTo>
                <a:lnTo>
                  <a:pt x="0" y="0"/>
                </a:lnTo>
                <a:close/>
              </a:path>
            </a:pathLst>
          </a:custGeom>
          <a:blipFill>
            <a:blip r:embed="rId4"/>
            <a:stretch>
              <a:fillRect l="0" t="0" r="0" b="0"/>
            </a:stretch>
          </a:blipFill>
        </p:spPr>
      </p:sp>
      <p:sp>
        <p:nvSpPr>
          <p:cNvPr name="TextBox 4" id="4"/>
          <p:cNvSpPr txBox="true"/>
          <p:nvPr/>
        </p:nvSpPr>
        <p:spPr>
          <a:xfrm rot="0">
            <a:off x="1942720" y="1748468"/>
            <a:ext cx="6535166" cy="771090"/>
          </a:xfrm>
          <a:prstGeom prst="rect">
            <a:avLst/>
          </a:prstGeom>
        </p:spPr>
        <p:txBody>
          <a:bodyPr anchor="t" rtlCol="false" tIns="0" lIns="0" bIns="0" rIns="0">
            <a:spAutoFit/>
          </a:bodyPr>
          <a:lstStyle/>
          <a:p>
            <a:pPr algn="l">
              <a:lnSpc>
                <a:spcPts val="6324"/>
              </a:lnSpc>
              <a:spcBef>
                <a:spcPct val="0"/>
              </a:spcBef>
            </a:pPr>
            <a:r>
              <a:rPr lang="en-US" b="true" sz="4517" spc="-207">
                <a:solidFill>
                  <a:srgbClr val="EBF5FE"/>
                </a:solidFill>
                <a:latin typeface="Garet Bold"/>
                <a:ea typeface="Garet Bold"/>
                <a:cs typeface="Garet Bold"/>
                <a:sym typeface="Garet Bold"/>
              </a:rPr>
              <a:t>DISTRIBUIDOS</a:t>
            </a:r>
          </a:p>
        </p:txBody>
      </p:sp>
      <p:sp>
        <p:nvSpPr>
          <p:cNvPr name="TextBox 5" id="5"/>
          <p:cNvSpPr txBox="true"/>
          <p:nvPr/>
        </p:nvSpPr>
        <p:spPr>
          <a:xfrm rot="0">
            <a:off x="1922918" y="2677424"/>
            <a:ext cx="6574771" cy="2594610"/>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Conectan múltiples computadoras independientes a través de una red de comunicación compartida. Cada sistema tiene su propia CPU y memoria, pero funcionan conjuntamente como un</a:t>
            </a:r>
            <a:r>
              <a:rPr lang="en-US" sz="2099" spc="-96">
                <a:solidFill>
                  <a:srgbClr val="EBF5FE"/>
                </a:solidFill>
                <a:latin typeface="Garet"/>
                <a:ea typeface="Garet"/>
                <a:cs typeface="Garet"/>
                <a:sym typeface="Garet"/>
              </a:rPr>
              <a:t>a sola</a:t>
            </a:r>
            <a:r>
              <a:rPr lang="en-US" sz="2099" spc="-96">
                <a:solidFill>
                  <a:srgbClr val="EBF5FE"/>
                </a:solidFill>
                <a:latin typeface="Garet"/>
                <a:ea typeface="Garet"/>
                <a:cs typeface="Garet"/>
                <a:sym typeface="Garet"/>
              </a:rPr>
              <a:t> unidad. La principal ventaja es el acceso remoto, que permite a los usuarios utilizar archivos y software almacenad</a:t>
            </a:r>
            <a:r>
              <a:rPr lang="en-US" sz="2099" spc="-96">
                <a:solidFill>
                  <a:srgbClr val="EBF5FE"/>
                </a:solidFill>
                <a:latin typeface="Garet"/>
                <a:ea typeface="Garet"/>
                <a:cs typeface="Garet"/>
                <a:sym typeface="Garet"/>
              </a:rPr>
              <a:t>os </a:t>
            </a:r>
            <a:r>
              <a:rPr lang="en-US" sz="2099" spc="-96">
                <a:solidFill>
                  <a:srgbClr val="EBF5FE"/>
                </a:solidFill>
                <a:latin typeface="Garet"/>
                <a:ea typeface="Garet"/>
                <a:cs typeface="Garet"/>
                <a:sym typeface="Garet"/>
              </a:rPr>
              <a:t>en otros sistemas conectados.</a:t>
            </a:r>
          </a:p>
        </p:txBody>
      </p:sp>
      <p:sp>
        <p:nvSpPr>
          <p:cNvPr name="TextBox 6" id="6"/>
          <p:cNvSpPr txBox="true"/>
          <p:nvPr/>
        </p:nvSpPr>
        <p:spPr>
          <a:xfrm rot="0">
            <a:off x="9779957" y="2677424"/>
            <a:ext cx="6574771" cy="5278120"/>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El f</a:t>
            </a:r>
            <a:r>
              <a:rPr lang="en-US" sz="2099" spc="-96">
                <a:solidFill>
                  <a:srgbClr val="EBF5FE"/>
                </a:solidFill>
                <a:latin typeface="Garet"/>
                <a:ea typeface="Garet"/>
                <a:cs typeface="Garet"/>
                <a:sym typeface="Garet"/>
              </a:rPr>
              <a:t>allo de una máquina no afecta a las demás.</a:t>
            </a:r>
          </a:p>
          <a:p>
            <a:pPr algn="l" marL="453388" indent="-226694" lvl="1">
              <a:lnSpc>
                <a:spcPts val="2939"/>
              </a:lnSpc>
              <a:buFont typeface="Arial"/>
              <a:buChar char="•"/>
            </a:pPr>
            <a:r>
              <a:rPr lang="en-US" sz="2099" spc="-96">
                <a:solidFill>
                  <a:srgbClr val="EBF5FE"/>
                </a:solidFill>
                <a:latin typeface="Garet"/>
                <a:ea typeface="Garet"/>
                <a:cs typeface="Garet"/>
                <a:sym typeface="Garet"/>
              </a:rPr>
              <a:t>Se</a:t>
            </a:r>
            <a:r>
              <a:rPr lang="en-US" sz="2099" spc="-96">
                <a:solidFill>
                  <a:srgbClr val="EBF5FE"/>
                </a:solidFill>
                <a:latin typeface="Garet"/>
                <a:ea typeface="Garet"/>
                <a:cs typeface="Garet"/>
                <a:sym typeface="Garet"/>
              </a:rPr>
              <a:t> pueden añadir nuevos sistemas a la red con facilidad.</a:t>
            </a:r>
          </a:p>
          <a:p>
            <a:pPr algn="l" marL="453388" indent="-226694" lvl="1">
              <a:lnSpc>
                <a:spcPts val="2939"/>
              </a:lnSpc>
              <a:buFont typeface="Arial"/>
              <a:buChar char="•"/>
            </a:pPr>
            <a:r>
              <a:rPr lang="en-US" sz="2099" spc="-96">
                <a:solidFill>
                  <a:srgbClr val="EBF5FE"/>
                </a:solidFill>
                <a:latin typeface="Garet"/>
                <a:ea typeface="Garet"/>
                <a:cs typeface="Garet"/>
                <a:sym typeface="Garet"/>
              </a:rPr>
              <a:t>Las tareas se gestionan más rápidamente en varias máquinas.</a:t>
            </a: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Si</a:t>
            </a:r>
            <a:r>
              <a:rPr lang="en-US" sz="2099" spc="-96">
                <a:solidFill>
                  <a:srgbClr val="EBF5FE"/>
                </a:solidFill>
                <a:latin typeface="Garet"/>
                <a:ea typeface="Garet"/>
                <a:cs typeface="Garet"/>
                <a:sym typeface="Garet"/>
              </a:rPr>
              <a:t> la red principal falla, la comunicación se interrumpe.</a:t>
            </a:r>
          </a:p>
          <a:p>
            <a:pPr algn="l" marL="453388" indent="-226694" lvl="1">
              <a:lnSpc>
                <a:spcPts val="2939"/>
              </a:lnSpc>
              <a:buFont typeface="Arial"/>
              <a:buChar char="•"/>
            </a:pPr>
            <a:r>
              <a:rPr lang="en-US" sz="2099" spc="-96">
                <a:solidFill>
                  <a:srgbClr val="EBF5FE"/>
                </a:solidFill>
                <a:latin typeface="Garet"/>
                <a:ea typeface="Garet"/>
                <a:cs typeface="Garet"/>
                <a:sym typeface="Garet"/>
              </a:rPr>
              <a:t>No</a:t>
            </a:r>
            <a:r>
              <a:rPr lang="en-US" sz="2099" spc="-96">
                <a:solidFill>
                  <a:srgbClr val="EBF5FE"/>
                </a:solidFill>
                <a:latin typeface="Garet"/>
                <a:ea typeface="Garet"/>
                <a:cs typeface="Garet"/>
                <a:sym typeface="Garet"/>
              </a:rPr>
              <a:t> existe un lenguaje o modelo bien definido para la construcción de este tipo de sistemas.</a:t>
            </a:r>
          </a:p>
          <a:p>
            <a:pPr algn="l" marL="453388" indent="-226694" lvl="1">
              <a:lnSpc>
                <a:spcPts val="2939"/>
              </a:lnSpc>
              <a:spcBef>
                <a:spcPct val="0"/>
              </a:spcBef>
              <a:buFont typeface="Arial"/>
              <a:buChar char="•"/>
            </a:pPr>
            <a:r>
              <a:rPr lang="en-US" sz="2099" spc="-96">
                <a:solidFill>
                  <a:srgbClr val="EBF5FE"/>
                </a:solidFill>
                <a:latin typeface="Garet"/>
                <a:ea typeface="Garet"/>
                <a:cs typeface="Garet"/>
                <a:sym typeface="Garet"/>
              </a:rPr>
              <a:t>El ha</a:t>
            </a:r>
            <a:r>
              <a:rPr lang="en-US" sz="2099" spc="-96">
                <a:solidFill>
                  <a:srgbClr val="EBF5FE"/>
                </a:solidFill>
                <a:latin typeface="Garet"/>
                <a:ea typeface="Garet"/>
                <a:cs typeface="Garet"/>
                <a:sym typeface="Garet"/>
              </a:rPr>
              <a:t>rdware es caro y el software es complejo y poco conocido.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2720" y="5853059"/>
            <a:ext cx="6535166" cy="3260433"/>
          </a:xfrm>
          <a:custGeom>
            <a:avLst/>
            <a:gdLst/>
            <a:ahLst/>
            <a:cxnLst/>
            <a:rect r="r" b="b" t="t" l="l"/>
            <a:pathLst>
              <a:path h="3260433" w="6535166">
                <a:moveTo>
                  <a:pt x="0" y="0"/>
                </a:moveTo>
                <a:lnTo>
                  <a:pt x="6535166" y="0"/>
                </a:lnTo>
                <a:lnTo>
                  <a:pt x="6535166" y="3260433"/>
                </a:lnTo>
                <a:lnTo>
                  <a:pt x="0" y="3260433"/>
                </a:lnTo>
                <a:lnTo>
                  <a:pt x="0" y="0"/>
                </a:lnTo>
                <a:close/>
              </a:path>
            </a:pathLst>
          </a:custGeom>
          <a:blipFill>
            <a:blip r:embed="rId4"/>
            <a:stretch>
              <a:fillRect l="0" t="0" r="0" b="0"/>
            </a:stretch>
          </a:blipFill>
        </p:spPr>
      </p:sp>
      <p:sp>
        <p:nvSpPr>
          <p:cNvPr name="TextBox 4" id="4"/>
          <p:cNvSpPr txBox="true"/>
          <p:nvPr/>
        </p:nvSpPr>
        <p:spPr>
          <a:xfrm rot="0">
            <a:off x="1942720" y="1748468"/>
            <a:ext cx="6535166" cy="771090"/>
          </a:xfrm>
          <a:prstGeom prst="rect">
            <a:avLst/>
          </a:prstGeom>
        </p:spPr>
        <p:txBody>
          <a:bodyPr anchor="t" rtlCol="false" tIns="0" lIns="0" bIns="0" rIns="0">
            <a:spAutoFit/>
          </a:bodyPr>
          <a:lstStyle/>
          <a:p>
            <a:pPr algn="l">
              <a:lnSpc>
                <a:spcPts val="6324"/>
              </a:lnSpc>
              <a:spcBef>
                <a:spcPct val="0"/>
              </a:spcBef>
            </a:pPr>
            <a:r>
              <a:rPr lang="en-US" b="true" sz="4517" spc="-207">
                <a:solidFill>
                  <a:srgbClr val="EBF5FE"/>
                </a:solidFill>
                <a:latin typeface="Garet Bold"/>
                <a:ea typeface="Garet Bold"/>
                <a:cs typeface="Garet Bold"/>
                <a:sym typeface="Garet Bold"/>
              </a:rPr>
              <a:t>DE RED</a:t>
            </a:r>
          </a:p>
        </p:txBody>
      </p:sp>
      <p:sp>
        <p:nvSpPr>
          <p:cNvPr name="TextBox 5" id="5"/>
          <p:cNvSpPr txBox="true"/>
          <p:nvPr/>
        </p:nvSpPr>
        <p:spPr>
          <a:xfrm rot="0">
            <a:off x="1922918" y="2677424"/>
            <a:ext cx="6574771" cy="3337560"/>
          </a:xfrm>
          <a:prstGeom prst="rect">
            <a:avLst/>
          </a:prstGeom>
        </p:spPr>
        <p:txBody>
          <a:bodyPr anchor="t" rtlCol="false" tIns="0" lIns="0" bIns="0" rIns="0">
            <a:spAutoFit/>
          </a:bodyPr>
          <a:lstStyle/>
          <a:p>
            <a:pPr algn="just">
              <a:lnSpc>
                <a:spcPts val="2939"/>
              </a:lnSpc>
              <a:spcBef>
                <a:spcPct val="0"/>
              </a:spcBef>
            </a:pPr>
            <a:r>
              <a:rPr lang="en-US" sz="2099" spc="-96">
                <a:solidFill>
                  <a:srgbClr val="EBF5FE"/>
                </a:solidFill>
                <a:latin typeface="Garet"/>
                <a:ea typeface="Garet"/>
                <a:cs typeface="Garet"/>
                <a:sym typeface="Garet"/>
              </a:rPr>
              <a:t>Se ejecuta en un servidor y administra datos, usuarios, seguridad, aplicaciones y otras funciones de red. Permite el acceso compartido a archivos, impresoras y recursos dentro de una pequeña red priv</a:t>
            </a:r>
            <a:r>
              <a:rPr lang="en-US" sz="2099" spc="-96">
                <a:solidFill>
                  <a:srgbClr val="EBF5FE"/>
                </a:solidFill>
                <a:latin typeface="Garet"/>
                <a:ea typeface="Garet"/>
                <a:cs typeface="Garet"/>
                <a:sym typeface="Garet"/>
              </a:rPr>
              <a:t>ada.</a:t>
            </a:r>
            <a:r>
              <a:rPr lang="en-US" sz="2099" spc="-96">
                <a:solidFill>
                  <a:srgbClr val="EBF5FE"/>
                </a:solidFill>
                <a:latin typeface="Garet"/>
                <a:ea typeface="Garet"/>
                <a:cs typeface="Garet"/>
                <a:sym typeface="Garet"/>
              </a:rPr>
              <a:t> Los usuarios pueden ver la configuración y las conexiones de otros usuarios, por lo que estos s</a:t>
            </a:r>
            <a:r>
              <a:rPr lang="en-US" sz="2099" spc="-96">
                <a:solidFill>
                  <a:srgbClr val="EBF5FE"/>
                </a:solidFill>
                <a:latin typeface="Garet"/>
                <a:ea typeface="Garet"/>
                <a:cs typeface="Garet"/>
                <a:sym typeface="Garet"/>
              </a:rPr>
              <a:t>istemas s</a:t>
            </a:r>
            <a:r>
              <a:rPr lang="en-US" sz="2099" spc="-96">
                <a:solidFill>
                  <a:srgbClr val="EBF5FE"/>
                </a:solidFill>
                <a:latin typeface="Garet"/>
                <a:ea typeface="Garet"/>
                <a:cs typeface="Garet"/>
                <a:sym typeface="Garet"/>
              </a:rPr>
              <a:t>e consideran sistemas fuertemente acoplados .</a:t>
            </a:r>
          </a:p>
          <a:p>
            <a:pPr algn="just">
              <a:lnSpc>
                <a:spcPts val="2939"/>
              </a:lnSpc>
              <a:spcBef>
                <a:spcPct val="0"/>
              </a:spcBef>
            </a:pPr>
          </a:p>
        </p:txBody>
      </p:sp>
      <p:sp>
        <p:nvSpPr>
          <p:cNvPr name="TextBox 6" id="6"/>
          <p:cNvSpPr txBox="true"/>
          <p:nvPr/>
        </p:nvSpPr>
        <p:spPr>
          <a:xfrm rot="0">
            <a:off x="9779957" y="2677424"/>
            <a:ext cx="6574771" cy="530669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P</a:t>
            </a:r>
            <a:r>
              <a:rPr lang="en-US" sz="2099" spc="-96">
                <a:solidFill>
                  <a:srgbClr val="EBF5FE"/>
                </a:solidFill>
                <a:latin typeface="Garet"/>
                <a:ea typeface="Garet"/>
                <a:cs typeface="Garet"/>
                <a:sym typeface="Garet"/>
              </a:rPr>
              <a:t>roporcionan una gestión fiable de los recursos.</a:t>
            </a:r>
          </a:p>
          <a:p>
            <a:pPr algn="l" marL="453388" indent="-226694" lvl="1">
              <a:lnSpc>
                <a:spcPts val="2939"/>
              </a:lnSpc>
              <a:buFont typeface="Arial"/>
              <a:buChar char="•"/>
            </a:pPr>
            <a:r>
              <a:rPr lang="en-US" sz="2099" spc="-96">
                <a:solidFill>
                  <a:srgbClr val="EBF5FE"/>
                </a:solidFill>
                <a:latin typeface="Garet"/>
                <a:ea typeface="Garet"/>
                <a:cs typeface="Garet"/>
                <a:sym typeface="Garet"/>
              </a:rPr>
              <a:t>Se puede añadir nuevo hardware y tecnologías sin dificultad.</a:t>
            </a:r>
          </a:p>
          <a:p>
            <a:pPr algn="l" marL="453388" indent="-226694" lvl="1">
              <a:lnSpc>
                <a:spcPts val="2939"/>
              </a:lnSpc>
              <a:buFont typeface="Arial"/>
              <a:buChar char="•"/>
            </a:pPr>
            <a:r>
              <a:rPr lang="en-US" sz="2099" spc="-96">
                <a:solidFill>
                  <a:srgbClr val="EBF5FE"/>
                </a:solidFill>
                <a:latin typeface="Garet"/>
                <a:ea typeface="Garet"/>
                <a:cs typeface="Garet"/>
                <a:sym typeface="Garet"/>
              </a:rPr>
              <a:t>Los usuarios pueden acceder al servidor desde diferentes ubicaciones y dispositivos.</a:t>
            </a:r>
          </a:p>
          <a:p>
            <a:pPr algn="just">
              <a:lnSpc>
                <a:spcPts val="3219"/>
              </a:lnSpc>
            </a:pP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DESVENTAJAS</a:t>
            </a:r>
          </a:p>
          <a:p>
            <a:pPr algn="l" marL="453388" indent="-226694" lvl="1">
              <a:lnSpc>
                <a:spcPts val="2939"/>
              </a:lnSpc>
              <a:buFont typeface="Arial"/>
              <a:buChar char="•"/>
            </a:pPr>
            <a:r>
              <a:rPr lang="en-US" sz="2099" spc="-96">
                <a:solidFill>
                  <a:srgbClr val="EBF5FE"/>
                </a:solidFill>
                <a:latin typeface="Garet"/>
                <a:ea typeface="Garet"/>
                <a:cs typeface="Garet"/>
                <a:sym typeface="Garet"/>
              </a:rPr>
              <a:t>Con</a:t>
            </a:r>
            <a:r>
              <a:rPr lang="en-US" sz="2099" spc="-96">
                <a:solidFill>
                  <a:srgbClr val="EBF5FE"/>
                </a:solidFill>
                <a:latin typeface="Garet"/>
                <a:ea typeface="Garet"/>
                <a:cs typeface="Garet"/>
                <a:sym typeface="Garet"/>
              </a:rPr>
              <a:t>figurar y mantener servidores es caro.</a:t>
            </a:r>
          </a:p>
          <a:p>
            <a:pPr algn="l" marL="453388" indent="-226694" lvl="1">
              <a:lnSpc>
                <a:spcPts val="2939"/>
              </a:lnSpc>
              <a:buFont typeface="Arial"/>
              <a:buChar char="•"/>
            </a:pPr>
            <a:r>
              <a:rPr lang="en-US" sz="2099" spc="-96">
                <a:solidFill>
                  <a:srgbClr val="EBF5FE"/>
                </a:solidFill>
                <a:latin typeface="Garet"/>
                <a:ea typeface="Garet"/>
                <a:cs typeface="Garet"/>
                <a:sym typeface="Garet"/>
              </a:rPr>
              <a:t>La mayoría de las operaciones dependen de un servidor central.</a:t>
            </a:r>
          </a:p>
          <a:p>
            <a:pPr algn="l" marL="453388" indent="-226694" lvl="1">
              <a:lnSpc>
                <a:spcPts val="2939"/>
              </a:lnSpc>
              <a:spcBef>
                <a:spcPct val="0"/>
              </a:spcBef>
              <a:buFont typeface="Arial"/>
              <a:buChar char="•"/>
            </a:pPr>
            <a:r>
              <a:rPr lang="en-US" sz="2099" spc="-96">
                <a:solidFill>
                  <a:srgbClr val="EBF5FE"/>
                </a:solidFill>
                <a:latin typeface="Garet"/>
                <a:ea typeface="Garet"/>
                <a:cs typeface="Garet"/>
                <a:sym typeface="Garet"/>
              </a:rPr>
              <a:t>Se requieren actua</a:t>
            </a:r>
            <a:r>
              <a:rPr lang="en-US" sz="2099" spc="-96">
                <a:solidFill>
                  <a:srgbClr val="EBF5FE"/>
                </a:solidFill>
                <a:latin typeface="Garet"/>
                <a:ea typeface="Garet"/>
                <a:cs typeface="Garet"/>
                <a:sym typeface="Garet"/>
              </a:rPr>
              <a:t>l</a:t>
            </a:r>
            <a:r>
              <a:rPr lang="en-US" sz="2099" spc="-96">
                <a:solidFill>
                  <a:srgbClr val="EBF5FE"/>
                </a:solidFill>
                <a:latin typeface="Garet"/>
                <a:ea typeface="Garet"/>
                <a:cs typeface="Garet"/>
                <a:sym typeface="Garet"/>
              </a:rPr>
              <a:t>izaciones frecuentes y soporte técnico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00785" y="1272888"/>
            <a:ext cx="7039565" cy="8983203"/>
          </a:xfrm>
          <a:custGeom>
            <a:avLst/>
            <a:gdLst/>
            <a:ahLst/>
            <a:cxnLst/>
            <a:rect r="r" b="b" t="t" l="l"/>
            <a:pathLst>
              <a:path h="8983203" w="7039565">
                <a:moveTo>
                  <a:pt x="0" y="0"/>
                </a:moveTo>
                <a:lnTo>
                  <a:pt x="7039565" y="0"/>
                </a:lnTo>
                <a:lnTo>
                  <a:pt x="7039565" y="8983203"/>
                </a:lnTo>
                <a:lnTo>
                  <a:pt x="0" y="89832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323340" y="4235506"/>
            <a:ext cx="3434020" cy="1798178"/>
          </a:xfrm>
          <a:custGeom>
            <a:avLst/>
            <a:gdLst/>
            <a:ahLst/>
            <a:cxnLst/>
            <a:rect r="r" b="b" t="t" l="l"/>
            <a:pathLst>
              <a:path h="1798178" w="3434020">
                <a:moveTo>
                  <a:pt x="0" y="0"/>
                </a:moveTo>
                <a:lnTo>
                  <a:pt x="3434020" y="0"/>
                </a:lnTo>
                <a:lnTo>
                  <a:pt x="3434020" y="1798178"/>
                </a:lnTo>
                <a:lnTo>
                  <a:pt x="0" y="17981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727020" y="2478305"/>
            <a:ext cx="6659985" cy="1293333"/>
          </a:xfrm>
          <a:prstGeom prst="rect">
            <a:avLst/>
          </a:prstGeom>
        </p:spPr>
        <p:txBody>
          <a:bodyPr anchor="t" rtlCol="false" tIns="0" lIns="0" bIns="0" rIns="0">
            <a:spAutoFit/>
          </a:bodyPr>
          <a:lstStyle/>
          <a:p>
            <a:pPr algn="l">
              <a:lnSpc>
                <a:spcPts val="10574"/>
              </a:lnSpc>
              <a:spcBef>
                <a:spcPct val="0"/>
              </a:spcBef>
            </a:pPr>
            <a:r>
              <a:rPr lang="en-US" sz="7552" spc="-347">
                <a:solidFill>
                  <a:srgbClr val="EBF5FE"/>
                </a:solidFill>
                <a:latin typeface="Garet"/>
                <a:ea typeface="Garet"/>
                <a:cs typeface="Garet"/>
                <a:sym typeface="Garet"/>
              </a:rPr>
              <a:t>ECOSISTEMAS</a:t>
            </a:r>
          </a:p>
        </p:txBody>
      </p:sp>
      <p:sp>
        <p:nvSpPr>
          <p:cNvPr name="TextBox 6" id="6"/>
          <p:cNvSpPr txBox="true"/>
          <p:nvPr/>
        </p:nvSpPr>
        <p:spPr>
          <a:xfrm rot="0">
            <a:off x="1727020" y="3517402"/>
            <a:ext cx="5620038" cy="1293333"/>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GNU/LINUX</a:t>
            </a:r>
          </a:p>
        </p:txBody>
      </p:sp>
      <p:sp>
        <p:nvSpPr>
          <p:cNvPr name="Freeform 7" id="7"/>
          <p:cNvSpPr/>
          <p:nvPr/>
        </p:nvSpPr>
        <p:spPr>
          <a:xfrm flipH="false" flipV="false" rot="0">
            <a:off x="11979940" y="1028700"/>
            <a:ext cx="3434020" cy="1798178"/>
          </a:xfrm>
          <a:custGeom>
            <a:avLst/>
            <a:gdLst/>
            <a:ahLst/>
            <a:cxnLst/>
            <a:rect r="r" b="b" t="t" l="l"/>
            <a:pathLst>
              <a:path h="1798178" w="3434020">
                <a:moveTo>
                  <a:pt x="0" y="0"/>
                </a:moveTo>
                <a:lnTo>
                  <a:pt x="3434020" y="0"/>
                </a:lnTo>
                <a:lnTo>
                  <a:pt x="3434020" y="1798178"/>
                </a:lnTo>
                <a:lnTo>
                  <a:pt x="0" y="17981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27020" y="5002688"/>
            <a:ext cx="7875490" cy="1892300"/>
          </a:xfrm>
          <a:prstGeom prst="rect">
            <a:avLst/>
          </a:prstGeom>
        </p:spPr>
        <p:txBody>
          <a:bodyPr anchor="t" rtlCol="false" tIns="0" lIns="0" bIns="0" rIns="0">
            <a:spAutoFit/>
          </a:bodyPr>
          <a:lstStyle/>
          <a:p>
            <a:pPr algn="l" marL="496571" indent="-248285" lvl="1">
              <a:lnSpc>
                <a:spcPts val="3220"/>
              </a:lnSpc>
              <a:buFont typeface="Arial"/>
              <a:buChar char="•"/>
            </a:pPr>
            <a:r>
              <a:rPr lang="en-US" sz="2300" spc="-105">
                <a:solidFill>
                  <a:srgbClr val="EBF5FE"/>
                </a:solidFill>
                <a:latin typeface="Garet"/>
                <a:ea typeface="Garet"/>
                <a:cs typeface="Garet"/>
                <a:sym typeface="Garet"/>
              </a:rPr>
              <a:t>Filosofía de software libre y código abierto.</a:t>
            </a:r>
          </a:p>
          <a:p>
            <a:pPr algn="just">
              <a:lnSpc>
                <a:spcPts val="3220"/>
              </a:lnSpc>
            </a:pPr>
          </a:p>
          <a:p>
            <a:pPr algn="l" marL="496571" indent="-248285" lvl="1">
              <a:lnSpc>
                <a:spcPts val="3220"/>
              </a:lnSpc>
              <a:buFont typeface="Arial"/>
              <a:buChar char="•"/>
            </a:pPr>
            <a:r>
              <a:rPr lang="en-US" sz="2300" spc="-105">
                <a:solidFill>
                  <a:srgbClr val="EBF5FE"/>
                </a:solidFill>
                <a:latin typeface="Garet"/>
                <a:ea typeface="Garet"/>
                <a:cs typeface="Garet"/>
                <a:sym typeface="Garet"/>
              </a:rPr>
              <a:t>D</a:t>
            </a:r>
            <a:r>
              <a:rPr lang="en-US" sz="2300" spc="-105">
                <a:solidFill>
                  <a:srgbClr val="EBF5FE"/>
                </a:solidFill>
                <a:latin typeface="Garet"/>
                <a:ea typeface="Garet"/>
                <a:cs typeface="Garet"/>
                <a:sym typeface="Garet"/>
              </a:rPr>
              <a:t>iferencia entre el kernel de Linux y el sistema operativo GNU.</a:t>
            </a:r>
          </a:p>
          <a:p>
            <a:pPr algn="just">
              <a:lnSpc>
                <a:spcPts val="238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50385" y="7709520"/>
            <a:ext cx="4017831" cy="701294"/>
          </a:xfrm>
          <a:custGeom>
            <a:avLst/>
            <a:gdLst/>
            <a:ahLst/>
            <a:cxnLst/>
            <a:rect r="r" b="b" t="t" l="l"/>
            <a:pathLst>
              <a:path h="701294" w="4017831">
                <a:moveTo>
                  <a:pt x="0" y="0"/>
                </a:moveTo>
                <a:lnTo>
                  <a:pt x="4017830" y="0"/>
                </a:lnTo>
                <a:lnTo>
                  <a:pt x="4017830" y="701294"/>
                </a:lnTo>
                <a:lnTo>
                  <a:pt x="0" y="701294"/>
                </a:lnTo>
                <a:lnTo>
                  <a:pt x="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299153" y="904875"/>
            <a:ext cx="7689694" cy="1065992"/>
          </a:xfrm>
          <a:prstGeom prst="rect">
            <a:avLst/>
          </a:prstGeom>
        </p:spPr>
        <p:txBody>
          <a:bodyPr anchor="t" rtlCol="false" tIns="0" lIns="0" bIns="0" rIns="0">
            <a:spAutoFit/>
          </a:bodyPr>
          <a:lstStyle/>
          <a:p>
            <a:pPr algn="ctr">
              <a:lnSpc>
                <a:spcPts val="8703"/>
              </a:lnSpc>
              <a:spcBef>
                <a:spcPct val="0"/>
              </a:spcBef>
            </a:pPr>
            <a:r>
              <a:rPr lang="en-US" sz="6217" spc="-285">
                <a:solidFill>
                  <a:srgbClr val="EBF5FE"/>
                </a:solidFill>
                <a:latin typeface="Garet"/>
                <a:ea typeface="Garet"/>
                <a:cs typeface="Garet"/>
                <a:sym typeface="Garet"/>
              </a:rPr>
              <a:t>FILOSOFÍA DE </a:t>
            </a:r>
          </a:p>
        </p:txBody>
      </p:sp>
      <p:sp>
        <p:nvSpPr>
          <p:cNvPr name="TextBox 5" id="5"/>
          <p:cNvSpPr txBox="true"/>
          <p:nvPr/>
        </p:nvSpPr>
        <p:spPr>
          <a:xfrm rot="0">
            <a:off x="4448926" y="1796962"/>
            <a:ext cx="9390148" cy="2166073"/>
          </a:xfrm>
          <a:prstGeom prst="rect">
            <a:avLst/>
          </a:prstGeom>
        </p:spPr>
        <p:txBody>
          <a:bodyPr anchor="t" rtlCol="false" tIns="0" lIns="0" bIns="0" rIns="0">
            <a:spAutoFit/>
          </a:bodyPr>
          <a:lstStyle/>
          <a:p>
            <a:pPr algn="ctr">
              <a:lnSpc>
                <a:spcPts val="8703"/>
              </a:lnSpc>
              <a:spcBef>
                <a:spcPct val="0"/>
              </a:spcBef>
            </a:pPr>
            <a:r>
              <a:rPr lang="en-US" b="true" sz="6217" spc="-285">
                <a:solidFill>
                  <a:srgbClr val="EBF5FE"/>
                </a:solidFill>
                <a:latin typeface="Garet Bold"/>
                <a:ea typeface="Garet Bold"/>
                <a:cs typeface="Garet Bold"/>
                <a:sym typeface="Garet Bold"/>
              </a:rPr>
              <a:t>SOFTWARE LIBRE Y CÓDIGO ABIERTO</a:t>
            </a:r>
          </a:p>
        </p:txBody>
      </p:sp>
      <p:sp>
        <p:nvSpPr>
          <p:cNvPr name="TextBox 6" id="6"/>
          <p:cNvSpPr txBox="true"/>
          <p:nvPr/>
        </p:nvSpPr>
        <p:spPr>
          <a:xfrm rot="0">
            <a:off x="1517394" y="4324985"/>
            <a:ext cx="8227599" cy="51898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“Software libre” significa software que respeta la libertad y la comunidad de los usuarios. En términos generales, significa que los usuarios tienen la libertad de ejecutar, copiar, distribuir, estudiar, cambiar y mejorar el software.</a:t>
            </a:r>
          </a:p>
          <a:p>
            <a:pPr algn="just">
              <a:lnSpc>
                <a:spcPts val="3219"/>
              </a:lnSpc>
            </a:pPr>
          </a:p>
          <a:p>
            <a:pPr algn="just">
              <a:lnSpc>
                <a:spcPts val="3219"/>
              </a:lnSpc>
            </a:pPr>
            <a:r>
              <a:rPr lang="en-US" sz="2299" spc="-105">
                <a:solidFill>
                  <a:srgbClr val="EBF5FE"/>
                </a:solidFill>
                <a:latin typeface="Garet"/>
                <a:ea typeface="Garet"/>
                <a:cs typeface="Garet"/>
                <a:sym typeface="Garet"/>
              </a:rPr>
              <a:t>Por tanto, “software libre” es una cuestión de libertad, no de precio. </a:t>
            </a:r>
          </a:p>
          <a:p>
            <a:pPr algn="just">
              <a:lnSpc>
                <a:spcPts val="3219"/>
              </a:lnSpc>
            </a:pPr>
          </a:p>
          <a:p>
            <a:pPr algn="just">
              <a:lnSpc>
                <a:spcPts val="3219"/>
              </a:lnSpc>
              <a:spcBef>
                <a:spcPct val="0"/>
              </a:spcBef>
            </a:pPr>
            <a:r>
              <a:rPr lang="en-US" sz="2299" spc="-105">
                <a:solidFill>
                  <a:srgbClr val="EBF5FE"/>
                </a:solidFill>
                <a:latin typeface="Garet"/>
                <a:ea typeface="Garet"/>
                <a:cs typeface="Garet"/>
                <a:sym typeface="Garet"/>
              </a:rPr>
              <a:t>Cuando los usuarios no controlan el programa, lo llamamos programa “no libre” o “propietario”. El programa no libre controla a los usuarios y el desarrollador controla el programa; esto hace que el programa sea un instrumento del poder injusto.</a:t>
            </a:r>
          </a:p>
        </p:txBody>
      </p:sp>
      <p:sp>
        <p:nvSpPr>
          <p:cNvPr name="TextBox 7" id="7"/>
          <p:cNvSpPr txBox="true"/>
          <p:nvPr/>
        </p:nvSpPr>
        <p:spPr>
          <a:xfrm rot="0">
            <a:off x="10890751" y="4470512"/>
            <a:ext cx="5896646" cy="4789805"/>
          </a:xfrm>
          <a:prstGeom prst="rect">
            <a:avLst/>
          </a:prstGeom>
        </p:spPr>
        <p:txBody>
          <a:bodyPr anchor="t" rtlCol="false" tIns="0" lIns="0" bIns="0" rIns="0">
            <a:spAutoFit/>
          </a:bodyPr>
          <a:lstStyle/>
          <a:p>
            <a:pPr algn="l" marL="496567" indent="-248284" lvl="1">
              <a:lnSpc>
                <a:spcPts val="3219"/>
              </a:lnSpc>
              <a:buFont typeface="Arial"/>
              <a:buChar char="•"/>
            </a:pPr>
            <a:r>
              <a:rPr lang="en-US" sz="2299" spc="-105">
                <a:solidFill>
                  <a:srgbClr val="EBF5FE"/>
                </a:solidFill>
                <a:latin typeface="Garet"/>
                <a:ea typeface="Garet"/>
                <a:cs typeface="Garet"/>
                <a:sym typeface="Garet"/>
              </a:rPr>
              <a:t>Ej</a:t>
            </a:r>
            <a:r>
              <a:rPr lang="en-US" sz="2299" spc="-105">
                <a:solidFill>
                  <a:srgbClr val="EBF5FE"/>
                </a:solidFill>
                <a:latin typeface="Garet"/>
                <a:ea typeface="Garet"/>
                <a:cs typeface="Garet"/>
                <a:sym typeface="Garet"/>
              </a:rPr>
              <a:t>ecutar el programa como desees, para cualquier propósito.</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Estudiar cómo funciona el programa y modificarlo para que realice sus cálculos como desee.</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Redistribuir copias para poder ayudar a otros .</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Distribuir copias de sus versiones modificadas a otros.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16233" y="1463560"/>
            <a:ext cx="6481294" cy="7359879"/>
          </a:xfrm>
          <a:custGeom>
            <a:avLst/>
            <a:gdLst/>
            <a:ahLst/>
            <a:cxnLst/>
            <a:rect r="r" b="b" t="t" l="l"/>
            <a:pathLst>
              <a:path h="7359879" w="6481294">
                <a:moveTo>
                  <a:pt x="0" y="0"/>
                </a:moveTo>
                <a:lnTo>
                  <a:pt x="6481294" y="0"/>
                </a:lnTo>
                <a:lnTo>
                  <a:pt x="6481294" y="7359880"/>
                </a:lnTo>
                <a:lnTo>
                  <a:pt x="0" y="7359880"/>
                </a:lnTo>
                <a:lnTo>
                  <a:pt x="0" y="0"/>
                </a:lnTo>
                <a:close/>
              </a:path>
            </a:pathLst>
          </a:custGeom>
          <a:blipFill>
            <a:blip r:embed="rId4"/>
            <a:stretch>
              <a:fillRect l="0" t="0" r="0" b="0"/>
            </a:stretch>
          </a:blipFill>
        </p:spPr>
      </p:sp>
      <p:sp>
        <p:nvSpPr>
          <p:cNvPr name="TextBox 4" id="4"/>
          <p:cNvSpPr txBox="true"/>
          <p:nvPr/>
        </p:nvSpPr>
        <p:spPr>
          <a:xfrm rot="0">
            <a:off x="1942720" y="1710368"/>
            <a:ext cx="6535166" cy="10708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GNU/LINUX</a:t>
            </a:r>
          </a:p>
        </p:txBody>
      </p:sp>
      <p:sp>
        <p:nvSpPr>
          <p:cNvPr name="TextBox 5" id="5"/>
          <p:cNvSpPr txBox="true"/>
          <p:nvPr/>
        </p:nvSpPr>
        <p:spPr>
          <a:xfrm rot="0">
            <a:off x="1922918" y="3090683"/>
            <a:ext cx="9232033" cy="558990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Es una familia de sistemas operativos tipo Unix compuesto por</a:t>
            </a:r>
          </a:p>
          <a:p>
            <a:pPr algn="just">
              <a:lnSpc>
                <a:spcPts val="3219"/>
              </a:lnSpc>
            </a:pPr>
            <a:r>
              <a:rPr lang="en-US" sz="2299" spc="-105">
                <a:solidFill>
                  <a:srgbClr val="EBF5FE"/>
                </a:solidFill>
                <a:latin typeface="Garet"/>
                <a:ea typeface="Garet"/>
                <a:cs typeface="Garet"/>
                <a:sym typeface="Garet"/>
              </a:rPr>
              <a:t>softw</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re libre y de código abierto.</a:t>
            </a:r>
          </a:p>
          <a:p>
            <a:pPr algn="just">
              <a:lnSpc>
                <a:spcPts val="3219"/>
              </a:lnSpc>
            </a:pPr>
            <a:r>
              <a:rPr lang="en-US" sz="2299" spc="-105">
                <a:solidFill>
                  <a:srgbClr val="EBF5FE"/>
                </a:solidFill>
                <a:latin typeface="Garet"/>
                <a:ea typeface="Garet"/>
                <a:cs typeface="Garet"/>
                <a:sym typeface="Garet"/>
              </a:rPr>
              <a:t>U</a:t>
            </a:r>
            <a:r>
              <a:rPr lang="en-US" sz="2299" spc="-105">
                <a:solidFill>
                  <a:srgbClr val="EBF5FE"/>
                </a:solidFill>
                <a:latin typeface="Garet"/>
                <a:ea typeface="Garet"/>
                <a:cs typeface="Garet"/>
                <a:sym typeface="Garet"/>
              </a:rPr>
              <a:t>s</a:t>
            </a:r>
            <a:r>
              <a:rPr lang="en-US" sz="2299" spc="-105">
                <a:solidFill>
                  <a:srgbClr val="EBF5FE"/>
                </a:solidFill>
                <a:latin typeface="Garet"/>
                <a:ea typeface="Garet"/>
                <a:cs typeface="Garet"/>
                <a:sym typeface="Garet"/>
              </a:rPr>
              <a:t>ualmente se </a:t>
            </a:r>
            <a:r>
              <a:rPr lang="en-US" sz="2299" spc="-105">
                <a:solidFill>
                  <a:srgbClr val="EBF5FE"/>
                </a:solidFill>
                <a:latin typeface="Garet"/>
                <a:ea typeface="Garet"/>
                <a:cs typeface="Garet"/>
                <a:sym typeface="Garet"/>
              </a:rPr>
              <a:t>d</a:t>
            </a:r>
            <a:r>
              <a:rPr lang="en-US" sz="2299" spc="-105">
                <a:solidFill>
                  <a:srgbClr val="EBF5FE"/>
                </a:solidFill>
                <a:latin typeface="Garet"/>
                <a:ea typeface="Garet"/>
                <a:cs typeface="Garet"/>
                <a:sym typeface="Garet"/>
              </a:rPr>
              <a:t>ice ‘Linux’ par</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 referirse al sistema operativo,</a:t>
            </a:r>
          </a:p>
          <a:p>
            <a:pPr algn="just">
              <a:lnSpc>
                <a:spcPts val="3219"/>
              </a:lnSpc>
            </a:pPr>
            <a:r>
              <a:rPr lang="en-US" sz="2299" spc="-105">
                <a:solidFill>
                  <a:srgbClr val="EBF5FE"/>
                </a:solidFill>
                <a:latin typeface="Garet"/>
                <a:ea typeface="Garet"/>
                <a:cs typeface="Garet"/>
                <a:sym typeface="Garet"/>
              </a:rPr>
              <a:t>pero en reali</a:t>
            </a:r>
            <a:r>
              <a:rPr lang="en-US" sz="2299" spc="-105">
                <a:solidFill>
                  <a:srgbClr val="EBF5FE"/>
                </a:solidFill>
                <a:latin typeface="Garet"/>
                <a:ea typeface="Garet"/>
                <a:cs typeface="Garet"/>
                <a:sym typeface="Garet"/>
              </a:rPr>
              <a:t>da</a:t>
            </a:r>
            <a:r>
              <a:rPr lang="en-US" sz="2299" spc="-105">
                <a:solidFill>
                  <a:srgbClr val="EBF5FE"/>
                </a:solidFill>
                <a:latin typeface="Garet"/>
                <a:ea typeface="Garet"/>
                <a:cs typeface="Garet"/>
                <a:sym typeface="Garet"/>
              </a:rPr>
              <a:t>d e</a:t>
            </a:r>
            <a:r>
              <a:rPr lang="en-US" sz="2299" spc="-105">
                <a:solidFill>
                  <a:srgbClr val="EBF5FE"/>
                </a:solidFill>
                <a:latin typeface="Garet"/>
                <a:ea typeface="Garet"/>
                <a:cs typeface="Garet"/>
                <a:sym typeface="Garet"/>
              </a:rPr>
              <a:t>s</a:t>
            </a:r>
            <a:r>
              <a:rPr lang="en-US" sz="2299" spc="-105">
                <a:solidFill>
                  <a:srgbClr val="EBF5FE"/>
                </a:solidFill>
                <a:latin typeface="Garet"/>
                <a:ea typeface="Garet"/>
                <a:cs typeface="Garet"/>
                <a:sym typeface="Garet"/>
              </a:rPr>
              <a:t>e es el nombre del kernel, que representa</a:t>
            </a:r>
          </a:p>
          <a:p>
            <a:pPr algn="just">
              <a:lnSpc>
                <a:spcPts val="3219"/>
              </a:lnSpc>
            </a:pPr>
            <a:r>
              <a:rPr lang="en-US" sz="2299" spc="-105">
                <a:solidFill>
                  <a:srgbClr val="EBF5FE"/>
                </a:solidFill>
                <a:latin typeface="Garet"/>
                <a:ea typeface="Garet"/>
                <a:cs typeface="Garet"/>
                <a:sym typeface="Garet"/>
              </a:rPr>
              <a:t>menos del 50 por ciento de todo el código del sistema. El</a:t>
            </a:r>
          </a:p>
          <a:p>
            <a:pPr algn="just">
              <a:lnSpc>
                <a:spcPts val="3219"/>
              </a:lnSpc>
            </a:pPr>
            <a:r>
              <a:rPr lang="en-US" sz="2299" spc="-105">
                <a:solidFill>
                  <a:srgbClr val="EBF5FE"/>
                </a:solidFill>
                <a:latin typeface="Garet"/>
                <a:ea typeface="Garet"/>
                <a:cs typeface="Garet"/>
                <a:sym typeface="Garet"/>
              </a:rPr>
              <a:t>sistema completo está formado también por una gran cantidad</a:t>
            </a:r>
          </a:p>
          <a:p>
            <a:pPr algn="just">
              <a:lnSpc>
                <a:spcPts val="3219"/>
              </a:lnSpc>
            </a:pPr>
            <a:r>
              <a:rPr lang="en-US" sz="2299" spc="-105">
                <a:solidFill>
                  <a:srgbClr val="EBF5FE"/>
                </a:solidFill>
                <a:latin typeface="Garet"/>
                <a:ea typeface="Garet"/>
                <a:cs typeface="Garet"/>
                <a:sym typeface="Garet"/>
              </a:rPr>
              <a:t>de componentes del Proyecto G</a:t>
            </a:r>
            <a:r>
              <a:rPr lang="en-US" sz="2299" spc="-105">
                <a:solidFill>
                  <a:srgbClr val="EBF5FE"/>
                </a:solidFill>
                <a:latin typeface="Garet"/>
                <a:ea typeface="Garet"/>
                <a:cs typeface="Garet"/>
                <a:sym typeface="Garet"/>
              </a:rPr>
              <a:t>N</a:t>
            </a:r>
            <a:r>
              <a:rPr lang="en-US" sz="2299" spc="-105">
                <a:solidFill>
                  <a:srgbClr val="EBF5FE"/>
                </a:solidFill>
                <a:latin typeface="Garet"/>
                <a:ea typeface="Garet"/>
                <a:cs typeface="Garet"/>
                <a:sym typeface="Garet"/>
              </a:rPr>
              <a:t>U junto a componentes de</a:t>
            </a:r>
          </a:p>
          <a:p>
            <a:pPr algn="just">
              <a:lnSpc>
                <a:spcPts val="3219"/>
              </a:lnSpc>
            </a:pPr>
            <a:r>
              <a:rPr lang="en-US" sz="2299" spc="-105">
                <a:solidFill>
                  <a:srgbClr val="EBF5FE"/>
                </a:solidFill>
                <a:latin typeface="Garet"/>
                <a:ea typeface="Garet"/>
                <a:cs typeface="Garet"/>
                <a:sym typeface="Garet"/>
              </a:rPr>
              <a:t>terceros, que v</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n de</a:t>
            </a:r>
            <a:r>
              <a:rPr lang="en-US" sz="2299" spc="-105">
                <a:solidFill>
                  <a:srgbClr val="EBF5FE"/>
                </a:solidFill>
                <a:latin typeface="Garet"/>
                <a:ea typeface="Garet"/>
                <a:cs typeface="Garet"/>
                <a:sym typeface="Garet"/>
              </a:rPr>
              <a:t>sd</a:t>
            </a:r>
            <a:r>
              <a:rPr lang="en-US" sz="2299" spc="-105">
                <a:solidFill>
                  <a:srgbClr val="EBF5FE"/>
                </a:solidFill>
                <a:latin typeface="Garet"/>
                <a:ea typeface="Garet"/>
                <a:cs typeface="Garet"/>
                <a:sym typeface="Garet"/>
              </a:rPr>
              <a:t>e compil</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dores hasta entornos de</a:t>
            </a:r>
          </a:p>
          <a:p>
            <a:pPr algn="just">
              <a:lnSpc>
                <a:spcPts val="3219"/>
              </a:lnSpc>
            </a:pPr>
            <a:r>
              <a:rPr lang="en-US" sz="2299" spc="-105">
                <a:solidFill>
                  <a:srgbClr val="EBF5FE"/>
                </a:solidFill>
                <a:latin typeface="Garet"/>
                <a:ea typeface="Garet"/>
                <a:cs typeface="Garet"/>
                <a:sym typeface="Garet"/>
              </a:rPr>
              <a:t>escritorio.</a:t>
            </a:r>
          </a:p>
          <a:p>
            <a:pPr algn="just">
              <a:lnSpc>
                <a:spcPts val="3219"/>
              </a:lnSpc>
            </a:pPr>
            <a:r>
              <a:rPr lang="en-US" sz="2299" spc="-105">
                <a:solidFill>
                  <a:srgbClr val="EBF5FE"/>
                </a:solidFill>
                <a:latin typeface="Garet"/>
                <a:ea typeface="Garet"/>
                <a:cs typeface="Garet"/>
                <a:sym typeface="Garet"/>
              </a:rPr>
              <a:t>Cabe señalar que existen derivados que usan el núcleo Linux</a:t>
            </a:r>
          </a:p>
          <a:p>
            <a:pPr algn="just">
              <a:lnSpc>
                <a:spcPts val="3219"/>
              </a:lnSpc>
            </a:pPr>
            <a:r>
              <a:rPr lang="en-US" sz="2299" spc="-105">
                <a:solidFill>
                  <a:srgbClr val="EBF5FE"/>
                </a:solidFill>
                <a:latin typeface="Garet"/>
                <a:ea typeface="Garet"/>
                <a:cs typeface="Garet"/>
                <a:sym typeface="Garet"/>
              </a:rPr>
              <a:t>pero que no tienen componentes GNU, como el </a:t>
            </a:r>
            <a:r>
              <a:rPr lang="en-US" sz="2299" spc="-105">
                <a:solidFill>
                  <a:srgbClr val="EBF5FE"/>
                </a:solidFill>
                <a:latin typeface="Garet"/>
                <a:ea typeface="Garet"/>
                <a:cs typeface="Garet"/>
                <a:sym typeface="Garet"/>
              </a:rPr>
              <a:t>s</a:t>
            </a:r>
            <a:r>
              <a:rPr lang="en-US" sz="2299" spc="-105">
                <a:solidFill>
                  <a:srgbClr val="EBF5FE"/>
                </a:solidFill>
                <a:latin typeface="Garet"/>
                <a:ea typeface="Garet"/>
                <a:cs typeface="Garet"/>
                <a:sym typeface="Garet"/>
              </a:rPr>
              <a:t>istema</a:t>
            </a:r>
          </a:p>
          <a:p>
            <a:pPr algn="just">
              <a:lnSpc>
                <a:spcPts val="3219"/>
              </a:lnSpc>
            </a:pPr>
            <a:r>
              <a:rPr lang="en-US" sz="2299" spc="-105">
                <a:solidFill>
                  <a:srgbClr val="EBF5FE"/>
                </a:solidFill>
                <a:latin typeface="Garet"/>
                <a:ea typeface="Garet"/>
                <a:cs typeface="Garet"/>
                <a:sym typeface="Garet"/>
              </a:rPr>
              <a:t>operativo An</a:t>
            </a:r>
            <a:r>
              <a:rPr lang="en-US" sz="2299" spc="-105">
                <a:solidFill>
                  <a:srgbClr val="EBF5FE"/>
                </a:solidFill>
                <a:latin typeface="Garet"/>
                <a:ea typeface="Garet"/>
                <a:cs typeface="Garet"/>
                <a:sym typeface="Garet"/>
              </a:rPr>
              <a:t>d</a:t>
            </a:r>
            <a:r>
              <a:rPr lang="en-US" sz="2299" spc="-105">
                <a:solidFill>
                  <a:srgbClr val="EBF5FE"/>
                </a:solidFill>
                <a:latin typeface="Garet"/>
                <a:ea typeface="Garet"/>
                <a:cs typeface="Garet"/>
                <a:sym typeface="Garet"/>
              </a:rPr>
              <a:t>roid, </a:t>
            </a:r>
            <a:r>
              <a:rPr lang="en-US" sz="2299" spc="-105">
                <a:solidFill>
                  <a:srgbClr val="EBF5FE"/>
                </a:solidFill>
                <a:latin typeface="Garet"/>
                <a:ea typeface="Garet"/>
                <a:cs typeface="Garet"/>
                <a:sym typeface="Garet"/>
              </a:rPr>
              <a:t>as</a:t>
            </a:r>
            <a:r>
              <a:rPr lang="en-US" sz="2299" spc="-105">
                <a:solidFill>
                  <a:srgbClr val="EBF5FE"/>
                </a:solidFill>
                <a:latin typeface="Garet"/>
                <a:ea typeface="Garet"/>
                <a:cs typeface="Garet"/>
                <a:sym typeface="Garet"/>
              </a:rPr>
              <a:t>i como también existen </a:t>
            </a:r>
            <a:r>
              <a:rPr lang="en-US" sz="2299" spc="-105">
                <a:solidFill>
                  <a:srgbClr val="EBF5FE"/>
                </a:solidFill>
                <a:latin typeface="Garet"/>
                <a:ea typeface="Garet"/>
                <a:cs typeface="Garet"/>
                <a:sym typeface="Garet"/>
              </a:rPr>
              <a:t>d</a:t>
            </a:r>
            <a:r>
              <a:rPr lang="en-US" sz="2299" spc="-105">
                <a:solidFill>
                  <a:srgbClr val="EBF5FE"/>
                </a:solidFill>
                <a:latin typeface="Garet"/>
                <a:ea typeface="Garet"/>
                <a:cs typeface="Garet"/>
                <a:sym typeface="Garet"/>
              </a:rPr>
              <a:t>istribuciones de</a:t>
            </a:r>
          </a:p>
          <a:p>
            <a:pPr algn="just">
              <a:lnSpc>
                <a:spcPts val="3219"/>
              </a:lnSpc>
            </a:pPr>
            <a:r>
              <a:rPr lang="en-US" sz="2299" spc="-105">
                <a:solidFill>
                  <a:srgbClr val="EBF5FE"/>
                </a:solidFill>
                <a:latin typeface="Garet"/>
                <a:ea typeface="Garet"/>
                <a:cs typeface="Garet"/>
                <a:sym typeface="Garet"/>
              </a:rPr>
              <a:t>software GNU donde el núcleo Linux está ausente como</a:t>
            </a:r>
          </a:p>
          <a:p>
            <a:pPr algn="just">
              <a:lnSpc>
                <a:spcPts val="3219"/>
              </a:lnSpc>
              <a:spcBef>
                <a:spcPct val="0"/>
              </a:spcBef>
            </a:pPr>
            <a:r>
              <a:rPr lang="en-US" sz="2299" spc="-105">
                <a:solidFill>
                  <a:srgbClr val="EBF5FE"/>
                </a:solidFill>
                <a:latin typeface="Garet"/>
                <a:ea typeface="Garet"/>
                <a:cs typeface="Garet"/>
                <a:sym typeface="Garet"/>
              </a:rPr>
              <a:t>FreeBSD.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82946" y="2971827"/>
            <a:ext cx="7684615" cy="6063790"/>
          </a:xfrm>
          <a:custGeom>
            <a:avLst/>
            <a:gdLst/>
            <a:ahLst/>
            <a:cxnLst/>
            <a:rect r="r" b="b" t="t" l="l"/>
            <a:pathLst>
              <a:path h="6063790" w="7684615">
                <a:moveTo>
                  <a:pt x="0" y="0"/>
                </a:moveTo>
                <a:lnTo>
                  <a:pt x="7684615" y="0"/>
                </a:lnTo>
                <a:lnTo>
                  <a:pt x="7684615" y="6063790"/>
                </a:lnTo>
                <a:lnTo>
                  <a:pt x="0" y="6063790"/>
                </a:lnTo>
                <a:lnTo>
                  <a:pt x="0" y="0"/>
                </a:lnTo>
                <a:close/>
              </a:path>
            </a:pathLst>
          </a:custGeom>
          <a:blipFill>
            <a:blip r:embed="rId4"/>
            <a:stretch>
              <a:fillRect l="0" t="0" r="0" b="0"/>
            </a:stretch>
          </a:blipFill>
        </p:spPr>
      </p:sp>
      <p:sp>
        <p:nvSpPr>
          <p:cNvPr name="TextBox 4" id="4"/>
          <p:cNvSpPr txBox="true"/>
          <p:nvPr/>
        </p:nvSpPr>
        <p:spPr>
          <a:xfrm rot="0">
            <a:off x="1922918" y="1743793"/>
            <a:ext cx="6902838" cy="10708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KERNEL DE LINUX</a:t>
            </a:r>
          </a:p>
        </p:txBody>
      </p:sp>
      <p:sp>
        <p:nvSpPr>
          <p:cNvPr name="TextBox 5" id="5"/>
          <p:cNvSpPr txBox="true"/>
          <p:nvPr/>
        </p:nvSpPr>
        <p:spPr>
          <a:xfrm rot="0">
            <a:off x="1922918" y="3090683"/>
            <a:ext cx="6624908" cy="558990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Actúa como la interfaz princip</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l entre el hardw</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re y los proceso</a:t>
            </a:r>
            <a:r>
              <a:rPr lang="en-US" sz="2299" spc="-105">
                <a:solidFill>
                  <a:srgbClr val="EBF5FE"/>
                </a:solidFill>
                <a:latin typeface="Garet"/>
                <a:ea typeface="Garet"/>
                <a:cs typeface="Garet"/>
                <a:sym typeface="Garet"/>
              </a:rPr>
              <a:t>s.</a:t>
            </a:r>
          </a:p>
          <a:p>
            <a:pPr algn="just">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G</a:t>
            </a:r>
            <a:r>
              <a:rPr lang="en-US" sz="2299" spc="-105">
                <a:solidFill>
                  <a:srgbClr val="EBF5FE"/>
                </a:solidFill>
                <a:latin typeface="Garet"/>
                <a:ea typeface="Garet"/>
                <a:cs typeface="Garet"/>
                <a:sym typeface="Garet"/>
              </a:rPr>
              <a:t>estor de Procesos: Planificación y multitarea.</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Gestión de Memoria: Paginación y segment</a:t>
            </a:r>
            <a:r>
              <a:rPr lang="en-US" sz="2299" spc="-105">
                <a:solidFill>
                  <a:srgbClr val="EBF5FE"/>
                </a:solidFill>
                <a:latin typeface="Garet"/>
                <a:ea typeface="Garet"/>
                <a:cs typeface="Garet"/>
                <a:sym typeface="Garet"/>
              </a:rPr>
              <a:t>a</a:t>
            </a:r>
            <a:r>
              <a:rPr lang="en-US" sz="2299" spc="-105">
                <a:solidFill>
                  <a:srgbClr val="EBF5FE"/>
                </a:solidFill>
                <a:latin typeface="Garet"/>
                <a:ea typeface="Garet"/>
                <a:cs typeface="Garet"/>
                <a:sym typeface="Garet"/>
              </a:rPr>
              <a:t>ción.</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Subsistema de Archivos: Interfaz común (VFS).</a:t>
            </a:r>
          </a:p>
          <a:p>
            <a:pPr algn="l">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Syscalls: API para </a:t>
            </a:r>
            <a:r>
              <a:rPr lang="en-US" sz="2299" spc="-105">
                <a:solidFill>
                  <a:srgbClr val="EBF5FE"/>
                </a:solidFill>
                <a:latin typeface="Garet"/>
                <a:ea typeface="Garet"/>
                <a:cs typeface="Garet"/>
                <a:sym typeface="Garet"/>
              </a:rPr>
              <a:t>sol</a:t>
            </a:r>
            <a:r>
              <a:rPr lang="en-US" sz="2299" spc="-105">
                <a:solidFill>
                  <a:srgbClr val="EBF5FE"/>
                </a:solidFill>
                <a:latin typeface="Garet"/>
                <a:ea typeface="Garet"/>
                <a:cs typeface="Garet"/>
                <a:sym typeface="Garet"/>
              </a:rPr>
              <a:t>icitudes del usuario.</a:t>
            </a:r>
          </a:p>
          <a:p>
            <a:pPr algn="just">
              <a:lnSpc>
                <a:spcPts val="321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82946" y="3024669"/>
            <a:ext cx="7684615" cy="5638059"/>
          </a:xfrm>
          <a:custGeom>
            <a:avLst/>
            <a:gdLst/>
            <a:ahLst/>
            <a:cxnLst/>
            <a:rect r="r" b="b" t="t" l="l"/>
            <a:pathLst>
              <a:path h="5638059" w="7684615">
                <a:moveTo>
                  <a:pt x="0" y="0"/>
                </a:moveTo>
                <a:lnTo>
                  <a:pt x="7684615" y="0"/>
                </a:lnTo>
                <a:lnTo>
                  <a:pt x="7684615" y="5638060"/>
                </a:lnTo>
                <a:lnTo>
                  <a:pt x="0" y="5638060"/>
                </a:lnTo>
                <a:lnTo>
                  <a:pt x="0" y="0"/>
                </a:lnTo>
                <a:close/>
              </a:path>
            </a:pathLst>
          </a:custGeom>
          <a:blipFill>
            <a:blip r:embed="rId4"/>
            <a:stretch>
              <a:fillRect l="0" t="0" r="0" b="0"/>
            </a:stretch>
          </a:blipFill>
        </p:spPr>
      </p:sp>
      <p:sp>
        <p:nvSpPr>
          <p:cNvPr name="TextBox 4" id="4"/>
          <p:cNvSpPr txBox="true"/>
          <p:nvPr/>
        </p:nvSpPr>
        <p:spPr>
          <a:xfrm rot="0">
            <a:off x="1922918" y="1743793"/>
            <a:ext cx="6902838" cy="21757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ESTRUCTURA CARPETAS</a:t>
            </a:r>
          </a:p>
        </p:txBody>
      </p:sp>
      <p:sp>
        <p:nvSpPr>
          <p:cNvPr name="TextBox 5" id="5"/>
          <p:cNvSpPr txBox="true"/>
          <p:nvPr/>
        </p:nvSpPr>
        <p:spPr>
          <a:xfrm rot="0">
            <a:off x="1922918" y="4227122"/>
            <a:ext cx="6624908" cy="43897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AEl código fuente del kernel de Linux está organizado en varios subdirectorios d</a:t>
            </a:r>
            <a:r>
              <a:rPr lang="en-US" sz="2299" spc="-105">
                <a:solidFill>
                  <a:srgbClr val="EBF5FE"/>
                </a:solidFill>
                <a:latin typeface="Garet"/>
                <a:ea typeface="Garet"/>
                <a:cs typeface="Garet"/>
                <a:sym typeface="Garet"/>
              </a:rPr>
              <a:t>entro del árbol de código principal, cada uno dedicado a un subsistema específico.</a:t>
            </a:r>
          </a:p>
          <a:p>
            <a:pPr algn="just">
              <a:lnSpc>
                <a:spcPts val="3219"/>
              </a:lnSpc>
            </a:pPr>
          </a:p>
          <a:p>
            <a:pPr algn="just">
              <a:lnSpc>
                <a:spcPts val="3219"/>
              </a:lnSpc>
            </a:pPr>
            <a:r>
              <a:rPr lang="en-US" sz="2299" spc="-105">
                <a:solidFill>
                  <a:srgbClr val="EBF5FE"/>
                </a:solidFill>
                <a:latin typeface="Garet"/>
                <a:ea typeface="Garet"/>
                <a:cs typeface="Garet"/>
                <a:sym typeface="Garet"/>
              </a:rPr>
              <a:t>E</a:t>
            </a:r>
            <a:r>
              <a:rPr lang="en-US" sz="2299" spc="-105">
                <a:solidFill>
                  <a:srgbClr val="EBF5FE"/>
                </a:solidFill>
                <a:latin typeface="Garet"/>
                <a:ea typeface="Garet"/>
                <a:cs typeface="Garet"/>
                <a:sym typeface="Garet"/>
              </a:rPr>
              <a:t>sta estructura modular permite mantener el código bien organizado y facilita e</a:t>
            </a:r>
            <a:r>
              <a:rPr lang="en-US" sz="2299" spc="-105">
                <a:solidFill>
                  <a:srgbClr val="EBF5FE"/>
                </a:solidFill>
                <a:latin typeface="Garet"/>
                <a:ea typeface="Garet"/>
                <a:cs typeface="Garet"/>
                <a:sym typeface="Garet"/>
              </a:rPr>
              <a:t>l manten</a:t>
            </a:r>
            <a:r>
              <a:rPr lang="en-US" sz="2299" spc="-105">
                <a:solidFill>
                  <a:srgbClr val="EBF5FE"/>
                </a:solidFill>
                <a:latin typeface="Garet"/>
                <a:ea typeface="Garet"/>
                <a:cs typeface="Garet"/>
                <a:sym typeface="Garet"/>
              </a:rPr>
              <a:t>imiento y desarrollo de nuevas características.</a:t>
            </a:r>
          </a:p>
          <a:p>
            <a:pPr algn="just">
              <a:lnSpc>
                <a:spcPts val="3219"/>
              </a:lnSpc>
            </a:pPr>
          </a:p>
          <a:p>
            <a:pPr algn="just">
              <a:lnSpc>
                <a:spcPts val="3219"/>
              </a:lnSpc>
            </a:pPr>
            <a:r>
              <a:rPr lang="en-US" sz="2299" spc="-105" u="sng">
                <a:solidFill>
                  <a:srgbClr val="EBF5FE"/>
                </a:solidFill>
                <a:latin typeface="Garet"/>
                <a:ea typeface="Garet"/>
                <a:cs typeface="Garet"/>
                <a:sym typeface="Garet"/>
                <a:hlinkClick r:id="rId5" tooltip="https://github.com/torvalds/linux"/>
              </a:rPr>
              <a:t>github.com/torvalds/linux</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81075"/>
            <a:ext cx="7779693" cy="8538210"/>
          </a:xfrm>
          <a:prstGeom prst="rect">
            <a:avLst/>
          </a:prstGeom>
        </p:spPr>
        <p:txBody>
          <a:bodyPr anchor="t" rtlCol="false" tIns="0" lIns="0" bIns="0" rIns="0">
            <a:spAutoFit/>
          </a:bodyPr>
          <a:lstStyle/>
          <a:p>
            <a:pPr algn="just">
              <a:lnSpc>
                <a:spcPts val="2939"/>
              </a:lnSpc>
            </a:pPr>
            <a:r>
              <a:rPr lang="en-US" b="true" sz="2099" spc="-96">
                <a:solidFill>
                  <a:srgbClr val="EBF5FE"/>
                </a:solidFill>
                <a:latin typeface="Garet Bold"/>
                <a:ea typeface="Garet Bold"/>
                <a:cs typeface="Garet Bold"/>
                <a:sym typeface="Garet Bold"/>
              </a:rPr>
              <a:t>/arch:</a:t>
            </a:r>
            <a:r>
              <a:rPr lang="en-US" sz="2099" spc="-96">
                <a:solidFill>
                  <a:srgbClr val="EBF5FE"/>
                </a:solidFill>
                <a:latin typeface="Garet"/>
                <a:ea typeface="Garet"/>
                <a:cs typeface="Garet"/>
                <a:sym typeface="Garet"/>
              </a:rPr>
              <a:t> Contiene el código específico para diferentes arquitecturas de hardware (como x86, ARM, MIPS, etc.). Aquí se encuentran las configuraciones y adaptaciones del kernel para funcionar en diferentes plataformas.</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/k</a:t>
            </a:r>
            <a:r>
              <a:rPr lang="en-US" b="true" sz="2099" spc="-96">
                <a:solidFill>
                  <a:srgbClr val="EBF5FE"/>
                </a:solidFill>
                <a:latin typeface="Garet Bold"/>
                <a:ea typeface="Garet Bold"/>
                <a:cs typeface="Garet Bold"/>
                <a:sym typeface="Garet Bold"/>
              </a:rPr>
              <a:t>ernel:</a:t>
            </a:r>
            <a:r>
              <a:rPr lang="en-US" sz="2099" spc="-96">
                <a:solidFill>
                  <a:srgbClr val="EBF5FE"/>
                </a:solidFill>
                <a:latin typeface="Garet"/>
                <a:ea typeface="Garet"/>
                <a:cs typeface="Garet"/>
                <a:sym typeface="Garet"/>
              </a:rPr>
              <a:t> Incluye el núcleo del código del sistema operativo, con funcionalidades como la gestión de procesos, sincronización, y planificación. Es el corazón del sistema y maneja la lógica central del kernel.</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/include:</a:t>
            </a:r>
            <a:r>
              <a:rPr lang="en-US" sz="2099" spc="-96">
                <a:solidFill>
                  <a:srgbClr val="EBF5FE"/>
                </a:solidFill>
                <a:latin typeface="Garet"/>
                <a:ea typeface="Garet"/>
                <a:cs typeface="Garet"/>
                <a:sym typeface="Garet"/>
              </a:rPr>
              <a:t> Contiene los archivos de cabecera utilizados por el resto del kernel. </a:t>
            </a:r>
            <a:r>
              <a:rPr lang="en-US" sz="2099" spc="-96">
                <a:solidFill>
                  <a:srgbClr val="EBF5FE"/>
                </a:solidFill>
                <a:latin typeface="Garet"/>
                <a:ea typeface="Garet"/>
                <a:cs typeface="Garet"/>
                <a:sym typeface="Garet"/>
              </a:rPr>
              <a:t>E</a:t>
            </a:r>
            <a:r>
              <a:rPr lang="en-US" sz="2099" spc="-96">
                <a:solidFill>
                  <a:srgbClr val="EBF5FE"/>
                </a:solidFill>
                <a:latin typeface="Garet"/>
                <a:ea typeface="Garet"/>
                <a:cs typeface="Garet"/>
                <a:sym typeface="Garet"/>
              </a:rPr>
              <a:t>stos archivos definen estructuras de datos, funciones, y constantes usadas a lo largo del código.</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/fs:</a:t>
            </a:r>
            <a:r>
              <a:rPr lang="en-US" sz="2099" spc="-96">
                <a:solidFill>
                  <a:srgbClr val="EBF5FE"/>
                </a:solidFill>
                <a:latin typeface="Garet"/>
                <a:ea typeface="Garet"/>
                <a:cs typeface="Garet"/>
                <a:sym typeface="Garet"/>
              </a:rPr>
              <a:t> Código relacionado con los sistemas de archivos soportados por Linux. Aquí se implementan los diferentes tipos de sistemas de archivos y el VFS (Virtual Fi</a:t>
            </a:r>
            <a:r>
              <a:rPr lang="en-US" sz="2099" spc="-96">
                <a:solidFill>
                  <a:srgbClr val="EBF5FE"/>
                </a:solidFill>
                <a:latin typeface="Garet"/>
                <a:ea typeface="Garet"/>
                <a:cs typeface="Garet"/>
                <a:sym typeface="Garet"/>
              </a:rPr>
              <a:t>le Syste</a:t>
            </a:r>
            <a:r>
              <a:rPr lang="en-US" sz="2099" spc="-96">
                <a:solidFill>
                  <a:srgbClr val="EBF5FE"/>
                </a:solidFill>
                <a:latin typeface="Garet"/>
                <a:ea typeface="Garet"/>
                <a:cs typeface="Garet"/>
                <a:sym typeface="Garet"/>
              </a:rPr>
              <a:t>m).</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/drivers:</a:t>
            </a:r>
            <a:r>
              <a:rPr lang="en-US" sz="2099" spc="-96">
                <a:solidFill>
                  <a:srgbClr val="EBF5FE"/>
                </a:solidFill>
                <a:latin typeface="Garet"/>
                <a:ea typeface="Garet"/>
                <a:cs typeface="Garet"/>
                <a:sym typeface="Garet"/>
              </a:rPr>
              <a:t> Contiene los controladores de dispositivos para el hardware, como controladores de red, de almacenamiento, de video, y otros periféricos. Esta estructura modular permite que los drivers se carguen y descar</a:t>
            </a:r>
            <a:r>
              <a:rPr lang="en-US" sz="2099" spc="-96" u="none">
                <a:solidFill>
                  <a:srgbClr val="EBF5FE"/>
                </a:solidFill>
                <a:latin typeface="Garet"/>
                <a:ea typeface="Garet"/>
                <a:cs typeface="Garet"/>
                <a:sym typeface="Garet"/>
              </a:rPr>
              <a:t>g</a:t>
            </a:r>
            <a:r>
              <a:rPr lang="en-US" sz="2099" spc="-96">
                <a:solidFill>
                  <a:srgbClr val="EBF5FE"/>
                </a:solidFill>
                <a:latin typeface="Garet"/>
                <a:ea typeface="Garet"/>
                <a:cs typeface="Garet"/>
                <a:sym typeface="Garet"/>
              </a:rPr>
              <a:t>uen d</a:t>
            </a:r>
            <a:r>
              <a:rPr lang="en-US" sz="2099" spc="-96" u="none">
                <a:solidFill>
                  <a:srgbClr val="EBF5FE"/>
                </a:solidFill>
                <a:latin typeface="Garet"/>
                <a:ea typeface="Garet"/>
                <a:cs typeface="Garet"/>
                <a:sym typeface="Garet"/>
              </a:rPr>
              <a:t>i</a:t>
            </a:r>
            <a:r>
              <a:rPr lang="en-US" sz="2099" spc="-96">
                <a:solidFill>
                  <a:srgbClr val="EBF5FE"/>
                </a:solidFill>
                <a:latin typeface="Garet"/>
                <a:ea typeface="Garet"/>
                <a:cs typeface="Garet"/>
                <a:sym typeface="Garet"/>
              </a:rPr>
              <a:t>námi</a:t>
            </a:r>
            <a:r>
              <a:rPr lang="en-US" sz="2099" spc="-96" u="none">
                <a:solidFill>
                  <a:srgbClr val="EBF5FE"/>
                </a:solidFill>
                <a:latin typeface="Garet"/>
                <a:ea typeface="Garet"/>
                <a:cs typeface="Garet"/>
                <a:sym typeface="Garet"/>
              </a:rPr>
              <a:t>c</a:t>
            </a:r>
            <a:r>
              <a:rPr lang="en-US" sz="2099" spc="-96">
                <a:solidFill>
                  <a:srgbClr val="EBF5FE"/>
                </a:solidFill>
                <a:latin typeface="Garet"/>
                <a:ea typeface="Garet"/>
                <a:cs typeface="Garet"/>
                <a:sym typeface="Garet"/>
              </a:rPr>
              <a:t>a</a:t>
            </a:r>
            <a:r>
              <a:rPr lang="en-US" sz="2099" spc="-96" u="none">
                <a:solidFill>
                  <a:srgbClr val="EBF5FE"/>
                </a:solidFill>
                <a:latin typeface="Garet"/>
                <a:ea typeface="Garet"/>
                <a:cs typeface="Garet"/>
                <a:sym typeface="Garet"/>
              </a:rPr>
              <a:t>m</a:t>
            </a:r>
            <a:r>
              <a:rPr lang="en-US" sz="2099" spc="-96">
                <a:solidFill>
                  <a:srgbClr val="EBF5FE"/>
                </a:solidFill>
                <a:latin typeface="Garet"/>
                <a:ea typeface="Garet"/>
                <a:cs typeface="Garet"/>
                <a:sym typeface="Garet"/>
              </a:rPr>
              <a:t>en</a:t>
            </a:r>
            <a:r>
              <a:rPr lang="en-US" sz="2099" spc="-96" u="none">
                <a:solidFill>
                  <a:srgbClr val="EBF5FE"/>
                </a:solidFill>
                <a:latin typeface="Garet"/>
                <a:ea typeface="Garet"/>
                <a:cs typeface="Garet"/>
                <a:sym typeface="Garet"/>
              </a:rPr>
              <a:t>t</a:t>
            </a:r>
            <a:r>
              <a:rPr lang="en-US" sz="2099" spc="-96">
                <a:solidFill>
                  <a:srgbClr val="EBF5FE"/>
                </a:solidFill>
                <a:latin typeface="Garet"/>
                <a:ea typeface="Garet"/>
                <a:cs typeface="Garet"/>
                <a:sym typeface="Garet"/>
              </a:rPr>
              <a:t>e, mej</a:t>
            </a:r>
            <a:r>
              <a:rPr lang="en-US" sz="2099" spc="-96" u="none">
                <a:solidFill>
                  <a:srgbClr val="EBF5FE"/>
                </a:solidFill>
                <a:latin typeface="Garet"/>
                <a:ea typeface="Garet"/>
                <a:cs typeface="Garet"/>
                <a:sym typeface="Garet"/>
              </a:rPr>
              <a:t>ora</a:t>
            </a:r>
            <a:r>
              <a:rPr lang="en-US" sz="2099" spc="-96">
                <a:solidFill>
                  <a:srgbClr val="EBF5FE"/>
                </a:solidFill>
                <a:latin typeface="Garet"/>
                <a:ea typeface="Garet"/>
                <a:cs typeface="Garet"/>
                <a:sym typeface="Garet"/>
              </a:rPr>
              <a:t>ndo </a:t>
            </a:r>
            <a:r>
              <a:rPr lang="en-US" sz="2099" spc="-96" u="none">
                <a:solidFill>
                  <a:srgbClr val="EBF5FE"/>
                </a:solidFill>
                <a:latin typeface="Garet"/>
                <a:ea typeface="Garet"/>
                <a:cs typeface="Garet"/>
                <a:sym typeface="Garet"/>
              </a:rPr>
              <a:t>l</a:t>
            </a:r>
            <a:r>
              <a:rPr lang="en-US" sz="2099" spc="-96">
                <a:solidFill>
                  <a:srgbClr val="EBF5FE"/>
                </a:solidFill>
                <a:latin typeface="Garet"/>
                <a:ea typeface="Garet"/>
                <a:cs typeface="Garet"/>
                <a:sym typeface="Garet"/>
              </a:rPr>
              <a:t>a a</a:t>
            </a:r>
            <a:r>
              <a:rPr lang="en-US" sz="2099" spc="-96" u="none">
                <a:solidFill>
                  <a:srgbClr val="EBF5FE"/>
                </a:solidFill>
                <a:latin typeface="Garet"/>
                <a:ea typeface="Garet"/>
                <a:cs typeface="Garet"/>
                <a:sym typeface="Garet"/>
              </a:rPr>
              <a:t>d</a:t>
            </a:r>
            <a:r>
              <a:rPr lang="en-US" sz="2099" spc="-96">
                <a:solidFill>
                  <a:srgbClr val="EBF5FE"/>
                </a:solidFill>
                <a:latin typeface="Garet"/>
                <a:ea typeface="Garet"/>
                <a:cs typeface="Garet"/>
                <a:sym typeface="Garet"/>
              </a:rPr>
              <a:t>aptabi</a:t>
            </a:r>
            <a:r>
              <a:rPr lang="en-US" sz="2099" spc="-96" u="none">
                <a:solidFill>
                  <a:srgbClr val="EBF5FE"/>
                </a:solidFill>
                <a:latin typeface="Garet"/>
                <a:ea typeface="Garet"/>
                <a:cs typeface="Garet"/>
                <a:sym typeface="Garet"/>
              </a:rPr>
              <a:t>li</a:t>
            </a:r>
            <a:r>
              <a:rPr lang="en-US" sz="2099" spc="-96">
                <a:solidFill>
                  <a:srgbClr val="EBF5FE"/>
                </a:solidFill>
                <a:latin typeface="Garet"/>
                <a:ea typeface="Garet"/>
                <a:cs typeface="Garet"/>
                <a:sym typeface="Garet"/>
              </a:rPr>
              <a:t>dad del ker</a:t>
            </a:r>
            <a:r>
              <a:rPr lang="en-US" sz="2099" spc="-96" u="none">
                <a:solidFill>
                  <a:srgbClr val="EBF5FE"/>
                </a:solidFill>
                <a:latin typeface="Garet"/>
                <a:ea typeface="Garet"/>
                <a:cs typeface="Garet"/>
                <a:sym typeface="Garet"/>
              </a:rPr>
              <a:t>n</a:t>
            </a:r>
            <a:r>
              <a:rPr lang="en-US" sz="2099" spc="-96">
                <a:solidFill>
                  <a:srgbClr val="EBF5FE"/>
                </a:solidFill>
                <a:latin typeface="Garet"/>
                <a:ea typeface="Garet"/>
                <a:cs typeface="Garet"/>
                <a:sym typeface="Garet"/>
              </a:rPr>
              <a:t>el.</a:t>
            </a:r>
          </a:p>
        </p:txBody>
      </p:sp>
      <p:sp>
        <p:nvSpPr>
          <p:cNvPr name="TextBox 4" id="4"/>
          <p:cNvSpPr txBox="true"/>
          <p:nvPr/>
        </p:nvSpPr>
        <p:spPr>
          <a:xfrm rot="0">
            <a:off x="9479607" y="981075"/>
            <a:ext cx="7779693" cy="7795260"/>
          </a:xfrm>
          <a:prstGeom prst="rect">
            <a:avLst/>
          </a:prstGeom>
        </p:spPr>
        <p:txBody>
          <a:bodyPr anchor="t" rtlCol="false" tIns="0" lIns="0" bIns="0" rIns="0">
            <a:spAutoFit/>
          </a:bodyPr>
          <a:lstStyle/>
          <a:p>
            <a:pPr algn="just">
              <a:lnSpc>
                <a:spcPts val="2939"/>
              </a:lnSpc>
            </a:pPr>
            <a:r>
              <a:rPr lang="en-US" b="true" sz="2099" spc="-96">
                <a:solidFill>
                  <a:srgbClr val="EBF5FE"/>
                </a:solidFill>
                <a:latin typeface="Garet Bold"/>
                <a:ea typeface="Garet Bold"/>
                <a:cs typeface="Garet Bold"/>
                <a:sym typeface="Garet Bold"/>
              </a:rPr>
              <a:t>/net:</a:t>
            </a:r>
            <a:r>
              <a:rPr lang="en-US" sz="2099" spc="-96">
                <a:solidFill>
                  <a:srgbClr val="EBF5FE"/>
                </a:solidFill>
                <a:latin typeface="Garet"/>
                <a:ea typeface="Garet"/>
                <a:cs typeface="Garet"/>
                <a:sym typeface="Garet"/>
              </a:rPr>
              <a:t> Incluye el código para la pila de redes y los protocolos de comunicación, como TCP/IP, IPv4, IPv6, y otros. Este directorio es fundamental para todas las funcionalidades de red del kernel.</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/mm:</a:t>
            </a:r>
            <a:r>
              <a:rPr lang="en-US" sz="2099" spc="-96">
                <a:solidFill>
                  <a:srgbClr val="EBF5FE"/>
                </a:solidFill>
                <a:latin typeface="Garet"/>
                <a:ea typeface="Garet"/>
                <a:cs typeface="Garet"/>
                <a:sym typeface="Garet"/>
              </a:rPr>
              <a:t> Contiene el código de gestión de memoria, incluyendo algoritmos de administración de memoria virtual, paginación, intercambio (swapping) y asignación de memoria. Esta sección es crucial para optimizar el uso de recursos y evitar cuellos de botella.</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/security: </a:t>
            </a:r>
            <a:r>
              <a:rPr lang="en-US" sz="2099" spc="-96">
                <a:solidFill>
                  <a:srgbClr val="EBF5FE"/>
                </a:solidFill>
                <a:latin typeface="Garet"/>
                <a:ea typeface="Garet"/>
                <a:cs typeface="Garet"/>
                <a:sym typeface="Garet"/>
              </a:rPr>
              <a:t>Código relacionado con la seguridad del sistema, como el módulo SELinux, AppArmor, y otros mecanismos de control de acceso. También se ocupa de la implementación de políticas de seguridad para proteger el sistema de amenazas.</a:t>
            </a:r>
          </a:p>
          <a:p>
            <a:pPr algn="just">
              <a:lnSpc>
                <a:spcPts val="2939"/>
              </a:lnSpc>
            </a:pPr>
          </a:p>
          <a:p>
            <a:pPr algn="just">
              <a:lnSpc>
                <a:spcPts val="2939"/>
              </a:lnSpc>
            </a:pPr>
            <a:r>
              <a:rPr lang="en-US" b="true" sz="2099" spc="-96">
                <a:solidFill>
                  <a:srgbClr val="EBF5FE"/>
                </a:solidFill>
                <a:latin typeface="Garet Bold"/>
                <a:ea typeface="Garet Bold"/>
                <a:cs typeface="Garet Bold"/>
                <a:sym typeface="Garet Bold"/>
              </a:rPr>
              <a:t>/init: </a:t>
            </a:r>
            <a:r>
              <a:rPr lang="en-US" sz="2099" spc="-96">
                <a:solidFill>
                  <a:srgbClr val="EBF5FE"/>
                </a:solidFill>
                <a:latin typeface="Garet"/>
                <a:ea typeface="Garet"/>
                <a:cs typeface="Garet"/>
                <a:sym typeface="Garet"/>
              </a:rPr>
              <a:t>Contiene el código de inicialización del kernel que se ejecuta al inicio del sistema. Este código prepara el entorno y carga las configuraciones necesarias para que el kernel pueda iniciar correctamente.</a:t>
            </a:r>
          </a:p>
          <a:p>
            <a:pPr algn="just">
              <a:lnSpc>
                <a:spcPts val="293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53980" y="518965"/>
            <a:ext cx="3434020" cy="1798178"/>
          </a:xfrm>
          <a:custGeom>
            <a:avLst/>
            <a:gdLst/>
            <a:ahLst/>
            <a:cxnLst/>
            <a:rect r="r" b="b" t="t" l="l"/>
            <a:pathLst>
              <a:path h="1798178" w="3434020">
                <a:moveTo>
                  <a:pt x="0" y="0"/>
                </a:moveTo>
                <a:lnTo>
                  <a:pt x="3434020" y="0"/>
                </a:lnTo>
                <a:lnTo>
                  <a:pt x="3434020" y="1798178"/>
                </a:lnTo>
                <a:lnTo>
                  <a:pt x="0" y="1798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17775" y="1689913"/>
            <a:ext cx="6907174" cy="6907174"/>
          </a:xfrm>
          <a:custGeom>
            <a:avLst/>
            <a:gdLst/>
            <a:ahLst/>
            <a:cxnLst/>
            <a:rect r="r" b="b" t="t" l="l"/>
            <a:pathLst>
              <a:path h="6907174" w="6907174">
                <a:moveTo>
                  <a:pt x="0" y="0"/>
                </a:moveTo>
                <a:lnTo>
                  <a:pt x="6907174" y="0"/>
                </a:lnTo>
                <a:lnTo>
                  <a:pt x="6907174" y="6907174"/>
                </a:lnTo>
                <a:lnTo>
                  <a:pt x="0" y="69071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727020" y="3034792"/>
            <a:ext cx="6659985" cy="1293333"/>
          </a:xfrm>
          <a:prstGeom prst="rect">
            <a:avLst/>
          </a:prstGeom>
        </p:spPr>
        <p:txBody>
          <a:bodyPr anchor="t" rtlCol="false" tIns="0" lIns="0" bIns="0" rIns="0">
            <a:spAutoFit/>
          </a:bodyPr>
          <a:lstStyle/>
          <a:p>
            <a:pPr algn="l">
              <a:lnSpc>
                <a:spcPts val="10574"/>
              </a:lnSpc>
              <a:spcBef>
                <a:spcPct val="0"/>
              </a:spcBef>
            </a:pPr>
            <a:r>
              <a:rPr lang="en-US" sz="7552" spc="-347">
                <a:solidFill>
                  <a:srgbClr val="EBF5FE"/>
                </a:solidFill>
                <a:latin typeface="Garet"/>
                <a:ea typeface="Garet"/>
                <a:cs typeface="Garet"/>
                <a:sym typeface="Garet"/>
              </a:rPr>
              <a:t>MÓDULOS </a:t>
            </a:r>
          </a:p>
        </p:txBody>
      </p:sp>
      <p:sp>
        <p:nvSpPr>
          <p:cNvPr name="TextBox 6" id="6"/>
          <p:cNvSpPr txBox="true"/>
          <p:nvPr/>
        </p:nvSpPr>
        <p:spPr>
          <a:xfrm rot="0">
            <a:off x="1727020" y="4332258"/>
            <a:ext cx="7090755" cy="2635635"/>
          </a:xfrm>
          <a:prstGeom prst="rect">
            <a:avLst/>
          </a:prstGeom>
        </p:spPr>
        <p:txBody>
          <a:bodyPr anchor="t" rtlCol="false" tIns="0" lIns="0" bIns="0" rIns="0">
            <a:spAutoFit/>
          </a:bodyPr>
          <a:lstStyle/>
          <a:p>
            <a:pPr algn="l">
              <a:lnSpc>
                <a:spcPts val="10574"/>
              </a:lnSpc>
              <a:spcBef>
                <a:spcPct val="0"/>
              </a:spcBef>
            </a:pPr>
            <a:r>
              <a:rPr lang="en-US" b="true" sz="7552" spc="-347">
                <a:solidFill>
                  <a:srgbClr val="EBF5FE"/>
                </a:solidFill>
                <a:latin typeface="Garet Bold"/>
                <a:ea typeface="Garet Bold"/>
                <a:cs typeface="Garet Bold"/>
                <a:sym typeface="Garet Bold"/>
              </a:rPr>
              <a:t>CARGABLES KERNEL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24089" y="2621180"/>
            <a:ext cx="6446997" cy="5624383"/>
          </a:xfrm>
          <a:custGeom>
            <a:avLst/>
            <a:gdLst/>
            <a:ahLst/>
            <a:cxnLst/>
            <a:rect r="r" b="b" t="t" l="l"/>
            <a:pathLst>
              <a:path h="5624383" w="6446997">
                <a:moveTo>
                  <a:pt x="0" y="0"/>
                </a:moveTo>
                <a:lnTo>
                  <a:pt x="6446997" y="0"/>
                </a:lnTo>
                <a:lnTo>
                  <a:pt x="6446997" y="5624383"/>
                </a:lnTo>
                <a:lnTo>
                  <a:pt x="0" y="5624383"/>
                </a:lnTo>
                <a:lnTo>
                  <a:pt x="0" y="0"/>
                </a:lnTo>
                <a:close/>
              </a:path>
            </a:pathLst>
          </a:custGeom>
          <a:blipFill>
            <a:blip r:embed="rId4"/>
            <a:stretch>
              <a:fillRect l="0" t="0" r="0" b="0"/>
            </a:stretch>
          </a:blipFill>
        </p:spPr>
      </p:sp>
      <p:sp>
        <p:nvSpPr>
          <p:cNvPr name="TextBox 4" id="4"/>
          <p:cNvSpPr txBox="true"/>
          <p:nvPr/>
        </p:nvSpPr>
        <p:spPr>
          <a:xfrm rot="0">
            <a:off x="1922918" y="1743793"/>
            <a:ext cx="6902838" cy="21757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ESPACIOS DEL KERNEL</a:t>
            </a:r>
          </a:p>
        </p:txBody>
      </p:sp>
      <p:sp>
        <p:nvSpPr>
          <p:cNvPr name="TextBox 5" id="5"/>
          <p:cNvSpPr txBox="true"/>
          <p:nvPr/>
        </p:nvSpPr>
        <p:spPr>
          <a:xfrm rot="0">
            <a:off x="1922918" y="4227122"/>
            <a:ext cx="6624908" cy="3989705"/>
          </a:xfrm>
          <a:prstGeom prst="rect">
            <a:avLst/>
          </a:prstGeom>
        </p:spPr>
        <p:txBody>
          <a:bodyPr anchor="t" rtlCol="false" tIns="0" lIns="0" bIns="0" rIns="0">
            <a:spAutoFit/>
          </a:bodyPr>
          <a:lstStyle/>
          <a:p>
            <a:pPr algn="just">
              <a:lnSpc>
                <a:spcPts val="3219"/>
              </a:lnSpc>
            </a:pPr>
            <a:r>
              <a:rPr lang="en-US" b="true" sz="2299" spc="-105">
                <a:solidFill>
                  <a:srgbClr val="EBF5FE"/>
                </a:solidFill>
                <a:latin typeface="Garet Bold"/>
                <a:ea typeface="Garet Bold"/>
                <a:cs typeface="Garet Bold"/>
                <a:sym typeface="Garet Bold"/>
              </a:rPr>
              <a:t>Kernel</a:t>
            </a:r>
          </a:p>
          <a:p>
            <a:pPr algn="just">
              <a:lnSpc>
                <a:spcPts val="3219"/>
              </a:lnSpc>
            </a:pPr>
            <a:r>
              <a:rPr lang="en-US" sz="2299" spc="-105">
                <a:solidFill>
                  <a:srgbClr val="EBF5FE"/>
                </a:solidFill>
                <a:latin typeface="Garet"/>
                <a:ea typeface="Garet"/>
                <a:cs typeface="Garet"/>
                <a:sym typeface="Garet"/>
              </a:rPr>
              <a:t>Entorno privilegiado con acceso completo al hardwar</a:t>
            </a:r>
            <a:r>
              <a:rPr lang="en-US" sz="2299" spc="-105">
                <a:solidFill>
                  <a:srgbClr val="EBF5FE"/>
                </a:solidFill>
                <a:latin typeface="Garet"/>
                <a:ea typeface="Garet"/>
                <a:cs typeface="Garet"/>
                <a:sym typeface="Garet"/>
              </a:rPr>
              <a:t>e. Aquí reside el núcleo y los módulos críticos.</a:t>
            </a:r>
          </a:p>
          <a:p>
            <a:pPr algn="just">
              <a:lnSpc>
                <a:spcPts val="3219"/>
              </a:lnSpc>
            </a:pPr>
          </a:p>
          <a:p>
            <a:pPr algn="just">
              <a:lnSpc>
                <a:spcPts val="3219"/>
              </a:lnSpc>
            </a:pPr>
            <a:r>
              <a:rPr lang="en-US" b="true" sz="2299" spc="-105">
                <a:solidFill>
                  <a:srgbClr val="EBF5FE"/>
                </a:solidFill>
                <a:latin typeface="Garet Bold"/>
                <a:ea typeface="Garet Bold"/>
                <a:cs typeface="Garet Bold"/>
                <a:sym typeface="Garet Bold"/>
              </a:rPr>
              <a:t>Usuario</a:t>
            </a:r>
          </a:p>
          <a:p>
            <a:pPr algn="just">
              <a:lnSpc>
                <a:spcPts val="3219"/>
              </a:lnSpc>
            </a:pPr>
            <a:r>
              <a:rPr lang="en-US" sz="2299" spc="-105">
                <a:solidFill>
                  <a:srgbClr val="EBF5FE"/>
                </a:solidFill>
                <a:latin typeface="Garet"/>
                <a:ea typeface="Garet"/>
                <a:cs typeface="Garet"/>
                <a:sym typeface="Garet"/>
              </a:rPr>
              <a:t>Entorno restringido donde corren las aplicaciones. Acceso limitado al hardware para</a:t>
            </a:r>
            <a:r>
              <a:rPr lang="en-US" sz="2299" spc="-105">
                <a:solidFill>
                  <a:srgbClr val="EBF5FE"/>
                </a:solidFill>
                <a:latin typeface="Garet"/>
                <a:ea typeface="Garet"/>
                <a:cs typeface="Garet"/>
                <a:sym typeface="Garet"/>
              </a:rPr>
              <a:t> garant</a:t>
            </a:r>
            <a:r>
              <a:rPr lang="en-US" sz="2299" spc="-105">
                <a:solidFill>
                  <a:srgbClr val="EBF5FE"/>
                </a:solidFill>
                <a:latin typeface="Garet"/>
                <a:ea typeface="Garet"/>
                <a:cs typeface="Garet"/>
                <a:sym typeface="Garet"/>
              </a:rPr>
              <a:t>izar estabilidad.</a:t>
            </a:r>
          </a:p>
          <a:p>
            <a:pPr algn="just">
              <a:lnSpc>
                <a:spcPts val="3219"/>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85866" y="2893561"/>
            <a:ext cx="7873434" cy="5690902"/>
          </a:xfrm>
          <a:custGeom>
            <a:avLst/>
            <a:gdLst/>
            <a:ahLst/>
            <a:cxnLst/>
            <a:rect r="r" b="b" t="t" l="l"/>
            <a:pathLst>
              <a:path h="5690902" w="7873434">
                <a:moveTo>
                  <a:pt x="0" y="0"/>
                </a:moveTo>
                <a:lnTo>
                  <a:pt x="7873434" y="0"/>
                </a:lnTo>
                <a:lnTo>
                  <a:pt x="7873434" y="5690901"/>
                </a:lnTo>
                <a:lnTo>
                  <a:pt x="0" y="5690901"/>
                </a:lnTo>
                <a:lnTo>
                  <a:pt x="0" y="0"/>
                </a:lnTo>
                <a:close/>
              </a:path>
            </a:pathLst>
          </a:custGeom>
          <a:blipFill>
            <a:blip r:embed="rId4"/>
            <a:stretch>
              <a:fillRect l="0" t="0" r="0" b="0"/>
            </a:stretch>
          </a:blipFill>
        </p:spPr>
      </p:sp>
      <p:sp>
        <p:nvSpPr>
          <p:cNvPr name="TextBox 4" id="4"/>
          <p:cNvSpPr txBox="true"/>
          <p:nvPr/>
        </p:nvSpPr>
        <p:spPr>
          <a:xfrm rot="0">
            <a:off x="1922918" y="1743793"/>
            <a:ext cx="6902838" cy="21757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MÓDULOS DEL KERNEL (LKM)</a:t>
            </a:r>
          </a:p>
        </p:txBody>
      </p:sp>
      <p:sp>
        <p:nvSpPr>
          <p:cNvPr name="TextBox 5" id="5"/>
          <p:cNvSpPr txBox="true"/>
          <p:nvPr/>
        </p:nvSpPr>
        <p:spPr>
          <a:xfrm rot="0">
            <a:off x="1922918" y="4227122"/>
            <a:ext cx="6624908" cy="35896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Los módulos del kernel son componentes de código que se pueden cargar y descargar </a:t>
            </a:r>
            <a:r>
              <a:rPr lang="en-US" sz="2299" spc="-105">
                <a:solidFill>
                  <a:srgbClr val="EBF5FE"/>
                </a:solidFill>
                <a:latin typeface="Garet"/>
                <a:ea typeface="Garet"/>
                <a:cs typeface="Garet"/>
                <a:sym typeface="Garet"/>
              </a:rPr>
              <a:t>en tiempo de ejecución, lo que permite extender las funcionalidades del kernel sin necesidad de recompilar el sistema.</a:t>
            </a:r>
          </a:p>
          <a:p>
            <a:pPr algn="just">
              <a:lnSpc>
                <a:spcPts val="3219"/>
              </a:lnSpc>
            </a:pPr>
          </a:p>
          <a:p>
            <a:pPr algn="just">
              <a:lnSpc>
                <a:spcPts val="3219"/>
              </a:lnSpc>
            </a:pPr>
            <a:r>
              <a:rPr lang="en-US" sz="2299" spc="-105">
                <a:solidFill>
                  <a:srgbClr val="EBF5FE"/>
                </a:solidFill>
                <a:latin typeface="Garet"/>
                <a:ea typeface="Garet"/>
                <a:cs typeface="Garet"/>
                <a:sym typeface="Garet"/>
              </a:rPr>
              <a:t>Esto proporciona flexibilidad y facilidad de</a:t>
            </a:r>
            <a:r>
              <a:rPr lang="en-US" sz="2299" spc="-105">
                <a:solidFill>
                  <a:srgbClr val="EBF5FE"/>
                </a:solidFill>
                <a:latin typeface="Garet"/>
                <a:ea typeface="Garet"/>
                <a:cs typeface="Garet"/>
                <a:sym typeface="Garet"/>
              </a:rPr>
              <a:t> manten</a:t>
            </a:r>
            <a:r>
              <a:rPr lang="en-US" sz="2299" spc="-105">
                <a:solidFill>
                  <a:srgbClr val="EBF5FE"/>
                </a:solidFill>
                <a:latin typeface="Garet"/>
                <a:ea typeface="Garet"/>
                <a:cs typeface="Garet"/>
                <a:sym typeface="Garet"/>
              </a:rPr>
              <a:t>imiento al sistema operativo. </a:t>
            </a:r>
          </a:p>
          <a:p>
            <a:pPr algn="just">
              <a:lnSpc>
                <a:spcPts val="3219"/>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43391" y="3812561"/>
            <a:ext cx="13797168" cy="2130597"/>
          </a:xfrm>
          <a:custGeom>
            <a:avLst/>
            <a:gdLst/>
            <a:ahLst/>
            <a:cxnLst/>
            <a:rect r="r" b="b" t="t" l="l"/>
            <a:pathLst>
              <a:path h="2130597" w="13797168">
                <a:moveTo>
                  <a:pt x="0" y="0"/>
                </a:moveTo>
                <a:lnTo>
                  <a:pt x="13797167" y="0"/>
                </a:lnTo>
                <a:lnTo>
                  <a:pt x="13797167" y="2130597"/>
                </a:lnTo>
                <a:lnTo>
                  <a:pt x="0" y="2130597"/>
                </a:lnTo>
                <a:lnTo>
                  <a:pt x="0" y="0"/>
                </a:lnTo>
                <a:close/>
              </a:path>
            </a:pathLst>
          </a:custGeom>
          <a:blipFill>
            <a:blip r:embed="rId4"/>
            <a:stretch>
              <a:fillRect l="0" t="0" r="0" b="0"/>
            </a:stretch>
          </a:blipFill>
        </p:spPr>
      </p:sp>
      <p:sp>
        <p:nvSpPr>
          <p:cNvPr name="TextBox 4" id="4"/>
          <p:cNvSpPr txBox="true"/>
          <p:nvPr/>
        </p:nvSpPr>
        <p:spPr>
          <a:xfrm rot="0">
            <a:off x="1863294" y="1703859"/>
            <a:ext cx="14157361" cy="19894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Los Loadable Kernel M</a:t>
            </a:r>
            <a:r>
              <a:rPr lang="en-US" sz="2299" spc="-105">
                <a:solidFill>
                  <a:srgbClr val="EBF5FE"/>
                </a:solidFill>
                <a:latin typeface="Garet"/>
                <a:ea typeface="Garet"/>
                <a:cs typeface="Garet"/>
                <a:sym typeface="Garet"/>
              </a:rPr>
              <a:t>odules permiten extender las funcionalidades del kernel sin necesidad de recompilar todo el sistema operativo.</a:t>
            </a:r>
          </a:p>
          <a:p>
            <a:pPr algn="just">
              <a:lnSpc>
                <a:spcPts val="3219"/>
              </a:lnSpc>
            </a:pPr>
          </a:p>
          <a:p>
            <a:pPr algn="just">
              <a:lnSpc>
                <a:spcPts val="3219"/>
              </a:lnSpc>
            </a:pPr>
            <a:r>
              <a:rPr lang="en-US" sz="2299" spc="-105">
                <a:solidFill>
                  <a:srgbClr val="EBF5FE"/>
                </a:solidFill>
                <a:latin typeface="Garet"/>
                <a:ea typeface="Garet"/>
                <a:cs typeface="Garet"/>
                <a:sym typeface="Garet"/>
              </a:rPr>
              <a:t>Ideales para controladores de</a:t>
            </a:r>
            <a:r>
              <a:rPr lang="en-US" sz="2299" spc="-105">
                <a:solidFill>
                  <a:srgbClr val="EBF5FE"/>
                </a:solidFill>
                <a:latin typeface="Garet"/>
                <a:ea typeface="Garet"/>
                <a:cs typeface="Garet"/>
                <a:sym typeface="Garet"/>
              </a:rPr>
              <a:t> hardwar</a:t>
            </a:r>
            <a:r>
              <a:rPr lang="en-US" sz="2299" spc="-105">
                <a:solidFill>
                  <a:srgbClr val="EBF5FE"/>
                </a:solidFill>
                <a:latin typeface="Garet"/>
                <a:ea typeface="Garet"/>
                <a:cs typeface="Garet"/>
                <a:sym typeface="Garet"/>
              </a:rPr>
              <a:t>e y sistemas de archivos.</a:t>
            </a:r>
          </a:p>
          <a:p>
            <a:pPr algn="just">
              <a:lnSpc>
                <a:spcPts val="3219"/>
              </a:lnSpc>
            </a:pPr>
          </a:p>
        </p:txBody>
      </p:sp>
      <p:sp>
        <p:nvSpPr>
          <p:cNvPr name="TextBox 5" id="5"/>
          <p:cNvSpPr txBox="true"/>
          <p:nvPr/>
        </p:nvSpPr>
        <p:spPr>
          <a:xfrm rot="0">
            <a:off x="2043391" y="6685774"/>
            <a:ext cx="14157361" cy="27895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Un LKM es códig</a:t>
            </a:r>
            <a:r>
              <a:rPr lang="en-US" sz="2299" spc="-105">
                <a:solidFill>
                  <a:srgbClr val="EBF5FE"/>
                </a:solidFill>
                <a:latin typeface="Garet"/>
                <a:ea typeface="Garet"/>
                <a:cs typeface="Garet"/>
                <a:sym typeface="Garet"/>
              </a:rPr>
              <a:t>o que puede cargarse y descargarse dinámicamente en el kernel Linux sin reiniciar el sistema.</a:t>
            </a:r>
          </a:p>
          <a:p>
            <a:pPr algn="just">
              <a:lnSpc>
                <a:spcPts val="3219"/>
              </a:lnSpc>
            </a:pPr>
          </a:p>
          <a:p>
            <a:pPr algn="l" marL="496567" indent="-248284" lvl="1">
              <a:lnSpc>
                <a:spcPts val="3219"/>
              </a:lnSpc>
              <a:buFont typeface="Arial"/>
              <a:buChar char="•"/>
            </a:pPr>
            <a:r>
              <a:rPr lang="en-US" sz="2299" spc="-105">
                <a:solidFill>
                  <a:srgbClr val="EBF5FE"/>
                </a:solidFill>
                <a:latin typeface="Garet"/>
                <a:ea typeface="Garet"/>
                <a:cs typeface="Garet"/>
                <a:sym typeface="Garet"/>
              </a:rPr>
              <a:t>Flexibilidad</a:t>
            </a:r>
          </a:p>
          <a:p>
            <a:pPr algn="l" marL="496567" indent="-248284" lvl="1">
              <a:lnSpc>
                <a:spcPts val="3219"/>
              </a:lnSpc>
              <a:buFont typeface="Arial"/>
              <a:buChar char="•"/>
            </a:pPr>
            <a:r>
              <a:rPr lang="en-US" sz="2299" spc="-105">
                <a:solidFill>
                  <a:srgbClr val="EBF5FE"/>
                </a:solidFill>
                <a:latin typeface="Garet"/>
                <a:ea typeface="Garet"/>
                <a:cs typeface="Garet"/>
                <a:sym typeface="Garet"/>
              </a:rPr>
              <a:t>Menor tiempo de mantenimiento</a:t>
            </a:r>
          </a:p>
          <a:p>
            <a:pPr algn="l" marL="496567" indent="-248284" lvl="1">
              <a:lnSpc>
                <a:spcPts val="3219"/>
              </a:lnSpc>
              <a:buFont typeface="Arial"/>
              <a:buChar char="•"/>
            </a:pPr>
            <a:r>
              <a:rPr lang="en-US" sz="2299" spc="-105">
                <a:solidFill>
                  <a:srgbClr val="EBF5FE"/>
                </a:solidFill>
                <a:latin typeface="Garet"/>
                <a:ea typeface="Garet"/>
                <a:cs typeface="Garet"/>
                <a:sym typeface="Garet"/>
              </a:rPr>
              <a:t>Desarrollo increment</a:t>
            </a:r>
            <a:r>
              <a:rPr lang="en-US" sz="2299" spc="-105">
                <a:solidFill>
                  <a:srgbClr val="EBF5FE"/>
                </a:solidFill>
                <a:latin typeface="Garet"/>
                <a:ea typeface="Garet"/>
                <a:cs typeface="Garet"/>
                <a:sym typeface="Garet"/>
              </a:rPr>
              <a:t>al</a:t>
            </a:r>
          </a:p>
          <a:p>
            <a:pPr algn="l" marL="496567" indent="-248284" lvl="1">
              <a:lnSpc>
                <a:spcPts val="3219"/>
              </a:lnSpc>
              <a:buFont typeface="Arial"/>
              <a:buChar char="•"/>
            </a:pPr>
            <a:r>
              <a:rPr lang="en-US" sz="2299" spc="-105">
                <a:solidFill>
                  <a:srgbClr val="EBF5FE"/>
                </a:solidFill>
                <a:latin typeface="Garet"/>
                <a:ea typeface="Garet"/>
                <a:cs typeface="Garet"/>
                <a:sym typeface="Garet"/>
              </a:rPr>
              <a:t>Drivers dinámicos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22918" y="4137998"/>
            <a:ext cx="7221082" cy="4921034"/>
          </a:xfrm>
          <a:custGeom>
            <a:avLst/>
            <a:gdLst/>
            <a:ahLst/>
            <a:cxnLst/>
            <a:rect r="r" b="b" t="t" l="l"/>
            <a:pathLst>
              <a:path h="4921034" w="7221082">
                <a:moveTo>
                  <a:pt x="0" y="0"/>
                </a:moveTo>
                <a:lnTo>
                  <a:pt x="7221082" y="0"/>
                </a:lnTo>
                <a:lnTo>
                  <a:pt x="7221082" y="4921034"/>
                </a:lnTo>
                <a:lnTo>
                  <a:pt x="0" y="4921034"/>
                </a:lnTo>
                <a:lnTo>
                  <a:pt x="0" y="0"/>
                </a:lnTo>
                <a:close/>
              </a:path>
            </a:pathLst>
          </a:custGeom>
          <a:blipFill>
            <a:blip r:embed="rId4"/>
            <a:stretch>
              <a:fillRect l="0" t="0" r="0" b="0"/>
            </a:stretch>
          </a:blipFill>
        </p:spPr>
      </p:sp>
      <p:sp>
        <p:nvSpPr>
          <p:cNvPr name="Freeform 4" id="4"/>
          <p:cNvSpPr/>
          <p:nvPr/>
        </p:nvSpPr>
        <p:spPr>
          <a:xfrm flipH="false" flipV="false" rot="0">
            <a:off x="9892611" y="4137998"/>
            <a:ext cx="7221082" cy="2348539"/>
          </a:xfrm>
          <a:custGeom>
            <a:avLst/>
            <a:gdLst/>
            <a:ahLst/>
            <a:cxnLst/>
            <a:rect r="r" b="b" t="t" l="l"/>
            <a:pathLst>
              <a:path h="2348539" w="7221082">
                <a:moveTo>
                  <a:pt x="0" y="0"/>
                </a:moveTo>
                <a:lnTo>
                  <a:pt x="7221083" y="0"/>
                </a:lnTo>
                <a:lnTo>
                  <a:pt x="7221083" y="2348539"/>
                </a:lnTo>
                <a:lnTo>
                  <a:pt x="0" y="2348539"/>
                </a:lnTo>
                <a:lnTo>
                  <a:pt x="0" y="0"/>
                </a:lnTo>
                <a:close/>
              </a:path>
            </a:pathLst>
          </a:custGeom>
          <a:blipFill>
            <a:blip r:embed="rId5"/>
            <a:stretch>
              <a:fillRect l="0" t="0" r="0" b="0"/>
            </a:stretch>
          </a:blipFill>
        </p:spPr>
      </p:sp>
      <p:sp>
        <p:nvSpPr>
          <p:cNvPr name="TextBox 5" id="5"/>
          <p:cNvSpPr txBox="true"/>
          <p:nvPr/>
        </p:nvSpPr>
        <p:spPr>
          <a:xfrm rot="0">
            <a:off x="1922918" y="1146763"/>
            <a:ext cx="6902838" cy="21757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ESCRIBIR Y COMPILAR LKM</a:t>
            </a:r>
          </a:p>
        </p:txBody>
      </p:sp>
      <p:sp>
        <p:nvSpPr>
          <p:cNvPr name="TextBox 6" id="6"/>
          <p:cNvSpPr txBox="true"/>
          <p:nvPr/>
        </p:nvSpPr>
        <p:spPr>
          <a:xfrm rot="0">
            <a:off x="1922918" y="3511796"/>
            <a:ext cx="4796449" cy="3892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Archivo módulo (module.c)</a:t>
            </a:r>
          </a:p>
        </p:txBody>
      </p:sp>
      <p:sp>
        <p:nvSpPr>
          <p:cNvPr name="TextBox 7" id="7"/>
          <p:cNvSpPr txBox="true"/>
          <p:nvPr/>
        </p:nvSpPr>
        <p:spPr>
          <a:xfrm rot="0">
            <a:off x="9892611" y="3511796"/>
            <a:ext cx="4796449" cy="3892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Archivo Makefile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52759" y="3130322"/>
            <a:ext cx="5810506" cy="5526534"/>
          </a:xfrm>
          <a:custGeom>
            <a:avLst/>
            <a:gdLst/>
            <a:ahLst/>
            <a:cxnLst/>
            <a:rect r="r" b="b" t="t" l="l"/>
            <a:pathLst>
              <a:path h="5526534" w="5810506">
                <a:moveTo>
                  <a:pt x="0" y="0"/>
                </a:moveTo>
                <a:lnTo>
                  <a:pt x="5810506" y="0"/>
                </a:lnTo>
                <a:lnTo>
                  <a:pt x="5810506" y="5526534"/>
                </a:lnTo>
                <a:lnTo>
                  <a:pt x="0" y="5526534"/>
                </a:lnTo>
                <a:lnTo>
                  <a:pt x="0" y="0"/>
                </a:lnTo>
                <a:close/>
              </a:path>
            </a:pathLst>
          </a:custGeom>
          <a:blipFill>
            <a:blip r:embed="rId4"/>
            <a:stretch>
              <a:fillRect l="0" t="0" r="0" b="0"/>
            </a:stretch>
          </a:blipFill>
        </p:spPr>
      </p:sp>
      <p:sp>
        <p:nvSpPr>
          <p:cNvPr name="TextBox 4" id="4"/>
          <p:cNvSpPr txBox="true"/>
          <p:nvPr/>
        </p:nvSpPr>
        <p:spPr>
          <a:xfrm rot="0">
            <a:off x="1922918" y="1550369"/>
            <a:ext cx="6902838" cy="1070811"/>
          </a:xfrm>
          <a:prstGeom prst="rect">
            <a:avLst/>
          </a:prstGeom>
        </p:spPr>
        <p:txBody>
          <a:bodyPr anchor="t" rtlCol="false" tIns="0" lIns="0" bIns="0" rIns="0">
            <a:spAutoFit/>
          </a:bodyPr>
          <a:lstStyle/>
          <a:p>
            <a:pPr algn="l">
              <a:lnSpc>
                <a:spcPts val="8703"/>
              </a:lnSpc>
              <a:spcBef>
                <a:spcPct val="0"/>
              </a:spcBef>
            </a:pPr>
            <a:r>
              <a:rPr lang="en-US" b="true" sz="6217" spc="-285">
                <a:solidFill>
                  <a:srgbClr val="EBF5FE"/>
                </a:solidFill>
                <a:latin typeface="Garet Bold"/>
                <a:ea typeface="Garet Bold"/>
                <a:cs typeface="Garet Bold"/>
                <a:sym typeface="Garet Bold"/>
              </a:rPr>
              <a:t>COMANDOS</a:t>
            </a:r>
          </a:p>
        </p:txBody>
      </p:sp>
      <p:sp>
        <p:nvSpPr>
          <p:cNvPr name="TextBox 5" id="5"/>
          <p:cNvSpPr txBox="true"/>
          <p:nvPr/>
        </p:nvSpPr>
        <p:spPr>
          <a:xfrm rot="0">
            <a:off x="1922918" y="3274849"/>
            <a:ext cx="6624908" cy="5189855"/>
          </a:xfrm>
          <a:prstGeom prst="rect">
            <a:avLst/>
          </a:prstGeom>
        </p:spPr>
        <p:txBody>
          <a:bodyPr anchor="t" rtlCol="false" tIns="0" lIns="0" bIns="0" rIns="0">
            <a:spAutoFit/>
          </a:bodyPr>
          <a:lstStyle/>
          <a:p>
            <a:pPr algn="just">
              <a:lnSpc>
                <a:spcPts val="3219"/>
              </a:lnSpc>
            </a:pPr>
            <a:r>
              <a:rPr lang="en-US" sz="2299" spc="-105">
                <a:solidFill>
                  <a:srgbClr val="EBF5FE"/>
                </a:solidFill>
                <a:latin typeface="Garet"/>
                <a:ea typeface="Garet"/>
                <a:cs typeface="Garet"/>
                <a:sym typeface="Garet"/>
              </a:rPr>
              <a:t>Para compilar el nuevo modulo se necesita abrir una terminal y navegar al</a:t>
            </a:r>
            <a:r>
              <a:rPr lang="en-US" sz="2299" spc="-105">
                <a:solidFill>
                  <a:srgbClr val="EBF5FE"/>
                </a:solidFill>
                <a:latin typeface="Garet"/>
                <a:ea typeface="Garet"/>
                <a:cs typeface="Garet"/>
                <a:sym typeface="Garet"/>
              </a:rPr>
              <a:t> directorio donde se alojan los archivos hello.c y Makefile. Luego, ejecutar los siguientes comando para compilar el módulo</a:t>
            </a:r>
          </a:p>
          <a:p>
            <a:pPr algn="just">
              <a:lnSpc>
                <a:spcPts val="3219"/>
              </a:lnSpc>
            </a:pPr>
          </a:p>
          <a:p>
            <a:pPr algn="just">
              <a:lnSpc>
                <a:spcPts val="3219"/>
              </a:lnSpc>
            </a:pPr>
            <a:r>
              <a:rPr lang="en-US" sz="2299" spc="-105">
                <a:solidFill>
                  <a:srgbClr val="EBF5FE"/>
                </a:solidFill>
                <a:latin typeface="Garet"/>
                <a:ea typeface="Garet"/>
                <a:cs typeface="Garet"/>
                <a:sym typeface="Garet"/>
              </a:rPr>
              <a:t>Nota: </a:t>
            </a:r>
          </a:p>
          <a:p>
            <a:pPr algn="just">
              <a:lnSpc>
                <a:spcPts val="3219"/>
              </a:lnSpc>
            </a:pPr>
            <a:r>
              <a:rPr lang="en-US" sz="2299" spc="-105">
                <a:solidFill>
                  <a:srgbClr val="EBF5FE"/>
                </a:solidFill>
                <a:latin typeface="Garet"/>
                <a:ea typeface="Garet"/>
                <a:cs typeface="Garet"/>
                <a:sym typeface="Garet"/>
              </a:rPr>
              <a:t>No olvidar instalar dependencias si aun no están instaladas:</a:t>
            </a:r>
          </a:p>
          <a:p>
            <a:pPr algn="just">
              <a:lnSpc>
                <a:spcPts val="3219"/>
              </a:lnSpc>
            </a:pPr>
          </a:p>
          <a:p>
            <a:pPr algn="just">
              <a:lnSpc>
                <a:spcPts val="3219"/>
              </a:lnSpc>
            </a:pPr>
            <a:r>
              <a:rPr lang="en-US" sz="2299" i="true" spc="-105">
                <a:solidFill>
                  <a:srgbClr val="FFFFFF"/>
                </a:solidFill>
                <a:latin typeface="Garet Italics"/>
                <a:ea typeface="Garet Italics"/>
                <a:cs typeface="Garet Italics"/>
                <a:sym typeface="Garet Italics"/>
              </a:rPr>
              <a:t>sudo apt -y install build-essential libncurses-dev bison flex libssl-dev libelf-dev</a:t>
            </a:r>
          </a:p>
          <a:p>
            <a:pPr algn="just">
              <a:lnSpc>
                <a:spcPts val="3219"/>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49550" y="2279447"/>
            <a:ext cx="7312445" cy="5977924"/>
          </a:xfrm>
          <a:custGeom>
            <a:avLst/>
            <a:gdLst/>
            <a:ahLst/>
            <a:cxnLst/>
            <a:rect r="r" b="b" t="t" l="l"/>
            <a:pathLst>
              <a:path h="5977924" w="7312445">
                <a:moveTo>
                  <a:pt x="0" y="0"/>
                </a:moveTo>
                <a:lnTo>
                  <a:pt x="7312445" y="0"/>
                </a:lnTo>
                <a:lnTo>
                  <a:pt x="7312445" y="5977924"/>
                </a:lnTo>
                <a:lnTo>
                  <a:pt x="0" y="5977924"/>
                </a:lnTo>
                <a:lnTo>
                  <a:pt x="0" y="0"/>
                </a:lnTo>
                <a:close/>
              </a:path>
            </a:pathLst>
          </a:custGeom>
          <a:blipFill>
            <a:blip r:embed="rId4"/>
            <a:stretch>
              <a:fillRect l="0" t="0" r="0" b="0"/>
            </a:stretch>
          </a:blipFill>
        </p:spPr>
      </p:sp>
      <p:sp>
        <p:nvSpPr>
          <p:cNvPr name="TextBox 4" id="4"/>
          <p:cNvSpPr txBox="true"/>
          <p:nvPr/>
        </p:nvSpPr>
        <p:spPr>
          <a:xfrm rot="0">
            <a:off x="1474060" y="1938095"/>
            <a:ext cx="7416980" cy="4191000"/>
          </a:xfrm>
          <a:prstGeom prst="rect">
            <a:avLst/>
          </a:prstGeom>
        </p:spPr>
        <p:txBody>
          <a:bodyPr anchor="t" rtlCol="false" tIns="0" lIns="0" bIns="0" rIns="0">
            <a:spAutoFit/>
          </a:bodyPr>
          <a:lstStyle/>
          <a:p>
            <a:pPr algn="l">
              <a:lnSpc>
                <a:spcPts val="16800"/>
              </a:lnSpc>
              <a:spcBef>
                <a:spcPct val="0"/>
              </a:spcBef>
            </a:pPr>
            <a:r>
              <a:rPr lang="en-US" b="true" sz="12000" spc="-552">
                <a:solidFill>
                  <a:srgbClr val="EBF5FE"/>
                </a:solidFill>
                <a:latin typeface="Garet Bold"/>
                <a:ea typeface="Garet Bold"/>
                <a:cs typeface="Garet Bold"/>
                <a:sym typeface="Garet Bold"/>
              </a:rPr>
              <a:t>EJEMPLO </a:t>
            </a:r>
            <a:r>
              <a:rPr lang="en-US" b="true" sz="12000" spc="-552">
                <a:solidFill>
                  <a:srgbClr val="EBF5FE"/>
                </a:solidFill>
                <a:latin typeface="Garet Bold"/>
                <a:ea typeface="Garet Bold"/>
                <a:cs typeface="Garet Bold"/>
                <a:sym typeface="Garet Bold"/>
              </a:rPr>
              <a:t>GUIADO</a:t>
            </a:r>
          </a:p>
        </p:txBody>
      </p:sp>
      <p:sp>
        <p:nvSpPr>
          <p:cNvPr name="TextBox 5" id="5"/>
          <p:cNvSpPr txBox="true"/>
          <p:nvPr/>
        </p:nvSpPr>
        <p:spPr>
          <a:xfrm rot="0">
            <a:off x="1474060" y="6362933"/>
            <a:ext cx="7875490" cy="528321"/>
          </a:xfrm>
          <a:prstGeom prst="rect">
            <a:avLst/>
          </a:prstGeom>
        </p:spPr>
        <p:txBody>
          <a:bodyPr anchor="t" rtlCol="false" tIns="0" lIns="0" bIns="0" rIns="0">
            <a:spAutoFit/>
          </a:bodyPr>
          <a:lstStyle/>
          <a:p>
            <a:pPr algn="l">
              <a:lnSpc>
                <a:spcPts val="4479"/>
              </a:lnSpc>
              <a:spcBef>
                <a:spcPct val="0"/>
              </a:spcBef>
            </a:pPr>
            <a:r>
              <a:rPr lang="en-US" sz="3199" spc="-147">
                <a:solidFill>
                  <a:srgbClr val="EBF5FE"/>
                </a:solidFill>
                <a:latin typeface="Garet"/>
                <a:ea typeface="Garet"/>
                <a:cs typeface="Garet"/>
                <a:sym typeface="Garet"/>
              </a:rPr>
              <a:t>CREACIÓN MÓDULO LKM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04900" y="1465400"/>
            <a:ext cx="4017831" cy="701294"/>
          </a:xfrm>
          <a:custGeom>
            <a:avLst/>
            <a:gdLst/>
            <a:ahLst/>
            <a:cxnLst/>
            <a:rect r="r" b="b" t="t" l="l"/>
            <a:pathLst>
              <a:path h="701294" w="4017831">
                <a:moveTo>
                  <a:pt x="0" y="0"/>
                </a:moveTo>
                <a:lnTo>
                  <a:pt x="4017831" y="0"/>
                </a:lnTo>
                <a:lnTo>
                  <a:pt x="4017831" y="701295"/>
                </a:lnTo>
                <a:lnTo>
                  <a:pt x="0" y="70129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33320" y="2453700"/>
            <a:ext cx="5659411" cy="6110025"/>
          </a:xfrm>
          <a:custGeom>
            <a:avLst/>
            <a:gdLst/>
            <a:ahLst/>
            <a:cxnLst/>
            <a:rect r="r" b="b" t="t" l="l"/>
            <a:pathLst>
              <a:path h="6110025" w="5659411">
                <a:moveTo>
                  <a:pt x="0" y="0"/>
                </a:moveTo>
                <a:lnTo>
                  <a:pt x="5659411" y="0"/>
                </a:lnTo>
                <a:lnTo>
                  <a:pt x="5659411" y="6110025"/>
                </a:lnTo>
                <a:lnTo>
                  <a:pt x="0" y="61100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27020" y="4000500"/>
            <a:ext cx="7416980" cy="2057400"/>
          </a:xfrm>
          <a:prstGeom prst="rect">
            <a:avLst/>
          </a:prstGeom>
        </p:spPr>
        <p:txBody>
          <a:bodyPr anchor="t" rtlCol="false" tIns="0" lIns="0" bIns="0" rIns="0">
            <a:spAutoFit/>
          </a:bodyPr>
          <a:lstStyle/>
          <a:p>
            <a:pPr algn="l">
              <a:lnSpc>
                <a:spcPts val="16800"/>
              </a:lnSpc>
              <a:spcBef>
                <a:spcPct val="0"/>
              </a:spcBef>
            </a:pPr>
            <a:r>
              <a:rPr lang="en-US" b="true" sz="12000" spc="-552">
                <a:solidFill>
                  <a:srgbClr val="EBF5FE"/>
                </a:solidFill>
                <a:latin typeface="Garet Bold"/>
                <a:ea typeface="Garet Bold"/>
                <a:cs typeface="Garet Bold"/>
                <a:sym typeface="Garet Bold"/>
              </a:rPr>
              <a:t>¿DUDAS?</a:t>
            </a:r>
          </a:p>
        </p:txBody>
      </p:sp>
    </p:spTree>
  </p:cSld>
  <p:clrMapOvr>
    <a:masterClrMapping/>
  </p:clrMapOvr>
</p:sld>
</file>

<file path=ppt/slides/slide31.xml><?xml version="1.0" encoding="utf-8"?>
<p:sld xmlns:p="http://schemas.openxmlformats.org/presentationml/2006/main" xmlns:a="http://schemas.openxmlformats.org/drawingml/2006/main">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407285">
            <a:off x="3958143" y="-42357"/>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407285">
            <a:off x="5363810" y="1434956"/>
            <a:ext cx="7560380" cy="75603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596093" y="2342965"/>
            <a:ext cx="9095814" cy="3497948"/>
          </a:xfrm>
          <a:prstGeom prst="rect">
            <a:avLst/>
          </a:prstGeom>
        </p:spPr>
        <p:txBody>
          <a:bodyPr anchor="t" rtlCol="false" tIns="0" lIns="0" bIns="0" rIns="0">
            <a:spAutoFit/>
          </a:bodyPr>
          <a:lstStyle/>
          <a:p>
            <a:pPr algn="ctr">
              <a:lnSpc>
                <a:spcPts val="14049"/>
              </a:lnSpc>
              <a:spcBef>
                <a:spcPct val="0"/>
              </a:spcBef>
            </a:pPr>
            <a:r>
              <a:rPr lang="en-US" b="true" sz="10035" spc="-461">
                <a:solidFill>
                  <a:srgbClr val="EBF5FE"/>
                </a:solidFill>
                <a:latin typeface="Garet Bold"/>
                <a:ea typeface="Garet Bold"/>
                <a:cs typeface="Garet Bold"/>
                <a:sym typeface="Garet Bold"/>
              </a:rPr>
              <a:t>GRACIAS POR LA ATENCIÓN</a:t>
            </a:r>
          </a:p>
        </p:txBody>
      </p:sp>
      <p:sp>
        <p:nvSpPr>
          <p:cNvPr name="TextBox 9" id="9"/>
          <p:cNvSpPr txBox="true"/>
          <p:nvPr/>
        </p:nvSpPr>
        <p:spPr>
          <a:xfrm rot="0">
            <a:off x="4734440" y="6116787"/>
            <a:ext cx="9095814" cy="2214245"/>
          </a:xfrm>
          <a:prstGeom prst="rect">
            <a:avLst/>
          </a:prstGeom>
        </p:spPr>
        <p:txBody>
          <a:bodyPr anchor="t" rtlCol="false" tIns="0" lIns="0" bIns="0" rIns="0">
            <a:spAutoFit/>
          </a:bodyPr>
          <a:lstStyle/>
          <a:p>
            <a:pPr algn="ctr">
              <a:lnSpc>
                <a:spcPts val="4480"/>
              </a:lnSpc>
            </a:pPr>
            <a:r>
              <a:rPr lang="en-US" sz="3200" spc="-147">
                <a:solidFill>
                  <a:srgbClr val="EBF5FE"/>
                </a:solidFill>
                <a:latin typeface="Garet"/>
                <a:ea typeface="Garet"/>
                <a:cs typeface="Garet"/>
                <a:sym typeface="Garet"/>
              </a:rPr>
              <a:t>RECUERDA QUE TENEMOS NUESTRO FORO SEMANAL DONDE PUEDES CONSULTAR CUALQUIER DUDA QUE TE SURJA EN LA SEMANA</a:t>
            </a:r>
          </a:p>
          <a:p>
            <a:pPr algn="ctr">
              <a:lnSpc>
                <a:spcPts val="448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DAHO06wOPTI</dc:identifier>
  <dcterms:modified xsi:type="dcterms:W3CDTF">2011-08-01T06:04:30Z</dcterms:modified>
  <cp:revision>1</cp:revision>
  <dc:title>Clase 1</dc:title>
</cp:coreProperties>
</file>