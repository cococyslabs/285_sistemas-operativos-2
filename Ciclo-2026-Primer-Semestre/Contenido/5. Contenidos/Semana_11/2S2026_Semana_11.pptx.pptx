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rial Bold" charset="1" panose="020B0704020202020204"/>
      <p:regular r:id="rId34"/>
    </p:embeddedFont>
    <p:embeddedFont>
      <p:font typeface="Arial" charset="1" panose="020B0604020202020204"/>
      <p:regular r:id="rId35"/>
    </p:embeddedFont>
    <p:embeddedFont>
      <p:font typeface="Open Sans Bold" charset="1" panose="00000000000000000000"/>
      <p:regular r:id="rId37"/>
    </p:embeddedFont>
    <p:embeddedFont>
      <p:font typeface="Montserrat Bold" charset="1" panose="00000800000000000000"/>
      <p:regular r:id="rId39"/>
    </p:embeddedFont>
    <p:embeddedFont>
      <p:font typeface="Calibri (MS)" charset="1" panose="020F0502020204030204"/>
      <p:regular r:id="rId40"/>
    </p:embeddedFont>
    <p:embeddedFont>
      <p:font typeface="Open Sans" charset="1" panose="00000000000000000000"/>
      <p:regular r:id="rId43"/>
    </p:embeddedFont>
    <p:embeddedFont>
      <p:font typeface="Montserrat" charset="1" panose="00000500000000000000"/>
      <p:regular r:id="rId44"/>
    </p:embeddedFont>
    <p:embeddedFont>
      <p:font typeface="Montserrat Bold Italics" charset="1" panose="0000080000000000000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fonts/font37.fntdata" Type="http://schemas.openxmlformats.org/officeDocument/2006/relationships/font"/><Relationship Id="rId38" Target="notesSlides/notesSlide3.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4.xml" Type="http://schemas.openxmlformats.org/officeDocument/2006/relationships/notesSlide"/><Relationship Id="rId42" Target="notesSlides/notesSlide5.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 Target="tableStyles.xml" Type="http://schemas.openxmlformats.org/officeDocument/2006/relationships/tableStyles"/><Relationship Id="rId50" Target="notesSlides/notesSlide11.xml" Type="http://schemas.openxmlformats.org/officeDocument/2006/relationships/notesSlide"/><Relationship Id="rId51" Target="notesSlides/notesSlide12.xml" Type="http://schemas.openxmlformats.org/officeDocument/2006/relationships/notesSlide"/><Relationship Id="rId52" Target="notesSlides/notesSlide13.xml" Type="http://schemas.openxmlformats.org/officeDocument/2006/relationships/notesSlide"/><Relationship Id="rId53" Target="notesSlides/notesSlide14.xml" Type="http://schemas.openxmlformats.org/officeDocument/2006/relationships/notesSlide"/><Relationship Id="rId54" Target="notesSlides/notesSlide15.xml" Type="http://schemas.openxmlformats.org/officeDocument/2006/relationships/notesSlide"/><Relationship Id="rId55" Target="notesSlides/notesSlide16.xml" Type="http://schemas.openxmlformats.org/officeDocument/2006/relationships/notesSlide"/><Relationship Id="rId56" Target="notesSlides/notesSlide17.xml" Type="http://schemas.openxmlformats.org/officeDocument/2006/relationships/notesSlide"/><Relationship Id="rId57" Target="notesSlides/notesSlide18.xml" Type="http://schemas.openxmlformats.org/officeDocument/2006/relationships/notesSlide"/><Relationship Id="rId58" Target="fonts/font58.fntdata" Type="http://schemas.openxmlformats.org/officeDocument/2006/relationships/font"/><Relationship Id="rId59" Target="notesSlides/notesSlide19.xml" Type="http://schemas.openxmlformats.org/officeDocument/2006/relationships/notesSlide"/><Relationship Id="rId6" Target="slides/slide1.xml" Type="http://schemas.openxmlformats.org/officeDocument/2006/relationships/slide"/><Relationship Id="rId60" Target="notesSlides/notesSlide20.xml" Type="http://schemas.openxmlformats.org/officeDocument/2006/relationships/notesSlide"/><Relationship Id="rId61" Target="notesSlides/notesSlide21.xml" Type="http://schemas.openxmlformats.org/officeDocument/2006/relationships/notesSlide"/><Relationship Id="rId62" Target="notesSlides/notesSlide22.xml" Type="http://schemas.openxmlformats.org/officeDocument/2006/relationships/notesSlide"/><Relationship Id="rId63" Target="notesSlides/notesSlide23.xml" Type="http://schemas.openxmlformats.org/officeDocument/2006/relationships/notesSlide"/><Relationship Id="rId64" Target="notesSlides/notesSlide24.xml" Type="http://schemas.openxmlformats.org/officeDocument/2006/relationships/notesSlide"/><Relationship Id="rId65" Target="notesSlides/notesSlide25.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notesSlides/notesSlide7.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12" Target="../media/image31.png" Type="http://schemas.openxmlformats.org/officeDocument/2006/relationships/image"/><Relationship Id="rId2" Target="../notesSlides/notesSlide8.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14" Target="../media/image43.png" Type="http://schemas.openxmlformats.org/officeDocument/2006/relationships/image"/><Relationship Id="rId2" Target="../notesSlides/notesSlide9.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svg" Type="http://schemas.openxmlformats.org/officeDocument/2006/relationships/image"/><Relationship Id="rId11" Target="../media/image52.png" Type="http://schemas.openxmlformats.org/officeDocument/2006/relationships/image"/><Relationship Id="rId12" Target="../media/image53.png" Type="http://schemas.openxmlformats.org/officeDocument/2006/relationships/image"/><Relationship Id="rId13" Target="../media/image54.png" Type="http://schemas.openxmlformats.org/officeDocument/2006/relationships/image"/><Relationship Id="rId14" Target="../media/image55.png" Type="http://schemas.openxmlformats.org/officeDocument/2006/relationships/image"/><Relationship Id="rId2" Target="../notesSlides/notesSlide10.xml" Type="http://schemas.openxmlformats.org/officeDocument/2006/relationships/notesSlide"/><Relationship Id="rId3" Target="../media/image44.png" Type="http://schemas.openxmlformats.org/officeDocument/2006/relationships/image"/><Relationship Id="rId4" Target="../media/image45.sv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5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svg" Type="http://schemas.openxmlformats.org/officeDocument/2006/relationships/image"/><Relationship Id="rId11" Target="../media/image53.png" Type="http://schemas.openxmlformats.org/officeDocument/2006/relationships/image"/><Relationship Id="rId12" Target="../media/image54.png" Type="http://schemas.openxmlformats.org/officeDocument/2006/relationships/image"/><Relationship Id="rId13" Target="../media/image55.png" Type="http://schemas.openxmlformats.org/officeDocument/2006/relationships/image"/><Relationship Id="rId2" Target="../notesSlides/notesSlide11.xml" Type="http://schemas.openxmlformats.org/officeDocument/2006/relationships/notesSlide"/><Relationship Id="rId3" Target="../media/image56.png" Type="http://schemas.openxmlformats.org/officeDocument/2006/relationships/image"/><Relationship Id="rId4" Target="../media/image57.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svg" Type="http://schemas.openxmlformats.org/officeDocument/2006/relationships/image"/><Relationship Id="rId11" Target="../media/image70.png" Type="http://schemas.openxmlformats.org/officeDocument/2006/relationships/image"/><Relationship Id="rId2" Target="../notesSlides/notesSlide12.xml" Type="http://schemas.openxmlformats.org/officeDocument/2006/relationships/notesSlide"/><Relationship Id="rId3" Target="../media/image62.png" Type="http://schemas.openxmlformats.org/officeDocument/2006/relationships/image"/><Relationship Id="rId4" Target="../media/image63.svg" Type="http://schemas.openxmlformats.org/officeDocument/2006/relationships/image"/><Relationship Id="rId5" Target="../media/image64.png" Type="http://schemas.openxmlformats.org/officeDocument/2006/relationships/image"/><Relationship Id="rId6" Target="../media/image65.svg" Type="http://schemas.openxmlformats.org/officeDocument/2006/relationships/image"/><Relationship Id="rId7" Target="../media/image66.png" Type="http://schemas.openxmlformats.org/officeDocument/2006/relationships/image"/><Relationship Id="rId8" Target="../media/image67.svg" Type="http://schemas.openxmlformats.org/officeDocument/2006/relationships/image"/><Relationship Id="rId9" Target="../media/image6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 Id="rId7" Target="../media/image73.png" Type="http://schemas.openxmlformats.org/officeDocument/2006/relationships/image"/><Relationship Id="rId8" Target="../media/image74.png" Type="http://schemas.openxmlformats.org/officeDocument/2006/relationships/image"/><Relationship Id="rId9" Target="../media/image7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6.png" Type="http://schemas.openxmlformats.org/officeDocument/2006/relationships/image"/><Relationship Id="rId4" Target="../media/image37.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76.png" Type="http://schemas.openxmlformats.org/officeDocument/2006/relationships/image"/><Relationship Id="rId8" Target="../media/image77.png" Type="http://schemas.openxmlformats.org/officeDocument/2006/relationships/image"/><Relationship Id="rId9" Target="../media/image7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79.pn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8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1.svg" Type="http://schemas.openxmlformats.org/officeDocument/2006/relationships/image"/><Relationship Id="rId11" Target="../media/image92.png" Type="http://schemas.openxmlformats.org/officeDocument/2006/relationships/image"/><Relationship Id="rId12" Target="../media/image93.svg" Type="http://schemas.openxmlformats.org/officeDocument/2006/relationships/image"/><Relationship Id="rId13" Target="../media/image94.png" Type="http://schemas.openxmlformats.org/officeDocument/2006/relationships/image"/><Relationship Id="rId14" Target="../media/image95.svg" Type="http://schemas.openxmlformats.org/officeDocument/2006/relationships/image"/><Relationship Id="rId15" Target="../media/image96.png" Type="http://schemas.openxmlformats.org/officeDocument/2006/relationships/image"/><Relationship Id="rId16" Target="../media/image97.svg" Type="http://schemas.openxmlformats.org/officeDocument/2006/relationships/image"/><Relationship Id="rId17" Target="../media/image98.png" Type="http://schemas.openxmlformats.org/officeDocument/2006/relationships/image"/><Relationship Id="rId18" Target="../media/image99.svg" Type="http://schemas.openxmlformats.org/officeDocument/2006/relationships/image"/><Relationship Id="rId2" Target="../notesSlides/notesSlide16.xml" Type="http://schemas.openxmlformats.org/officeDocument/2006/relationships/notesSlide"/><Relationship Id="rId3" Target="../media/image84.png" Type="http://schemas.openxmlformats.org/officeDocument/2006/relationships/image"/><Relationship Id="rId4" Target="../media/image85.svg" Type="http://schemas.openxmlformats.org/officeDocument/2006/relationships/image"/><Relationship Id="rId5" Target="../media/image86.png" Type="http://schemas.openxmlformats.org/officeDocument/2006/relationships/image"/><Relationship Id="rId6" Target="../media/image87.svg" Type="http://schemas.openxmlformats.org/officeDocument/2006/relationships/image"/><Relationship Id="rId7" Target="../media/image88.png" Type="http://schemas.openxmlformats.org/officeDocument/2006/relationships/image"/><Relationship Id="rId8" Target="../media/image89.svg" Type="http://schemas.openxmlformats.org/officeDocument/2006/relationships/image"/><Relationship Id="rId9" Target="../media/image9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svg" Type="http://schemas.openxmlformats.org/officeDocument/2006/relationships/image"/><Relationship Id="rId11" Target="../media/image83.png" Type="http://schemas.openxmlformats.org/officeDocument/2006/relationships/image"/><Relationship Id="rId12" Target="../media/image108.png" Type="http://schemas.openxmlformats.org/officeDocument/2006/relationships/image"/><Relationship Id="rId2" Target="../notesSlides/notesSlide17.xml" Type="http://schemas.openxmlformats.org/officeDocument/2006/relationships/notesSlide"/><Relationship Id="rId3" Target="../media/image100.jpeg" Type="http://schemas.openxmlformats.org/officeDocument/2006/relationships/image"/><Relationship Id="rId4" Target="../media/image101.jpe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0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3.svg" Type="http://schemas.openxmlformats.org/officeDocument/2006/relationships/image"/><Relationship Id="rId11" Target="../media/image114.png" Type="http://schemas.openxmlformats.org/officeDocument/2006/relationships/image"/><Relationship Id="rId12" Target="../media/image115.png" Type="http://schemas.openxmlformats.org/officeDocument/2006/relationships/image"/><Relationship Id="rId13" Target="../media/image116.png" Type="http://schemas.openxmlformats.org/officeDocument/2006/relationships/image"/><Relationship Id="rId14" Target="../media/image117.png" Type="http://schemas.openxmlformats.org/officeDocument/2006/relationships/image"/><Relationship Id="rId2" Target="../notesSlides/notesSlide18.xml" Type="http://schemas.openxmlformats.org/officeDocument/2006/relationships/notesSlide"/><Relationship Id="rId3" Target="../media/image32.png" Type="http://schemas.openxmlformats.org/officeDocument/2006/relationships/image"/><Relationship Id="rId4" Target="../media/image109.svg" Type="http://schemas.openxmlformats.org/officeDocument/2006/relationships/image"/><Relationship Id="rId5" Target="../media/image110.png" Type="http://schemas.openxmlformats.org/officeDocument/2006/relationships/image"/><Relationship Id="rId6" Target="../media/image111.svg" Type="http://schemas.openxmlformats.org/officeDocument/2006/relationships/image"/><Relationship Id="rId7" Target="../media/image36.png" Type="http://schemas.openxmlformats.org/officeDocument/2006/relationships/image"/><Relationship Id="rId8" Target="../media/image112.svg" Type="http://schemas.openxmlformats.org/officeDocument/2006/relationships/image"/><Relationship Id="rId9"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9.png" Type="http://schemas.openxmlformats.org/officeDocument/2006/relationships/image"/><Relationship Id="rId11" Target="../media/image120.png" Type="http://schemas.openxmlformats.org/officeDocument/2006/relationships/image"/><Relationship Id="rId2" Target="../notesSlides/notesSlide19.xml" Type="http://schemas.openxmlformats.org/officeDocument/2006/relationships/notesSlide"/><Relationship Id="rId3" Target="../media/image36.png" Type="http://schemas.openxmlformats.org/officeDocument/2006/relationships/image"/><Relationship Id="rId4" Target="../media/image112.svg" Type="http://schemas.openxmlformats.org/officeDocument/2006/relationships/image"/><Relationship Id="rId5" Target="../media/image110.png" Type="http://schemas.openxmlformats.org/officeDocument/2006/relationships/image"/><Relationship Id="rId6" Target="../media/image111.svg" Type="http://schemas.openxmlformats.org/officeDocument/2006/relationships/image"/><Relationship Id="rId7" Target="../media/image38.png" Type="http://schemas.openxmlformats.org/officeDocument/2006/relationships/image"/><Relationship Id="rId8" Target="../media/image113.svg" Type="http://schemas.openxmlformats.org/officeDocument/2006/relationships/image"/><Relationship Id="rId9" Target="../media/image118.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8.jpeg" Type="http://schemas.openxmlformats.org/officeDocument/2006/relationships/image"/><Relationship Id="rId11" Target="../media/image129.png" Type="http://schemas.openxmlformats.org/officeDocument/2006/relationships/image"/><Relationship Id="rId12" Target="../media/image130.svg" Type="http://schemas.openxmlformats.org/officeDocument/2006/relationships/image"/><Relationship Id="rId13" Target="../media/image131.png" Type="http://schemas.openxmlformats.org/officeDocument/2006/relationships/image"/><Relationship Id="rId14" Target="../media/image132.svg" Type="http://schemas.openxmlformats.org/officeDocument/2006/relationships/image"/><Relationship Id="rId15" Target="../media/image133.png" Type="http://schemas.openxmlformats.org/officeDocument/2006/relationships/image"/><Relationship Id="rId16" Target="../media/image134.png" Type="http://schemas.openxmlformats.org/officeDocument/2006/relationships/image"/><Relationship Id="rId2" Target="../notesSlides/notesSlide20.xml" Type="http://schemas.openxmlformats.org/officeDocument/2006/relationships/notesSlide"/><Relationship Id="rId3" Target="../media/image121.png" Type="http://schemas.openxmlformats.org/officeDocument/2006/relationships/image"/><Relationship Id="rId4" Target="../media/image122.svg" Type="http://schemas.openxmlformats.org/officeDocument/2006/relationships/image"/><Relationship Id="rId5" Target="../media/image123.png" Type="http://schemas.openxmlformats.org/officeDocument/2006/relationships/image"/><Relationship Id="rId6" Target="../media/image124.svg" Type="http://schemas.openxmlformats.org/officeDocument/2006/relationships/image"/><Relationship Id="rId7" Target="../media/image125.png" Type="http://schemas.openxmlformats.org/officeDocument/2006/relationships/image"/><Relationship Id="rId8" Target="../media/image126.svg" Type="http://schemas.openxmlformats.org/officeDocument/2006/relationships/image"/><Relationship Id="rId9" Target="../media/image12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35.png" Type="http://schemas.openxmlformats.org/officeDocument/2006/relationships/image"/><Relationship Id="rId4" Target="../media/image136.png" Type="http://schemas.openxmlformats.org/officeDocument/2006/relationships/image"/><Relationship Id="rId5" Target="../media/image1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37.png" Type="http://schemas.openxmlformats.org/officeDocument/2006/relationships/image"/><Relationship Id="rId4" Target="../media/image138.png" Type="http://schemas.openxmlformats.org/officeDocument/2006/relationships/image"/><Relationship Id="rId5" Target="../media/image13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37.png" Type="http://schemas.openxmlformats.org/officeDocument/2006/relationships/image"/><Relationship Id="rId4" Target="../media/image140.png" Type="http://schemas.openxmlformats.org/officeDocument/2006/relationships/image"/><Relationship Id="rId5" Target="../media/image14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37.png" Type="http://schemas.openxmlformats.org/officeDocument/2006/relationships/image"/><Relationship Id="rId4" Target="../media/image142.png" Type="http://schemas.openxmlformats.org/officeDocument/2006/relationships/image"/><Relationship Id="rId5" Target="../media/image143.svg" Type="http://schemas.openxmlformats.org/officeDocument/2006/relationships/image"/><Relationship Id="rId6" Target="https://freertos.org/" TargetMode="External" Type="http://schemas.openxmlformats.org/officeDocument/2006/relationships/hyperlink"/><Relationship Id="rId7" Target="https://emb-academy.com/articles/optimizing-performance-in-embedded-systems/" TargetMode="External" Type="http://schemas.openxmlformats.org/officeDocument/2006/relationships/hyperlink"/><Relationship Id="rId8" Target="https://grpc.io/"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44.png" Type="http://schemas.openxmlformats.org/officeDocument/2006/relationships/image"/><Relationship Id="rId4" Target="../media/image14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97" y="0"/>
            <a:ext cx="18254196" cy="10287000"/>
            <a:chOff x="0" y="0"/>
            <a:chExt cx="24338928" cy="13716000"/>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0656400" y="1940050"/>
          <a:ext cx="7378700" cy="1358900"/>
        </p:xfrm>
        <a:graphic>
          <a:graphicData uri="http://schemas.openxmlformats.org/drawingml/2006/table">
            <a:tbl>
              <a:tblPr/>
              <a:tblGrid>
                <a:gridCol w="3035392"/>
                <a:gridCol w="4343308"/>
              </a:tblGrid>
              <a:tr h="639162">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Día, Fecha:</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DIA, DD/MM/YYYY</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9738">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Hora de inicio:</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00:00</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063202" y="4670879"/>
            <a:ext cx="13218300" cy="848173"/>
          </a:xfrm>
          <a:prstGeom prst="rect">
            <a:avLst/>
          </a:prstGeom>
        </p:spPr>
        <p:txBody>
          <a:bodyPr anchor="t" rtlCol="false" tIns="0" lIns="0" bIns="0" rIns="0">
            <a:spAutoFit/>
          </a:bodyPr>
          <a:lstStyle/>
          <a:p>
            <a:pPr algn="l">
              <a:lnSpc>
                <a:spcPts val="6359"/>
              </a:lnSpc>
            </a:pPr>
            <a:r>
              <a:rPr lang="en-US" b="true" sz="5299">
                <a:solidFill>
                  <a:srgbClr val="000000"/>
                </a:solidFill>
                <a:latin typeface="Arial Bold"/>
                <a:ea typeface="Arial Bold"/>
                <a:cs typeface="Arial Bold"/>
                <a:sym typeface="Arial Bold"/>
              </a:rPr>
              <a:t>Sistemas Operativos 2 [A]</a:t>
            </a:r>
          </a:p>
        </p:txBody>
      </p:sp>
      <p:sp>
        <p:nvSpPr>
          <p:cNvPr name="TextBox 6" id="6"/>
          <p:cNvSpPr txBox="true"/>
          <p:nvPr/>
        </p:nvSpPr>
        <p:spPr>
          <a:xfrm rot="0">
            <a:off x="3740248" y="5965298"/>
            <a:ext cx="10807503" cy="700049"/>
          </a:xfrm>
          <a:prstGeom prst="rect">
            <a:avLst/>
          </a:prstGeom>
        </p:spPr>
        <p:txBody>
          <a:bodyPr anchor="t" rtlCol="false" tIns="0" lIns="0" bIns="0" rIns="0">
            <a:spAutoFit/>
          </a:bodyPr>
          <a:lstStyle/>
          <a:p>
            <a:pPr algn="l">
              <a:lnSpc>
                <a:spcPts val="5280"/>
              </a:lnSpc>
            </a:pPr>
            <a:r>
              <a:rPr lang="en-US" sz="4400">
                <a:solidFill>
                  <a:srgbClr val="000000"/>
                </a:solidFill>
                <a:latin typeface="Arial"/>
                <a:ea typeface="Arial"/>
                <a:cs typeface="Arial"/>
                <a:sym typeface="Arial"/>
              </a:rPr>
              <a:t>NOMBRE_ESTUDIANTE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405105" y="0"/>
            <a:ext cx="3898944" cy="1161383"/>
            <a:chOff x="0" y="0"/>
            <a:chExt cx="5198593" cy="1548511"/>
          </a:xfrm>
        </p:grpSpPr>
        <p:sp>
          <p:nvSpPr>
            <p:cNvPr name="Freeform 3" id="3"/>
            <p:cNvSpPr/>
            <p:nvPr/>
          </p:nvSpPr>
          <p:spPr>
            <a:xfrm flipH="false" flipV="false" rot="0">
              <a:off x="0" y="0"/>
              <a:ext cx="5198618" cy="1548511"/>
            </a:xfrm>
            <a:custGeom>
              <a:avLst/>
              <a:gdLst/>
              <a:ahLst/>
              <a:cxnLst/>
              <a:rect r="r" b="b" t="t" l="l"/>
              <a:pathLst>
                <a:path h="1548511" w="5198618">
                  <a:moveTo>
                    <a:pt x="0" y="0"/>
                  </a:moveTo>
                  <a:lnTo>
                    <a:pt x="5198618" y="0"/>
                  </a:lnTo>
                  <a:lnTo>
                    <a:pt x="5198618" y="1548511"/>
                  </a:lnTo>
                  <a:lnTo>
                    <a:pt x="0" y="1548511"/>
                  </a:lnTo>
                  <a:lnTo>
                    <a:pt x="0" y="0"/>
                  </a:lnTo>
                  <a:close/>
                </a:path>
              </a:pathLst>
            </a:custGeom>
            <a:blipFill>
              <a:blip r:embed="rId3"/>
              <a:stretch>
                <a:fillRect l="0" t="0" r="0" b="0"/>
              </a:stretch>
            </a:blipFill>
          </p:spPr>
        </p:sp>
      </p:grpSp>
      <p:sp>
        <p:nvSpPr>
          <p:cNvPr name="TextBox 4" id="4"/>
          <p:cNvSpPr txBox="true"/>
          <p:nvPr/>
        </p:nvSpPr>
        <p:spPr>
          <a:xfrm rot="0">
            <a:off x="1028700" y="8626192"/>
            <a:ext cx="69813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Escuela de Ingeniería de Ciencias Y Sistemas</a:t>
            </a:r>
          </a:p>
        </p:txBody>
      </p:sp>
      <p:sp>
        <p:nvSpPr>
          <p:cNvPr name="TextBox 5" id="5"/>
          <p:cNvSpPr txBox="true"/>
          <p:nvPr/>
        </p:nvSpPr>
        <p:spPr>
          <a:xfrm rot="0">
            <a:off x="1028700" y="9050988"/>
            <a:ext cx="3525298"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Facultad de Ingeniería</a:t>
            </a:r>
          </a:p>
        </p:txBody>
      </p:sp>
      <p:sp>
        <p:nvSpPr>
          <p:cNvPr name="TextBox 6" id="6"/>
          <p:cNvSpPr txBox="true"/>
          <p:nvPr/>
        </p:nvSpPr>
        <p:spPr>
          <a:xfrm rot="0">
            <a:off x="1028700" y="9471022"/>
            <a:ext cx="64080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Universidad de San Carlos de Guatemala</a:t>
            </a:r>
          </a:p>
        </p:txBody>
      </p:sp>
      <p:sp>
        <p:nvSpPr>
          <p:cNvPr name="TextBox 7" id="7"/>
          <p:cNvSpPr txBox="true"/>
          <p:nvPr/>
        </p:nvSpPr>
        <p:spPr>
          <a:xfrm rot="0">
            <a:off x="1667828" y="3121428"/>
            <a:ext cx="15099602" cy="5163392"/>
          </a:xfrm>
          <a:prstGeom prst="rect">
            <a:avLst/>
          </a:prstGeom>
        </p:spPr>
        <p:txBody>
          <a:bodyPr anchor="t" rtlCol="false" tIns="0" lIns="0" bIns="0" rIns="0">
            <a:spAutoFit/>
          </a:bodyPr>
          <a:lstStyle/>
          <a:p>
            <a:pPr algn="ctr">
              <a:lnSpc>
                <a:spcPts val="10187"/>
              </a:lnSpc>
            </a:pPr>
            <a:r>
              <a:rPr lang="en-US" sz="7933">
                <a:solidFill>
                  <a:srgbClr val="FFFFFF"/>
                </a:solidFill>
                <a:latin typeface="Arial"/>
                <a:ea typeface="Arial"/>
                <a:cs typeface="Arial"/>
                <a:sym typeface="Arial"/>
              </a:rPr>
              <a:t>UNIDAD 4:</a:t>
            </a:r>
          </a:p>
          <a:p>
            <a:pPr algn="ctr" marL="1096816" indent="-548408" lvl="1">
              <a:lnSpc>
                <a:spcPts val="10187"/>
              </a:lnSpc>
            </a:pPr>
            <a:r>
              <a:rPr lang="en-US" sz="7933">
                <a:solidFill>
                  <a:srgbClr val="FFFFFF"/>
                </a:solidFill>
                <a:latin typeface="Arial"/>
                <a:ea typeface="Arial"/>
                <a:cs typeface="Arial"/>
                <a:sym typeface="Arial"/>
              </a:rPr>
              <a:t>SISTEMAS ESPECIALIZADOS Y DISTRIBUIDOS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75142" y="2474976"/>
            <a:ext cx="7764161" cy="618820"/>
            <a:chOff x="0" y="0"/>
            <a:chExt cx="10352214" cy="825094"/>
          </a:xfrm>
        </p:grpSpPr>
        <p:sp>
          <p:nvSpPr>
            <p:cNvPr name="Freeform 3" id="3"/>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4" id="4"/>
          <p:cNvGrpSpPr/>
          <p:nvPr/>
        </p:nvGrpSpPr>
        <p:grpSpPr>
          <a:xfrm rot="0">
            <a:off x="9975047" y="2453202"/>
            <a:ext cx="7764342" cy="662378"/>
            <a:chOff x="0" y="0"/>
            <a:chExt cx="10352456" cy="883171"/>
          </a:xfrm>
        </p:grpSpPr>
        <p:sp>
          <p:nvSpPr>
            <p:cNvPr name="Freeform 5" id="5"/>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6" id="6"/>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Anuncios Importantes</a:t>
              </a:r>
            </a:p>
          </p:txBody>
        </p:sp>
      </p:grpSp>
      <p:grpSp>
        <p:nvGrpSpPr>
          <p:cNvPr name="Group 7" id="7"/>
          <p:cNvGrpSpPr/>
          <p:nvPr/>
        </p:nvGrpSpPr>
        <p:grpSpPr>
          <a:xfrm rot="-1769340">
            <a:off x="2487701" y="2265797"/>
            <a:ext cx="3499333" cy="3372288"/>
            <a:chOff x="0" y="0"/>
            <a:chExt cx="4665777" cy="4496384"/>
          </a:xfrm>
        </p:grpSpPr>
        <p:sp>
          <p:nvSpPr>
            <p:cNvPr name="Freeform 8" id="8"/>
            <p:cNvSpPr/>
            <p:nvPr/>
          </p:nvSpPr>
          <p:spPr>
            <a:xfrm flipH="false" flipV="false" rot="0">
              <a:off x="0" y="0"/>
              <a:ext cx="4665726" cy="4496435"/>
            </a:xfrm>
            <a:custGeom>
              <a:avLst/>
              <a:gdLst/>
              <a:ahLst/>
              <a:cxnLst/>
              <a:rect r="r" b="b" t="t" l="l"/>
              <a:pathLst>
                <a:path h="4496435" w="4665726">
                  <a:moveTo>
                    <a:pt x="0" y="0"/>
                  </a:moveTo>
                  <a:lnTo>
                    <a:pt x="4665726" y="0"/>
                  </a:lnTo>
                  <a:lnTo>
                    <a:pt x="4665726" y="4496435"/>
                  </a:lnTo>
                  <a:lnTo>
                    <a:pt x="0" y="4496435"/>
                  </a:lnTo>
                  <a:lnTo>
                    <a:pt x="0" y="0"/>
                  </a:lnTo>
                  <a:close/>
                </a:path>
              </a:pathLst>
            </a:custGeom>
            <a:blipFill>
              <a:blip r:embed="rId4"/>
              <a:stretch>
                <a:fillRect l="3870" t="-145" r="-3870" b="-3619"/>
              </a:stretch>
            </a:blipFill>
          </p:spPr>
        </p:sp>
      </p:grpSp>
      <p:sp>
        <p:nvSpPr>
          <p:cNvPr name="TextBox 9" id="9"/>
          <p:cNvSpPr txBox="true"/>
          <p:nvPr/>
        </p:nvSpPr>
        <p:spPr>
          <a:xfrm rot="0">
            <a:off x="7419022" y="3556616"/>
            <a:ext cx="10228955" cy="2673372"/>
          </a:xfrm>
          <a:prstGeom prst="rect">
            <a:avLst/>
          </a:prstGeom>
        </p:spPr>
        <p:txBody>
          <a:bodyPr anchor="t" rtlCol="false" tIns="0" lIns="0" bIns="0" rIns="0">
            <a:spAutoFit/>
          </a:bodyPr>
          <a:lstStyle/>
          <a:p>
            <a:pPr algn="r">
              <a:lnSpc>
                <a:spcPts val="5040"/>
              </a:lnSpc>
            </a:pPr>
            <a:r>
              <a:rPr lang="en-US" sz="4200">
                <a:solidFill>
                  <a:srgbClr val="FFFFFF"/>
                </a:solidFill>
                <a:latin typeface="Calibri (MS)"/>
                <a:ea typeface="Calibri (MS)"/>
                <a:cs typeface="Calibri (MS)"/>
                <a:sym typeface="Calibri (MS)"/>
              </a:rPr>
              <a:t>Tema 1</a:t>
            </a:r>
          </a:p>
          <a:p>
            <a:pPr algn="r">
              <a:lnSpc>
                <a:spcPts val="5040"/>
              </a:lnSpc>
            </a:pPr>
            <a:r>
              <a:rPr lang="en-US" sz="4200">
                <a:solidFill>
                  <a:srgbClr val="FFFFFF"/>
                </a:solidFill>
                <a:latin typeface="Calibri (MS)"/>
                <a:ea typeface="Calibri (MS)"/>
                <a:cs typeface="Calibri (MS)"/>
                <a:sym typeface="Calibri (MS)"/>
              </a:rPr>
              <a:t>Tema 2</a:t>
            </a:r>
          </a:p>
          <a:p>
            <a:pPr algn="r">
              <a:lnSpc>
                <a:spcPts val="5040"/>
              </a:lnSpc>
            </a:pPr>
            <a:r>
              <a:rPr lang="en-US" sz="4200">
                <a:solidFill>
                  <a:srgbClr val="FFFFFF"/>
                </a:solidFill>
                <a:latin typeface="Calibri (MS)"/>
                <a:ea typeface="Calibri (MS)"/>
                <a:cs typeface="Calibri (MS)"/>
                <a:sym typeface="Calibri (MS)"/>
              </a:rPr>
              <a:t>Tema 3</a:t>
            </a:r>
          </a:p>
          <a:p>
            <a:pPr algn="r">
              <a:lnSpc>
                <a:spcPts val="5040"/>
              </a:lnSpc>
            </a:pPr>
            <a:r>
              <a:rPr lang="en-US" sz="4200">
                <a:solidFill>
                  <a:srgbClr val="FFFFFF"/>
                </a:solidFill>
                <a:latin typeface="Calibri (MS)"/>
                <a:ea typeface="Calibri (MS)"/>
                <a:cs typeface="Calibri (MS)"/>
                <a:sym typeface="Calibri (MS)"/>
              </a:rPr>
              <a:t>Tema 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6083246" y="2925747"/>
            <a:ext cx="11318253" cy="5259372"/>
          </a:xfrm>
          <a:prstGeom prst="rect">
            <a:avLst/>
          </a:prstGeom>
        </p:spPr>
        <p:txBody>
          <a:bodyPr anchor="t" rtlCol="false" tIns="0" lIns="0" bIns="0" rIns="0">
            <a:spAutoFit/>
          </a:bodyPr>
          <a:lstStyle/>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Características del sistema operativo móvil (Android, iOS)</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Características del sistema operativo integrado (FreeRTOS)</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Restricciones de recursos en sistemas integrados</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Compilación cruzada y desarrollo para plataformas integradas</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Llamadas a procedimientos remotos (RPC)</a:t>
            </a:r>
          </a:p>
        </p:txBody>
      </p:sp>
      <p:grpSp>
        <p:nvGrpSpPr>
          <p:cNvPr name="Group 3" id="3"/>
          <p:cNvGrpSpPr/>
          <p:nvPr/>
        </p:nvGrpSpPr>
        <p:grpSpPr>
          <a:xfrm rot="0">
            <a:off x="5261820" y="1930165"/>
            <a:ext cx="7764161" cy="618820"/>
            <a:chOff x="0" y="0"/>
            <a:chExt cx="10352214" cy="825094"/>
          </a:xfrm>
        </p:grpSpPr>
        <p:sp>
          <p:nvSpPr>
            <p:cNvPr name="Freeform 4" id="4"/>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820" y="1886655"/>
            <a:ext cx="7764342" cy="662378"/>
            <a:chOff x="0" y="0"/>
            <a:chExt cx="10352456" cy="883171"/>
          </a:xfrm>
        </p:grpSpPr>
        <p:sp>
          <p:nvSpPr>
            <p:cNvPr name="Freeform 6" id="6"/>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7" id="7"/>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AGENDA</a:t>
              </a:r>
            </a:p>
          </p:txBody>
        </p:sp>
      </p:grpSp>
      <p:grpSp>
        <p:nvGrpSpPr>
          <p:cNvPr name="Group 8" id="8"/>
          <p:cNvGrpSpPr/>
          <p:nvPr/>
        </p:nvGrpSpPr>
        <p:grpSpPr>
          <a:xfrm rot="0">
            <a:off x="7758027" y="1886645"/>
            <a:ext cx="662378" cy="662378"/>
            <a:chOff x="0" y="0"/>
            <a:chExt cx="883171" cy="883171"/>
          </a:xfrm>
        </p:grpSpPr>
        <p:sp>
          <p:nvSpPr>
            <p:cNvPr name="Freeform 9" id="9"/>
            <p:cNvSpPr/>
            <p:nvPr/>
          </p:nvSpPr>
          <p:spPr>
            <a:xfrm flipH="false" flipV="false" rot="0">
              <a:off x="0" y="0"/>
              <a:ext cx="883158" cy="883158"/>
            </a:xfrm>
            <a:custGeom>
              <a:avLst/>
              <a:gdLst/>
              <a:ahLst/>
              <a:cxnLst/>
              <a:rect r="r" b="b" t="t" l="l"/>
              <a:pathLst>
                <a:path h="883158" w="883158">
                  <a:moveTo>
                    <a:pt x="0" y="0"/>
                  </a:moveTo>
                  <a:lnTo>
                    <a:pt x="883158" y="0"/>
                  </a:lnTo>
                  <a:lnTo>
                    <a:pt x="883158" y="883158"/>
                  </a:lnTo>
                  <a:lnTo>
                    <a:pt x="0" y="883158"/>
                  </a:lnTo>
                  <a:lnTo>
                    <a:pt x="0" y="0"/>
                  </a:lnTo>
                  <a:close/>
                </a:path>
              </a:pathLst>
            </a:custGeom>
            <a:blipFill>
              <a:blip r:embed="rId4"/>
              <a:stretch>
                <a:fillRect l="0" t="0" r="-1" b="-1"/>
              </a:stretch>
            </a:blipFill>
          </p:spPr>
        </p:sp>
      </p:grpSp>
      <p:grpSp>
        <p:nvGrpSpPr>
          <p:cNvPr name="Group 10" id="10"/>
          <p:cNvGrpSpPr/>
          <p:nvPr/>
        </p:nvGrpSpPr>
        <p:grpSpPr>
          <a:xfrm rot="0">
            <a:off x="1264529" y="3317243"/>
            <a:ext cx="3652523" cy="3652523"/>
            <a:chOff x="0" y="0"/>
            <a:chExt cx="4870031" cy="4870031"/>
          </a:xfrm>
        </p:grpSpPr>
        <p:sp>
          <p:nvSpPr>
            <p:cNvPr name="Freeform 11" id="11"/>
            <p:cNvSpPr/>
            <p:nvPr/>
          </p:nvSpPr>
          <p:spPr>
            <a:xfrm flipH="false" flipV="false" rot="0">
              <a:off x="0" y="0"/>
              <a:ext cx="4870069" cy="4870069"/>
            </a:xfrm>
            <a:custGeom>
              <a:avLst/>
              <a:gdLst/>
              <a:ahLst/>
              <a:cxnLst/>
              <a:rect r="r" b="b" t="t" l="l"/>
              <a:pathLst>
                <a:path h="4870069" w="4870069">
                  <a:moveTo>
                    <a:pt x="0" y="0"/>
                  </a:moveTo>
                  <a:lnTo>
                    <a:pt x="4870069" y="0"/>
                  </a:lnTo>
                  <a:lnTo>
                    <a:pt x="4870069" y="4870069"/>
                  </a:lnTo>
                  <a:lnTo>
                    <a:pt x="0" y="4870069"/>
                  </a:lnTo>
                  <a:lnTo>
                    <a:pt x="0" y="0"/>
                  </a:lnTo>
                  <a:close/>
                </a:path>
              </a:pathLst>
            </a:custGeom>
            <a:blipFill>
              <a:blip r:embed="rId5"/>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3300298" y="3865645"/>
            <a:ext cx="11687423" cy="2780186"/>
          </a:xfrm>
          <a:custGeom>
            <a:avLst/>
            <a:gdLst/>
            <a:ahLst/>
            <a:cxnLst/>
            <a:rect r="r" b="b" t="t" l="l"/>
            <a:pathLst>
              <a:path h="2780186" w="11687423">
                <a:moveTo>
                  <a:pt x="0" y="0"/>
                </a:moveTo>
                <a:lnTo>
                  <a:pt x="11687423" y="0"/>
                </a:lnTo>
                <a:lnTo>
                  <a:pt x="11687423" y="2780186"/>
                </a:lnTo>
                <a:lnTo>
                  <a:pt x="0" y="2780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713597" y="4575229"/>
            <a:ext cx="1136542" cy="1136542"/>
          </a:xfrm>
          <a:custGeom>
            <a:avLst/>
            <a:gdLst/>
            <a:ahLst/>
            <a:cxnLst/>
            <a:rect r="r" b="b" t="t" l="l"/>
            <a:pathLst>
              <a:path h="1136542" w="1136542">
                <a:moveTo>
                  <a:pt x="0" y="0"/>
                </a:moveTo>
                <a:lnTo>
                  <a:pt x="1136543" y="0"/>
                </a:lnTo>
                <a:lnTo>
                  <a:pt x="1136543" y="1136542"/>
                </a:lnTo>
                <a:lnTo>
                  <a:pt x="0" y="1136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3925033" y="4743202"/>
            <a:ext cx="713661" cy="713661"/>
            <a:chOff x="0" y="0"/>
            <a:chExt cx="951548" cy="951548"/>
          </a:xfrm>
        </p:grpSpPr>
        <p:sp>
          <p:nvSpPr>
            <p:cNvPr name="Freeform 5" id="5"/>
            <p:cNvSpPr/>
            <p:nvPr/>
          </p:nvSpPr>
          <p:spPr>
            <a:xfrm flipH="false" flipV="false" rot="0">
              <a:off x="0" y="0"/>
              <a:ext cx="951611" cy="951611"/>
            </a:xfrm>
            <a:custGeom>
              <a:avLst/>
              <a:gdLst/>
              <a:ahLst/>
              <a:cxnLst/>
              <a:rect r="r" b="b" t="t" l="l"/>
              <a:pathLst>
                <a:path h="951611" w="951611">
                  <a:moveTo>
                    <a:pt x="0" y="0"/>
                  </a:moveTo>
                  <a:lnTo>
                    <a:pt x="951611" y="0"/>
                  </a:lnTo>
                  <a:lnTo>
                    <a:pt x="951611" y="951611"/>
                  </a:lnTo>
                  <a:lnTo>
                    <a:pt x="0" y="951611"/>
                  </a:lnTo>
                  <a:lnTo>
                    <a:pt x="0" y="0"/>
                  </a:lnTo>
                  <a:close/>
                </a:path>
              </a:pathLst>
            </a:custGeom>
            <a:blipFill>
              <a:blip r:embed="rId7"/>
              <a:stretch>
                <a:fillRect l="0" t="0" r="6" b="6"/>
              </a:stretch>
            </a:blipFill>
          </p:spPr>
        </p:sp>
      </p:grpSp>
      <p:sp>
        <p:nvSpPr>
          <p:cNvPr name="TextBox 6" id="6"/>
          <p:cNvSpPr txBox="true"/>
          <p:nvPr/>
        </p:nvSpPr>
        <p:spPr>
          <a:xfrm rot="0">
            <a:off x="1028700" y="947099"/>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COMPETENCIA(S) QUE DESARROLLAREMOS</a:t>
            </a:r>
          </a:p>
        </p:txBody>
      </p:sp>
      <p:grpSp>
        <p:nvGrpSpPr>
          <p:cNvPr name="Group 7" id="7"/>
          <p:cNvGrpSpPr/>
          <p:nvPr/>
        </p:nvGrpSpPr>
        <p:grpSpPr>
          <a:xfrm rot="0">
            <a:off x="18996546" y="5524224"/>
            <a:ext cx="4626464" cy="4576000"/>
            <a:chOff x="0" y="0"/>
            <a:chExt cx="6168619" cy="6101334"/>
          </a:xfrm>
        </p:grpSpPr>
        <p:sp>
          <p:nvSpPr>
            <p:cNvPr name="Freeform 8" id="8"/>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8"/>
              <a:stretch>
                <a:fillRect l="0" t="-22" r="0" b="-22"/>
              </a:stretch>
            </a:blipFill>
          </p:spPr>
        </p:sp>
      </p:grpSp>
      <p:sp>
        <p:nvSpPr>
          <p:cNvPr name="TextBox 9" id="9"/>
          <p:cNvSpPr txBox="true"/>
          <p:nvPr/>
        </p:nvSpPr>
        <p:spPr>
          <a:xfrm rot="0">
            <a:off x="19409207" y="5966508"/>
            <a:ext cx="3428400" cy="3829879"/>
          </a:xfrm>
          <a:prstGeom prst="rect">
            <a:avLst/>
          </a:prstGeom>
        </p:spPr>
        <p:txBody>
          <a:bodyPr anchor="t" rtlCol="false" tIns="0" lIns="0" bIns="0" rIns="0">
            <a:spAutoFit/>
          </a:bodyPr>
          <a:lstStyle/>
          <a:p>
            <a:pPr algn="ctr">
              <a:lnSpc>
                <a:spcPts val="3764"/>
              </a:lnSpc>
            </a:pPr>
            <a:r>
              <a:rPr lang="en-US" sz="2241">
                <a:solidFill>
                  <a:srgbClr val="131416"/>
                </a:solidFill>
                <a:latin typeface="Open Sans"/>
                <a:ea typeface="Open Sans"/>
                <a:cs typeface="Open Sans"/>
                <a:sym typeface="Open Sans"/>
              </a:rPr>
              <a:t>En el programa del curso encontrarás la competencia o competencias que debe cumplir el curso que estás impartiendo.</a:t>
            </a:r>
          </a:p>
          <a:p>
            <a:pPr algn="ctr">
              <a:lnSpc>
                <a:spcPts val="3764"/>
              </a:lnSpc>
            </a:pPr>
            <a:r>
              <a:rPr lang="en-US" sz="2241">
                <a:solidFill>
                  <a:srgbClr val="131416"/>
                </a:solidFill>
                <a:latin typeface="Open Sans"/>
                <a:ea typeface="Open Sans"/>
                <a:cs typeface="Open Sans"/>
                <a:sym typeface="Open Sans"/>
              </a:rPr>
              <a:t>Colocala(s) en este apartado </a:t>
            </a:r>
          </a:p>
        </p:txBody>
      </p:sp>
      <p:sp>
        <p:nvSpPr>
          <p:cNvPr name="TextBox 10" id="10"/>
          <p:cNvSpPr txBox="true"/>
          <p:nvPr/>
        </p:nvSpPr>
        <p:spPr>
          <a:xfrm rot="0">
            <a:off x="5040449" y="4269476"/>
            <a:ext cx="9287399" cy="1575073"/>
          </a:xfrm>
          <a:prstGeom prst="rect">
            <a:avLst/>
          </a:prstGeom>
        </p:spPr>
        <p:txBody>
          <a:bodyPr anchor="t" rtlCol="false" tIns="0" lIns="0" bIns="0" rIns="0">
            <a:spAutoFit/>
          </a:bodyPr>
          <a:lstStyle/>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p>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Evaluar sistemas operativos para soluciones específicas.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3503666" y="3816953"/>
            <a:ext cx="11280600" cy="3939673"/>
          </a:xfrm>
          <a:prstGeom prst="rect">
            <a:avLst/>
          </a:prstGeom>
        </p:spPr>
        <p:txBody>
          <a:bodyPr anchor="t" rtlCol="false" tIns="0" lIns="0" bIns="0" rIns="0">
            <a:spAutoFit/>
          </a:bodyPr>
          <a:lstStyle/>
          <a:p>
            <a:pPr algn="ctr">
              <a:lnSpc>
                <a:spcPts val="10186"/>
              </a:lnSpc>
            </a:pPr>
            <a:r>
              <a:rPr lang="en-US" sz="7933">
                <a:solidFill>
                  <a:srgbClr val="FFFFFF"/>
                </a:solidFill>
                <a:latin typeface="Arial"/>
                <a:ea typeface="Arial"/>
                <a:cs typeface="Arial"/>
                <a:sym typeface="Arial"/>
              </a:rPr>
              <a:t>SISTEMAS OPERATIVOS MÓVILES E INTEGRADOS</a:t>
            </a:r>
          </a:p>
        </p:txBody>
      </p:sp>
      <p:grpSp>
        <p:nvGrpSpPr>
          <p:cNvPr name="Group 3" id="3"/>
          <p:cNvGrpSpPr/>
          <p:nvPr/>
        </p:nvGrpSpPr>
        <p:grpSpPr>
          <a:xfrm rot="0">
            <a:off x="5261791" y="3146431"/>
            <a:ext cx="7764161" cy="618830"/>
            <a:chOff x="0" y="0"/>
            <a:chExt cx="10352214" cy="825106"/>
          </a:xfrm>
        </p:grpSpPr>
        <p:sp>
          <p:nvSpPr>
            <p:cNvPr name="Freeform 4" id="4"/>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791" y="3102921"/>
            <a:ext cx="7764342" cy="662378"/>
            <a:chOff x="0" y="0"/>
            <a:chExt cx="10352456" cy="883171"/>
          </a:xfrm>
        </p:grpSpPr>
        <p:sp>
          <p:nvSpPr>
            <p:cNvPr name="Freeform 6" id="6"/>
            <p:cNvSpPr/>
            <p:nvPr/>
          </p:nvSpPr>
          <p:spPr>
            <a:xfrm flipH="false" flipV="false" rot="0">
              <a:off x="0" y="0"/>
              <a:ext cx="10352461" cy="883167"/>
            </a:xfrm>
            <a:custGeom>
              <a:avLst/>
              <a:gdLst/>
              <a:ahLst/>
              <a:cxnLst/>
              <a:rect r="r" b="b" t="t" l="l"/>
              <a:pathLst>
                <a:path h="883167" w="10352461">
                  <a:moveTo>
                    <a:pt x="0" y="0"/>
                  </a:moveTo>
                  <a:lnTo>
                    <a:pt x="10352461" y="0"/>
                  </a:lnTo>
                  <a:lnTo>
                    <a:pt x="10352461" y="883167"/>
                  </a:lnTo>
                  <a:lnTo>
                    <a:pt x="0" y="883167"/>
                  </a:lnTo>
                  <a:close/>
                </a:path>
              </a:pathLst>
            </a:custGeom>
            <a:blipFill>
              <a:blip r:embed="rId3">
                <a:alphaModFix amt="0"/>
              </a:blip>
              <a:stretch>
                <a:fillRect l="0" t="-178402" r="0" b="-178403"/>
              </a:stretch>
            </a:blipFill>
          </p:spPr>
        </p:sp>
        <p:sp>
          <p:nvSpPr>
            <p:cNvPr name="TextBox 7" id="7"/>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LABORATORIO SISTEMAS OPERATIVOS 2</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851241" y="3059754"/>
            <a:ext cx="7463276" cy="2420283"/>
          </a:xfrm>
          <a:custGeom>
            <a:avLst/>
            <a:gdLst/>
            <a:ahLst/>
            <a:cxnLst/>
            <a:rect r="r" b="b" t="t" l="l"/>
            <a:pathLst>
              <a:path h="2420283" w="7463276">
                <a:moveTo>
                  <a:pt x="0" y="0"/>
                </a:moveTo>
                <a:lnTo>
                  <a:pt x="7463276" y="0"/>
                </a:lnTo>
                <a:lnTo>
                  <a:pt x="7463276"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51241" y="5847321"/>
            <a:ext cx="7463276" cy="2817619"/>
          </a:xfrm>
          <a:custGeom>
            <a:avLst/>
            <a:gdLst/>
            <a:ahLst/>
            <a:cxnLst/>
            <a:rect r="r" b="b" t="t" l="l"/>
            <a:pathLst>
              <a:path h="2817619" w="7463276">
                <a:moveTo>
                  <a:pt x="0" y="0"/>
                </a:moveTo>
                <a:lnTo>
                  <a:pt x="7463276" y="0"/>
                </a:lnTo>
                <a:lnTo>
                  <a:pt x="7463276" y="2817619"/>
                </a:lnTo>
                <a:lnTo>
                  <a:pt x="0" y="28176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1171406" y="2273684"/>
            <a:ext cx="5623112" cy="6885594"/>
          </a:xfrm>
          <a:custGeom>
            <a:avLst/>
            <a:gdLst/>
            <a:ahLst/>
            <a:cxnLst/>
            <a:rect r="r" b="b" t="t" l="l"/>
            <a:pathLst>
              <a:path h="6885594" w="5623112">
                <a:moveTo>
                  <a:pt x="0" y="0"/>
                </a:moveTo>
                <a:lnTo>
                  <a:pt x="5623112" y="0"/>
                </a:lnTo>
                <a:lnTo>
                  <a:pt x="5623112" y="6885594"/>
                </a:lnTo>
                <a:lnTo>
                  <a:pt x="0" y="6885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5" id="5"/>
          <p:cNvSpPr/>
          <p:nvPr/>
        </p:nvSpPr>
        <p:spPr>
          <a:xfrm rot="19500">
            <a:off x="11464404" y="8279797"/>
            <a:ext cx="5037115" cy="0"/>
          </a:xfrm>
          <a:prstGeom prst="line">
            <a:avLst/>
          </a:prstGeom>
          <a:ln cap="rnd" w="19050">
            <a:solidFill>
              <a:srgbClr val="FFFFFF"/>
            </a:solidFill>
            <a:prstDash val="solid"/>
            <a:headEnd type="none" len="sm" w="sm"/>
            <a:tailEnd type="none" len="sm" w="sm"/>
          </a:ln>
        </p:spPr>
      </p:sp>
      <p:sp>
        <p:nvSpPr>
          <p:cNvPr name="AutoShape 6" id="6"/>
          <p:cNvSpPr/>
          <p:nvPr/>
        </p:nvSpPr>
        <p:spPr>
          <a:xfrm rot="19500">
            <a:off x="11401168" y="3318386"/>
            <a:ext cx="5037115" cy="0"/>
          </a:xfrm>
          <a:prstGeom prst="line">
            <a:avLst/>
          </a:prstGeom>
          <a:ln cap="rnd" w="19050">
            <a:solidFill>
              <a:srgbClr val="FFFFFF"/>
            </a:solidFill>
            <a:prstDash val="solid"/>
            <a:headEnd type="none" len="sm" w="sm"/>
            <a:tailEnd type="none" len="sm" w="sm"/>
          </a:ln>
        </p:spPr>
      </p:sp>
      <p:grpSp>
        <p:nvGrpSpPr>
          <p:cNvPr name="Group 7" id="7"/>
          <p:cNvGrpSpPr/>
          <p:nvPr/>
        </p:nvGrpSpPr>
        <p:grpSpPr>
          <a:xfrm rot="0">
            <a:off x="11587201" y="4461005"/>
            <a:ext cx="4791504" cy="2695223"/>
            <a:chOff x="0" y="0"/>
            <a:chExt cx="6388672" cy="3593630"/>
          </a:xfrm>
        </p:grpSpPr>
        <p:sp>
          <p:nvSpPr>
            <p:cNvPr name="Freeform 8" id="8"/>
            <p:cNvSpPr/>
            <p:nvPr/>
          </p:nvSpPr>
          <p:spPr>
            <a:xfrm flipH="false" flipV="false" rot="0">
              <a:off x="0" y="0"/>
              <a:ext cx="6388735" cy="3593592"/>
            </a:xfrm>
            <a:custGeom>
              <a:avLst/>
              <a:gdLst/>
              <a:ahLst/>
              <a:cxnLst/>
              <a:rect r="r" b="b" t="t" l="l"/>
              <a:pathLst>
                <a:path h="3593592" w="6388735">
                  <a:moveTo>
                    <a:pt x="0" y="0"/>
                  </a:moveTo>
                  <a:lnTo>
                    <a:pt x="6388735" y="0"/>
                  </a:lnTo>
                  <a:lnTo>
                    <a:pt x="6388735" y="3593592"/>
                  </a:lnTo>
                  <a:lnTo>
                    <a:pt x="0" y="3593592"/>
                  </a:lnTo>
                  <a:lnTo>
                    <a:pt x="0" y="0"/>
                  </a:lnTo>
                  <a:close/>
                </a:path>
              </a:pathLst>
            </a:custGeom>
            <a:blipFill>
              <a:blip r:embed="rId9"/>
              <a:stretch>
                <a:fillRect l="0" t="-9" r="0" b="-9"/>
              </a:stretch>
            </a:blipFill>
          </p:spPr>
        </p:sp>
      </p:grpSp>
      <p:sp>
        <p:nvSpPr>
          <p:cNvPr name="TextBox 9" id="9"/>
          <p:cNvSpPr txBox="true"/>
          <p:nvPr/>
        </p:nvSpPr>
        <p:spPr>
          <a:xfrm rot="0">
            <a:off x="1028700" y="947099"/>
            <a:ext cx="16230600" cy="908047"/>
          </a:xfrm>
          <a:prstGeom prst="rect">
            <a:avLst/>
          </a:prstGeom>
        </p:spPr>
        <p:txBody>
          <a:bodyPr anchor="t" rtlCol="false" tIns="0" lIns="0" bIns="0" rIns="0">
            <a:spAutoFit/>
          </a:bodyPr>
          <a:lstStyle/>
          <a:p>
            <a:pPr algn="ctr">
              <a:lnSpc>
                <a:spcPts val="7259"/>
              </a:lnSpc>
            </a:pPr>
            <a:r>
              <a:rPr lang="en-US" sz="4999">
                <a:solidFill>
                  <a:srgbClr val="ACFDDB"/>
                </a:solidFill>
                <a:latin typeface="Arial"/>
                <a:ea typeface="Arial"/>
                <a:cs typeface="Arial"/>
                <a:sym typeface="Arial"/>
              </a:rPr>
              <a:t>SO </a:t>
            </a:r>
            <a:r>
              <a:rPr lang="en-US" sz="4999">
                <a:solidFill>
                  <a:srgbClr val="FFFFFF"/>
                </a:solidFill>
                <a:latin typeface="Arial"/>
                <a:ea typeface="Arial"/>
                <a:cs typeface="Arial"/>
                <a:sym typeface="Arial"/>
              </a:rPr>
              <a:t>MOVILES - INTEGRADOS</a:t>
            </a:r>
          </a:p>
        </p:txBody>
      </p:sp>
      <p:sp>
        <p:nvSpPr>
          <p:cNvPr name="TextBox 10" id="10"/>
          <p:cNvSpPr txBox="true"/>
          <p:nvPr/>
        </p:nvSpPr>
        <p:spPr>
          <a:xfrm rot="0">
            <a:off x="3706673" y="3566941"/>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Sistemas Operativos Móviles</a:t>
            </a:r>
          </a:p>
        </p:txBody>
      </p:sp>
      <p:sp>
        <p:nvSpPr>
          <p:cNvPr name="TextBox 11" id="11"/>
          <p:cNvSpPr txBox="true"/>
          <p:nvPr/>
        </p:nvSpPr>
        <p:spPr>
          <a:xfrm rot="0">
            <a:off x="3434448" y="3999424"/>
            <a:ext cx="5553904" cy="1267273"/>
          </a:xfrm>
          <a:prstGeom prst="rect">
            <a:avLst/>
          </a:prstGeom>
        </p:spPr>
        <p:txBody>
          <a:bodyPr anchor="t" rtlCol="false" tIns="0" lIns="0" bIns="0" rIns="0">
            <a:spAutoFit/>
          </a:bodyPr>
          <a:lstStyle/>
          <a:p>
            <a:pPr algn="just">
              <a:lnSpc>
                <a:spcPts val="2520"/>
              </a:lnSpc>
            </a:pPr>
            <a:r>
              <a:rPr lang="en-US" sz="1500">
                <a:solidFill>
                  <a:srgbClr val="FFFFFF"/>
                </a:solidFill>
                <a:latin typeface="Open Sans"/>
                <a:ea typeface="Open Sans"/>
                <a:cs typeface="Open Sans"/>
                <a:sym typeface="Open Sans"/>
              </a:rPr>
              <a:t>Son plataformas de software diseñadas para gestionar y operar el hardware de dispositivos móviles, como smartphones y tablets. Proporcionan el entorno necesario para la ejecución de aplicaciones y la interacción del usuario</a:t>
            </a:r>
          </a:p>
        </p:txBody>
      </p:sp>
      <p:sp>
        <p:nvSpPr>
          <p:cNvPr name="TextBox 12" id="12"/>
          <p:cNvSpPr txBox="true"/>
          <p:nvPr/>
        </p:nvSpPr>
        <p:spPr>
          <a:xfrm rot="0">
            <a:off x="3706673" y="6354508"/>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Sistemas Operativos Integrados</a:t>
            </a:r>
          </a:p>
        </p:txBody>
      </p:sp>
      <p:sp>
        <p:nvSpPr>
          <p:cNvPr name="TextBox 13" id="13"/>
          <p:cNvSpPr txBox="true"/>
          <p:nvPr/>
        </p:nvSpPr>
        <p:spPr>
          <a:xfrm rot="0">
            <a:off x="3570580" y="6789477"/>
            <a:ext cx="5417696" cy="159038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Son sistemas diseñados para controlar dispositivos específicos y realizar tareas dedicadas en tiempo real. Se centran en la eficiencia y la optimización de recursos, siendo comunes en electrodomésticos inteligentes, sistemas de control industrial y dispositivos IoT.</a:t>
            </a:r>
          </a:p>
        </p:txBody>
      </p:sp>
      <p:grpSp>
        <p:nvGrpSpPr>
          <p:cNvPr name="Group 14" id="14"/>
          <p:cNvGrpSpPr/>
          <p:nvPr/>
        </p:nvGrpSpPr>
        <p:grpSpPr>
          <a:xfrm rot="0">
            <a:off x="1291723" y="3560893"/>
            <a:ext cx="1381877" cy="1381877"/>
            <a:chOff x="0" y="0"/>
            <a:chExt cx="1842503" cy="1842503"/>
          </a:xfrm>
        </p:grpSpPr>
        <p:sp>
          <p:nvSpPr>
            <p:cNvPr name="Freeform 15" id="15"/>
            <p:cNvSpPr/>
            <p:nvPr/>
          </p:nvSpPr>
          <p:spPr>
            <a:xfrm flipH="false" flipV="false" rot="0">
              <a:off x="0" y="0"/>
              <a:ext cx="1842516" cy="1842516"/>
            </a:xfrm>
            <a:custGeom>
              <a:avLst/>
              <a:gdLst/>
              <a:ahLst/>
              <a:cxnLst/>
              <a:rect r="r" b="b" t="t" l="l"/>
              <a:pathLst>
                <a:path h="1842516" w="1842516">
                  <a:moveTo>
                    <a:pt x="0" y="0"/>
                  </a:moveTo>
                  <a:lnTo>
                    <a:pt x="1842516" y="0"/>
                  </a:lnTo>
                  <a:lnTo>
                    <a:pt x="1842516" y="1842516"/>
                  </a:lnTo>
                  <a:lnTo>
                    <a:pt x="0" y="1842516"/>
                  </a:lnTo>
                  <a:lnTo>
                    <a:pt x="0" y="0"/>
                  </a:lnTo>
                  <a:close/>
                </a:path>
              </a:pathLst>
            </a:custGeom>
            <a:blipFill>
              <a:blip r:embed="rId10"/>
              <a:stretch>
                <a:fillRect l="0" t="0" r="0" b="0"/>
              </a:stretch>
            </a:blipFill>
          </p:spPr>
        </p:sp>
      </p:grpSp>
      <p:grpSp>
        <p:nvGrpSpPr>
          <p:cNvPr name="Group 16" id="16"/>
          <p:cNvGrpSpPr/>
          <p:nvPr/>
        </p:nvGrpSpPr>
        <p:grpSpPr>
          <a:xfrm rot="0">
            <a:off x="1291723" y="6646602"/>
            <a:ext cx="1381877" cy="1386688"/>
            <a:chOff x="0" y="0"/>
            <a:chExt cx="1842503" cy="1848917"/>
          </a:xfrm>
        </p:grpSpPr>
        <p:sp>
          <p:nvSpPr>
            <p:cNvPr name="Freeform 17" id="17"/>
            <p:cNvSpPr/>
            <p:nvPr/>
          </p:nvSpPr>
          <p:spPr>
            <a:xfrm flipH="false" flipV="false" rot="0">
              <a:off x="0" y="0"/>
              <a:ext cx="1842516" cy="1848866"/>
            </a:xfrm>
            <a:custGeom>
              <a:avLst/>
              <a:gdLst/>
              <a:ahLst/>
              <a:cxnLst/>
              <a:rect r="r" b="b" t="t" l="l"/>
              <a:pathLst>
                <a:path h="1848866" w="1842516">
                  <a:moveTo>
                    <a:pt x="0" y="0"/>
                  </a:moveTo>
                  <a:lnTo>
                    <a:pt x="1842516" y="0"/>
                  </a:lnTo>
                  <a:lnTo>
                    <a:pt x="1842516" y="1848866"/>
                  </a:lnTo>
                  <a:lnTo>
                    <a:pt x="0" y="1848866"/>
                  </a:lnTo>
                  <a:lnTo>
                    <a:pt x="0" y="0"/>
                  </a:lnTo>
                  <a:close/>
                </a:path>
              </a:pathLst>
            </a:custGeom>
            <a:blipFill>
              <a:blip r:embed="rId11"/>
              <a:stretch>
                <a:fillRect l="0" t="0" r="0" b="-2"/>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10164420">
            <a:off x="-2246900" y="-3921300"/>
            <a:ext cx="25064561" cy="17089479"/>
            <a:chOff x="0" y="0"/>
            <a:chExt cx="33419415" cy="22785972"/>
          </a:xfrm>
        </p:grpSpPr>
        <p:sp>
          <p:nvSpPr>
            <p:cNvPr name="Freeform 3" id="3"/>
            <p:cNvSpPr/>
            <p:nvPr/>
          </p:nvSpPr>
          <p:spPr>
            <a:xfrm flipH="false" flipV="false" rot="0">
              <a:off x="0" y="0"/>
              <a:ext cx="33419414" cy="22785960"/>
            </a:xfrm>
            <a:custGeom>
              <a:avLst/>
              <a:gdLst/>
              <a:ahLst/>
              <a:cxnLst/>
              <a:rect r="r" b="b" t="t" l="l"/>
              <a:pathLst>
                <a:path h="22785960" w="33419414">
                  <a:moveTo>
                    <a:pt x="0" y="0"/>
                  </a:moveTo>
                  <a:lnTo>
                    <a:pt x="33419414" y="0"/>
                  </a:lnTo>
                  <a:lnTo>
                    <a:pt x="33419414" y="22785960"/>
                  </a:lnTo>
                  <a:lnTo>
                    <a:pt x="0" y="22785960"/>
                  </a:lnTo>
                  <a:lnTo>
                    <a:pt x="0" y="0"/>
                  </a:lnTo>
                  <a:close/>
                </a:path>
              </a:pathLst>
            </a:custGeom>
            <a:blipFill>
              <a:blip r:embed="rId3"/>
              <a:stretch>
                <a:fillRect l="0" t="-13" r="0" b="-13"/>
              </a:stretch>
            </a:blipFill>
          </p:spPr>
        </p:sp>
      </p:grpSp>
      <p:sp>
        <p:nvSpPr>
          <p:cNvPr name="Freeform 4" id="4"/>
          <p:cNvSpPr/>
          <p:nvPr/>
        </p:nvSpPr>
        <p:spPr>
          <a:xfrm flipH="false" flipV="false" rot="0">
            <a:off x="1028700" y="2657723"/>
            <a:ext cx="5104171" cy="6600577"/>
          </a:xfrm>
          <a:custGeom>
            <a:avLst/>
            <a:gdLst/>
            <a:ahLst/>
            <a:cxnLst/>
            <a:rect r="r" b="b" t="t" l="l"/>
            <a:pathLst>
              <a:path h="6600577" w="5104171">
                <a:moveTo>
                  <a:pt x="0" y="0"/>
                </a:moveTo>
                <a:lnTo>
                  <a:pt x="5104171" y="0"/>
                </a:lnTo>
                <a:lnTo>
                  <a:pt x="5104171" y="6600577"/>
                </a:lnTo>
                <a:lnTo>
                  <a:pt x="0" y="66005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07344" y="3150194"/>
            <a:ext cx="4825517" cy="5766359"/>
          </a:xfrm>
          <a:prstGeom prst="rect">
            <a:avLst/>
          </a:prstGeom>
        </p:spPr>
        <p:txBody>
          <a:bodyPr anchor="t" rtlCol="false" tIns="0" lIns="0" bIns="0" rIns="0">
            <a:spAutoFit/>
          </a:bodyPr>
          <a:lstStyle/>
          <a:p>
            <a:pPr algn="l">
              <a:lnSpc>
                <a:spcPts val="2372"/>
              </a:lnSpc>
            </a:pPr>
          </a:p>
          <a:p>
            <a:pPr algn="l">
              <a:lnSpc>
                <a:spcPts val="3050"/>
              </a:lnSpc>
            </a:pPr>
            <a:r>
              <a:rPr lang="en-US" b="true" sz="1955">
                <a:solidFill>
                  <a:srgbClr val="FFFFFF"/>
                </a:solidFill>
                <a:latin typeface="Montserrat Bold"/>
                <a:ea typeface="Montserrat Bold"/>
                <a:cs typeface="Montserrat Bold"/>
                <a:sym typeface="Montserrat Bold"/>
              </a:rPr>
              <a:t>Interfaz de Usuario: </a:t>
            </a:r>
            <a:r>
              <a:rPr lang="en-US" sz="1955">
                <a:solidFill>
                  <a:srgbClr val="FFFFFF"/>
                </a:solidFill>
                <a:latin typeface="Montserrat"/>
                <a:ea typeface="Montserrat"/>
                <a:cs typeface="Montserrat"/>
                <a:sym typeface="Montserrat"/>
              </a:rPr>
              <a:t> </a:t>
            </a:r>
          </a:p>
          <a:p>
            <a:pPr algn="l" marL="447146" indent="-149049" lvl="2">
              <a:lnSpc>
                <a:spcPts val="3050"/>
              </a:lnSpc>
              <a:buFont typeface="Arial"/>
              <a:buChar char="⚬"/>
            </a:pPr>
            <a:r>
              <a:rPr lang="en-US" sz="1955">
                <a:solidFill>
                  <a:srgbClr val="FFFFFF"/>
                </a:solidFill>
                <a:latin typeface="Montserrat"/>
                <a:ea typeface="Montserrat"/>
                <a:cs typeface="Montserrat"/>
                <a:sym typeface="Montserrat"/>
              </a:rPr>
              <a:t>Los sistemas operativos móviles suelen ofrecer interfaces gráficas ricas y táctiles, facilitando la interacción del usuario a través de pantallas sensibles al tacto.</a:t>
            </a:r>
          </a:p>
          <a:p>
            <a:pPr algn="l" marL="320043" indent="-106681" lvl="2">
              <a:lnSpc>
                <a:spcPts val="2183"/>
              </a:lnSpc>
            </a:pPr>
          </a:p>
          <a:p>
            <a:pPr algn="l" marL="447146" indent="-149049" lvl="2">
              <a:lnSpc>
                <a:spcPts val="3050"/>
              </a:lnSpc>
              <a:buFont typeface="Arial"/>
              <a:buChar char="⚬"/>
            </a:pPr>
            <a:r>
              <a:rPr lang="en-US" sz="1955">
                <a:solidFill>
                  <a:srgbClr val="FFFFFF"/>
                </a:solidFill>
                <a:latin typeface="Montserrat"/>
                <a:ea typeface="Montserrat"/>
                <a:cs typeface="Montserrat"/>
                <a:sym typeface="Montserrat"/>
              </a:rPr>
              <a:t>En contraste, los sistemas operativos integrados pueden operar con interfaces más simples o incluso sin interfaz, ya que están diseñados para ejecutar funciones específicas sin necesidad de interacción directa del usuario.</a:t>
            </a:r>
          </a:p>
          <a:p>
            <a:pPr algn="l" marL="320043" indent="-106681" lvl="2">
              <a:lnSpc>
                <a:spcPts val="2183"/>
              </a:lnSpc>
            </a:pPr>
          </a:p>
        </p:txBody>
      </p:sp>
      <p:sp>
        <p:nvSpPr>
          <p:cNvPr name="Freeform 6" id="6"/>
          <p:cNvSpPr/>
          <p:nvPr/>
        </p:nvSpPr>
        <p:spPr>
          <a:xfrm flipH="false" flipV="false" rot="0">
            <a:off x="6883975" y="2716378"/>
            <a:ext cx="4357821" cy="6434061"/>
          </a:xfrm>
          <a:custGeom>
            <a:avLst/>
            <a:gdLst/>
            <a:ahLst/>
            <a:cxnLst/>
            <a:rect r="r" b="b" t="t" l="l"/>
            <a:pathLst>
              <a:path h="6434061" w="4357821">
                <a:moveTo>
                  <a:pt x="0" y="0"/>
                </a:moveTo>
                <a:lnTo>
                  <a:pt x="4357821" y="0"/>
                </a:lnTo>
                <a:lnTo>
                  <a:pt x="4357821" y="6434061"/>
                </a:lnTo>
                <a:lnTo>
                  <a:pt x="0" y="64340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992870" y="2716378"/>
            <a:ext cx="5104171" cy="6718221"/>
          </a:xfrm>
          <a:custGeom>
            <a:avLst/>
            <a:gdLst/>
            <a:ahLst/>
            <a:cxnLst/>
            <a:rect r="r" b="b" t="t" l="l"/>
            <a:pathLst>
              <a:path h="6718221" w="5104171">
                <a:moveTo>
                  <a:pt x="0" y="0"/>
                </a:moveTo>
                <a:lnTo>
                  <a:pt x="5104172" y="0"/>
                </a:lnTo>
                <a:lnTo>
                  <a:pt x="5104172" y="6718220"/>
                </a:lnTo>
                <a:lnTo>
                  <a:pt x="0" y="67182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2765365" y="2153041"/>
            <a:ext cx="1315650" cy="1315650"/>
            <a:chOff x="0" y="0"/>
            <a:chExt cx="1754200" cy="1754200"/>
          </a:xfrm>
        </p:grpSpPr>
        <p:sp>
          <p:nvSpPr>
            <p:cNvPr name="Freeform 9" id="9"/>
            <p:cNvSpPr/>
            <p:nvPr/>
          </p:nvSpPr>
          <p:spPr>
            <a:xfrm flipH="false" flipV="false" rot="0">
              <a:off x="0" y="0"/>
              <a:ext cx="1754251" cy="1754251"/>
            </a:xfrm>
            <a:custGeom>
              <a:avLst/>
              <a:gdLst/>
              <a:ahLst/>
              <a:cxnLst/>
              <a:rect r="r" b="b" t="t" l="l"/>
              <a:pathLst>
                <a:path h="1754251" w="1754251">
                  <a:moveTo>
                    <a:pt x="0" y="0"/>
                  </a:moveTo>
                  <a:lnTo>
                    <a:pt x="1754251" y="0"/>
                  </a:lnTo>
                  <a:lnTo>
                    <a:pt x="1754251" y="1754251"/>
                  </a:lnTo>
                  <a:lnTo>
                    <a:pt x="0" y="1754251"/>
                  </a:lnTo>
                  <a:lnTo>
                    <a:pt x="0" y="0"/>
                  </a:lnTo>
                  <a:close/>
                </a:path>
              </a:pathLst>
            </a:custGeom>
            <a:blipFill>
              <a:blip r:embed="rId10"/>
              <a:stretch>
                <a:fillRect l="0" t="0" r="2" b="2"/>
              </a:stretch>
            </a:blipFill>
          </p:spPr>
        </p:sp>
      </p:grpSp>
      <p:sp>
        <p:nvSpPr>
          <p:cNvPr name="TextBox 10" id="10"/>
          <p:cNvSpPr txBox="true"/>
          <p:nvPr/>
        </p:nvSpPr>
        <p:spPr>
          <a:xfrm rot="0">
            <a:off x="12258027" y="3219298"/>
            <a:ext cx="4763395" cy="5893575"/>
          </a:xfrm>
          <a:prstGeom prst="rect">
            <a:avLst/>
          </a:prstGeom>
        </p:spPr>
        <p:txBody>
          <a:bodyPr anchor="t" rtlCol="false" tIns="0" lIns="0" bIns="0" rIns="0">
            <a:spAutoFit/>
          </a:bodyPr>
          <a:lstStyle/>
          <a:p>
            <a:pPr algn="l">
              <a:lnSpc>
                <a:spcPts val="3074"/>
              </a:lnSpc>
            </a:pPr>
            <a:r>
              <a:rPr lang="en-US" b="true" sz="1970">
                <a:solidFill>
                  <a:srgbClr val="FFFFFF"/>
                </a:solidFill>
                <a:latin typeface="Montserrat Bold"/>
                <a:ea typeface="Montserrat Bold"/>
                <a:cs typeface="Montserrat Bold"/>
                <a:sym typeface="Montserrat Bold"/>
              </a:rPr>
              <a:t>Conectividad </a:t>
            </a:r>
          </a:p>
          <a:p>
            <a:pPr algn="l" marL="450452" indent="-150151" lvl="2">
              <a:lnSpc>
                <a:spcPts val="3074"/>
              </a:lnSpc>
              <a:buFont typeface="Arial"/>
              <a:buChar char="⚬"/>
            </a:pPr>
            <a:r>
              <a:rPr lang="en-US" sz="1970">
                <a:solidFill>
                  <a:srgbClr val="FFFFFF"/>
                </a:solidFill>
                <a:latin typeface="Montserrat"/>
                <a:ea typeface="Montserrat"/>
                <a:cs typeface="Montserrat"/>
                <a:sym typeface="Montserrat"/>
              </a:rPr>
              <a:t>Los sistemas móviles están diseñados para conectarse a diversas redes (Wi-Fi, Bluetooth, 4G/5G), permitiendo una comunicación constante y el acceso a servicios en la nube.</a:t>
            </a:r>
          </a:p>
          <a:p>
            <a:pPr algn="l" marL="320119" indent="-106706" lvl="2">
              <a:lnSpc>
                <a:spcPts val="2183"/>
              </a:lnSpc>
            </a:pPr>
          </a:p>
          <a:p>
            <a:pPr algn="l" marL="450452" indent="-150151" lvl="2">
              <a:lnSpc>
                <a:spcPts val="3074"/>
              </a:lnSpc>
              <a:buFont typeface="Arial"/>
              <a:buChar char="⚬"/>
            </a:pPr>
            <a:r>
              <a:rPr lang="en-US" sz="1970">
                <a:solidFill>
                  <a:srgbClr val="FFFFFF"/>
                </a:solidFill>
                <a:latin typeface="Montserrat"/>
                <a:ea typeface="Montserrat"/>
                <a:cs typeface="Montserrat"/>
                <a:sym typeface="Montserrat"/>
              </a:rPr>
              <a:t>En comparación, los sistemas integrados suelen estar conectados a través de interfaces específicas (como UART, SPI, I2C), adecuadas para la comunicación con otros dispositivos dentro de un sistema más grande.</a:t>
            </a:r>
          </a:p>
        </p:txBody>
      </p:sp>
      <p:sp>
        <p:nvSpPr>
          <p:cNvPr name="TextBox 11" id="11"/>
          <p:cNvSpPr txBox="true"/>
          <p:nvPr/>
        </p:nvSpPr>
        <p:spPr>
          <a:xfrm rot="0">
            <a:off x="7187403" y="3416951"/>
            <a:ext cx="3750897" cy="5681777"/>
          </a:xfrm>
          <a:prstGeom prst="rect">
            <a:avLst/>
          </a:prstGeom>
        </p:spPr>
        <p:txBody>
          <a:bodyPr anchor="t" rtlCol="false" tIns="0" lIns="0" bIns="0" rIns="0">
            <a:spAutoFit/>
          </a:bodyPr>
          <a:lstStyle/>
          <a:p>
            <a:pPr algn="l" marL="434340" indent="-144780" lvl="2">
              <a:lnSpc>
                <a:spcPts val="2964"/>
              </a:lnSpc>
              <a:buFont typeface="Arial"/>
              <a:buChar char="⚬"/>
            </a:pPr>
            <a:r>
              <a:rPr lang="en-US" sz="1900">
                <a:solidFill>
                  <a:srgbClr val="1A0A33"/>
                </a:solidFill>
                <a:latin typeface="Montserrat"/>
                <a:ea typeface="Montserrat"/>
                <a:cs typeface="Montserrat"/>
                <a:sym typeface="Montserrat"/>
              </a:rPr>
              <a:t>Los sistemas móviles deben gestionar múltiples aplicaciones y servicios, lo que requiere una planificación y asignación de recursos eficiente para asegurar un rendimiento óptimo.</a:t>
            </a:r>
          </a:p>
          <a:p>
            <a:pPr algn="l" marL="320040" indent="-106680" lvl="2">
              <a:lnSpc>
                <a:spcPts val="2183"/>
              </a:lnSpc>
            </a:pPr>
          </a:p>
          <a:p>
            <a:pPr algn="l" marL="434340" indent="-144780" lvl="2">
              <a:lnSpc>
                <a:spcPts val="2964"/>
              </a:lnSpc>
              <a:buFont typeface="Arial"/>
              <a:buChar char="⚬"/>
            </a:pPr>
            <a:r>
              <a:rPr lang="en-US" sz="1900">
                <a:solidFill>
                  <a:srgbClr val="1A0A33"/>
                </a:solidFill>
                <a:latin typeface="Montserrat"/>
                <a:ea typeface="Montserrat"/>
                <a:cs typeface="Montserrat"/>
                <a:sym typeface="Montserrat"/>
              </a:rPr>
              <a:t>Los sistemas integrados optimizan sus recursos para tareas específicas, priorizando la rapidez y eficiencia en la ejecución de funciones dedicadas.</a:t>
            </a:r>
          </a:p>
        </p:txBody>
      </p:sp>
      <p:sp>
        <p:nvSpPr>
          <p:cNvPr name="TextBox 12" id="12"/>
          <p:cNvSpPr txBox="true"/>
          <p:nvPr/>
        </p:nvSpPr>
        <p:spPr>
          <a:xfrm rot="0">
            <a:off x="6856952" y="3061135"/>
            <a:ext cx="3750897" cy="371475"/>
          </a:xfrm>
          <a:prstGeom prst="rect">
            <a:avLst/>
          </a:prstGeom>
        </p:spPr>
        <p:txBody>
          <a:bodyPr anchor="t" rtlCol="false" tIns="0" lIns="0" bIns="0" rIns="0">
            <a:spAutoFit/>
          </a:bodyPr>
          <a:lstStyle/>
          <a:p>
            <a:pPr algn="ctr">
              <a:lnSpc>
                <a:spcPts val="3089"/>
              </a:lnSpc>
            </a:pPr>
            <a:r>
              <a:rPr lang="en-US" b="true" sz="1979">
                <a:solidFill>
                  <a:srgbClr val="1A0A33"/>
                </a:solidFill>
                <a:latin typeface="Montserrat Bold"/>
                <a:ea typeface="Montserrat Bold"/>
                <a:cs typeface="Montserrat Bold"/>
                <a:sym typeface="Montserrat Bold"/>
              </a:rPr>
              <a:t>GESTIÓN DE RECURSOS</a:t>
            </a:r>
          </a:p>
        </p:txBody>
      </p:sp>
      <p:sp>
        <p:nvSpPr>
          <p:cNvPr name="TextBox 13" id="13"/>
          <p:cNvSpPr txBox="true"/>
          <p:nvPr/>
        </p:nvSpPr>
        <p:spPr>
          <a:xfrm rot="0">
            <a:off x="4916795" y="786222"/>
            <a:ext cx="8454400" cy="851278"/>
          </a:xfrm>
          <a:prstGeom prst="rect">
            <a:avLst/>
          </a:prstGeom>
        </p:spPr>
        <p:txBody>
          <a:bodyPr anchor="t" rtlCol="false" tIns="0" lIns="0" bIns="0" rIns="0">
            <a:spAutoFit/>
          </a:bodyPr>
          <a:lstStyle/>
          <a:p>
            <a:pPr algn="ctr">
              <a:lnSpc>
                <a:spcPts val="6824"/>
              </a:lnSpc>
            </a:pPr>
            <a:r>
              <a:rPr lang="en-US" sz="4700">
                <a:solidFill>
                  <a:srgbClr val="FFFFFF"/>
                </a:solidFill>
                <a:latin typeface="Arial"/>
                <a:ea typeface="Arial"/>
                <a:cs typeface="Arial"/>
                <a:sym typeface="Arial"/>
              </a:rPr>
              <a:t>CARACTERÍSTICAS</a:t>
            </a:r>
          </a:p>
        </p:txBody>
      </p:sp>
      <p:grpSp>
        <p:nvGrpSpPr>
          <p:cNvPr name="Group 14" id="14"/>
          <p:cNvGrpSpPr/>
          <p:nvPr/>
        </p:nvGrpSpPr>
        <p:grpSpPr>
          <a:xfrm rot="0">
            <a:off x="8303171" y="1684925"/>
            <a:ext cx="1315650" cy="1315650"/>
            <a:chOff x="0" y="0"/>
            <a:chExt cx="1754200" cy="1754200"/>
          </a:xfrm>
        </p:grpSpPr>
        <p:sp>
          <p:nvSpPr>
            <p:cNvPr name="Freeform 15" id="15"/>
            <p:cNvSpPr/>
            <p:nvPr/>
          </p:nvSpPr>
          <p:spPr>
            <a:xfrm flipH="false" flipV="false" rot="0">
              <a:off x="0" y="0"/>
              <a:ext cx="1754251" cy="1754251"/>
            </a:xfrm>
            <a:custGeom>
              <a:avLst/>
              <a:gdLst/>
              <a:ahLst/>
              <a:cxnLst/>
              <a:rect r="r" b="b" t="t" l="l"/>
              <a:pathLst>
                <a:path h="1754251" w="1754251">
                  <a:moveTo>
                    <a:pt x="0" y="0"/>
                  </a:moveTo>
                  <a:lnTo>
                    <a:pt x="1754251" y="0"/>
                  </a:lnTo>
                  <a:lnTo>
                    <a:pt x="1754251" y="1754251"/>
                  </a:lnTo>
                  <a:lnTo>
                    <a:pt x="0" y="1754251"/>
                  </a:lnTo>
                  <a:lnTo>
                    <a:pt x="0" y="0"/>
                  </a:lnTo>
                  <a:close/>
                </a:path>
              </a:pathLst>
            </a:custGeom>
            <a:blipFill>
              <a:blip r:embed="rId11"/>
              <a:stretch>
                <a:fillRect l="0" t="0" r="2" b="2"/>
              </a:stretch>
            </a:blipFill>
          </p:spPr>
        </p:sp>
      </p:grpSp>
      <p:grpSp>
        <p:nvGrpSpPr>
          <p:cNvPr name="Group 16" id="16"/>
          <p:cNvGrpSpPr/>
          <p:nvPr/>
        </p:nvGrpSpPr>
        <p:grpSpPr>
          <a:xfrm rot="0">
            <a:off x="13943514" y="1784271"/>
            <a:ext cx="1315650" cy="1315650"/>
            <a:chOff x="0" y="0"/>
            <a:chExt cx="1754200" cy="1754200"/>
          </a:xfrm>
        </p:grpSpPr>
        <p:sp>
          <p:nvSpPr>
            <p:cNvPr name="Freeform 17" id="17"/>
            <p:cNvSpPr/>
            <p:nvPr/>
          </p:nvSpPr>
          <p:spPr>
            <a:xfrm flipH="false" flipV="false" rot="0">
              <a:off x="0" y="0"/>
              <a:ext cx="1754251" cy="1754251"/>
            </a:xfrm>
            <a:custGeom>
              <a:avLst/>
              <a:gdLst/>
              <a:ahLst/>
              <a:cxnLst/>
              <a:rect r="r" b="b" t="t" l="l"/>
              <a:pathLst>
                <a:path h="1754251" w="1754251">
                  <a:moveTo>
                    <a:pt x="0" y="0"/>
                  </a:moveTo>
                  <a:lnTo>
                    <a:pt x="1754251" y="0"/>
                  </a:lnTo>
                  <a:lnTo>
                    <a:pt x="1754251" y="1754251"/>
                  </a:lnTo>
                  <a:lnTo>
                    <a:pt x="0" y="1754251"/>
                  </a:lnTo>
                  <a:lnTo>
                    <a:pt x="0" y="0"/>
                  </a:lnTo>
                  <a:close/>
                </a:path>
              </a:pathLst>
            </a:custGeom>
            <a:blipFill>
              <a:blip r:embed="rId12"/>
              <a:stretch>
                <a:fillRect l="0" t="0" r="2" b="2"/>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AutoShape 2" id="2"/>
          <p:cNvSpPr/>
          <p:nvPr/>
        </p:nvSpPr>
        <p:spPr>
          <a:xfrm rot="5347920">
            <a:off x="13921492" y="3809695"/>
            <a:ext cx="2514762" cy="0"/>
          </a:xfrm>
          <a:prstGeom prst="line">
            <a:avLst/>
          </a:prstGeom>
          <a:ln cap="rnd" w="28575">
            <a:solidFill>
              <a:srgbClr val="675688"/>
            </a:solidFill>
            <a:prstDash val="solid"/>
            <a:headEnd type="none" len="sm" w="sm"/>
            <a:tailEnd type="oval" len="lg" w="lg"/>
          </a:ln>
        </p:spPr>
      </p:sp>
      <p:sp>
        <p:nvSpPr>
          <p:cNvPr name="Freeform 3" id="3"/>
          <p:cNvSpPr/>
          <p:nvPr/>
        </p:nvSpPr>
        <p:spPr>
          <a:xfrm flipH="false" flipV="false" rot="0">
            <a:off x="14024905"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813451" y="1884664"/>
            <a:ext cx="730853" cy="730853"/>
          </a:xfrm>
          <a:custGeom>
            <a:avLst/>
            <a:gdLst/>
            <a:ahLst/>
            <a:cxnLst/>
            <a:rect r="r" b="b" t="t" l="l"/>
            <a:pathLst>
              <a:path h="730853" w="730853">
                <a:moveTo>
                  <a:pt x="0" y="0"/>
                </a:moveTo>
                <a:lnTo>
                  <a:pt x="730854" y="0"/>
                </a:lnTo>
                <a:lnTo>
                  <a:pt x="730854" y="730853"/>
                </a:lnTo>
                <a:lnTo>
                  <a:pt x="0" y="730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8504"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6" id="6"/>
          <p:cNvSpPr/>
          <p:nvPr/>
        </p:nvSpPr>
        <p:spPr>
          <a:xfrm rot="5347920">
            <a:off x="1415091" y="3809695"/>
            <a:ext cx="2514762" cy="0"/>
          </a:xfrm>
          <a:prstGeom prst="line">
            <a:avLst/>
          </a:prstGeom>
          <a:ln cap="rnd" w="28575">
            <a:solidFill>
              <a:srgbClr val="5CD9C1"/>
            </a:solidFill>
            <a:prstDash val="solid"/>
            <a:headEnd type="none" len="sm" w="sm"/>
            <a:tailEnd type="oval" len="lg" w="lg"/>
          </a:ln>
        </p:spPr>
      </p:sp>
      <p:sp>
        <p:nvSpPr>
          <p:cNvPr name="Freeform 7" id="7"/>
          <p:cNvSpPr/>
          <p:nvPr/>
        </p:nvSpPr>
        <p:spPr>
          <a:xfrm flipH="false" flipV="false" rot="0">
            <a:off x="2307050" y="1884664"/>
            <a:ext cx="730853" cy="730853"/>
          </a:xfrm>
          <a:custGeom>
            <a:avLst/>
            <a:gdLst/>
            <a:ahLst/>
            <a:cxnLst/>
            <a:rect r="r" b="b" t="t" l="l"/>
            <a:pathLst>
              <a:path h="730853" w="730853">
                <a:moveTo>
                  <a:pt x="0" y="0"/>
                </a:moveTo>
                <a:lnTo>
                  <a:pt x="730854" y="0"/>
                </a:lnTo>
                <a:lnTo>
                  <a:pt x="730854" y="730853"/>
                </a:lnTo>
                <a:lnTo>
                  <a:pt x="0" y="730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617026" y="2250091"/>
            <a:ext cx="2307946" cy="2307946"/>
          </a:xfrm>
          <a:custGeom>
            <a:avLst/>
            <a:gdLst/>
            <a:ahLst/>
            <a:cxnLst/>
            <a:rect r="r" b="b" t="t" l="l"/>
            <a:pathLst>
              <a:path h="2307946" w="2307946">
                <a:moveTo>
                  <a:pt x="0" y="0"/>
                </a:moveTo>
                <a:lnTo>
                  <a:pt x="2307945" y="0"/>
                </a:lnTo>
                <a:lnTo>
                  <a:pt x="2307945" y="2307945"/>
                </a:lnTo>
                <a:lnTo>
                  <a:pt x="0" y="23079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9" id="9"/>
          <p:cNvSpPr/>
          <p:nvPr/>
        </p:nvSpPr>
        <p:spPr>
          <a:xfrm rot="5347920">
            <a:off x="5513613" y="3809695"/>
            <a:ext cx="2514762" cy="0"/>
          </a:xfrm>
          <a:prstGeom prst="line">
            <a:avLst/>
          </a:prstGeom>
          <a:ln cap="rnd" w="28575">
            <a:solidFill>
              <a:srgbClr val="ACFDDB"/>
            </a:solidFill>
            <a:prstDash val="solid"/>
            <a:headEnd type="none" len="sm" w="sm"/>
            <a:tailEnd type="oval" len="lg" w="lg"/>
          </a:ln>
        </p:spPr>
      </p:sp>
      <p:sp>
        <p:nvSpPr>
          <p:cNvPr name="Freeform 10" id="10"/>
          <p:cNvSpPr/>
          <p:nvPr/>
        </p:nvSpPr>
        <p:spPr>
          <a:xfrm flipH="false" flipV="false" rot="0">
            <a:off x="6405572" y="1884664"/>
            <a:ext cx="730853" cy="730853"/>
          </a:xfrm>
          <a:custGeom>
            <a:avLst/>
            <a:gdLst/>
            <a:ahLst/>
            <a:cxnLst/>
            <a:rect r="r" b="b" t="t" l="l"/>
            <a:pathLst>
              <a:path h="730853" w="730853">
                <a:moveTo>
                  <a:pt x="0" y="0"/>
                </a:moveTo>
                <a:lnTo>
                  <a:pt x="730853" y="0"/>
                </a:lnTo>
                <a:lnTo>
                  <a:pt x="730853" y="730853"/>
                </a:lnTo>
                <a:lnTo>
                  <a:pt x="0" y="730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851469"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rot="5347920">
            <a:off x="9748056" y="3809695"/>
            <a:ext cx="2514762" cy="0"/>
          </a:xfrm>
          <a:prstGeom prst="line">
            <a:avLst/>
          </a:prstGeom>
          <a:ln cap="rnd" w="28575">
            <a:solidFill>
              <a:srgbClr val="B084CC"/>
            </a:solidFill>
            <a:prstDash val="solid"/>
            <a:headEnd type="none" len="sm" w="sm"/>
            <a:tailEnd type="oval" len="lg" w="lg"/>
          </a:ln>
        </p:spPr>
      </p:sp>
      <p:sp>
        <p:nvSpPr>
          <p:cNvPr name="Freeform 13" id="13"/>
          <p:cNvSpPr/>
          <p:nvPr/>
        </p:nvSpPr>
        <p:spPr>
          <a:xfrm flipH="false" flipV="false" rot="0">
            <a:off x="10640016" y="1884664"/>
            <a:ext cx="730853" cy="730853"/>
          </a:xfrm>
          <a:custGeom>
            <a:avLst/>
            <a:gdLst/>
            <a:ahLst/>
            <a:cxnLst/>
            <a:rect r="r" b="b" t="t" l="l"/>
            <a:pathLst>
              <a:path h="730853" w="730853">
                <a:moveTo>
                  <a:pt x="0" y="0"/>
                </a:moveTo>
                <a:lnTo>
                  <a:pt x="730853" y="0"/>
                </a:lnTo>
                <a:lnTo>
                  <a:pt x="730853" y="730853"/>
                </a:lnTo>
                <a:lnTo>
                  <a:pt x="0" y="730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4" id="14"/>
          <p:cNvSpPr/>
          <p:nvPr/>
        </p:nvSpPr>
        <p:spPr>
          <a:xfrm rot="5394240">
            <a:off x="2177453" y="5762644"/>
            <a:ext cx="5669470" cy="0"/>
          </a:xfrm>
          <a:prstGeom prst="line">
            <a:avLst/>
          </a:prstGeom>
          <a:ln cap="rnd" w="9525">
            <a:solidFill>
              <a:srgbClr val="FFFFFF"/>
            </a:solidFill>
            <a:prstDash val="solid"/>
            <a:headEnd type="none" len="sm" w="sm"/>
            <a:tailEnd type="none" len="sm" w="sm"/>
          </a:ln>
        </p:spPr>
      </p:sp>
      <p:sp>
        <p:nvSpPr>
          <p:cNvPr name="AutoShape 15" id="15"/>
          <p:cNvSpPr/>
          <p:nvPr/>
        </p:nvSpPr>
        <p:spPr>
          <a:xfrm rot="5394240">
            <a:off x="6066158" y="5762644"/>
            <a:ext cx="5669470" cy="0"/>
          </a:xfrm>
          <a:prstGeom prst="line">
            <a:avLst/>
          </a:prstGeom>
          <a:ln cap="rnd" w="9525">
            <a:solidFill>
              <a:srgbClr val="FFFFFF"/>
            </a:solidFill>
            <a:prstDash val="solid"/>
            <a:headEnd type="none" len="sm" w="sm"/>
            <a:tailEnd type="none" len="sm" w="sm"/>
          </a:ln>
        </p:spPr>
      </p:sp>
      <p:sp>
        <p:nvSpPr>
          <p:cNvPr name="AutoShape 16" id="16"/>
          <p:cNvSpPr/>
          <p:nvPr/>
        </p:nvSpPr>
        <p:spPr>
          <a:xfrm rot="5394240">
            <a:off x="10311374" y="5762644"/>
            <a:ext cx="5669470" cy="0"/>
          </a:xfrm>
          <a:prstGeom prst="line">
            <a:avLst/>
          </a:prstGeom>
          <a:ln cap="rnd" w="9525">
            <a:solidFill>
              <a:srgbClr val="FFFFFF"/>
            </a:solidFill>
            <a:prstDash val="solid"/>
            <a:headEnd type="none" len="sm" w="sm"/>
            <a:tailEnd type="none" len="sm" w="sm"/>
          </a:ln>
        </p:spPr>
      </p:sp>
      <p:sp>
        <p:nvSpPr>
          <p:cNvPr name="TextBox 17" id="17"/>
          <p:cNvSpPr txBox="true"/>
          <p:nvPr/>
        </p:nvSpPr>
        <p:spPr>
          <a:xfrm rot="0">
            <a:off x="815292" y="120653"/>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ÁREAS DE APLICACIÓN</a:t>
            </a:r>
          </a:p>
        </p:txBody>
      </p:sp>
      <p:sp>
        <p:nvSpPr>
          <p:cNvPr name="TextBox 18" id="18"/>
          <p:cNvSpPr txBox="true"/>
          <p:nvPr/>
        </p:nvSpPr>
        <p:spPr>
          <a:xfrm rot="0">
            <a:off x="14888785" y="1955016"/>
            <a:ext cx="580196" cy="466315"/>
          </a:xfrm>
          <a:prstGeom prst="rect">
            <a:avLst/>
          </a:prstGeom>
        </p:spPr>
        <p:txBody>
          <a:bodyPr anchor="t" rtlCol="false" tIns="0" lIns="0" bIns="0" rIns="0">
            <a:spAutoFit/>
          </a:bodyPr>
          <a:lstStyle/>
          <a:p>
            <a:pPr algn="ctr">
              <a:lnSpc>
                <a:spcPts val="3557"/>
              </a:lnSpc>
            </a:pPr>
            <a:r>
              <a:rPr lang="en-US" b="true" sz="2279">
                <a:solidFill>
                  <a:srgbClr val="482B66"/>
                </a:solidFill>
                <a:latin typeface="Arial Bold"/>
                <a:ea typeface="Arial Bold"/>
                <a:cs typeface="Arial Bold"/>
                <a:sym typeface="Arial Bold"/>
              </a:rPr>
              <a:t>04</a:t>
            </a:r>
          </a:p>
        </p:txBody>
      </p:sp>
      <p:sp>
        <p:nvSpPr>
          <p:cNvPr name="TextBox 19" id="19"/>
          <p:cNvSpPr txBox="true"/>
          <p:nvPr/>
        </p:nvSpPr>
        <p:spPr>
          <a:xfrm rot="0">
            <a:off x="13532587" y="5217557"/>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IOT</a:t>
            </a:r>
          </a:p>
        </p:txBody>
      </p:sp>
      <p:sp>
        <p:nvSpPr>
          <p:cNvPr name="TextBox 20" id="20"/>
          <p:cNvSpPr txBox="true"/>
          <p:nvPr/>
        </p:nvSpPr>
        <p:spPr>
          <a:xfrm rot="0">
            <a:off x="699535" y="6013923"/>
            <a:ext cx="3955466" cy="3484502"/>
          </a:xfrm>
          <a:prstGeom prst="rect">
            <a:avLst/>
          </a:prstGeom>
        </p:spPr>
        <p:txBody>
          <a:bodyPr anchor="t" rtlCol="false" tIns="0" lIns="0" bIns="0" rIns="0">
            <a:spAutoFit/>
          </a:bodyPr>
          <a:lstStyle/>
          <a:p>
            <a:pPr algn="ctr">
              <a:lnSpc>
                <a:spcPts val="2733"/>
              </a:lnSpc>
            </a:pPr>
            <a:r>
              <a:rPr lang="en-US" b="true" sz="1700">
                <a:solidFill>
                  <a:srgbClr val="FFFFFF"/>
                </a:solidFill>
                <a:latin typeface="Montserrat Bold"/>
                <a:ea typeface="Montserrat Bold"/>
                <a:cs typeface="Montserrat Bold"/>
                <a:sym typeface="Montserrat Bold"/>
              </a:rPr>
              <a:t>Experiencia del Usuario</a:t>
            </a:r>
            <a:r>
              <a:rPr lang="en-US" sz="1700">
                <a:solidFill>
                  <a:srgbClr val="FFFFFF"/>
                </a:solidFill>
                <a:latin typeface="Montserrat"/>
                <a:ea typeface="Montserrat"/>
                <a:cs typeface="Montserrat"/>
                <a:sym typeface="Montserrat"/>
              </a:rPr>
              <a:t>: Interfaz gráfica intuitiva y personalizable.</a:t>
            </a:r>
          </a:p>
          <a:p>
            <a:pPr algn="ctr">
              <a:lnSpc>
                <a:spcPts val="2733"/>
              </a:lnSpc>
            </a:pPr>
            <a:r>
              <a:rPr lang="en-US" b="true" sz="1700">
                <a:solidFill>
                  <a:srgbClr val="FFFFFF"/>
                </a:solidFill>
                <a:latin typeface="Montserrat Bold"/>
                <a:ea typeface="Montserrat Bold"/>
                <a:cs typeface="Montserrat Bold"/>
                <a:sym typeface="Montserrat Bold"/>
              </a:rPr>
              <a:t>Multitarea</a:t>
            </a:r>
            <a:r>
              <a:rPr lang="en-US" sz="1700">
                <a:solidFill>
                  <a:srgbClr val="FFFFFF"/>
                </a:solidFill>
                <a:latin typeface="Montserrat"/>
                <a:ea typeface="Montserrat"/>
                <a:cs typeface="Montserrat"/>
                <a:sym typeface="Montserrat"/>
              </a:rPr>
              <a:t>: Capacidad para ejecutar múltiples aplicaciones simultáneamente, permitiendo alternar entre tareas sin problemas.</a:t>
            </a:r>
          </a:p>
          <a:p>
            <a:pPr algn="ctr">
              <a:lnSpc>
                <a:spcPts val="2733"/>
              </a:lnSpc>
            </a:pPr>
            <a:r>
              <a:rPr lang="en-US" b="true" sz="1700">
                <a:solidFill>
                  <a:srgbClr val="FFFFFF"/>
                </a:solidFill>
                <a:latin typeface="Montserrat Bold"/>
                <a:ea typeface="Montserrat Bold"/>
                <a:cs typeface="Montserrat Bold"/>
                <a:sym typeface="Montserrat Bold"/>
              </a:rPr>
              <a:t>Acceso a Servicios en Línea</a:t>
            </a:r>
            <a:r>
              <a:rPr lang="en-US" sz="1700">
                <a:solidFill>
                  <a:srgbClr val="FFFFFF"/>
                </a:solidFill>
                <a:latin typeface="Montserrat"/>
                <a:ea typeface="Montserrat"/>
                <a:cs typeface="Montserrat"/>
                <a:sym typeface="Montserrat"/>
              </a:rPr>
              <a:t>: Integración con aplicaciones de redes sociales, mensajería, y servicios de streaming.</a:t>
            </a:r>
          </a:p>
          <a:p>
            <a:pPr algn="ctr">
              <a:lnSpc>
                <a:spcPts val="2251"/>
              </a:lnSpc>
            </a:pPr>
          </a:p>
        </p:txBody>
      </p:sp>
      <p:sp>
        <p:nvSpPr>
          <p:cNvPr name="TextBox 21" id="21"/>
          <p:cNvSpPr txBox="true"/>
          <p:nvPr/>
        </p:nvSpPr>
        <p:spPr>
          <a:xfrm rot="0">
            <a:off x="943099" y="5204974"/>
            <a:ext cx="3468338"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DISPOSITIVOS DE CONSUMO</a:t>
            </a:r>
          </a:p>
        </p:txBody>
      </p:sp>
      <p:sp>
        <p:nvSpPr>
          <p:cNvPr name="TextBox 22" id="22"/>
          <p:cNvSpPr txBox="true"/>
          <p:nvPr/>
        </p:nvSpPr>
        <p:spPr>
          <a:xfrm rot="0">
            <a:off x="2382383" y="1955016"/>
            <a:ext cx="580196" cy="466315"/>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01</a:t>
            </a:r>
          </a:p>
        </p:txBody>
      </p:sp>
      <p:sp>
        <p:nvSpPr>
          <p:cNvPr name="TextBox 23" id="23"/>
          <p:cNvSpPr txBox="true"/>
          <p:nvPr/>
        </p:nvSpPr>
        <p:spPr>
          <a:xfrm rot="0">
            <a:off x="5023542" y="5217557"/>
            <a:ext cx="3748764"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AUTOMOCIÓN</a:t>
            </a:r>
          </a:p>
        </p:txBody>
      </p:sp>
      <p:sp>
        <p:nvSpPr>
          <p:cNvPr name="TextBox 24" id="24"/>
          <p:cNvSpPr txBox="true"/>
          <p:nvPr/>
        </p:nvSpPr>
        <p:spPr>
          <a:xfrm rot="0">
            <a:off x="6480896" y="1955016"/>
            <a:ext cx="580196" cy="466315"/>
          </a:xfrm>
          <a:prstGeom prst="rect">
            <a:avLst/>
          </a:prstGeom>
        </p:spPr>
        <p:txBody>
          <a:bodyPr anchor="t" rtlCol="false" tIns="0" lIns="0" bIns="0" rIns="0">
            <a:spAutoFit/>
          </a:bodyPr>
          <a:lstStyle/>
          <a:p>
            <a:pPr algn="ctr">
              <a:lnSpc>
                <a:spcPts val="3557"/>
              </a:lnSpc>
            </a:pPr>
            <a:r>
              <a:rPr lang="en-US" b="true" sz="2279">
                <a:solidFill>
                  <a:srgbClr val="67D3CD"/>
                </a:solidFill>
                <a:latin typeface="Arial Bold"/>
                <a:ea typeface="Arial Bold"/>
                <a:cs typeface="Arial Bold"/>
                <a:sym typeface="Arial Bold"/>
              </a:rPr>
              <a:t>02</a:t>
            </a:r>
          </a:p>
        </p:txBody>
      </p:sp>
      <p:sp>
        <p:nvSpPr>
          <p:cNvPr name="TextBox 25" id="25"/>
          <p:cNvSpPr txBox="true"/>
          <p:nvPr/>
        </p:nvSpPr>
        <p:spPr>
          <a:xfrm rot="0">
            <a:off x="9284951" y="5217557"/>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DISPOSITIVOS MÉDICOS</a:t>
            </a:r>
          </a:p>
        </p:txBody>
      </p:sp>
      <p:sp>
        <p:nvSpPr>
          <p:cNvPr name="TextBox 26" id="26"/>
          <p:cNvSpPr txBox="true"/>
          <p:nvPr/>
        </p:nvSpPr>
        <p:spPr>
          <a:xfrm rot="0">
            <a:off x="10715339" y="1955016"/>
            <a:ext cx="580196" cy="466315"/>
          </a:xfrm>
          <a:prstGeom prst="rect">
            <a:avLst/>
          </a:prstGeom>
        </p:spPr>
        <p:txBody>
          <a:bodyPr anchor="t" rtlCol="false" tIns="0" lIns="0" bIns="0" rIns="0">
            <a:spAutoFit/>
          </a:bodyPr>
          <a:lstStyle/>
          <a:p>
            <a:pPr algn="ctr">
              <a:lnSpc>
                <a:spcPts val="3557"/>
              </a:lnSpc>
            </a:pPr>
            <a:r>
              <a:rPr lang="en-US" b="true" sz="2279">
                <a:solidFill>
                  <a:srgbClr val="675688"/>
                </a:solidFill>
                <a:latin typeface="Arial Bold"/>
                <a:ea typeface="Arial Bold"/>
                <a:cs typeface="Arial Bold"/>
                <a:sym typeface="Arial Bold"/>
              </a:rPr>
              <a:t>03</a:t>
            </a:r>
          </a:p>
        </p:txBody>
      </p:sp>
      <p:sp>
        <p:nvSpPr>
          <p:cNvPr name="TextBox 27" id="27"/>
          <p:cNvSpPr txBox="true"/>
          <p:nvPr/>
        </p:nvSpPr>
        <p:spPr>
          <a:xfrm rot="0">
            <a:off x="5136852" y="6011551"/>
            <a:ext cx="3582953" cy="2909192"/>
          </a:xfrm>
          <a:prstGeom prst="rect">
            <a:avLst/>
          </a:prstGeom>
        </p:spPr>
        <p:txBody>
          <a:bodyPr anchor="t" rtlCol="false" tIns="0" lIns="0" bIns="0" rIns="0">
            <a:spAutoFit/>
          </a:bodyPr>
          <a:lstStyle/>
          <a:p>
            <a:pPr algn="ctr">
              <a:lnSpc>
                <a:spcPts val="3039"/>
              </a:lnSpc>
            </a:pPr>
            <a:r>
              <a:rPr lang="en-US" sz="1700">
                <a:solidFill>
                  <a:srgbClr val="FFFFFF"/>
                </a:solidFill>
                <a:latin typeface="Montserrat"/>
                <a:ea typeface="Montserrat"/>
                <a:cs typeface="Montserrat"/>
                <a:sym typeface="Montserrat"/>
              </a:rPr>
              <a:t>En el sector automotriz para:</a:t>
            </a:r>
          </a:p>
          <a:p>
            <a:pPr algn="ctr">
              <a:lnSpc>
                <a:spcPts val="2503"/>
              </a:lnSpc>
            </a:pPr>
          </a:p>
          <a:p>
            <a:pPr algn="ctr">
              <a:lnSpc>
                <a:spcPts val="3039"/>
              </a:lnSpc>
            </a:pPr>
            <a:r>
              <a:rPr lang="en-US" b="true" sz="1700">
                <a:solidFill>
                  <a:srgbClr val="FFFFFF"/>
                </a:solidFill>
                <a:latin typeface="Montserrat Bold"/>
                <a:ea typeface="Montserrat Bold"/>
                <a:cs typeface="Montserrat Bold"/>
                <a:sym typeface="Montserrat Bold"/>
              </a:rPr>
              <a:t>Sistemas de Navegación:</a:t>
            </a:r>
            <a:r>
              <a:rPr lang="en-US" sz="1700">
                <a:solidFill>
                  <a:srgbClr val="FFFFFF"/>
                </a:solidFill>
                <a:latin typeface="Montserrat"/>
                <a:ea typeface="Montserrat"/>
                <a:cs typeface="Montserrat"/>
                <a:sym typeface="Montserrat"/>
              </a:rPr>
              <a:t> GPS y aplicaciones de mapas</a:t>
            </a:r>
          </a:p>
          <a:p>
            <a:pPr algn="ctr">
              <a:lnSpc>
                <a:spcPts val="3039"/>
              </a:lnSpc>
            </a:pPr>
            <a:r>
              <a:rPr lang="en-US" b="true" sz="1700">
                <a:solidFill>
                  <a:srgbClr val="FFFFFF"/>
                </a:solidFill>
                <a:latin typeface="Montserrat Bold"/>
                <a:ea typeface="Montserrat Bold"/>
                <a:cs typeface="Montserrat Bold"/>
                <a:sym typeface="Montserrat Bold"/>
              </a:rPr>
              <a:t>Conectividad: </a:t>
            </a:r>
            <a:r>
              <a:rPr lang="en-US" sz="1700">
                <a:solidFill>
                  <a:srgbClr val="FFFFFF"/>
                </a:solidFill>
                <a:latin typeface="Montserrat"/>
                <a:ea typeface="Montserrat"/>
                <a:cs typeface="Montserrat"/>
                <a:sym typeface="Montserrat"/>
              </a:rPr>
              <a:t>Integración con smartphones.</a:t>
            </a:r>
          </a:p>
          <a:p>
            <a:pPr algn="ctr">
              <a:lnSpc>
                <a:spcPts val="3039"/>
              </a:lnSpc>
            </a:pPr>
            <a:r>
              <a:rPr lang="en-US" b="true" sz="1700">
                <a:solidFill>
                  <a:srgbClr val="FFFFFF"/>
                </a:solidFill>
                <a:latin typeface="Montserrat Bold"/>
                <a:ea typeface="Montserrat Bold"/>
                <a:cs typeface="Montserrat Bold"/>
                <a:sym typeface="Montserrat Bold"/>
              </a:rPr>
              <a:t>Seguridad: </a:t>
            </a:r>
            <a:r>
              <a:rPr lang="en-US" sz="1700">
                <a:solidFill>
                  <a:srgbClr val="FFFFFF"/>
                </a:solidFill>
                <a:latin typeface="Montserrat"/>
                <a:ea typeface="Montserrat"/>
                <a:cs typeface="Montserrat"/>
                <a:sym typeface="Montserrat"/>
              </a:rPr>
              <a:t>Sistemas de control de estabilidad, asistencia al conductor,etc</a:t>
            </a:r>
          </a:p>
        </p:txBody>
      </p:sp>
      <p:sp>
        <p:nvSpPr>
          <p:cNvPr name="TextBox 28" id="28"/>
          <p:cNvSpPr txBox="true"/>
          <p:nvPr/>
        </p:nvSpPr>
        <p:spPr>
          <a:xfrm rot="0">
            <a:off x="9186643" y="5843016"/>
            <a:ext cx="3637597" cy="3519126"/>
          </a:xfrm>
          <a:prstGeom prst="rect">
            <a:avLst/>
          </a:prstGeom>
        </p:spPr>
        <p:txBody>
          <a:bodyPr anchor="t" rtlCol="false" tIns="0" lIns="0" bIns="0" rIns="0">
            <a:spAutoFit/>
          </a:bodyPr>
          <a:lstStyle/>
          <a:p>
            <a:pPr algn="ctr">
              <a:lnSpc>
                <a:spcPts val="2590"/>
              </a:lnSpc>
            </a:pPr>
            <a:r>
              <a:rPr lang="en-US" b="true" sz="1660">
                <a:solidFill>
                  <a:srgbClr val="FFFFFF"/>
                </a:solidFill>
                <a:latin typeface="Montserrat Bold"/>
                <a:ea typeface="Montserrat Bold"/>
                <a:cs typeface="Montserrat Bold"/>
                <a:sym typeface="Montserrat Bold"/>
              </a:rPr>
              <a:t>Monitores de Salud: </a:t>
            </a:r>
            <a:r>
              <a:rPr lang="en-US" sz="1660">
                <a:solidFill>
                  <a:srgbClr val="FFFFFF"/>
                </a:solidFill>
                <a:latin typeface="Montserrat"/>
                <a:ea typeface="Montserrat"/>
                <a:cs typeface="Montserrat"/>
                <a:sym typeface="Montserrat"/>
              </a:rPr>
              <a:t>Dispositivos que supervisan constantemente parámetros vitales, como la frecuencia cardíaca y la presión arterial.</a:t>
            </a:r>
          </a:p>
          <a:p>
            <a:pPr algn="ctr">
              <a:lnSpc>
                <a:spcPts val="2185"/>
              </a:lnSpc>
            </a:pPr>
          </a:p>
          <a:p>
            <a:pPr algn="ctr">
              <a:lnSpc>
                <a:spcPts val="2590"/>
              </a:lnSpc>
            </a:pPr>
            <a:r>
              <a:rPr lang="en-US" b="true" sz="1660">
                <a:solidFill>
                  <a:srgbClr val="FFFFFF"/>
                </a:solidFill>
                <a:latin typeface="Montserrat Bold"/>
                <a:ea typeface="Montserrat Bold"/>
                <a:cs typeface="Montserrat Bold"/>
                <a:sym typeface="Montserrat Bold"/>
              </a:rPr>
              <a:t>Interfaz de Usuario:</a:t>
            </a:r>
            <a:r>
              <a:rPr lang="en-US" sz="1660">
                <a:solidFill>
                  <a:srgbClr val="FFFFFF"/>
                </a:solidFill>
                <a:latin typeface="Montserrat"/>
                <a:ea typeface="Montserrat"/>
                <a:cs typeface="Montserrat"/>
                <a:sym typeface="Montserrat"/>
              </a:rPr>
              <a:t> Los dispositivos a menudo incluyen pantallas táctiles que permiten a los médicos y pacientes interactuar con el sistema de manera intuitiva</a:t>
            </a:r>
          </a:p>
          <a:p>
            <a:pPr algn="ctr">
              <a:lnSpc>
                <a:spcPts val="2185"/>
              </a:lnSpc>
            </a:pPr>
          </a:p>
        </p:txBody>
      </p:sp>
      <p:sp>
        <p:nvSpPr>
          <p:cNvPr name="TextBox 29" id="29"/>
          <p:cNvSpPr txBox="true"/>
          <p:nvPr/>
        </p:nvSpPr>
        <p:spPr>
          <a:xfrm rot="0">
            <a:off x="13337334" y="5612768"/>
            <a:ext cx="4413933" cy="3645532"/>
          </a:xfrm>
          <a:prstGeom prst="rect">
            <a:avLst/>
          </a:prstGeom>
        </p:spPr>
        <p:txBody>
          <a:bodyPr anchor="t" rtlCol="false" tIns="0" lIns="0" bIns="0" rIns="0">
            <a:spAutoFit/>
          </a:bodyPr>
          <a:lstStyle/>
          <a:p>
            <a:pPr algn="ctr">
              <a:lnSpc>
                <a:spcPts val="2652"/>
              </a:lnSpc>
            </a:pPr>
            <a:r>
              <a:rPr lang="en-US" b="true" sz="1700">
                <a:solidFill>
                  <a:srgbClr val="FFFFFF"/>
                </a:solidFill>
                <a:latin typeface="Montserrat Bold"/>
                <a:ea typeface="Montserrat Bold"/>
                <a:cs typeface="Montserrat Bold"/>
                <a:sym typeface="Montserrat Bold"/>
              </a:rPr>
              <a:t>Hogares Inteligentes: </a:t>
            </a:r>
            <a:r>
              <a:rPr lang="en-US" sz="1700">
                <a:solidFill>
                  <a:srgbClr val="FFFFFF"/>
                </a:solidFill>
                <a:latin typeface="Montserrat"/>
                <a:ea typeface="Montserrat"/>
                <a:cs typeface="Montserrat"/>
                <a:sym typeface="Montserrat"/>
              </a:rPr>
              <a:t>Dispositivos como termostatos inteligentes, cámaras de seguridad, y asistentes virtuales que gestionan la eficiencia energética, seguridad, y comodidad del hogar.</a:t>
            </a:r>
          </a:p>
          <a:p>
            <a:pPr algn="ctr">
              <a:lnSpc>
                <a:spcPts val="2652"/>
              </a:lnSpc>
            </a:pPr>
            <a:r>
              <a:rPr lang="en-US" b="true" sz="1700">
                <a:solidFill>
                  <a:srgbClr val="FFFFFF"/>
                </a:solidFill>
                <a:latin typeface="Montserrat Bold"/>
                <a:ea typeface="Montserrat Bold"/>
                <a:cs typeface="Montserrat Bold"/>
                <a:sym typeface="Montserrat Bold"/>
              </a:rPr>
              <a:t>Ciudades Conectadas</a:t>
            </a:r>
            <a:r>
              <a:rPr lang="en-US" sz="1700">
                <a:solidFill>
                  <a:srgbClr val="FFFFFF"/>
                </a:solidFill>
                <a:latin typeface="Montserrat"/>
                <a:ea typeface="Montserrat"/>
                <a:cs typeface="Montserrat"/>
                <a:sym typeface="Montserrat"/>
              </a:rPr>
              <a:t>: Sistemas de gestión del tráfico, monitorización ambiental, y servicios públicos que utilizan sensores y dispositivos conectados para mejorar la infraestructura urbana.</a:t>
            </a:r>
          </a:p>
          <a:p>
            <a:pPr algn="ctr">
              <a:lnSpc>
                <a:spcPts val="2183"/>
              </a:lnSpc>
            </a:pPr>
          </a:p>
        </p:txBody>
      </p:sp>
      <p:grpSp>
        <p:nvGrpSpPr>
          <p:cNvPr name="Group 30" id="30"/>
          <p:cNvGrpSpPr/>
          <p:nvPr/>
        </p:nvGrpSpPr>
        <p:grpSpPr>
          <a:xfrm rot="0">
            <a:off x="1987991" y="2739714"/>
            <a:ext cx="1378572" cy="1378572"/>
            <a:chOff x="0" y="0"/>
            <a:chExt cx="1838096" cy="1838096"/>
          </a:xfrm>
        </p:grpSpPr>
        <p:sp>
          <p:nvSpPr>
            <p:cNvPr name="Freeform 31" id="31"/>
            <p:cNvSpPr/>
            <p:nvPr/>
          </p:nvSpPr>
          <p:spPr>
            <a:xfrm flipH="false" flipV="false" rot="0">
              <a:off x="0" y="0"/>
              <a:ext cx="1838071" cy="1838071"/>
            </a:xfrm>
            <a:custGeom>
              <a:avLst/>
              <a:gdLst/>
              <a:ahLst/>
              <a:cxnLst/>
              <a:rect r="r" b="b" t="t" l="l"/>
              <a:pathLst>
                <a:path h="1838071" w="1838071">
                  <a:moveTo>
                    <a:pt x="0" y="0"/>
                  </a:moveTo>
                  <a:lnTo>
                    <a:pt x="1838071" y="0"/>
                  </a:lnTo>
                  <a:lnTo>
                    <a:pt x="1838071" y="1838071"/>
                  </a:lnTo>
                  <a:lnTo>
                    <a:pt x="0" y="1838071"/>
                  </a:lnTo>
                  <a:lnTo>
                    <a:pt x="0" y="0"/>
                  </a:lnTo>
                  <a:close/>
                </a:path>
              </a:pathLst>
            </a:custGeom>
            <a:blipFill>
              <a:blip r:embed="rId11"/>
              <a:stretch>
                <a:fillRect l="0" t="0" r="-1" b="-1"/>
              </a:stretch>
            </a:blipFill>
          </p:spPr>
        </p:sp>
      </p:grpSp>
      <p:grpSp>
        <p:nvGrpSpPr>
          <p:cNvPr name="Group 32" id="32"/>
          <p:cNvGrpSpPr/>
          <p:nvPr/>
        </p:nvGrpSpPr>
        <p:grpSpPr>
          <a:xfrm rot="0">
            <a:off x="6067939" y="2701004"/>
            <a:ext cx="1406128" cy="1406128"/>
            <a:chOff x="0" y="0"/>
            <a:chExt cx="1874838" cy="1874838"/>
          </a:xfrm>
        </p:grpSpPr>
        <p:sp>
          <p:nvSpPr>
            <p:cNvPr name="Freeform 33" id="33"/>
            <p:cNvSpPr/>
            <p:nvPr/>
          </p:nvSpPr>
          <p:spPr>
            <a:xfrm flipH="false" flipV="false" rot="0">
              <a:off x="0" y="0"/>
              <a:ext cx="1874774" cy="1874774"/>
            </a:xfrm>
            <a:custGeom>
              <a:avLst/>
              <a:gdLst/>
              <a:ahLst/>
              <a:cxnLst/>
              <a:rect r="r" b="b" t="t" l="l"/>
              <a:pathLst>
                <a:path h="1874774" w="1874774">
                  <a:moveTo>
                    <a:pt x="0" y="0"/>
                  </a:moveTo>
                  <a:lnTo>
                    <a:pt x="1874774" y="0"/>
                  </a:lnTo>
                  <a:lnTo>
                    <a:pt x="1874774" y="1874774"/>
                  </a:lnTo>
                  <a:lnTo>
                    <a:pt x="0" y="1874774"/>
                  </a:lnTo>
                  <a:lnTo>
                    <a:pt x="0" y="0"/>
                  </a:lnTo>
                  <a:close/>
                </a:path>
              </a:pathLst>
            </a:custGeom>
            <a:blipFill>
              <a:blip r:embed="rId12"/>
              <a:stretch>
                <a:fillRect l="0" t="0" r="-3" b="-3"/>
              </a:stretch>
            </a:blipFill>
          </p:spPr>
        </p:sp>
      </p:grpSp>
      <p:grpSp>
        <p:nvGrpSpPr>
          <p:cNvPr name="Group 34" id="34"/>
          <p:cNvGrpSpPr/>
          <p:nvPr/>
        </p:nvGrpSpPr>
        <p:grpSpPr>
          <a:xfrm rot="0">
            <a:off x="10396652" y="2701004"/>
            <a:ext cx="1406100" cy="1406100"/>
            <a:chOff x="0" y="0"/>
            <a:chExt cx="1874799" cy="1874799"/>
          </a:xfrm>
        </p:grpSpPr>
        <p:sp>
          <p:nvSpPr>
            <p:cNvPr name="Freeform 35" id="35"/>
            <p:cNvSpPr/>
            <p:nvPr/>
          </p:nvSpPr>
          <p:spPr>
            <a:xfrm flipH="false" flipV="false" rot="0">
              <a:off x="0" y="0"/>
              <a:ext cx="1874774" cy="1874774"/>
            </a:xfrm>
            <a:custGeom>
              <a:avLst/>
              <a:gdLst/>
              <a:ahLst/>
              <a:cxnLst/>
              <a:rect r="r" b="b" t="t" l="l"/>
              <a:pathLst>
                <a:path h="1874774" w="1874774">
                  <a:moveTo>
                    <a:pt x="0" y="0"/>
                  </a:moveTo>
                  <a:lnTo>
                    <a:pt x="1874774" y="0"/>
                  </a:lnTo>
                  <a:lnTo>
                    <a:pt x="1874774" y="1874774"/>
                  </a:lnTo>
                  <a:lnTo>
                    <a:pt x="0" y="1874774"/>
                  </a:lnTo>
                  <a:lnTo>
                    <a:pt x="0" y="0"/>
                  </a:lnTo>
                  <a:close/>
                </a:path>
              </a:pathLst>
            </a:custGeom>
            <a:blipFill>
              <a:blip r:embed="rId13"/>
              <a:stretch>
                <a:fillRect l="0" t="0" r="-1" b="-1"/>
              </a:stretch>
            </a:blipFill>
          </p:spPr>
        </p:sp>
      </p:grpSp>
      <p:grpSp>
        <p:nvGrpSpPr>
          <p:cNvPr name="Group 36" id="36"/>
          <p:cNvGrpSpPr/>
          <p:nvPr/>
        </p:nvGrpSpPr>
        <p:grpSpPr>
          <a:xfrm rot="0">
            <a:off x="14489449" y="2725960"/>
            <a:ext cx="1406100" cy="1406100"/>
            <a:chOff x="0" y="0"/>
            <a:chExt cx="1874799" cy="1874799"/>
          </a:xfrm>
        </p:grpSpPr>
        <p:sp>
          <p:nvSpPr>
            <p:cNvPr name="Freeform 37" id="37"/>
            <p:cNvSpPr/>
            <p:nvPr/>
          </p:nvSpPr>
          <p:spPr>
            <a:xfrm flipH="false" flipV="false" rot="0">
              <a:off x="0" y="0"/>
              <a:ext cx="1874774" cy="1874774"/>
            </a:xfrm>
            <a:custGeom>
              <a:avLst/>
              <a:gdLst/>
              <a:ahLst/>
              <a:cxnLst/>
              <a:rect r="r" b="b" t="t" l="l"/>
              <a:pathLst>
                <a:path h="1874774" w="1874774">
                  <a:moveTo>
                    <a:pt x="0" y="0"/>
                  </a:moveTo>
                  <a:lnTo>
                    <a:pt x="1874774" y="0"/>
                  </a:lnTo>
                  <a:lnTo>
                    <a:pt x="1874774" y="1874774"/>
                  </a:lnTo>
                  <a:lnTo>
                    <a:pt x="0" y="1874774"/>
                  </a:lnTo>
                  <a:lnTo>
                    <a:pt x="0" y="0"/>
                  </a:lnTo>
                  <a:close/>
                </a:path>
              </a:pathLst>
            </a:custGeom>
            <a:blipFill>
              <a:blip r:embed="rId14"/>
              <a:stretch>
                <a:fillRect l="0" t="0" r="-1" b="-1"/>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8354711" y="2255701"/>
            <a:ext cx="8826513" cy="1878540"/>
          </a:xfrm>
          <a:custGeom>
            <a:avLst/>
            <a:gdLst/>
            <a:ahLst/>
            <a:cxnLst/>
            <a:rect r="r" b="b" t="t" l="l"/>
            <a:pathLst>
              <a:path h="1878540" w="8826513">
                <a:moveTo>
                  <a:pt x="0" y="0"/>
                </a:moveTo>
                <a:lnTo>
                  <a:pt x="8826513" y="0"/>
                </a:lnTo>
                <a:lnTo>
                  <a:pt x="8826513" y="1878540"/>
                </a:lnTo>
                <a:lnTo>
                  <a:pt x="0" y="18785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06859" y="3391176"/>
            <a:ext cx="6532007" cy="2420283"/>
          </a:xfrm>
          <a:custGeom>
            <a:avLst/>
            <a:gdLst/>
            <a:ahLst/>
            <a:cxnLst/>
            <a:rect r="r" b="b" t="t" l="l"/>
            <a:pathLst>
              <a:path h="2420283" w="6532007">
                <a:moveTo>
                  <a:pt x="0" y="0"/>
                </a:moveTo>
                <a:lnTo>
                  <a:pt x="6532007" y="0"/>
                </a:lnTo>
                <a:lnTo>
                  <a:pt x="6532007" y="2420284"/>
                </a:lnTo>
                <a:lnTo>
                  <a:pt x="0" y="24202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203827" y="6165466"/>
            <a:ext cx="6335039" cy="2420283"/>
          </a:xfrm>
          <a:custGeom>
            <a:avLst/>
            <a:gdLst/>
            <a:ahLst/>
            <a:cxnLst/>
            <a:rect r="r" b="b" t="t" l="l"/>
            <a:pathLst>
              <a:path h="2420283" w="6335039">
                <a:moveTo>
                  <a:pt x="0" y="0"/>
                </a:moveTo>
                <a:lnTo>
                  <a:pt x="6335039" y="0"/>
                </a:lnTo>
                <a:lnTo>
                  <a:pt x="6335039" y="2420283"/>
                </a:lnTo>
                <a:lnTo>
                  <a:pt x="0" y="24202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1532222" y="4642533"/>
            <a:ext cx="6102182" cy="3639017"/>
          </a:xfrm>
          <a:custGeom>
            <a:avLst/>
            <a:gdLst/>
            <a:ahLst/>
            <a:cxnLst/>
            <a:rect r="r" b="b" t="t" l="l"/>
            <a:pathLst>
              <a:path h="3639017" w="6102182">
                <a:moveTo>
                  <a:pt x="0" y="0"/>
                </a:moveTo>
                <a:lnTo>
                  <a:pt x="6102182" y="0"/>
                </a:lnTo>
                <a:lnTo>
                  <a:pt x="6102182" y="3639016"/>
                </a:lnTo>
                <a:lnTo>
                  <a:pt x="0" y="36390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198025" y="5058194"/>
            <a:ext cx="2220525" cy="2220525"/>
            <a:chOff x="0" y="0"/>
            <a:chExt cx="2960700" cy="2960700"/>
          </a:xfrm>
        </p:grpSpPr>
        <p:sp>
          <p:nvSpPr>
            <p:cNvPr name="Freeform 7" id="7"/>
            <p:cNvSpPr/>
            <p:nvPr/>
          </p:nvSpPr>
          <p:spPr>
            <a:xfrm flipH="false" flipV="false" rot="0">
              <a:off x="0" y="0"/>
              <a:ext cx="2960751" cy="2960751"/>
            </a:xfrm>
            <a:custGeom>
              <a:avLst/>
              <a:gdLst/>
              <a:ahLst/>
              <a:cxnLst/>
              <a:rect r="r" b="b" t="t" l="l"/>
              <a:pathLst>
                <a:path h="2960751" w="2960751">
                  <a:moveTo>
                    <a:pt x="0" y="0"/>
                  </a:moveTo>
                  <a:lnTo>
                    <a:pt x="2960751" y="0"/>
                  </a:lnTo>
                  <a:lnTo>
                    <a:pt x="2960751" y="2960751"/>
                  </a:lnTo>
                  <a:lnTo>
                    <a:pt x="0" y="2960751"/>
                  </a:lnTo>
                  <a:lnTo>
                    <a:pt x="0" y="0"/>
                  </a:lnTo>
                  <a:close/>
                </a:path>
              </a:pathLst>
            </a:custGeom>
            <a:blipFill>
              <a:blip r:embed="rId11"/>
              <a:stretch>
                <a:fillRect l="0" t="0" r="1" b="1"/>
              </a:stretch>
            </a:blipFill>
          </p:spPr>
        </p:sp>
      </p:grpSp>
      <p:sp>
        <p:nvSpPr>
          <p:cNvPr name="TextBox 8" id="8"/>
          <p:cNvSpPr txBox="true"/>
          <p:nvPr/>
        </p:nvSpPr>
        <p:spPr>
          <a:xfrm rot="0">
            <a:off x="1043026" y="669512"/>
            <a:ext cx="8696211" cy="1670047"/>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SISTEMA OPERATIVO MÓVIL (</a:t>
            </a:r>
            <a:r>
              <a:rPr lang="en-US" sz="4999">
                <a:solidFill>
                  <a:srgbClr val="ACFDDB"/>
                </a:solidFill>
                <a:latin typeface="Arial"/>
                <a:ea typeface="Arial"/>
                <a:cs typeface="Arial"/>
                <a:sym typeface="Arial"/>
              </a:rPr>
              <a:t>ANDROID</a:t>
            </a:r>
            <a:r>
              <a:rPr lang="en-US" sz="4999">
                <a:solidFill>
                  <a:srgbClr val="FFFFFF"/>
                </a:solidFill>
                <a:latin typeface="Arial"/>
                <a:ea typeface="Arial"/>
                <a:cs typeface="Arial"/>
                <a:sym typeface="Arial"/>
              </a:rPr>
              <a:t>)</a:t>
            </a:r>
          </a:p>
        </p:txBody>
      </p:sp>
      <p:sp>
        <p:nvSpPr>
          <p:cNvPr name="TextBox 9" id="9"/>
          <p:cNvSpPr txBox="true"/>
          <p:nvPr/>
        </p:nvSpPr>
        <p:spPr>
          <a:xfrm rot="0">
            <a:off x="8581911" y="2510971"/>
            <a:ext cx="8207997" cy="1499778"/>
          </a:xfrm>
          <a:prstGeom prst="rect">
            <a:avLst/>
          </a:prstGeom>
        </p:spPr>
        <p:txBody>
          <a:bodyPr anchor="t" rtlCol="false" tIns="0" lIns="0" bIns="0" rIns="0">
            <a:spAutoFit/>
          </a:bodyPr>
          <a:lstStyle/>
          <a:p>
            <a:pPr algn="just">
              <a:lnSpc>
                <a:spcPts val="2964"/>
              </a:lnSpc>
            </a:pPr>
            <a:r>
              <a:rPr lang="en-US" sz="1900">
                <a:solidFill>
                  <a:srgbClr val="FFFFFF"/>
                </a:solidFill>
                <a:latin typeface="Montserrat"/>
                <a:ea typeface="Montserrat"/>
                <a:cs typeface="Montserrat"/>
                <a:sym typeface="Montserrat"/>
              </a:rPr>
              <a:t>Android fue lanzado en 2008 por Google y rápidamente se convirtió en el </a:t>
            </a:r>
            <a:r>
              <a:rPr lang="en-US" sz="1900">
                <a:solidFill>
                  <a:srgbClr val="ACFDDB"/>
                </a:solidFill>
                <a:latin typeface="Montserrat"/>
                <a:ea typeface="Montserrat"/>
                <a:cs typeface="Montserrat"/>
                <a:sym typeface="Montserrat"/>
              </a:rPr>
              <a:t>sistema operativo</a:t>
            </a:r>
            <a:r>
              <a:rPr lang="en-US" sz="1900">
                <a:solidFill>
                  <a:srgbClr val="FFFFFF"/>
                </a:solidFill>
                <a:latin typeface="Montserrat"/>
                <a:ea typeface="Montserrat"/>
                <a:cs typeface="Montserrat"/>
                <a:sym typeface="Montserrat"/>
              </a:rPr>
              <a:t> móvil más utilizado a nivel mundial, impulsado por su naturaleza de código abierto y su amplia variedad de dispositivos que lo utilizan.</a:t>
            </a:r>
          </a:p>
        </p:txBody>
      </p:sp>
      <p:sp>
        <p:nvSpPr>
          <p:cNvPr name="TextBox 10" id="10"/>
          <p:cNvSpPr txBox="true"/>
          <p:nvPr/>
        </p:nvSpPr>
        <p:spPr>
          <a:xfrm rot="0">
            <a:off x="2804989" y="3745830"/>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Kernel</a:t>
            </a:r>
          </a:p>
        </p:txBody>
      </p:sp>
      <p:sp>
        <p:nvSpPr>
          <p:cNvPr name="TextBox 11" id="11"/>
          <p:cNvSpPr txBox="true"/>
          <p:nvPr/>
        </p:nvSpPr>
        <p:spPr>
          <a:xfrm rot="0">
            <a:off x="2804989" y="4169550"/>
            <a:ext cx="4390796" cy="1488977"/>
          </a:xfrm>
          <a:prstGeom prst="rect">
            <a:avLst/>
          </a:prstGeom>
        </p:spPr>
        <p:txBody>
          <a:bodyPr anchor="t" rtlCol="false" tIns="0" lIns="0" bIns="0" rIns="0">
            <a:spAutoFit/>
          </a:bodyPr>
          <a:lstStyle/>
          <a:p>
            <a:pPr algn="l">
              <a:lnSpc>
                <a:spcPts val="2351"/>
              </a:lnSpc>
            </a:pPr>
            <a:r>
              <a:rPr lang="en-US" sz="1399">
                <a:solidFill>
                  <a:srgbClr val="FFFFFF"/>
                </a:solidFill>
                <a:latin typeface="Open Sans"/>
                <a:ea typeface="Open Sans"/>
                <a:cs typeface="Open Sans"/>
                <a:sym typeface="Open Sans"/>
              </a:rPr>
              <a:t>Se basa en el núcleo de </a:t>
            </a:r>
            <a:r>
              <a:rPr lang="en-US" sz="1399">
                <a:solidFill>
                  <a:srgbClr val="ACFDDB"/>
                </a:solidFill>
                <a:latin typeface="Open Sans"/>
                <a:ea typeface="Open Sans"/>
                <a:cs typeface="Open Sans"/>
                <a:sym typeface="Open Sans"/>
              </a:rPr>
              <a:t>Linux</a:t>
            </a:r>
            <a:r>
              <a:rPr lang="en-US" sz="1399">
                <a:solidFill>
                  <a:srgbClr val="FFFFFF"/>
                </a:solidFill>
                <a:latin typeface="Open Sans"/>
                <a:ea typeface="Open Sans"/>
                <a:cs typeface="Open Sans"/>
                <a:sym typeface="Open Sans"/>
              </a:rPr>
              <a:t>, que es responsable de gestionar el hardware, los procesos, la memoria y la seguridad del sistema. Esta base proporciona una sólida estabilidad y seguridad, que es crucial para un sistema operativo móvil.</a:t>
            </a:r>
          </a:p>
        </p:txBody>
      </p:sp>
      <p:sp>
        <p:nvSpPr>
          <p:cNvPr name="TextBox 12" id="12"/>
          <p:cNvSpPr txBox="true"/>
          <p:nvPr/>
        </p:nvSpPr>
        <p:spPr>
          <a:xfrm rot="0">
            <a:off x="2804989" y="6291520"/>
            <a:ext cx="4391101" cy="403050"/>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Bibliotecas</a:t>
            </a:r>
          </a:p>
        </p:txBody>
      </p:sp>
      <p:sp>
        <p:nvSpPr>
          <p:cNvPr name="TextBox 13" id="13"/>
          <p:cNvSpPr txBox="true"/>
          <p:nvPr/>
        </p:nvSpPr>
        <p:spPr>
          <a:xfrm rot="0">
            <a:off x="2804989" y="6622475"/>
            <a:ext cx="4390796" cy="1790471"/>
          </a:xfrm>
          <a:prstGeom prst="rect">
            <a:avLst/>
          </a:prstGeom>
        </p:spPr>
        <p:txBody>
          <a:bodyPr anchor="t" rtlCol="false" tIns="0" lIns="0" bIns="0" rIns="0">
            <a:spAutoFit/>
          </a:bodyPr>
          <a:lstStyle/>
          <a:p>
            <a:pPr algn="l">
              <a:lnSpc>
                <a:spcPts val="2351"/>
              </a:lnSpc>
            </a:pPr>
            <a:r>
              <a:rPr lang="en-US" sz="1399">
                <a:solidFill>
                  <a:srgbClr val="FFFFFF"/>
                </a:solidFill>
                <a:latin typeface="Open Sans"/>
                <a:ea typeface="Open Sans"/>
                <a:cs typeface="Open Sans"/>
                <a:sym typeface="Open Sans"/>
              </a:rPr>
              <a:t>Android utiliza bibliotecas escritas en C++ y Java, que ofrecen una serie de API (Interfaces de Programación de Aplicaciones) que los desarrolladores pueden utilizar para crear aplicaciones que aprovechen las características del hardware del dispositivo.</a:t>
            </a:r>
          </a:p>
        </p:txBody>
      </p:sp>
      <p:sp>
        <p:nvSpPr>
          <p:cNvPr name="TextBox 14" id="14"/>
          <p:cNvSpPr txBox="true"/>
          <p:nvPr/>
        </p:nvSpPr>
        <p:spPr>
          <a:xfrm rot="0">
            <a:off x="12829784" y="5010779"/>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Herramientas</a:t>
            </a:r>
          </a:p>
        </p:txBody>
      </p:sp>
      <p:sp>
        <p:nvSpPr>
          <p:cNvPr name="TextBox 15" id="15"/>
          <p:cNvSpPr txBox="true"/>
          <p:nvPr/>
        </p:nvSpPr>
        <p:spPr>
          <a:xfrm rot="0">
            <a:off x="12829784" y="5510698"/>
            <a:ext cx="4390939" cy="1297943"/>
          </a:xfrm>
          <a:prstGeom prst="rect">
            <a:avLst/>
          </a:prstGeom>
        </p:spPr>
        <p:txBody>
          <a:bodyPr anchor="t" rtlCol="false" tIns="0" lIns="0" bIns="0" rIns="0">
            <a:spAutoFit/>
          </a:bodyPr>
          <a:lstStyle/>
          <a:p>
            <a:pPr algn="l">
              <a:lnSpc>
                <a:spcPts val="2351"/>
              </a:lnSpc>
            </a:pPr>
            <a:r>
              <a:rPr lang="en-US" sz="1399">
                <a:solidFill>
                  <a:srgbClr val="FFFFFF"/>
                </a:solidFill>
                <a:latin typeface="Open Sans"/>
                <a:ea typeface="Open Sans"/>
                <a:cs typeface="Open Sans"/>
                <a:sym typeface="Open Sans"/>
              </a:rPr>
              <a:t>Android Studio es el entorno de desarrollo integrado (IDE) oficial, y Gradle es el sistema de automatización de compilación utilizado para gestionar las dependencias y el proceso de construcción de aplicaciones.</a:t>
            </a:r>
          </a:p>
        </p:txBody>
      </p:sp>
      <p:sp>
        <p:nvSpPr>
          <p:cNvPr name="TextBox 16" id="16"/>
          <p:cNvSpPr txBox="true"/>
          <p:nvPr/>
        </p:nvSpPr>
        <p:spPr>
          <a:xfrm rot="0">
            <a:off x="12829784" y="6961041"/>
            <a:ext cx="4390939" cy="1050293"/>
          </a:xfrm>
          <a:prstGeom prst="rect">
            <a:avLst/>
          </a:prstGeom>
        </p:spPr>
        <p:txBody>
          <a:bodyPr anchor="t" rtlCol="false" tIns="0" lIns="0" bIns="0" rIns="0">
            <a:spAutoFit/>
          </a:bodyPr>
          <a:lstStyle/>
          <a:p>
            <a:pPr algn="l">
              <a:lnSpc>
                <a:spcPts val="2351"/>
              </a:lnSpc>
            </a:pPr>
            <a:r>
              <a:rPr lang="en-US" sz="1399">
                <a:solidFill>
                  <a:srgbClr val="FFFFFF"/>
                </a:solidFill>
                <a:latin typeface="Open Sans"/>
                <a:ea typeface="Open Sans"/>
                <a:cs typeface="Open Sans"/>
                <a:sym typeface="Open Sans"/>
              </a:rPr>
              <a:t> Kotlin y Java son los principales </a:t>
            </a:r>
            <a:r>
              <a:rPr lang="en-US" sz="1399">
                <a:solidFill>
                  <a:srgbClr val="67D3CD"/>
                </a:solidFill>
                <a:latin typeface="Open Sans"/>
                <a:ea typeface="Open Sans"/>
                <a:cs typeface="Open Sans"/>
                <a:sym typeface="Open Sans"/>
              </a:rPr>
              <a:t>lenguajes </a:t>
            </a:r>
            <a:r>
              <a:rPr lang="en-US" sz="1399">
                <a:solidFill>
                  <a:srgbClr val="FFFFFF"/>
                </a:solidFill>
                <a:latin typeface="Open Sans"/>
                <a:ea typeface="Open Sans"/>
                <a:cs typeface="Open Sans"/>
                <a:sym typeface="Open Sans"/>
              </a:rPr>
              <a:t>de programación utilizados en el desarrollo de aplicaciones para Android. Kotlin, en particular, ha ganado popularidad por su concisión y seguridad.</a:t>
            </a:r>
          </a:p>
        </p:txBody>
      </p:sp>
      <p:grpSp>
        <p:nvGrpSpPr>
          <p:cNvPr name="Group 17" id="17"/>
          <p:cNvGrpSpPr/>
          <p:nvPr/>
        </p:nvGrpSpPr>
        <p:grpSpPr>
          <a:xfrm rot="0">
            <a:off x="1043016" y="3928100"/>
            <a:ext cx="1527172" cy="1527172"/>
            <a:chOff x="0" y="0"/>
            <a:chExt cx="2036229" cy="2036229"/>
          </a:xfrm>
        </p:grpSpPr>
        <p:sp>
          <p:nvSpPr>
            <p:cNvPr name="Freeform 18" id="18"/>
            <p:cNvSpPr/>
            <p:nvPr/>
          </p:nvSpPr>
          <p:spPr>
            <a:xfrm flipH="false" flipV="false" rot="0">
              <a:off x="0" y="0"/>
              <a:ext cx="2036191" cy="2036191"/>
            </a:xfrm>
            <a:custGeom>
              <a:avLst/>
              <a:gdLst/>
              <a:ahLst/>
              <a:cxnLst/>
              <a:rect r="r" b="b" t="t" l="l"/>
              <a:pathLst>
                <a:path h="2036191" w="2036191">
                  <a:moveTo>
                    <a:pt x="0" y="0"/>
                  </a:moveTo>
                  <a:lnTo>
                    <a:pt x="2036191" y="0"/>
                  </a:lnTo>
                  <a:lnTo>
                    <a:pt x="2036191" y="2036191"/>
                  </a:lnTo>
                  <a:lnTo>
                    <a:pt x="0" y="2036191"/>
                  </a:lnTo>
                  <a:lnTo>
                    <a:pt x="0" y="0"/>
                  </a:lnTo>
                  <a:close/>
                </a:path>
              </a:pathLst>
            </a:custGeom>
            <a:blipFill>
              <a:blip r:embed="rId12"/>
              <a:stretch>
                <a:fillRect l="0" t="0" r="-1" b="-1"/>
              </a:stretch>
            </a:blipFill>
          </p:spPr>
        </p:sp>
      </p:grpSp>
      <p:grpSp>
        <p:nvGrpSpPr>
          <p:cNvPr name="Group 19" id="19"/>
          <p:cNvGrpSpPr/>
          <p:nvPr/>
        </p:nvGrpSpPr>
        <p:grpSpPr>
          <a:xfrm rot="0">
            <a:off x="741998" y="6593948"/>
            <a:ext cx="1527172" cy="1527172"/>
            <a:chOff x="0" y="0"/>
            <a:chExt cx="2036229" cy="2036229"/>
          </a:xfrm>
        </p:grpSpPr>
        <p:sp>
          <p:nvSpPr>
            <p:cNvPr name="Freeform 20" id="20"/>
            <p:cNvSpPr/>
            <p:nvPr/>
          </p:nvSpPr>
          <p:spPr>
            <a:xfrm flipH="false" flipV="false" rot="0">
              <a:off x="0" y="0"/>
              <a:ext cx="2036191" cy="2036191"/>
            </a:xfrm>
            <a:custGeom>
              <a:avLst/>
              <a:gdLst/>
              <a:ahLst/>
              <a:cxnLst/>
              <a:rect r="r" b="b" t="t" l="l"/>
              <a:pathLst>
                <a:path h="2036191" w="2036191">
                  <a:moveTo>
                    <a:pt x="0" y="0"/>
                  </a:moveTo>
                  <a:lnTo>
                    <a:pt x="2036191" y="0"/>
                  </a:lnTo>
                  <a:lnTo>
                    <a:pt x="2036191" y="2036191"/>
                  </a:lnTo>
                  <a:lnTo>
                    <a:pt x="0" y="2036191"/>
                  </a:lnTo>
                  <a:lnTo>
                    <a:pt x="0" y="0"/>
                  </a:lnTo>
                  <a:close/>
                </a:path>
              </a:pathLst>
            </a:custGeom>
            <a:blipFill>
              <a:blip r:embed="rId13"/>
              <a:stretch>
                <a:fillRect l="0" t="0" r="-1" b="-1"/>
              </a:stretch>
            </a:blipFill>
          </p:spPr>
        </p:sp>
      </p:grpSp>
      <p:grpSp>
        <p:nvGrpSpPr>
          <p:cNvPr name="Group 21" id="21"/>
          <p:cNvGrpSpPr/>
          <p:nvPr/>
        </p:nvGrpSpPr>
        <p:grpSpPr>
          <a:xfrm rot="0">
            <a:off x="10888942" y="5678776"/>
            <a:ext cx="1723796" cy="1723796"/>
            <a:chOff x="0" y="0"/>
            <a:chExt cx="2298395" cy="2298395"/>
          </a:xfrm>
        </p:grpSpPr>
        <p:sp>
          <p:nvSpPr>
            <p:cNvPr name="Freeform 22" id="22"/>
            <p:cNvSpPr/>
            <p:nvPr/>
          </p:nvSpPr>
          <p:spPr>
            <a:xfrm flipH="false" flipV="false" rot="0">
              <a:off x="0" y="0"/>
              <a:ext cx="2298446" cy="2298446"/>
            </a:xfrm>
            <a:custGeom>
              <a:avLst/>
              <a:gdLst/>
              <a:ahLst/>
              <a:cxnLst/>
              <a:rect r="r" b="b" t="t" l="l"/>
              <a:pathLst>
                <a:path h="2298446" w="2298446">
                  <a:moveTo>
                    <a:pt x="0" y="0"/>
                  </a:moveTo>
                  <a:lnTo>
                    <a:pt x="2298446" y="0"/>
                  </a:lnTo>
                  <a:lnTo>
                    <a:pt x="2298446" y="2298446"/>
                  </a:lnTo>
                  <a:lnTo>
                    <a:pt x="0" y="2298446"/>
                  </a:lnTo>
                  <a:lnTo>
                    <a:pt x="0" y="0"/>
                  </a:lnTo>
                  <a:close/>
                </a:path>
              </a:pathLst>
            </a:custGeom>
            <a:blipFill>
              <a:blip r:embed="rId14"/>
              <a:stretch>
                <a:fillRect l="0" t="0" r="2" b="2"/>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9107834" y="1812827"/>
            <a:ext cx="8826456" cy="1878530"/>
          </a:xfrm>
          <a:custGeom>
            <a:avLst/>
            <a:gdLst/>
            <a:ahLst/>
            <a:cxnLst/>
            <a:rect r="r" b="b" t="t" l="l"/>
            <a:pathLst>
              <a:path h="1878530" w="8826456">
                <a:moveTo>
                  <a:pt x="0" y="0"/>
                </a:moveTo>
                <a:lnTo>
                  <a:pt x="8826455" y="0"/>
                </a:lnTo>
                <a:lnTo>
                  <a:pt x="8826455" y="1878530"/>
                </a:lnTo>
                <a:lnTo>
                  <a:pt x="0" y="18785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06859" y="3391176"/>
            <a:ext cx="7463276" cy="2420283"/>
          </a:xfrm>
          <a:custGeom>
            <a:avLst/>
            <a:gdLst/>
            <a:ahLst/>
            <a:cxnLst/>
            <a:rect r="r" b="b" t="t" l="l"/>
            <a:pathLst>
              <a:path h="2420283" w="7463276">
                <a:moveTo>
                  <a:pt x="0" y="0"/>
                </a:moveTo>
                <a:lnTo>
                  <a:pt x="7463276" y="0"/>
                </a:lnTo>
                <a:lnTo>
                  <a:pt x="7463276" y="2420284"/>
                </a:lnTo>
                <a:lnTo>
                  <a:pt x="0" y="24202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876300"/>
            <a:ext cx="8696211" cy="1670047"/>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SISTEMA OPERATIVO MÓVIL (</a:t>
            </a:r>
            <a:r>
              <a:rPr lang="en-US" sz="4999">
                <a:solidFill>
                  <a:srgbClr val="ACFDDB"/>
                </a:solidFill>
                <a:latin typeface="Arial"/>
                <a:ea typeface="Arial"/>
                <a:cs typeface="Arial"/>
                <a:sym typeface="Arial"/>
              </a:rPr>
              <a:t>IOS</a:t>
            </a:r>
            <a:r>
              <a:rPr lang="en-US" sz="4999">
                <a:solidFill>
                  <a:srgbClr val="FFFFFF"/>
                </a:solidFill>
                <a:latin typeface="Arial"/>
                <a:ea typeface="Arial"/>
                <a:cs typeface="Arial"/>
                <a:sym typeface="Arial"/>
              </a:rPr>
              <a:t>)</a:t>
            </a:r>
          </a:p>
        </p:txBody>
      </p:sp>
      <p:sp>
        <p:nvSpPr>
          <p:cNvPr name="TextBox 5" id="5"/>
          <p:cNvSpPr txBox="true"/>
          <p:nvPr/>
        </p:nvSpPr>
        <p:spPr>
          <a:xfrm rot="0">
            <a:off x="9335033" y="2068097"/>
            <a:ext cx="8208121" cy="1280798"/>
          </a:xfrm>
          <a:prstGeom prst="rect">
            <a:avLst/>
          </a:prstGeom>
        </p:spPr>
        <p:txBody>
          <a:bodyPr anchor="t" rtlCol="false" tIns="0" lIns="0" bIns="0" rIns="0">
            <a:spAutoFit/>
          </a:bodyPr>
          <a:lstStyle/>
          <a:p>
            <a:pPr algn="just">
              <a:lnSpc>
                <a:spcPts val="2964"/>
              </a:lnSpc>
            </a:pPr>
            <a:r>
              <a:rPr lang="en-US" sz="1900">
                <a:solidFill>
                  <a:srgbClr val="FFFFFF"/>
                </a:solidFill>
                <a:latin typeface="Montserrat"/>
                <a:ea typeface="Montserrat"/>
                <a:cs typeface="Montserrat"/>
                <a:sym typeface="Montserrat"/>
              </a:rPr>
              <a:t>IOS fue introducido en 2007 con el lanzamiento del iPhone, desarrollado por </a:t>
            </a:r>
            <a:r>
              <a:rPr lang="en-US" sz="1900">
                <a:solidFill>
                  <a:srgbClr val="ACFDDB"/>
                </a:solidFill>
                <a:latin typeface="Montserrat"/>
                <a:ea typeface="Montserrat"/>
                <a:cs typeface="Montserrat"/>
                <a:sym typeface="Montserrat"/>
              </a:rPr>
              <a:t>Apple</a:t>
            </a:r>
            <a:r>
              <a:rPr lang="en-US" sz="1900">
                <a:solidFill>
                  <a:srgbClr val="FFFFFF"/>
                </a:solidFill>
                <a:latin typeface="Montserrat"/>
                <a:ea typeface="Montserrat"/>
                <a:cs typeface="Montserrat"/>
                <a:sym typeface="Montserrat"/>
              </a:rPr>
              <a:t>. Desde entonces, ha evolucionado para convertirse en un sistema operativo potente y muy optimizado para dispositivos móviles, como iPhone y iPad.</a:t>
            </a:r>
          </a:p>
        </p:txBody>
      </p:sp>
      <p:sp>
        <p:nvSpPr>
          <p:cNvPr name="TextBox 6" id="6"/>
          <p:cNvSpPr txBox="true"/>
          <p:nvPr/>
        </p:nvSpPr>
        <p:spPr>
          <a:xfrm rot="0">
            <a:off x="2862291" y="3898373"/>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KERNEL</a:t>
            </a:r>
          </a:p>
        </p:txBody>
      </p:sp>
      <p:sp>
        <p:nvSpPr>
          <p:cNvPr name="TextBox 7" id="7"/>
          <p:cNvSpPr txBox="true"/>
          <p:nvPr/>
        </p:nvSpPr>
        <p:spPr>
          <a:xfrm rot="0">
            <a:off x="2862291" y="4398283"/>
            <a:ext cx="4390939" cy="11239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El núcleo de iOS es XNU, que combina elementos del sistema operativo </a:t>
            </a:r>
            <a:r>
              <a:rPr lang="en-US" sz="1500">
                <a:solidFill>
                  <a:srgbClr val="ACFDDB"/>
                </a:solidFill>
                <a:latin typeface="Open Sans"/>
                <a:ea typeface="Open Sans"/>
                <a:cs typeface="Open Sans"/>
                <a:sym typeface="Open Sans"/>
              </a:rPr>
              <a:t>Mach </a:t>
            </a:r>
            <a:r>
              <a:rPr lang="en-US" sz="1500">
                <a:solidFill>
                  <a:srgbClr val="FFFFFF"/>
                </a:solidFill>
                <a:latin typeface="Open Sans"/>
                <a:ea typeface="Open Sans"/>
                <a:cs typeface="Open Sans"/>
                <a:sym typeface="Open Sans"/>
              </a:rPr>
              <a:t>y del sistema BSD. Esto le proporciona un alto rendimiento y una sólida seguridad.</a:t>
            </a:r>
          </a:p>
        </p:txBody>
      </p:sp>
      <p:sp>
        <p:nvSpPr>
          <p:cNvPr name="Freeform 8" id="8"/>
          <p:cNvSpPr/>
          <p:nvPr/>
        </p:nvSpPr>
        <p:spPr>
          <a:xfrm flipH="false" flipV="false" rot="0">
            <a:off x="1216866" y="6151140"/>
            <a:ext cx="7253268" cy="2420283"/>
          </a:xfrm>
          <a:custGeom>
            <a:avLst/>
            <a:gdLst/>
            <a:ahLst/>
            <a:cxnLst/>
            <a:rect r="r" b="b" t="t" l="l"/>
            <a:pathLst>
              <a:path h="2420283" w="7253268">
                <a:moveTo>
                  <a:pt x="0" y="0"/>
                </a:moveTo>
                <a:lnTo>
                  <a:pt x="7253269" y="0"/>
                </a:lnTo>
                <a:lnTo>
                  <a:pt x="7253269" y="2420284"/>
                </a:lnTo>
                <a:lnTo>
                  <a:pt x="0" y="24202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18028" y="6505794"/>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Frameworks</a:t>
            </a:r>
          </a:p>
        </p:txBody>
      </p:sp>
      <p:sp>
        <p:nvSpPr>
          <p:cNvPr name="TextBox 10" id="10"/>
          <p:cNvSpPr txBox="true"/>
          <p:nvPr/>
        </p:nvSpPr>
        <p:spPr>
          <a:xfrm rot="0">
            <a:off x="2808827" y="7007438"/>
            <a:ext cx="5135956" cy="11239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Cocoa Touch es el framework principal que proporciona los componentes necesarios para crear interfaces de usuario y gestionar eventos. Incluye herramientas para crear aplicaciones responsivas y visualmente atractivas.</a:t>
            </a:r>
          </a:p>
        </p:txBody>
      </p:sp>
      <p:sp>
        <p:nvSpPr>
          <p:cNvPr name="Freeform 11" id="11"/>
          <p:cNvSpPr/>
          <p:nvPr/>
        </p:nvSpPr>
        <p:spPr>
          <a:xfrm flipH="false" flipV="false" rot="0">
            <a:off x="9920164" y="4119724"/>
            <a:ext cx="7554144" cy="3767042"/>
          </a:xfrm>
          <a:custGeom>
            <a:avLst/>
            <a:gdLst/>
            <a:ahLst/>
            <a:cxnLst/>
            <a:rect r="r" b="b" t="t" l="l"/>
            <a:pathLst>
              <a:path h="3767042" w="7554144">
                <a:moveTo>
                  <a:pt x="0" y="0"/>
                </a:moveTo>
                <a:lnTo>
                  <a:pt x="7554144" y="0"/>
                </a:lnTo>
                <a:lnTo>
                  <a:pt x="7554144" y="3767043"/>
                </a:lnTo>
                <a:lnTo>
                  <a:pt x="0" y="37670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1521326" y="4474378"/>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Herramientas y lenguajes</a:t>
            </a:r>
          </a:p>
        </p:txBody>
      </p:sp>
      <p:sp>
        <p:nvSpPr>
          <p:cNvPr name="TextBox 13" id="13"/>
          <p:cNvSpPr txBox="true"/>
          <p:nvPr/>
        </p:nvSpPr>
        <p:spPr>
          <a:xfrm rot="0">
            <a:off x="10949997" y="5048250"/>
            <a:ext cx="6309303" cy="2190750"/>
          </a:xfrm>
          <a:prstGeom prst="rect">
            <a:avLst/>
          </a:prstGeom>
        </p:spPr>
        <p:txBody>
          <a:bodyPr anchor="t" rtlCol="false" tIns="0" lIns="0" bIns="0" rIns="0">
            <a:spAutoFit/>
          </a:bodyPr>
          <a:lstStyle/>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Xcode </a:t>
            </a:r>
            <a:r>
              <a:rPr lang="en-US" sz="1500">
                <a:solidFill>
                  <a:srgbClr val="FFFFFF"/>
                </a:solidFill>
                <a:latin typeface="Open Sans"/>
                <a:ea typeface="Open Sans"/>
                <a:cs typeface="Open Sans"/>
                <a:sym typeface="Open Sans"/>
              </a:rPr>
              <a:t>es el IDE utilizado para desarrollar aplicaciones iOS, que incluye un conjunto completo de herramientas para crear, depurar y probar aplicaciones. SwiftUI es un framework que facilita la creación de interfaces de usuario modernas y adaptativas.</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Swift </a:t>
            </a:r>
            <a:r>
              <a:rPr lang="en-US" sz="1500">
                <a:solidFill>
                  <a:srgbClr val="FFFFFF"/>
                </a:solidFill>
                <a:latin typeface="Open Sans"/>
                <a:ea typeface="Open Sans"/>
                <a:cs typeface="Open Sans"/>
                <a:sym typeface="Open Sans"/>
              </a:rPr>
              <a:t>es el lenguaje principal para el desarrollo de aplicaciones en iOS, aunque Objective-C sigue siendo compatible. Swift es conocido por su sintaxis clara y su enfoque en la seguridad.</a:t>
            </a:r>
          </a:p>
          <a:p>
            <a:pPr algn="l" marL="320040" indent="-106680" lvl="2">
              <a:lnSpc>
                <a:spcPts val="2351"/>
              </a:lnSpc>
            </a:pPr>
          </a:p>
        </p:txBody>
      </p:sp>
      <p:grpSp>
        <p:nvGrpSpPr>
          <p:cNvPr name="Group 14" id="14"/>
          <p:cNvGrpSpPr/>
          <p:nvPr/>
        </p:nvGrpSpPr>
        <p:grpSpPr>
          <a:xfrm rot="0">
            <a:off x="1043016" y="3928100"/>
            <a:ext cx="1527172" cy="1527172"/>
            <a:chOff x="0" y="0"/>
            <a:chExt cx="2036229" cy="2036229"/>
          </a:xfrm>
        </p:grpSpPr>
        <p:sp>
          <p:nvSpPr>
            <p:cNvPr name="Freeform 15" id="15"/>
            <p:cNvSpPr/>
            <p:nvPr/>
          </p:nvSpPr>
          <p:spPr>
            <a:xfrm flipH="false" flipV="false" rot="0">
              <a:off x="0" y="0"/>
              <a:ext cx="2036191" cy="2036191"/>
            </a:xfrm>
            <a:custGeom>
              <a:avLst/>
              <a:gdLst/>
              <a:ahLst/>
              <a:cxnLst/>
              <a:rect r="r" b="b" t="t" l="l"/>
              <a:pathLst>
                <a:path h="2036191" w="2036191">
                  <a:moveTo>
                    <a:pt x="0" y="0"/>
                  </a:moveTo>
                  <a:lnTo>
                    <a:pt x="2036191" y="0"/>
                  </a:lnTo>
                  <a:lnTo>
                    <a:pt x="2036191" y="2036191"/>
                  </a:lnTo>
                  <a:lnTo>
                    <a:pt x="0" y="2036191"/>
                  </a:lnTo>
                  <a:lnTo>
                    <a:pt x="0" y="0"/>
                  </a:lnTo>
                  <a:close/>
                </a:path>
              </a:pathLst>
            </a:custGeom>
            <a:blipFill>
              <a:blip r:embed="rId11"/>
              <a:stretch>
                <a:fillRect l="0" t="0" r="-1" b="-1"/>
              </a:stretch>
            </a:blipFill>
          </p:spPr>
        </p:sp>
      </p:grpSp>
      <p:grpSp>
        <p:nvGrpSpPr>
          <p:cNvPr name="Group 16" id="16"/>
          <p:cNvGrpSpPr/>
          <p:nvPr/>
        </p:nvGrpSpPr>
        <p:grpSpPr>
          <a:xfrm rot="0">
            <a:off x="741998" y="6593948"/>
            <a:ext cx="1527172" cy="1527172"/>
            <a:chOff x="0" y="0"/>
            <a:chExt cx="2036229" cy="2036229"/>
          </a:xfrm>
        </p:grpSpPr>
        <p:sp>
          <p:nvSpPr>
            <p:cNvPr name="Freeform 17" id="17"/>
            <p:cNvSpPr/>
            <p:nvPr/>
          </p:nvSpPr>
          <p:spPr>
            <a:xfrm flipH="false" flipV="false" rot="0">
              <a:off x="0" y="0"/>
              <a:ext cx="2036191" cy="2036191"/>
            </a:xfrm>
            <a:custGeom>
              <a:avLst/>
              <a:gdLst/>
              <a:ahLst/>
              <a:cxnLst/>
              <a:rect r="r" b="b" t="t" l="l"/>
              <a:pathLst>
                <a:path h="2036191" w="2036191">
                  <a:moveTo>
                    <a:pt x="0" y="0"/>
                  </a:moveTo>
                  <a:lnTo>
                    <a:pt x="2036191" y="0"/>
                  </a:lnTo>
                  <a:lnTo>
                    <a:pt x="2036191" y="2036191"/>
                  </a:lnTo>
                  <a:lnTo>
                    <a:pt x="0" y="2036191"/>
                  </a:lnTo>
                  <a:lnTo>
                    <a:pt x="0" y="0"/>
                  </a:lnTo>
                  <a:close/>
                </a:path>
              </a:pathLst>
            </a:custGeom>
            <a:blipFill>
              <a:blip r:embed="rId12"/>
              <a:stretch>
                <a:fillRect l="0" t="0" r="-1" b="-1"/>
              </a:stretch>
            </a:blipFill>
          </p:spPr>
        </p:sp>
      </p:grpSp>
      <p:grpSp>
        <p:nvGrpSpPr>
          <p:cNvPr name="Group 18" id="18"/>
          <p:cNvGrpSpPr/>
          <p:nvPr/>
        </p:nvGrpSpPr>
        <p:grpSpPr>
          <a:xfrm rot="0">
            <a:off x="9144000" y="5123278"/>
            <a:ext cx="1723796" cy="1723796"/>
            <a:chOff x="0" y="0"/>
            <a:chExt cx="2298395" cy="2298395"/>
          </a:xfrm>
        </p:grpSpPr>
        <p:sp>
          <p:nvSpPr>
            <p:cNvPr name="Freeform 19" id="19"/>
            <p:cNvSpPr/>
            <p:nvPr/>
          </p:nvSpPr>
          <p:spPr>
            <a:xfrm flipH="false" flipV="false" rot="0">
              <a:off x="0" y="0"/>
              <a:ext cx="2298446" cy="2298446"/>
            </a:xfrm>
            <a:custGeom>
              <a:avLst/>
              <a:gdLst/>
              <a:ahLst/>
              <a:cxnLst/>
              <a:rect r="r" b="b" t="t" l="l"/>
              <a:pathLst>
                <a:path h="2298446" w="2298446">
                  <a:moveTo>
                    <a:pt x="0" y="0"/>
                  </a:moveTo>
                  <a:lnTo>
                    <a:pt x="2298446" y="0"/>
                  </a:lnTo>
                  <a:lnTo>
                    <a:pt x="2298446" y="2298446"/>
                  </a:lnTo>
                  <a:lnTo>
                    <a:pt x="0" y="2298446"/>
                  </a:lnTo>
                  <a:lnTo>
                    <a:pt x="0" y="0"/>
                  </a:lnTo>
                  <a:close/>
                </a:path>
              </a:pathLst>
            </a:custGeom>
            <a:blipFill>
              <a:blip r:embed="rId13"/>
              <a:stretch>
                <a:fillRect l="0" t="0" r="2" b="2"/>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790961"/>
            <a:ext cx="7126224" cy="3689575"/>
          </a:xfrm>
          <a:custGeom>
            <a:avLst/>
            <a:gdLst/>
            <a:ahLst/>
            <a:cxnLst/>
            <a:rect r="r" b="b" t="t" l="l"/>
            <a:pathLst>
              <a:path h="3689575" w="7126224">
                <a:moveTo>
                  <a:pt x="0" y="0"/>
                </a:moveTo>
                <a:lnTo>
                  <a:pt x="7126224" y="0"/>
                </a:lnTo>
                <a:lnTo>
                  <a:pt x="7126224" y="3689575"/>
                </a:lnTo>
                <a:lnTo>
                  <a:pt x="0" y="3689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1063478" y="3267637"/>
            <a:ext cx="1136523" cy="1136523"/>
          </a:xfrm>
          <a:custGeom>
            <a:avLst/>
            <a:gdLst/>
            <a:ahLst/>
            <a:cxnLst/>
            <a:rect r="r" b="b" t="t" l="l"/>
            <a:pathLst>
              <a:path h="1136523" w="1136523">
                <a:moveTo>
                  <a:pt x="0" y="0"/>
                </a:moveTo>
                <a:lnTo>
                  <a:pt x="1136523" y="0"/>
                </a:lnTo>
                <a:lnTo>
                  <a:pt x="1136523" y="1136523"/>
                </a:lnTo>
                <a:lnTo>
                  <a:pt x="0" y="1136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1064383" y="5448367"/>
            <a:ext cx="1136523" cy="1136523"/>
          </a:xfrm>
          <a:custGeom>
            <a:avLst/>
            <a:gdLst/>
            <a:ahLst/>
            <a:cxnLst/>
            <a:rect r="r" b="b" t="t" l="l"/>
            <a:pathLst>
              <a:path h="1136523" w="1136523">
                <a:moveTo>
                  <a:pt x="0" y="0"/>
                </a:moveTo>
                <a:lnTo>
                  <a:pt x="1136523" y="0"/>
                </a:lnTo>
                <a:lnTo>
                  <a:pt x="1136523" y="1136523"/>
                </a:lnTo>
                <a:lnTo>
                  <a:pt x="0" y="11365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1063478" y="7884995"/>
            <a:ext cx="1136523" cy="1136523"/>
          </a:xfrm>
          <a:custGeom>
            <a:avLst/>
            <a:gdLst/>
            <a:ahLst/>
            <a:cxnLst/>
            <a:rect r="r" b="b" t="t" l="l"/>
            <a:pathLst>
              <a:path h="1136523" w="1136523">
                <a:moveTo>
                  <a:pt x="0" y="0"/>
                </a:moveTo>
                <a:lnTo>
                  <a:pt x="1136523" y="0"/>
                </a:lnTo>
                <a:lnTo>
                  <a:pt x="1136523" y="1136523"/>
                </a:lnTo>
                <a:lnTo>
                  <a:pt x="0" y="11365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5400000">
            <a:off x="5815489" y="5184057"/>
            <a:ext cx="7230104" cy="2801664"/>
            <a:chOff x="0" y="0"/>
            <a:chExt cx="9640138" cy="3735553"/>
          </a:xfrm>
        </p:grpSpPr>
        <p:sp>
          <p:nvSpPr>
            <p:cNvPr name="Freeform 7" id="7"/>
            <p:cNvSpPr/>
            <p:nvPr/>
          </p:nvSpPr>
          <p:spPr>
            <a:xfrm flipH="false" flipV="false" rot="0">
              <a:off x="0" y="0"/>
              <a:ext cx="9640189" cy="3735578"/>
            </a:xfrm>
            <a:custGeom>
              <a:avLst/>
              <a:gdLst/>
              <a:ahLst/>
              <a:cxnLst/>
              <a:rect r="r" b="b" t="t" l="l"/>
              <a:pathLst>
                <a:path h="3735578" w="9640189">
                  <a:moveTo>
                    <a:pt x="0" y="0"/>
                  </a:moveTo>
                  <a:lnTo>
                    <a:pt x="9640189" y="0"/>
                  </a:lnTo>
                  <a:lnTo>
                    <a:pt x="9640189" y="3735578"/>
                  </a:lnTo>
                  <a:lnTo>
                    <a:pt x="0" y="3735578"/>
                  </a:lnTo>
                  <a:lnTo>
                    <a:pt x="0" y="0"/>
                  </a:lnTo>
                  <a:close/>
                </a:path>
              </a:pathLst>
            </a:custGeom>
            <a:blipFill>
              <a:blip r:embed="rId11"/>
              <a:stretch>
                <a:fillRect l="0" t="0" r="0" b="0"/>
              </a:stretch>
            </a:blipFill>
          </p:spPr>
        </p:sp>
      </p:grpSp>
      <p:sp>
        <p:nvSpPr>
          <p:cNvPr name="TextBox 8" id="8"/>
          <p:cNvSpPr txBox="true"/>
          <p:nvPr/>
        </p:nvSpPr>
        <p:spPr>
          <a:xfrm rot="0">
            <a:off x="1028700" y="757504"/>
            <a:ext cx="16230600" cy="1670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SISTEMAS OPERATIVOS INTEGRADOS (</a:t>
            </a:r>
            <a:r>
              <a:rPr lang="en-US" sz="4999">
                <a:solidFill>
                  <a:srgbClr val="ACFDDB"/>
                </a:solidFill>
                <a:latin typeface="Arial"/>
                <a:ea typeface="Arial"/>
                <a:cs typeface="Arial"/>
                <a:sym typeface="Arial"/>
              </a:rPr>
              <a:t>FREERTOS</a:t>
            </a:r>
            <a:r>
              <a:rPr lang="en-US" sz="4999">
                <a:solidFill>
                  <a:srgbClr val="FFFFFF"/>
                </a:solidFill>
                <a:latin typeface="Arial"/>
                <a:ea typeface="Arial"/>
                <a:cs typeface="Arial"/>
                <a:sym typeface="Arial"/>
              </a:rPr>
              <a:t>)</a:t>
            </a:r>
          </a:p>
        </p:txBody>
      </p:sp>
      <p:sp>
        <p:nvSpPr>
          <p:cNvPr name="TextBox 9" id="9"/>
          <p:cNvSpPr txBox="true"/>
          <p:nvPr/>
        </p:nvSpPr>
        <p:spPr>
          <a:xfrm rot="0">
            <a:off x="1519266" y="5903109"/>
            <a:ext cx="6019552" cy="198818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FreeRTOS es un sistema operativo de tiempo real (RTOS) de código abierto, diseñado específicamente para microcontroladores y microprocesadores. Su propósito es proporcionar un entorno eficiente y flexible para aplicaciones que requieren un comportamiento en tiempo real, donde los plazos y la respuesta rápida son críticos.</a:t>
            </a:r>
          </a:p>
        </p:txBody>
      </p:sp>
      <p:sp>
        <p:nvSpPr>
          <p:cNvPr name="TextBox 10" id="10"/>
          <p:cNvSpPr txBox="true"/>
          <p:nvPr/>
        </p:nvSpPr>
        <p:spPr>
          <a:xfrm rot="0">
            <a:off x="1519266" y="5244846"/>
            <a:ext cx="5701798" cy="318754"/>
          </a:xfrm>
          <a:prstGeom prst="rect">
            <a:avLst/>
          </a:prstGeom>
        </p:spPr>
        <p:txBody>
          <a:bodyPr anchor="t" rtlCol="false" tIns="0" lIns="0" bIns="0" rIns="0">
            <a:spAutoFit/>
          </a:bodyPr>
          <a:lstStyle/>
          <a:p>
            <a:pPr algn="l">
              <a:lnSpc>
                <a:spcPts val="2652"/>
              </a:lnSpc>
            </a:pPr>
            <a:r>
              <a:rPr lang="en-US" b="true" sz="1700">
                <a:solidFill>
                  <a:srgbClr val="5CD9C1"/>
                </a:solidFill>
                <a:latin typeface="Montserrat Bold"/>
                <a:ea typeface="Montserrat Bold"/>
                <a:cs typeface="Montserrat Bold"/>
                <a:sym typeface="Montserrat Bold"/>
              </a:rPr>
              <a:t>Descripción general</a:t>
            </a:r>
          </a:p>
        </p:txBody>
      </p:sp>
      <p:sp>
        <p:nvSpPr>
          <p:cNvPr name="TextBox 11" id="11"/>
          <p:cNvSpPr txBox="true"/>
          <p:nvPr/>
        </p:nvSpPr>
        <p:spPr>
          <a:xfrm rot="0">
            <a:off x="12335866" y="3431543"/>
            <a:ext cx="5410562" cy="171195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Admite la ejecución de múltiples tareas con diferentes niveles de prioridad. Esto permite que las tareas críticas sean procesadas en tiempo real, garantizando que los sistemas reaccionen rápidamente a eventos importantes sin retrasos.</a:t>
            </a:r>
          </a:p>
        </p:txBody>
      </p:sp>
      <p:sp>
        <p:nvSpPr>
          <p:cNvPr name="TextBox 12" id="12"/>
          <p:cNvSpPr txBox="true"/>
          <p:nvPr/>
        </p:nvSpPr>
        <p:spPr>
          <a:xfrm rot="0">
            <a:off x="12335866" y="3099987"/>
            <a:ext cx="4923434" cy="358140"/>
          </a:xfrm>
          <a:prstGeom prst="rect">
            <a:avLst/>
          </a:prstGeom>
        </p:spPr>
        <p:txBody>
          <a:bodyPr anchor="t" rtlCol="false" tIns="0" lIns="0" bIns="0" rIns="0">
            <a:spAutoFit/>
          </a:bodyPr>
          <a:lstStyle/>
          <a:p>
            <a:pPr algn="l">
              <a:lnSpc>
                <a:spcPts val="2808"/>
              </a:lnSpc>
            </a:pPr>
            <a:r>
              <a:rPr lang="en-US" b="true" sz="1800">
                <a:solidFill>
                  <a:srgbClr val="FFFFFF"/>
                </a:solidFill>
                <a:latin typeface="Montserrat Bold"/>
                <a:ea typeface="Montserrat Bold"/>
                <a:cs typeface="Montserrat Bold"/>
                <a:sym typeface="Montserrat Bold"/>
              </a:rPr>
              <a:t>MULTITAREA</a:t>
            </a:r>
          </a:p>
        </p:txBody>
      </p:sp>
      <p:sp>
        <p:nvSpPr>
          <p:cNvPr name="TextBox 13" id="13"/>
          <p:cNvSpPr txBox="true"/>
          <p:nvPr/>
        </p:nvSpPr>
        <p:spPr>
          <a:xfrm rot="0">
            <a:off x="11063478" y="3210477"/>
            <a:ext cx="1136523" cy="1003202"/>
          </a:xfrm>
          <a:prstGeom prst="rect">
            <a:avLst/>
          </a:prstGeom>
        </p:spPr>
        <p:txBody>
          <a:bodyPr anchor="t" rtlCol="false" tIns="0" lIns="0" bIns="0" rIns="0">
            <a:spAutoFit/>
          </a:bodyPr>
          <a:lstStyle/>
          <a:p>
            <a:pPr algn="ctr">
              <a:lnSpc>
                <a:spcPts val="7799"/>
              </a:lnSpc>
            </a:pPr>
            <a:r>
              <a:rPr lang="en-US" b="true" sz="4999">
                <a:solidFill>
                  <a:srgbClr val="FFFFFF"/>
                </a:solidFill>
                <a:latin typeface="Arial Bold"/>
                <a:ea typeface="Arial Bold"/>
                <a:cs typeface="Arial Bold"/>
                <a:sym typeface="Arial Bold"/>
              </a:rPr>
              <a:t>01</a:t>
            </a:r>
          </a:p>
        </p:txBody>
      </p:sp>
      <p:sp>
        <p:nvSpPr>
          <p:cNvPr name="TextBox 14" id="14"/>
          <p:cNvSpPr txBox="true"/>
          <p:nvPr/>
        </p:nvSpPr>
        <p:spPr>
          <a:xfrm rot="0">
            <a:off x="11064383" y="5391207"/>
            <a:ext cx="1136523" cy="1003202"/>
          </a:xfrm>
          <a:prstGeom prst="rect">
            <a:avLst/>
          </a:prstGeom>
        </p:spPr>
        <p:txBody>
          <a:bodyPr anchor="t" rtlCol="false" tIns="0" lIns="0" bIns="0" rIns="0">
            <a:spAutoFit/>
          </a:bodyPr>
          <a:lstStyle/>
          <a:p>
            <a:pPr algn="ctr">
              <a:lnSpc>
                <a:spcPts val="7799"/>
              </a:lnSpc>
            </a:pPr>
            <a:r>
              <a:rPr lang="en-US" b="true" sz="4999">
                <a:solidFill>
                  <a:srgbClr val="FFFFFF"/>
                </a:solidFill>
                <a:latin typeface="Arial Bold"/>
                <a:ea typeface="Arial Bold"/>
                <a:cs typeface="Arial Bold"/>
                <a:sym typeface="Arial Bold"/>
              </a:rPr>
              <a:t>02</a:t>
            </a:r>
          </a:p>
        </p:txBody>
      </p:sp>
      <p:sp>
        <p:nvSpPr>
          <p:cNvPr name="TextBox 15" id="15"/>
          <p:cNvSpPr txBox="true"/>
          <p:nvPr/>
        </p:nvSpPr>
        <p:spPr>
          <a:xfrm rot="0">
            <a:off x="11063478" y="7832055"/>
            <a:ext cx="1136523" cy="1003202"/>
          </a:xfrm>
          <a:prstGeom prst="rect">
            <a:avLst/>
          </a:prstGeom>
        </p:spPr>
        <p:txBody>
          <a:bodyPr anchor="t" rtlCol="false" tIns="0" lIns="0" bIns="0" rIns="0">
            <a:spAutoFit/>
          </a:bodyPr>
          <a:lstStyle/>
          <a:p>
            <a:pPr algn="ctr">
              <a:lnSpc>
                <a:spcPts val="7799"/>
              </a:lnSpc>
            </a:pPr>
            <a:r>
              <a:rPr lang="en-US" b="true" sz="4999">
                <a:solidFill>
                  <a:srgbClr val="FFFFFF"/>
                </a:solidFill>
                <a:latin typeface="Arial Bold"/>
                <a:ea typeface="Arial Bold"/>
                <a:cs typeface="Arial Bold"/>
                <a:sym typeface="Arial Bold"/>
              </a:rPr>
              <a:t>03</a:t>
            </a:r>
          </a:p>
        </p:txBody>
      </p:sp>
      <p:sp>
        <p:nvSpPr>
          <p:cNvPr name="TextBox 16" id="16"/>
          <p:cNvSpPr txBox="true"/>
          <p:nvPr/>
        </p:nvSpPr>
        <p:spPr>
          <a:xfrm rot="0">
            <a:off x="12336770" y="5483666"/>
            <a:ext cx="4923434" cy="358140"/>
          </a:xfrm>
          <a:prstGeom prst="rect">
            <a:avLst/>
          </a:prstGeom>
        </p:spPr>
        <p:txBody>
          <a:bodyPr anchor="t" rtlCol="false" tIns="0" lIns="0" bIns="0" rIns="0">
            <a:spAutoFit/>
          </a:bodyPr>
          <a:lstStyle/>
          <a:p>
            <a:pPr algn="l">
              <a:lnSpc>
                <a:spcPts val="2808"/>
              </a:lnSpc>
            </a:pPr>
            <a:r>
              <a:rPr lang="en-US" b="true" sz="1800">
                <a:solidFill>
                  <a:srgbClr val="FFFFFF"/>
                </a:solidFill>
                <a:latin typeface="Montserrat Bold"/>
                <a:ea typeface="Montserrat Bold"/>
                <a:cs typeface="Montserrat Bold"/>
                <a:sym typeface="Montserrat Bold"/>
              </a:rPr>
              <a:t>GESTION DE RECURSOS</a:t>
            </a:r>
          </a:p>
        </p:txBody>
      </p:sp>
      <p:sp>
        <p:nvSpPr>
          <p:cNvPr name="TextBox 17" id="17"/>
          <p:cNvSpPr txBox="true"/>
          <p:nvPr/>
        </p:nvSpPr>
        <p:spPr>
          <a:xfrm rot="0">
            <a:off x="12335866" y="7920285"/>
            <a:ext cx="4923434" cy="358140"/>
          </a:xfrm>
          <a:prstGeom prst="rect">
            <a:avLst/>
          </a:prstGeom>
        </p:spPr>
        <p:txBody>
          <a:bodyPr anchor="t" rtlCol="false" tIns="0" lIns="0" bIns="0" rIns="0">
            <a:spAutoFit/>
          </a:bodyPr>
          <a:lstStyle/>
          <a:p>
            <a:pPr algn="l">
              <a:lnSpc>
                <a:spcPts val="2808"/>
              </a:lnSpc>
            </a:pPr>
            <a:r>
              <a:rPr lang="en-US" b="true" sz="1800">
                <a:solidFill>
                  <a:srgbClr val="FFFFFF"/>
                </a:solidFill>
                <a:latin typeface="Montserrat Bold"/>
                <a:ea typeface="Montserrat Bold"/>
                <a:cs typeface="Montserrat Bold"/>
                <a:sym typeface="Montserrat Bold"/>
              </a:rPr>
              <a:t>ESCALABILIDAD</a:t>
            </a:r>
          </a:p>
        </p:txBody>
      </p:sp>
      <p:sp>
        <p:nvSpPr>
          <p:cNvPr name="TextBox 18" id="18"/>
          <p:cNvSpPr txBox="true"/>
          <p:nvPr/>
        </p:nvSpPr>
        <p:spPr>
          <a:xfrm rot="0">
            <a:off x="12336770" y="6078541"/>
            <a:ext cx="5697103" cy="171195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Gestiona eficientemente los recursos del sistema, incluyendo memoria y mecanismos de sincronización como </a:t>
            </a:r>
            <a:r>
              <a:rPr lang="en-US" sz="1700">
                <a:solidFill>
                  <a:srgbClr val="ACFDDB"/>
                </a:solidFill>
                <a:latin typeface="Montserrat"/>
                <a:ea typeface="Montserrat"/>
                <a:cs typeface="Montserrat"/>
                <a:sym typeface="Montserrat"/>
              </a:rPr>
              <a:t>semáforos </a:t>
            </a:r>
            <a:r>
              <a:rPr lang="en-US" sz="1700">
                <a:solidFill>
                  <a:srgbClr val="FFFFFF"/>
                </a:solidFill>
                <a:latin typeface="Montserrat"/>
                <a:ea typeface="Montserrat"/>
                <a:cs typeface="Montserrat"/>
                <a:sym typeface="Montserrat"/>
              </a:rPr>
              <a:t>y mutexes, que coordinan el acceso a recursos compartidos entre tareas, previniendo condiciones de carrera y asegurando la integridad de los datos.</a:t>
            </a:r>
          </a:p>
        </p:txBody>
      </p:sp>
      <p:sp>
        <p:nvSpPr>
          <p:cNvPr name="TextBox 19" id="19"/>
          <p:cNvSpPr txBox="true"/>
          <p:nvPr/>
        </p:nvSpPr>
        <p:spPr>
          <a:xfrm rot="0">
            <a:off x="12335866" y="8377057"/>
            <a:ext cx="4923434" cy="143573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FreeRTOS es altamente escalable, lo que permite su uso en aplicaciones que van desde sistemas simples con pocas tareas hasta sistemas complejos que gestionan múltiples tareas simultáneas,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992534" y="3062840"/>
            <a:ext cx="7463276" cy="2420283"/>
          </a:xfrm>
          <a:custGeom>
            <a:avLst/>
            <a:gdLst/>
            <a:ahLst/>
            <a:cxnLst/>
            <a:rect r="r" b="b" t="t" l="l"/>
            <a:pathLst>
              <a:path h="2420283" w="7463276">
                <a:moveTo>
                  <a:pt x="0" y="0"/>
                </a:moveTo>
                <a:lnTo>
                  <a:pt x="7463275" y="0"/>
                </a:lnTo>
                <a:lnTo>
                  <a:pt x="7463275"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92534" y="5850398"/>
            <a:ext cx="7463276" cy="2420283"/>
          </a:xfrm>
          <a:custGeom>
            <a:avLst/>
            <a:gdLst/>
            <a:ahLst/>
            <a:cxnLst/>
            <a:rect r="r" b="b" t="t" l="l"/>
            <a:pathLst>
              <a:path h="2420283" w="7463276">
                <a:moveTo>
                  <a:pt x="0" y="0"/>
                </a:moveTo>
                <a:lnTo>
                  <a:pt x="7463275" y="0"/>
                </a:lnTo>
                <a:lnTo>
                  <a:pt x="7463275"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832181" y="3062821"/>
            <a:ext cx="7463323" cy="3839413"/>
          </a:xfrm>
          <a:custGeom>
            <a:avLst/>
            <a:gdLst/>
            <a:ahLst/>
            <a:cxnLst/>
            <a:rect r="r" b="b" t="t" l="l"/>
            <a:pathLst>
              <a:path h="3839413" w="7463323">
                <a:moveTo>
                  <a:pt x="0" y="0"/>
                </a:moveTo>
                <a:lnTo>
                  <a:pt x="7463324" y="0"/>
                </a:lnTo>
                <a:lnTo>
                  <a:pt x="7463324" y="3839413"/>
                </a:lnTo>
                <a:lnTo>
                  <a:pt x="0" y="38394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282264" y="6237532"/>
            <a:ext cx="2194417" cy="1791195"/>
            <a:chOff x="0" y="0"/>
            <a:chExt cx="2925890" cy="2388260"/>
          </a:xfrm>
        </p:grpSpPr>
        <p:sp>
          <p:nvSpPr>
            <p:cNvPr name="Freeform 6" id="6"/>
            <p:cNvSpPr/>
            <p:nvPr/>
          </p:nvSpPr>
          <p:spPr>
            <a:xfrm flipH="false" flipV="false" rot="0">
              <a:off x="0" y="0"/>
              <a:ext cx="2925953" cy="2388235"/>
            </a:xfrm>
            <a:custGeom>
              <a:avLst/>
              <a:gdLst/>
              <a:ahLst/>
              <a:cxnLst/>
              <a:rect r="r" b="b" t="t" l="l"/>
              <a:pathLst>
                <a:path h="2388235" w="2925953">
                  <a:moveTo>
                    <a:pt x="0" y="0"/>
                  </a:moveTo>
                  <a:lnTo>
                    <a:pt x="2925953" y="0"/>
                  </a:lnTo>
                  <a:lnTo>
                    <a:pt x="2925953" y="2388235"/>
                  </a:lnTo>
                  <a:lnTo>
                    <a:pt x="0" y="2388235"/>
                  </a:lnTo>
                  <a:lnTo>
                    <a:pt x="0" y="0"/>
                  </a:lnTo>
                  <a:close/>
                </a:path>
              </a:pathLst>
            </a:custGeom>
            <a:blipFill>
              <a:blip r:embed="rId7"/>
              <a:stretch>
                <a:fillRect l="-38" t="0" r="-36" b="-1"/>
              </a:stretch>
            </a:blipFill>
          </p:spPr>
        </p:sp>
      </p:grpSp>
      <p:sp>
        <p:nvSpPr>
          <p:cNvPr name="TextBox 7" id="7"/>
          <p:cNvSpPr txBox="true"/>
          <p:nvPr/>
        </p:nvSpPr>
        <p:spPr>
          <a:xfrm rot="0">
            <a:off x="1028700" y="876300"/>
            <a:ext cx="16230600" cy="1670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RESTRICCIONES DE </a:t>
            </a:r>
            <a:r>
              <a:rPr lang="en-US" sz="4999">
                <a:solidFill>
                  <a:srgbClr val="ACFDDB"/>
                </a:solidFill>
                <a:latin typeface="Arial"/>
                <a:ea typeface="Arial"/>
                <a:cs typeface="Arial"/>
                <a:sym typeface="Arial"/>
              </a:rPr>
              <a:t>RECURSOS </a:t>
            </a:r>
            <a:r>
              <a:rPr lang="en-US" sz="4999">
                <a:solidFill>
                  <a:srgbClr val="FFFFFF"/>
                </a:solidFill>
                <a:latin typeface="Arial"/>
                <a:ea typeface="Arial"/>
                <a:cs typeface="Arial"/>
                <a:sym typeface="Arial"/>
              </a:rPr>
              <a:t>EN SISTEMAS INTEGRADOS</a:t>
            </a:r>
          </a:p>
        </p:txBody>
      </p:sp>
      <p:sp>
        <p:nvSpPr>
          <p:cNvPr name="TextBox 8" id="8"/>
          <p:cNvSpPr txBox="true"/>
          <p:nvPr/>
        </p:nvSpPr>
        <p:spPr>
          <a:xfrm rot="0">
            <a:off x="11625644" y="3570027"/>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Energía</a:t>
            </a:r>
          </a:p>
        </p:txBody>
      </p:sp>
      <p:sp>
        <p:nvSpPr>
          <p:cNvPr name="TextBox 9" id="9"/>
          <p:cNvSpPr txBox="true"/>
          <p:nvPr/>
        </p:nvSpPr>
        <p:spPr>
          <a:xfrm rot="0">
            <a:off x="11625644" y="4069937"/>
            <a:ext cx="4390958" cy="21907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Muchos sistemas integrados, especialmente en el contexto de dispositivos portátiles o de Internet de las Cosas (IoT), están diseñados para funcionar con bajo consumo de energía. La duración de la batería es un factor crítico, lo que requiere que el diseño del sistema tenga en cuenta la eficiencia energética en cada etapa del desarrollo.</a:t>
            </a:r>
          </a:p>
        </p:txBody>
      </p:sp>
      <p:sp>
        <p:nvSpPr>
          <p:cNvPr name="TextBox 10" id="10"/>
          <p:cNvSpPr txBox="true"/>
          <p:nvPr/>
        </p:nvSpPr>
        <p:spPr>
          <a:xfrm rot="0">
            <a:off x="2847965" y="3386452"/>
            <a:ext cx="4390958"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Memoria</a:t>
            </a:r>
          </a:p>
        </p:txBody>
      </p:sp>
      <p:sp>
        <p:nvSpPr>
          <p:cNvPr name="TextBox 11" id="11"/>
          <p:cNvSpPr txBox="true"/>
          <p:nvPr/>
        </p:nvSpPr>
        <p:spPr>
          <a:xfrm rot="0">
            <a:off x="2847965" y="3886371"/>
            <a:ext cx="4992700" cy="13906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Suelen contar con capacidad limitada de RAM, que a menudo se mide en kilobytes o pocos megabytes. Esto obliga a los desarrolladores a optimizar el uso de memoria, evitando la carga innecesaria de datos y limitando el tamaño de las aplicaciones.</a:t>
            </a:r>
          </a:p>
        </p:txBody>
      </p:sp>
      <p:sp>
        <p:nvSpPr>
          <p:cNvPr name="TextBox 12" id="12"/>
          <p:cNvSpPr txBox="true"/>
          <p:nvPr/>
        </p:nvSpPr>
        <p:spPr>
          <a:xfrm rot="0">
            <a:off x="2847965" y="6357585"/>
            <a:ext cx="4992700" cy="444503"/>
          </a:xfrm>
          <a:prstGeom prst="rect">
            <a:avLst/>
          </a:prstGeom>
        </p:spPr>
        <p:txBody>
          <a:bodyPr anchor="t" rtlCol="false" tIns="0" lIns="0" bIns="0" rIns="0">
            <a:spAutoFit/>
          </a:bodyPr>
          <a:lstStyle/>
          <a:p>
            <a:pPr algn="l">
              <a:lnSpc>
                <a:spcPts val="3360"/>
              </a:lnSpc>
            </a:pPr>
            <a:r>
              <a:rPr lang="en-US" sz="2000">
                <a:solidFill>
                  <a:srgbClr val="FFFFFF"/>
                </a:solidFill>
                <a:latin typeface="Open Sans"/>
                <a:ea typeface="Open Sans"/>
                <a:cs typeface="Open Sans"/>
                <a:sym typeface="Open Sans"/>
              </a:rPr>
              <a:t>CPU</a:t>
            </a:r>
          </a:p>
        </p:txBody>
      </p:sp>
      <p:sp>
        <p:nvSpPr>
          <p:cNvPr name="TextBox 13" id="13"/>
          <p:cNvSpPr txBox="true"/>
          <p:nvPr/>
        </p:nvSpPr>
        <p:spPr>
          <a:xfrm rot="0">
            <a:off x="2847965" y="6857505"/>
            <a:ext cx="4390939" cy="11239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 Suelen utilizar microcontroladores que tienen capacidades de procesamiento reducidas, lo que se traduce en frecuencias de reloj más bajas y arquitecturas simplificadas.</a:t>
            </a:r>
          </a:p>
        </p:txBody>
      </p:sp>
      <p:grpSp>
        <p:nvGrpSpPr>
          <p:cNvPr name="Group 14" id="14"/>
          <p:cNvGrpSpPr/>
          <p:nvPr/>
        </p:nvGrpSpPr>
        <p:grpSpPr>
          <a:xfrm rot="0">
            <a:off x="530047" y="3542490"/>
            <a:ext cx="1698869" cy="1698889"/>
            <a:chOff x="0" y="0"/>
            <a:chExt cx="2265159" cy="2265185"/>
          </a:xfrm>
        </p:grpSpPr>
        <p:sp>
          <p:nvSpPr>
            <p:cNvPr name="Freeform 15" id="15"/>
            <p:cNvSpPr/>
            <p:nvPr/>
          </p:nvSpPr>
          <p:spPr>
            <a:xfrm flipH="false" flipV="false" rot="0">
              <a:off x="0" y="0"/>
              <a:ext cx="2265172" cy="2265172"/>
            </a:xfrm>
            <a:custGeom>
              <a:avLst/>
              <a:gdLst/>
              <a:ahLst/>
              <a:cxnLst/>
              <a:rect r="r" b="b" t="t" l="l"/>
              <a:pathLst>
                <a:path h="2265172" w="2265172">
                  <a:moveTo>
                    <a:pt x="0" y="0"/>
                  </a:moveTo>
                  <a:lnTo>
                    <a:pt x="2265172" y="0"/>
                  </a:lnTo>
                  <a:lnTo>
                    <a:pt x="2265172" y="2265172"/>
                  </a:lnTo>
                  <a:lnTo>
                    <a:pt x="0" y="2265172"/>
                  </a:lnTo>
                  <a:lnTo>
                    <a:pt x="0" y="0"/>
                  </a:lnTo>
                  <a:close/>
                </a:path>
              </a:pathLst>
            </a:custGeom>
            <a:blipFill>
              <a:blip r:embed="rId8"/>
              <a:stretch>
                <a:fillRect l="0" t="0" r="0" b="0"/>
              </a:stretch>
            </a:blipFill>
          </p:spPr>
        </p:sp>
      </p:grpSp>
      <p:grpSp>
        <p:nvGrpSpPr>
          <p:cNvPr name="Group 16" id="16"/>
          <p:cNvGrpSpPr/>
          <p:nvPr/>
        </p:nvGrpSpPr>
        <p:grpSpPr>
          <a:xfrm rot="0">
            <a:off x="9016546" y="3952827"/>
            <a:ext cx="2019452" cy="2019452"/>
            <a:chOff x="0" y="0"/>
            <a:chExt cx="2692603" cy="2692603"/>
          </a:xfrm>
        </p:grpSpPr>
        <p:sp>
          <p:nvSpPr>
            <p:cNvPr name="Freeform 17" id="17"/>
            <p:cNvSpPr/>
            <p:nvPr/>
          </p:nvSpPr>
          <p:spPr>
            <a:xfrm flipH="false" flipV="false" rot="0">
              <a:off x="0" y="0"/>
              <a:ext cx="2692654" cy="2692654"/>
            </a:xfrm>
            <a:custGeom>
              <a:avLst/>
              <a:gdLst/>
              <a:ahLst/>
              <a:cxnLst/>
              <a:rect r="r" b="b" t="t" l="l"/>
              <a:pathLst>
                <a:path h="2692654" w="2692654">
                  <a:moveTo>
                    <a:pt x="0" y="0"/>
                  </a:moveTo>
                  <a:lnTo>
                    <a:pt x="2692654" y="0"/>
                  </a:lnTo>
                  <a:lnTo>
                    <a:pt x="2692654" y="2692654"/>
                  </a:lnTo>
                  <a:lnTo>
                    <a:pt x="0" y="2692654"/>
                  </a:lnTo>
                  <a:lnTo>
                    <a:pt x="0" y="0"/>
                  </a:lnTo>
                  <a:close/>
                </a:path>
              </a:pathLst>
            </a:custGeom>
            <a:blipFill>
              <a:blip r:embed="rId9"/>
              <a:stretch>
                <a:fillRect l="0" t="0" r="1" b="1"/>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2358142" y="2452059"/>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5394240">
            <a:off x="3772538" y="5277269"/>
            <a:ext cx="5669470" cy="0"/>
          </a:xfrm>
          <a:prstGeom prst="line">
            <a:avLst/>
          </a:prstGeom>
          <a:ln cap="rnd" w="9525">
            <a:solidFill>
              <a:srgbClr val="FFFFFF"/>
            </a:solidFill>
            <a:prstDash val="solid"/>
            <a:headEnd type="none" len="sm" w="sm"/>
            <a:tailEnd type="none" len="sm" w="sm"/>
          </a:ln>
        </p:spPr>
      </p:sp>
      <p:sp>
        <p:nvSpPr>
          <p:cNvPr name="Freeform 4" id="4"/>
          <p:cNvSpPr/>
          <p:nvPr/>
        </p:nvSpPr>
        <p:spPr>
          <a:xfrm flipH="false" flipV="false" rot="0">
            <a:off x="8197567" y="2452059"/>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rot="5394240">
            <a:off x="10020738" y="5450462"/>
            <a:ext cx="5669470" cy="0"/>
          </a:xfrm>
          <a:prstGeom prst="line">
            <a:avLst/>
          </a:prstGeom>
          <a:ln cap="rnd" w="9525">
            <a:solidFill>
              <a:srgbClr val="FFFFFF"/>
            </a:solidFill>
            <a:prstDash val="solid"/>
            <a:headEnd type="none" len="sm" w="sm"/>
            <a:tailEnd type="none" len="sm" w="sm"/>
          </a:ln>
        </p:spPr>
      </p:sp>
      <p:sp>
        <p:nvSpPr>
          <p:cNvPr name="Freeform 6" id="6"/>
          <p:cNvSpPr/>
          <p:nvPr/>
        </p:nvSpPr>
        <p:spPr>
          <a:xfrm flipH="false" flipV="false" rot="0">
            <a:off x="14439071" y="2452059"/>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5040604" y="2769756"/>
            <a:ext cx="1104881" cy="1771679"/>
            <a:chOff x="0" y="0"/>
            <a:chExt cx="1473175" cy="2362238"/>
          </a:xfrm>
        </p:grpSpPr>
        <p:sp>
          <p:nvSpPr>
            <p:cNvPr name="Freeform 8" id="8"/>
            <p:cNvSpPr/>
            <p:nvPr/>
          </p:nvSpPr>
          <p:spPr>
            <a:xfrm flipH="false" flipV="false" rot="0">
              <a:off x="0" y="0"/>
              <a:ext cx="1473200" cy="2362200"/>
            </a:xfrm>
            <a:custGeom>
              <a:avLst/>
              <a:gdLst/>
              <a:ahLst/>
              <a:cxnLst/>
              <a:rect r="r" b="b" t="t" l="l"/>
              <a:pathLst>
                <a:path h="2362200" w="1473200">
                  <a:moveTo>
                    <a:pt x="0" y="0"/>
                  </a:moveTo>
                  <a:lnTo>
                    <a:pt x="1473200" y="0"/>
                  </a:lnTo>
                  <a:lnTo>
                    <a:pt x="1473200" y="2362200"/>
                  </a:lnTo>
                  <a:lnTo>
                    <a:pt x="0" y="2362200"/>
                  </a:lnTo>
                  <a:lnTo>
                    <a:pt x="0" y="0"/>
                  </a:lnTo>
                  <a:close/>
                </a:path>
              </a:pathLst>
            </a:custGeom>
            <a:blipFill>
              <a:blip r:embed="rId7"/>
              <a:stretch>
                <a:fillRect l="0" t="-215" r="1" b="-216"/>
              </a:stretch>
            </a:blipFill>
          </p:spPr>
        </p:sp>
      </p:grpSp>
      <p:sp>
        <p:nvSpPr>
          <p:cNvPr name="TextBox 9" id="9"/>
          <p:cNvSpPr txBox="true"/>
          <p:nvPr/>
        </p:nvSpPr>
        <p:spPr>
          <a:xfrm rot="0">
            <a:off x="900903" y="857250"/>
            <a:ext cx="16486184" cy="1021585"/>
          </a:xfrm>
          <a:prstGeom prst="rect">
            <a:avLst/>
          </a:prstGeom>
        </p:spPr>
        <p:txBody>
          <a:bodyPr anchor="t" rtlCol="false" tIns="0" lIns="0" bIns="0" rIns="0">
            <a:spAutoFit/>
          </a:bodyPr>
          <a:lstStyle/>
          <a:p>
            <a:pPr algn="ctr">
              <a:lnSpc>
                <a:spcPts val="8131"/>
              </a:lnSpc>
            </a:pPr>
            <a:r>
              <a:rPr lang="en-US" sz="5599">
                <a:solidFill>
                  <a:srgbClr val="FFFFFF"/>
                </a:solidFill>
                <a:latin typeface="Arial"/>
                <a:ea typeface="Arial"/>
                <a:cs typeface="Arial"/>
                <a:sym typeface="Arial"/>
              </a:rPr>
              <a:t>ESTRATEGIAS DE DESARROLLO</a:t>
            </a:r>
          </a:p>
        </p:txBody>
      </p:sp>
      <p:sp>
        <p:nvSpPr>
          <p:cNvPr name="TextBox 10" id="10"/>
          <p:cNvSpPr txBox="true"/>
          <p:nvPr/>
        </p:nvSpPr>
        <p:spPr>
          <a:xfrm rot="0">
            <a:off x="753770" y="5928036"/>
            <a:ext cx="5431174" cy="1988182"/>
          </a:xfrm>
          <a:prstGeom prst="rect">
            <a:avLst/>
          </a:prstGeom>
        </p:spPr>
        <p:txBody>
          <a:bodyPr anchor="t" rtlCol="false" tIns="0" lIns="0" bIns="0" rIns="0">
            <a:spAutoFit/>
          </a:bodyPr>
          <a:lstStyle/>
          <a:p>
            <a:pPr algn="just">
              <a:lnSpc>
                <a:spcPts val="2652"/>
              </a:lnSpc>
            </a:pPr>
            <a:r>
              <a:rPr lang="en-US" sz="1700">
                <a:solidFill>
                  <a:srgbClr val="FFFFFF"/>
                </a:solidFill>
                <a:latin typeface="Montserrat"/>
                <a:ea typeface="Montserrat"/>
                <a:cs typeface="Montserrat"/>
                <a:sym typeface="Montserrat"/>
              </a:rPr>
              <a:t>Para enfrentar las limitaciones de memoria y CPU, es crucial utilizar algoritmos y estructuras de datos que sean eficientes. Esto incluye evitar bucles innecesarios y seleccionar algoritmos que ofrezcan la mejor relación de rendimiento en función de los recursos disponibles.</a:t>
            </a:r>
          </a:p>
        </p:txBody>
      </p:sp>
      <p:sp>
        <p:nvSpPr>
          <p:cNvPr name="TextBox 11" id="11"/>
          <p:cNvSpPr txBox="true"/>
          <p:nvPr/>
        </p:nvSpPr>
        <p:spPr>
          <a:xfrm rot="0">
            <a:off x="1735188" y="4985128"/>
            <a:ext cx="3468338"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OPTIMIZACIÓN DEL CÓDIGO</a:t>
            </a:r>
          </a:p>
        </p:txBody>
      </p:sp>
      <p:sp>
        <p:nvSpPr>
          <p:cNvPr name="TextBox 12" id="12"/>
          <p:cNvSpPr txBox="true"/>
          <p:nvPr/>
        </p:nvSpPr>
        <p:spPr>
          <a:xfrm rot="0">
            <a:off x="7617381" y="5147053"/>
            <a:ext cx="3468300" cy="371475"/>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USO DE RECURSOS</a:t>
            </a:r>
          </a:p>
        </p:txBody>
      </p:sp>
      <p:sp>
        <p:nvSpPr>
          <p:cNvPr name="TextBox 13" id="13"/>
          <p:cNvSpPr txBox="true"/>
          <p:nvPr/>
        </p:nvSpPr>
        <p:spPr>
          <a:xfrm rot="0">
            <a:off x="6973233" y="5928036"/>
            <a:ext cx="5458377" cy="1711957"/>
          </a:xfrm>
          <a:prstGeom prst="rect">
            <a:avLst/>
          </a:prstGeom>
        </p:spPr>
        <p:txBody>
          <a:bodyPr anchor="t" rtlCol="false" tIns="0" lIns="0" bIns="0" rIns="0">
            <a:spAutoFit/>
          </a:bodyPr>
          <a:lstStyle/>
          <a:p>
            <a:pPr algn="just">
              <a:lnSpc>
                <a:spcPts val="2652"/>
              </a:lnSpc>
            </a:pPr>
            <a:r>
              <a:rPr lang="en-US" sz="1700">
                <a:solidFill>
                  <a:srgbClr val="FFFFFF"/>
                </a:solidFill>
                <a:latin typeface="Montserrat"/>
                <a:ea typeface="Montserrat"/>
                <a:cs typeface="Montserrat"/>
                <a:sym typeface="Montserrat"/>
              </a:rPr>
              <a:t>Se recomienda minimizar el uso de bibliotecas de </a:t>
            </a:r>
            <a:r>
              <a:rPr lang="en-US" sz="1700">
                <a:solidFill>
                  <a:srgbClr val="ACFDDB"/>
                </a:solidFill>
                <a:latin typeface="Montserrat"/>
                <a:ea typeface="Montserrat"/>
                <a:cs typeface="Montserrat"/>
                <a:sym typeface="Montserrat"/>
              </a:rPr>
              <a:t>gran tamaño</a:t>
            </a:r>
            <a:r>
              <a:rPr lang="en-US" sz="1700">
                <a:solidFill>
                  <a:srgbClr val="FFFFFF"/>
                </a:solidFill>
                <a:latin typeface="Montserrat"/>
                <a:ea typeface="Montserrat"/>
                <a:cs typeface="Montserrat"/>
                <a:sym typeface="Montserrat"/>
              </a:rPr>
              <a:t> que puedan ocupar una cantidad significativa de memoria. En su lugar, se deben optar por funciones específicas y optimizadas que se alineen con las necesidades del proyecto.</a:t>
            </a:r>
          </a:p>
        </p:txBody>
      </p:sp>
      <p:sp>
        <p:nvSpPr>
          <p:cNvPr name="TextBox 14" id="14"/>
          <p:cNvSpPr txBox="true"/>
          <p:nvPr/>
        </p:nvSpPr>
        <p:spPr>
          <a:xfrm rot="0">
            <a:off x="13858865" y="5074225"/>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GESTIÓN DE ENERGÍA</a:t>
            </a:r>
          </a:p>
        </p:txBody>
      </p:sp>
      <p:sp>
        <p:nvSpPr>
          <p:cNvPr name="TextBox 15" id="15"/>
          <p:cNvSpPr txBox="true"/>
          <p:nvPr/>
        </p:nvSpPr>
        <p:spPr>
          <a:xfrm rot="0">
            <a:off x="13279345" y="5749157"/>
            <a:ext cx="4512783" cy="2264407"/>
          </a:xfrm>
          <a:prstGeom prst="rect">
            <a:avLst/>
          </a:prstGeom>
        </p:spPr>
        <p:txBody>
          <a:bodyPr anchor="t" rtlCol="false" tIns="0" lIns="0" bIns="0" rIns="0">
            <a:spAutoFit/>
          </a:bodyPr>
          <a:lstStyle/>
          <a:p>
            <a:pPr algn="just">
              <a:lnSpc>
                <a:spcPts val="2652"/>
              </a:lnSpc>
            </a:pPr>
            <a:r>
              <a:rPr lang="en-US" sz="1700">
                <a:solidFill>
                  <a:srgbClr val="FFFFFF"/>
                </a:solidFill>
                <a:latin typeface="Montserrat"/>
                <a:ea typeface="Montserrat"/>
                <a:cs typeface="Montserrat"/>
                <a:sym typeface="Montserrat"/>
              </a:rPr>
              <a:t>Implementar </a:t>
            </a:r>
            <a:r>
              <a:rPr lang="en-US" sz="1700">
                <a:solidFill>
                  <a:srgbClr val="ACFDDB"/>
                </a:solidFill>
                <a:latin typeface="Montserrat"/>
                <a:ea typeface="Montserrat"/>
                <a:cs typeface="Montserrat"/>
                <a:sym typeface="Montserrat"/>
              </a:rPr>
              <a:t>modos de sueño</a:t>
            </a:r>
            <a:r>
              <a:rPr lang="en-US" sz="1700">
                <a:solidFill>
                  <a:srgbClr val="FFFFFF"/>
                </a:solidFill>
                <a:latin typeface="Montserrat"/>
                <a:ea typeface="Montserrat"/>
                <a:cs typeface="Montserrat"/>
                <a:sym typeface="Montserrat"/>
              </a:rPr>
              <a:t> y técnicas de gestión de energía puede ser vital para prolongar la vida útil de la batería. Esto incluye la posibilidad de poner el dispositivo en estado de bajo consumo cuando no está en uso o ajustar dinámicamente la frecuencia del procesado</a:t>
            </a:r>
          </a:p>
        </p:txBody>
      </p:sp>
      <p:grpSp>
        <p:nvGrpSpPr>
          <p:cNvPr name="Group 16" id="16"/>
          <p:cNvGrpSpPr/>
          <p:nvPr/>
        </p:nvGrpSpPr>
        <p:grpSpPr>
          <a:xfrm rot="0">
            <a:off x="2836545" y="2980011"/>
            <a:ext cx="1351150" cy="1351150"/>
            <a:chOff x="0" y="0"/>
            <a:chExt cx="1801533" cy="1801533"/>
          </a:xfrm>
        </p:grpSpPr>
        <p:sp>
          <p:nvSpPr>
            <p:cNvPr name="Freeform 17" id="17"/>
            <p:cNvSpPr/>
            <p:nvPr/>
          </p:nvSpPr>
          <p:spPr>
            <a:xfrm flipH="false" flipV="false" rot="0">
              <a:off x="0" y="0"/>
              <a:ext cx="1801495" cy="1801495"/>
            </a:xfrm>
            <a:custGeom>
              <a:avLst/>
              <a:gdLst/>
              <a:ahLst/>
              <a:cxnLst/>
              <a:rect r="r" b="b" t="t" l="l"/>
              <a:pathLst>
                <a:path h="1801495" w="1801495">
                  <a:moveTo>
                    <a:pt x="0" y="0"/>
                  </a:moveTo>
                  <a:lnTo>
                    <a:pt x="1801495" y="0"/>
                  </a:lnTo>
                  <a:lnTo>
                    <a:pt x="1801495" y="1801495"/>
                  </a:lnTo>
                  <a:lnTo>
                    <a:pt x="0" y="1801495"/>
                  </a:lnTo>
                  <a:lnTo>
                    <a:pt x="0" y="0"/>
                  </a:lnTo>
                  <a:close/>
                </a:path>
              </a:pathLst>
            </a:custGeom>
            <a:blipFill>
              <a:blip r:embed="rId8"/>
              <a:stretch>
                <a:fillRect l="0" t="0" r="-2" b="-2"/>
              </a:stretch>
            </a:blipFill>
          </p:spPr>
        </p:sp>
      </p:grpSp>
      <p:grpSp>
        <p:nvGrpSpPr>
          <p:cNvPr name="Group 18" id="18"/>
          <p:cNvGrpSpPr/>
          <p:nvPr/>
        </p:nvGrpSpPr>
        <p:grpSpPr>
          <a:xfrm rot="0">
            <a:off x="8675970" y="2930452"/>
            <a:ext cx="1351150" cy="1351150"/>
            <a:chOff x="0" y="0"/>
            <a:chExt cx="1801533" cy="1801533"/>
          </a:xfrm>
        </p:grpSpPr>
        <p:sp>
          <p:nvSpPr>
            <p:cNvPr name="Freeform 19" id="19"/>
            <p:cNvSpPr/>
            <p:nvPr/>
          </p:nvSpPr>
          <p:spPr>
            <a:xfrm flipH="false" flipV="false" rot="0">
              <a:off x="0" y="0"/>
              <a:ext cx="1801495" cy="1801495"/>
            </a:xfrm>
            <a:custGeom>
              <a:avLst/>
              <a:gdLst/>
              <a:ahLst/>
              <a:cxnLst/>
              <a:rect r="r" b="b" t="t" l="l"/>
              <a:pathLst>
                <a:path h="1801495" w="1801495">
                  <a:moveTo>
                    <a:pt x="0" y="0"/>
                  </a:moveTo>
                  <a:lnTo>
                    <a:pt x="1801495" y="0"/>
                  </a:lnTo>
                  <a:lnTo>
                    <a:pt x="1801495" y="1801495"/>
                  </a:lnTo>
                  <a:lnTo>
                    <a:pt x="0" y="1801495"/>
                  </a:lnTo>
                  <a:lnTo>
                    <a:pt x="0" y="0"/>
                  </a:lnTo>
                  <a:close/>
                </a:path>
              </a:pathLst>
            </a:custGeom>
            <a:blipFill>
              <a:blip r:embed="rId9"/>
              <a:stretch>
                <a:fillRect l="0" t="0" r="-2" b="-2"/>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2493657" y="1494911"/>
            <a:ext cx="976589" cy="976589"/>
          </a:xfrm>
          <a:custGeom>
            <a:avLst/>
            <a:gdLst/>
            <a:ahLst/>
            <a:cxnLst/>
            <a:rect r="r" b="b" t="t" l="l"/>
            <a:pathLst>
              <a:path h="976589" w="976589">
                <a:moveTo>
                  <a:pt x="0" y="0"/>
                </a:moveTo>
                <a:lnTo>
                  <a:pt x="976588" y="0"/>
                </a:lnTo>
                <a:lnTo>
                  <a:pt x="976588" y="976588"/>
                </a:lnTo>
                <a:lnTo>
                  <a:pt x="0" y="976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47512" y="3804256"/>
            <a:ext cx="6434138" cy="3533946"/>
          </a:xfrm>
          <a:custGeom>
            <a:avLst/>
            <a:gdLst/>
            <a:ahLst/>
            <a:cxnLst/>
            <a:rect r="r" b="b" t="t" l="l"/>
            <a:pathLst>
              <a:path h="3533946" w="6434138">
                <a:moveTo>
                  <a:pt x="0" y="0"/>
                </a:moveTo>
                <a:lnTo>
                  <a:pt x="6434138" y="0"/>
                </a:lnTo>
                <a:lnTo>
                  <a:pt x="6434138" y="3533947"/>
                </a:lnTo>
                <a:lnTo>
                  <a:pt x="0" y="35339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10788660">
            <a:off x="12716123" y="1769212"/>
            <a:ext cx="531666" cy="427996"/>
            <a:chOff x="0" y="0"/>
            <a:chExt cx="708889" cy="570662"/>
          </a:xfrm>
        </p:grpSpPr>
        <p:sp>
          <p:nvSpPr>
            <p:cNvPr name="Freeform 5" id="5"/>
            <p:cNvSpPr/>
            <p:nvPr/>
          </p:nvSpPr>
          <p:spPr>
            <a:xfrm flipH="false" flipV="false" rot="0">
              <a:off x="0" y="0"/>
              <a:ext cx="708914" cy="570611"/>
            </a:xfrm>
            <a:custGeom>
              <a:avLst/>
              <a:gdLst/>
              <a:ahLst/>
              <a:cxnLst/>
              <a:rect r="r" b="b" t="t" l="l"/>
              <a:pathLst>
                <a:path h="570611" w="708914">
                  <a:moveTo>
                    <a:pt x="0" y="0"/>
                  </a:moveTo>
                  <a:lnTo>
                    <a:pt x="708914" y="0"/>
                  </a:lnTo>
                  <a:lnTo>
                    <a:pt x="708914" y="570611"/>
                  </a:lnTo>
                  <a:lnTo>
                    <a:pt x="0" y="570611"/>
                  </a:lnTo>
                  <a:lnTo>
                    <a:pt x="0" y="0"/>
                  </a:lnTo>
                  <a:close/>
                </a:path>
              </a:pathLst>
            </a:custGeom>
            <a:blipFill>
              <a:blip r:embed="rId7"/>
              <a:stretch>
                <a:fillRect l="0" t="-20" r="3" b="-26"/>
              </a:stretch>
            </a:blipFill>
          </p:spPr>
        </p:sp>
      </p:grpSp>
      <p:sp>
        <p:nvSpPr>
          <p:cNvPr name="Freeform 6" id="6"/>
          <p:cNvSpPr/>
          <p:nvPr/>
        </p:nvSpPr>
        <p:spPr>
          <a:xfrm flipH="false" flipV="false" rot="0">
            <a:off x="10589809" y="7338203"/>
            <a:ext cx="976589" cy="976589"/>
          </a:xfrm>
          <a:custGeom>
            <a:avLst/>
            <a:gdLst/>
            <a:ahLst/>
            <a:cxnLst/>
            <a:rect r="r" b="b" t="t" l="l"/>
            <a:pathLst>
              <a:path h="976589" w="976589">
                <a:moveTo>
                  <a:pt x="0" y="0"/>
                </a:moveTo>
                <a:lnTo>
                  <a:pt x="976589" y="0"/>
                </a:lnTo>
                <a:lnTo>
                  <a:pt x="976589" y="976589"/>
                </a:lnTo>
                <a:lnTo>
                  <a:pt x="0" y="976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10788660">
            <a:off x="10812266" y="7612504"/>
            <a:ext cx="531666" cy="427996"/>
            <a:chOff x="0" y="0"/>
            <a:chExt cx="708889" cy="570662"/>
          </a:xfrm>
        </p:grpSpPr>
        <p:sp>
          <p:nvSpPr>
            <p:cNvPr name="Freeform 8" id="8"/>
            <p:cNvSpPr/>
            <p:nvPr/>
          </p:nvSpPr>
          <p:spPr>
            <a:xfrm flipH="false" flipV="false" rot="0">
              <a:off x="0" y="0"/>
              <a:ext cx="708914" cy="570611"/>
            </a:xfrm>
            <a:custGeom>
              <a:avLst/>
              <a:gdLst/>
              <a:ahLst/>
              <a:cxnLst/>
              <a:rect r="r" b="b" t="t" l="l"/>
              <a:pathLst>
                <a:path h="570611" w="708914">
                  <a:moveTo>
                    <a:pt x="0" y="0"/>
                  </a:moveTo>
                  <a:lnTo>
                    <a:pt x="708914" y="0"/>
                  </a:lnTo>
                  <a:lnTo>
                    <a:pt x="708914" y="570611"/>
                  </a:lnTo>
                  <a:lnTo>
                    <a:pt x="0" y="570611"/>
                  </a:lnTo>
                  <a:lnTo>
                    <a:pt x="0" y="0"/>
                  </a:lnTo>
                  <a:close/>
                </a:path>
              </a:pathLst>
            </a:custGeom>
            <a:blipFill>
              <a:blip r:embed="rId7"/>
              <a:stretch>
                <a:fillRect l="0" t="-20" r="3" b="-26"/>
              </a:stretch>
            </a:blipFill>
          </p:spPr>
        </p:sp>
      </p:grpSp>
      <p:sp>
        <p:nvSpPr>
          <p:cNvPr name="TextBox 9" id="9"/>
          <p:cNvSpPr txBox="true"/>
          <p:nvPr/>
        </p:nvSpPr>
        <p:spPr>
          <a:xfrm rot="0">
            <a:off x="12698968" y="2595496"/>
            <a:ext cx="5502802" cy="2831144"/>
          </a:xfrm>
          <a:prstGeom prst="rect">
            <a:avLst/>
          </a:prstGeom>
        </p:spPr>
        <p:txBody>
          <a:bodyPr anchor="t" rtlCol="false" tIns="0" lIns="0" bIns="0" rIns="0">
            <a:spAutoFit/>
          </a:bodyPr>
          <a:lstStyle/>
          <a:p>
            <a:pPr algn="l" marL="388621" indent="-129540" lvl="2">
              <a:lnSpc>
                <a:spcPts val="2652"/>
              </a:lnSpc>
              <a:buFont typeface="Arial"/>
              <a:buChar char="⚬"/>
            </a:pPr>
            <a:r>
              <a:rPr lang="en-US" b="true" sz="1700">
                <a:solidFill>
                  <a:srgbClr val="FFFFFF"/>
                </a:solidFill>
                <a:latin typeface="Montserrat Bold"/>
                <a:ea typeface="Montserrat Bold"/>
                <a:cs typeface="Montserrat Bold"/>
                <a:sym typeface="Montserrat Bold"/>
              </a:rPr>
              <a:t>GCC (GNU Compiler Collection)</a:t>
            </a:r>
            <a:r>
              <a:rPr lang="en-US" sz="1700">
                <a:solidFill>
                  <a:srgbClr val="FFFFFF"/>
                </a:solidFill>
                <a:latin typeface="Montserrat"/>
                <a:ea typeface="Montserrat"/>
                <a:cs typeface="Montserrat"/>
                <a:sym typeface="Montserrat"/>
              </a:rPr>
              <a:t> para ARM: Amplia compatibilidad y es de código abierto.</a:t>
            </a:r>
          </a:p>
          <a:p>
            <a:pPr algn="l" marL="388621" indent="-129540" lvl="2">
              <a:lnSpc>
                <a:spcPts val="2652"/>
              </a:lnSpc>
              <a:buFont typeface="Arial"/>
              <a:buChar char="⚬"/>
            </a:pPr>
            <a:r>
              <a:rPr lang="en-US" b="true" sz="1700">
                <a:solidFill>
                  <a:srgbClr val="FFFFFF"/>
                </a:solidFill>
                <a:latin typeface="Montserrat Bold"/>
                <a:ea typeface="Montserrat Bold"/>
                <a:cs typeface="Montserrat Bold"/>
                <a:sym typeface="Montserrat Bold"/>
              </a:rPr>
              <a:t>IAR Embedded Workbench</a:t>
            </a:r>
            <a:r>
              <a:rPr lang="en-US" sz="1700">
                <a:solidFill>
                  <a:srgbClr val="FFFFFF"/>
                </a:solidFill>
                <a:latin typeface="Montserrat"/>
                <a:ea typeface="Montserrat"/>
                <a:cs typeface="Montserrat"/>
                <a:sym typeface="Montserrat"/>
              </a:rPr>
              <a:t>: Ofrece herramientas de desarrollo optimizadas para sistemas embebidos.</a:t>
            </a:r>
          </a:p>
          <a:p>
            <a:pPr algn="l" marL="388621" indent="-129540" lvl="2">
              <a:lnSpc>
                <a:spcPts val="2652"/>
              </a:lnSpc>
              <a:buFont typeface="Arial"/>
              <a:buChar char="⚬"/>
            </a:pPr>
            <a:r>
              <a:rPr lang="en-US" b="true" sz="1700">
                <a:solidFill>
                  <a:srgbClr val="FFFFFF"/>
                </a:solidFill>
                <a:latin typeface="Montserrat Bold"/>
                <a:ea typeface="Montserrat Bold"/>
                <a:cs typeface="Montserrat Bold"/>
                <a:sym typeface="Montserrat Bold"/>
              </a:rPr>
              <a:t>Keil uVision</a:t>
            </a:r>
            <a:r>
              <a:rPr lang="en-US" sz="1700">
                <a:solidFill>
                  <a:srgbClr val="FFFFFF"/>
                </a:solidFill>
                <a:latin typeface="Montserrat"/>
                <a:ea typeface="Montserrat"/>
                <a:cs typeface="Montserrat"/>
                <a:sym typeface="Montserrat"/>
              </a:rPr>
              <a:t>: Muy usado en entornos de microcontroladores, especialmente en el desarrollo de aplicaciones ARM.</a:t>
            </a:r>
          </a:p>
          <a:p>
            <a:pPr algn="l" marL="320041" indent="-106680" lvl="2">
              <a:lnSpc>
                <a:spcPts val="2183"/>
              </a:lnSpc>
            </a:pPr>
          </a:p>
        </p:txBody>
      </p:sp>
      <p:sp>
        <p:nvSpPr>
          <p:cNvPr name="TextBox 10" id="10"/>
          <p:cNvSpPr txBox="true"/>
          <p:nvPr/>
        </p:nvSpPr>
        <p:spPr>
          <a:xfrm rot="0">
            <a:off x="13935694" y="1651816"/>
            <a:ext cx="2484930" cy="401955"/>
          </a:xfrm>
          <a:prstGeom prst="rect">
            <a:avLst/>
          </a:prstGeom>
        </p:spPr>
        <p:txBody>
          <a:bodyPr anchor="t" rtlCol="false" tIns="0" lIns="0" bIns="0" rIns="0">
            <a:spAutoFit/>
          </a:bodyPr>
          <a:lstStyle/>
          <a:p>
            <a:pPr algn="ctr">
              <a:lnSpc>
                <a:spcPts val="3274"/>
              </a:lnSpc>
            </a:pPr>
            <a:r>
              <a:rPr lang="en-US" b="true" sz="2099">
                <a:solidFill>
                  <a:srgbClr val="FFFFFF"/>
                </a:solidFill>
                <a:latin typeface="Montserrat Bold"/>
                <a:ea typeface="Montserrat Bold"/>
                <a:cs typeface="Montserrat Bold"/>
                <a:sym typeface="Montserrat Bold"/>
              </a:rPr>
              <a:t>COMPILADORES</a:t>
            </a:r>
          </a:p>
        </p:txBody>
      </p:sp>
      <p:sp>
        <p:nvSpPr>
          <p:cNvPr name="TextBox 11" id="11"/>
          <p:cNvSpPr txBox="true"/>
          <p:nvPr/>
        </p:nvSpPr>
        <p:spPr>
          <a:xfrm rot="0">
            <a:off x="447675" y="595227"/>
            <a:ext cx="7206472" cy="2661666"/>
          </a:xfrm>
          <a:prstGeom prst="rect">
            <a:avLst/>
          </a:prstGeom>
        </p:spPr>
        <p:txBody>
          <a:bodyPr anchor="t" rtlCol="false" tIns="0" lIns="0" bIns="0" rIns="0">
            <a:spAutoFit/>
          </a:bodyPr>
          <a:lstStyle/>
          <a:p>
            <a:pPr algn="ctr">
              <a:lnSpc>
                <a:spcPts val="6098"/>
              </a:lnSpc>
            </a:pPr>
            <a:r>
              <a:rPr lang="en-US" sz="4200">
                <a:solidFill>
                  <a:srgbClr val="FFFFFF"/>
                </a:solidFill>
                <a:latin typeface="Arial"/>
                <a:ea typeface="Arial"/>
                <a:cs typeface="Arial"/>
                <a:sym typeface="Arial"/>
              </a:rPr>
              <a:t>COMPILACIÓN CRUZADA Y DESARROLLO PARA </a:t>
            </a:r>
            <a:r>
              <a:rPr lang="en-US" sz="4200">
                <a:solidFill>
                  <a:srgbClr val="ACFDDB"/>
                </a:solidFill>
                <a:latin typeface="Arial"/>
                <a:ea typeface="Arial"/>
                <a:cs typeface="Arial"/>
                <a:sym typeface="Arial"/>
              </a:rPr>
              <a:t>PLATAFORMAS INTEGRADAS</a:t>
            </a:r>
          </a:p>
        </p:txBody>
      </p:sp>
      <p:sp>
        <p:nvSpPr>
          <p:cNvPr name="TextBox 12" id="12"/>
          <p:cNvSpPr txBox="true"/>
          <p:nvPr/>
        </p:nvSpPr>
        <p:spPr>
          <a:xfrm rot="0">
            <a:off x="1205989" y="3957209"/>
            <a:ext cx="5698503" cy="2816857"/>
          </a:xfrm>
          <a:prstGeom prst="rect">
            <a:avLst/>
          </a:prstGeom>
        </p:spPr>
        <p:txBody>
          <a:bodyPr anchor="t" rtlCol="false" tIns="0" lIns="0" bIns="0" rIns="0">
            <a:spAutoFit/>
          </a:bodyPr>
          <a:lstStyle/>
          <a:p>
            <a:pPr algn="just">
              <a:lnSpc>
                <a:spcPts val="2652"/>
              </a:lnSpc>
            </a:pPr>
            <a:r>
              <a:rPr lang="en-US" sz="1700">
                <a:solidFill>
                  <a:srgbClr val="FFFFFF"/>
                </a:solidFill>
                <a:latin typeface="Montserrat"/>
                <a:ea typeface="Montserrat"/>
                <a:cs typeface="Montserrat"/>
                <a:sym typeface="Montserrat"/>
              </a:rPr>
              <a:t>La compilación cruzada es el proceso de construir ejecutables en un sistema host (la máquina en la que se desarrolla) para que estos ejecutables funcionen en un sistema objetivo (target) que generalmente tiene una arquitectura diferente. Este proceso es común en el desarrollo de sistemas embebidos, ya que los dispositivos objetivos a menudo cuentan con microcontroladores de arquitecturas específicas.</a:t>
            </a:r>
          </a:p>
        </p:txBody>
      </p:sp>
      <p:sp>
        <p:nvSpPr>
          <p:cNvPr name="TextBox 13" id="13"/>
          <p:cNvSpPr txBox="true"/>
          <p:nvPr/>
        </p:nvSpPr>
        <p:spPr>
          <a:xfrm rot="0">
            <a:off x="11566398" y="6723012"/>
            <a:ext cx="6535093" cy="3107369"/>
          </a:xfrm>
          <a:prstGeom prst="rect">
            <a:avLst/>
          </a:prstGeom>
        </p:spPr>
        <p:txBody>
          <a:bodyPr anchor="t" rtlCol="false" tIns="0" lIns="0" bIns="0" rIns="0">
            <a:spAutoFit/>
          </a:bodyPr>
          <a:lstStyle/>
          <a:p>
            <a:pPr algn="l" marL="388621" indent="-129540" lvl="2">
              <a:lnSpc>
                <a:spcPts val="2652"/>
              </a:lnSpc>
              <a:buFont typeface="Arial"/>
              <a:buChar char="⚬"/>
            </a:pPr>
            <a:r>
              <a:rPr lang="en-US" b="true" sz="1700">
                <a:solidFill>
                  <a:srgbClr val="FFFFFF"/>
                </a:solidFill>
                <a:latin typeface="Montserrat Bold"/>
                <a:ea typeface="Montserrat Bold"/>
                <a:cs typeface="Montserrat Bold"/>
                <a:sym typeface="Montserrat Bold"/>
              </a:rPr>
              <a:t>PlatformIO</a:t>
            </a:r>
            <a:r>
              <a:rPr lang="en-US" sz="1700">
                <a:solidFill>
                  <a:srgbClr val="FFFFFF"/>
                </a:solidFill>
                <a:latin typeface="Montserrat"/>
                <a:ea typeface="Montserrat"/>
                <a:cs typeface="Montserrat"/>
                <a:sym typeface="Montserrat"/>
              </a:rPr>
              <a:t>: Un IDE multiplataforma que facilita la configuración de proyectos y soporta múltiples frameworks y arquitecturas.</a:t>
            </a:r>
          </a:p>
          <a:p>
            <a:pPr algn="l" marL="388621" indent="-129540" lvl="2">
              <a:lnSpc>
                <a:spcPts val="2652"/>
              </a:lnSpc>
              <a:buFont typeface="Arial"/>
              <a:buChar char="⚬"/>
            </a:pPr>
            <a:r>
              <a:rPr lang="en-US" b="true" sz="1700">
                <a:solidFill>
                  <a:srgbClr val="FFFFFF"/>
                </a:solidFill>
                <a:latin typeface="Montserrat Bold"/>
                <a:ea typeface="Montserrat Bold"/>
                <a:cs typeface="Montserrat Bold"/>
                <a:sym typeface="Montserrat Bold"/>
              </a:rPr>
              <a:t>Eclipse con CDT:</a:t>
            </a:r>
            <a:r>
              <a:rPr lang="en-US" sz="1700">
                <a:solidFill>
                  <a:srgbClr val="FFFFFF"/>
                </a:solidFill>
                <a:latin typeface="Montserrat"/>
                <a:ea typeface="Montserrat"/>
                <a:cs typeface="Montserrat"/>
                <a:sym typeface="Montserrat"/>
              </a:rPr>
              <a:t> Eclipse, junto con el complemento CDT (C/C++ Development Tooling), permite el desarrollo cruzado con soporte para varios compiladores y herramientas.</a:t>
            </a:r>
          </a:p>
          <a:p>
            <a:pPr algn="l" marL="388621" indent="-129540" lvl="2">
              <a:lnSpc>
                <a:spcPts val="2652"/>
              </a:lnSpc>
              <a:buFont typeface="Arial"/>
              <a:buChar char="⚬"/>
            </a:pPr>
            <a:r>
              <a:rPr lang="en-US" b="true" sz="1700">
                <a:solidFill>
                  <a:srgbClr val="FFFFFF"/>
                </a:solidFill>
                <a:latin typeface="Montserrat Bold"/>
                <a:ea typeface="Montserrat Bold"/>
                <a:cs typeface="Montserrat Bold"/>
                <a:sym typeface="Montserrat Bold"/>
              </a:rPr>
              <a:t>Visual Studio Code</a:t>
            </a:r>
            <a:r>
              <a:rPr lang="en-US" sz="1700">
                <a:solidFill>
                  <a:srgbClr val="FFFFFF"/>
                </a:solidFill>
                <a:latin typeface="Montserrat"/>
                <a:ea typeface="Montserrat"/>
                <a:cs typeface="Montserrat"/>
                <a:sym typeface="Montserrat"/>
              </a:rPr>
              <a:t>: Un editor ampliamente usado que, con extensiones, facilita el desarrollo para plataformas embebidas</a:t>
            </a:r>
          </a:p>
          <a:p>
            <a:pPr algn="l" marL="320041" indent="-106680" lvl="2">
              <a:lnSpc>
                <a:spcPts val="2183"/>
              </a:lnSpc>
            </a:pPr>
          </a:p>
        </p:txBody>
      </p:sp>
      <p:sp>
        <p:nvSpPr>
          <p:cNvPr name="TextBox 14" id="14"/>
          <p:cNvSpPr txBox="true"/>
          <p:nvPr/>
        </p:nvSpPr>
        <p:spPr>
          <a:xfrm rot="0">
            <a:off x="11915556" y="6150854"/>
            <a:ext cx="4505068" cy="401955"/>
          </a:xfrm>
          <a:prstGeom prst="rect">
            <a:avLst/>
          </a:prstGeom>
        </p:spPr>
        <p:txBody>
          <a:bodyPr anchor="t" rtlCol="false" tIns="0" lIns="0" bIns="0" rIns="0">
            <a:spAutoFit/>
          </a:bodyPr>
          <a:lstStyle/>
          <a:p>
            <a:pPr algn="ctr">
              <a:lnSpc>
                <a:spcPts val="3274"/>
              </a:lnSpc>
            </a:pPr>
            <a:r>
              <a:rPr lang="en-US" b="true" sz="2099">
                <a:solidFill>
                  <a:srgbClr val="FFFFFF"/>
                </a:solidFill>
                <a:latin typeface="Montserrat Bold"/>
                <a:ea typeface="Montserrat Bold"/>
                <a:cs typeface="Montserrat Bold"/>
                <a:sym typeface="Montserrat Bold"/>
              </a:rPr>
              <a:t>ENTORNOS DE DESARROLLO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43393"/>
            <a:ext cx="3909298" cy="5020704"/>
          </a:xfrm>
          <a:custGeom>
            <a:avLst/>
            <a:gdLst/>
            <a:ahLst/>
            <a:cxnLst/>
            <a:rect r="r" b="b" t="t" l="l"/>
            <a:pathLst>
              <a:path h="5020704" w="3909298">
                <a:moveTo>
                  <a:pt x="0" y="0"/>
                </a:moveTo>
                <a:lnTo>
                  <a:pt x="3909298" y="0"/>
                </a:lnTo>
                <a:lnTo>
                  <a:pt x="3909298" y="5020704"/>
                </a:lnTo>
                <a:lnTo>
                  <a:pt x="0" y="50207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242908" y="3143393"/>
            <a:ext cx="3909298" cy="3788569"/>
          </a:xfrm>
          <a:custGeom>
            <a:avLst/>
            <a:gdLst/>
            <a:ahLst/>
            <a:cxnLst/>
            <a:rect r="r" b="b" t="t" l="l"/>
            <a:pathLst>
              <a:path h="3788569" w="3909298">
                <a:moveTo>
                  <a:pt x="0" y="0"/>
                </a:moveTo>
                <a:lnTo>
                  <a:pt x="3909298" y="0"/>
                </a:lnTo>
                <a:lnTo>
                  <a:pt x="3909298" y="3788569"/>
                </a:lnTo>
                <a:lnTo>
                  <a:pt x="0" y="37885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5135804" y="3143393"/>
            <a:ext cx="3909298" cy="3788569"/>
          </a:xfrm>
          <a:custGeom>
            <a:avLst/>
            <a:gdLst/>
            <a:ahLst/>
            <a:cxnLst/>
            <a:rect r="r" b="b" t="t" l="l"/>
            <a:pathLst>
              <a:path h="3788569" w="3909298">
                <a:moveTo>
                  <a:pt x="0" y="0"/>
                </a:moveTo>
                <a:lnTo>
                  <a:pt x="3909298" y="0"/>
                </a:lnTo>
                <a:lnTo>
                  <a:pt x="3909298" y="3788569"/>
                </a:lnTo>
                <a:lnTo>
                  <a:pt x="0" y="37885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3350002" y="3143393"/>
            <a:ext cx="3909298" cy="4046458"/>
          </a:xfrm>
          <a:custGeom>
            <a:avLst/>
            <a:gdLst/>
            <a:ahLst/>
            <a:cxnLst/>
            <a:rect r="r" b="b" t="t" l="l"/>
            <a:pathLst>
              <a:path h="4046458" w="3909298">
                <a:moveTo>
                  <a:pt x="0" y="0"/>
                </a:moveTo>
                <a:lnTo>
                  <a:pt x="3909298" y="0"/>
                </a:lnTo>
                <a:lnTo>
                  <a:pt x="3909298" y="4046458"/>
                </a:lnTo>
                <a:lnTo>
                  <a:pt x="0" y="40464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4607928" y="3514649"/>
            <a:ext cx="850621" cy="850621"/>
          </a:xfrm>
          <a:custGeom>
            <a:avLst/>
            <a:gdLst/>
            <a:ahLst/>
            <a:cxnLst/>
            <a:rect r="r" b="b" t="t" l="l"/>
            <a:pathLst>
              <a:path h="850621" w="850621">
                <a:moveTo>
                  <a:pt x="0" y="0"/>
                </a:moveTo>
                <a:lnTo>
                  <a:pt x="850621" y="0"/>
                </a:lnTo>
                <a:lnTo>
                  <a:pt x="850621" y="850620"/>
                </a:lnTo>
                <a:lnTo>
                  <a:pt x="0" y="8506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8718690" y="3514649"/>
            <a:ext cx="850621" cy="850621"/>
          </a:xfrm>
          <a:custGeom>
            <a:avLst/>
            <a:gdLst/>
            <a:ahLst/>
            <a:cxnLst/>
            <a:rect r="r" b="b" t="t" l="l"/>
            <a:pathLst>
              <a:path h="850621" w="850621">
                <a:moveTo>
                  <a:pt x="0" y="0"/>
                </a:moveTo>
                <a:lnTo>
                  <a:pt x="850620" y="0"/>
                </a:lnTo>
                <a:lnTo>
                  <a:pt x="850620" y="850620"/>
                </a:lnTo>
                <a:lnTo>
                  <a:pt x="0" y="8506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2845910" y="3514649"/>
            <a:ext cx="850621" cy="850621"/>
          </a:xfrm>
          <a:custGeom>
            <a:avLst/>
            <a:gdLst/>
            <a:ahLst/>
            <a:cxnLst/>
            <a:rect r="r" b="b" t="t" l="l"/>
            <a:pathLst>
              <a:path h="850621" w="850621">
                <a:moveTo>
                  <a:pt x="0" y="0"/>
                </a:moveTo>
                <a:lnTo>
                  <a:pt x="850621" y="0"/>
                </a:lnTo>
                <a:lnTo>
                  <a:pt x="850621" y="850620"/>
                </a:lnTo>
                <a:lnTo>
                  <a:pt x="0" y="8506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9018784" y="3816972"/>
            <a:ext cx="227952" cy="265043"/>
          </a:xfrm>
          <a:custGeom>
            <a:avLst/>
            <a:gdLst/>
            <a:ahLst/>
            <a:cxnLst/>
            <a:rect r="r" b="b" t="t" l="l"/>
            <a:pathLst>
              <a:path h="265043" w="227952">
                <a:moveTo>
                  <a:pt x="0" y="0"/>
                </a:moveTo>
                <a:lnTo>
                  <a:pt x="227953" y="0"/>
                </a:lnTo>
                <a:lnTo>
                  <a:pt x="227953" y="265043"/>
                </a:lnTo>
                <a:lnTo>
                  <a:pt x="0" y="26504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3131660" y="3816972"/>
            <a:ext cx="227952" cy="265043"/>
          </a:xfrm>
          <a:custGeom>
            <a:avLst/>
            <a:gdLst/>
            <a:ahLst/>
            <a:cxnLst/>
            <a:rect r="r" b="b" t="t" l="l"/>
            <a:pathLst>
              <a:path h="265043" w="227952">
                <a:moveTo>
                  <a:pt x="0" y="0"/>
                </a:moveTo>
                <a:lnTo>
                  <a:pt x="227953" y="0"/>
                </a:lnTo>
                <a:lnTo>
                  <a:pt x="227953" y="265043"/>
                </a:lnTo>
                <a:lnTo>
                  <a:pt x="0" y="26504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4918015" y="3816972"/>
            <a:ext cx="227952" cy="265043"/>
          </a:xfrm>
          <a:custGeom>
            <a:avLst/>
            <a:gdLst/>
            <a:ahLst/>
            <a:cxnLst/>
            <a:rect r="r" b="b" t="t" l="l"/>
            <a:pathLst>
              <a:path h="265043" w="227952">
                <a:moveTo>
                  <a:pt x="0" y="0"/>
                </a:moveTo>
                <a:lnTo>
                  <a:pt x="227952" y="0"/>
                </a:lnTo>
                <a:lnTo>
                  <a:pt x="227952" y="265043"/>
                </a:lnTo>
                <a:lnTo>
                  <a:pt x="0" y="26504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AutoShape 12" id="12"/>
          <p:cNvSpPr/>
          <p:nvPr/>
        </p:nvSpPr>
        <p:spPr>
          <a:xfrm rot="16140">
            <a:off x="1255147" y="2573493"/>
            <a:ext cx="16213465" cy="0"/>
          </a:xfrm>
          <a:prstGeom prst="line">
            <a:avLst/>
          </a:prstGeom>
          <a:ln cap="rnd" w="57150">
            <a:solidFill>
              <a:srgbClr val="D9D9D9"/>
            </a:solidFill>
            <a:prstDash val="solid"/>
            <a:headEnd type="none" len="sm" w="sm"/>
            <a:tailEnd type="none" len="sm" w="sm"/>
          </a:ln>
        </p:spPr>
      </p:sp>
      <p:sp>
        <p:nvSpPr>
          <p:cNvPr name="TextBox 13" id="13"/>
          <p:cNvSpPr txBox="true"/>
          <p:nvPr/>
        </p:nvSpPr>
        <p:spPr>
          <a:xfrm rot="0">
            <a:off x="1028700" y="947099"/>
            <a:ext cx="16230600" cy="908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PROCESO DE COMPILACIÓN CRUZADA</a:t>
            </a:r>
          </a:p>
        </p:txBody>
      </p:sp>
      <p:sp>
        <p:nvSpPr>
          <p:cNvPr name="TextBox 14" id="14"/>
          <p:cNvSpPr txBox="true"/>
          <p:nvPr/>
        </p:nvSpPr>
        <p:spPr>
          <a:xfrm rot="0">
            <a:off x="1184224" y="4100808"/>
            <a:ext cx="3532480" cy="3719198"/>
          </a:xfrm>
          <a:prstGeom prst="rect">
            <a:avLst/>
          </a:prstGeom>
        </p:spPr>
        <p:txBody>
          <a:bodyPr anchor="t" rtlCol="false" tIns="0" lIns="0" bIns="0" rIns="0">
            <a:spAutoFit/>
          </a:bodyPr>
          <a:lstStyle/>
          <a:p>
            <a:pPr algn="ctr">
              <a:lnSpc>
                <a:spcPts val="2964"/>
              </a:lnSpc>
            </a:pPr>
            <a:r>
              <a:rPr lang="en-US" sz="1900">
                <a:solidFill>
                  <a:srgbClr val="1A0A33"/>
                </a:solidFill>
                <a:latin typeface="Montserrat"/>
                <a:ea typeface="Montserrat"/>
                <a:cs typeface="Montserrat"/>
                <a:sym typeface="Montserrat"/>
              </a:rPr>
              <a:t>Se instalan las herramientas de compilación necesarias (como el compilador cruzado) y se configuran en el sistema host. Este paso implica especificar los caminos y las banderas necesarias para el compilador, dependiendo de la arquitectura del dispositivo objetivo.</a:t>
            </a:r>
          </a:p>
        </p:txBody>
      </p:sp>
      <p:sp>
        <p:nvSpPr>
          <p:cNvPr name="TextBox 15" id="15"/>
          <p:cNvSpPr txBox="true"/>
          <p:nvPr/>
        </p:nvSpPr>
        <p:spPr>
          <a:xfrm rot="0">
            <a:off x="9607410" y="3755498"/>
            <a:ext cx="3238500" cy="2804798"/>
          </a:xfrm>
          <a:prstGeom prst="rect">
            <a:avLst/>
          </a:prstGeom>
        </p:spPr>
        <p:txBody>
          <a:bodyPr anchor="t" rtlCol="false" tIns="0" lIns="0" bIns="0" rIns="0">
            <a:spAutoFit/>
          </a:bodyPr>
          <a:lstStyle/>
          <a:p>
            <a:pPr algn="ctr">
              <a:lnSpc>
                <a:spcPts val="2964"/>
              </a:lnSpc>
            </a:pPr>
            <a:r>
              <a:rPr lang="en-US" sz="1900">
                <a:solidFill>
                  <a:srgbClr val="FFFFFF"/>
                </a:solidFill>
                <a:latin typeface="Montserrat"/>
                <a:ea typeface="Montserrat"/>
                <a:cs typeface="Montserrat"/>
                <a:sym typeface="Montserrat"/>
              </a:rPr>
              <a:t>Se ejecuta el compilador cruzado, configurado con las banderas y opciones adecuadas, para generar un archivo binario ejecutable compatible con el dispositivo objetivo.</a:t>
            </a:r>
          </a:p>
        </p:txBody>
      </p:sp>
      <p:sp>
        <p:nvSpPr>
          <p:cNvPr name="TextBox 16" id="16"/>
          <p:cNvSpPr txBox="true"/>
          <p:nvPr/>
        </p:nvSpPr>
        <p:spPr>
          <a:xfrm rot="0">
            <a:off x="5483323" y="3963743"/>
            <a:ext cx="3260131" cy="2804798"/>
          </a:xfrm>
          <a:prstGeom prst="rect">
            <a:avLst/>
          </a:prstGeom>
        </p:spPr>
        <p:txBody>
          <a:bodyPr anchor="t" rtlCol="false" tIns="0" lIns="0" bIns="0" rIns="0">
            <a:spAutoFit/>
          </a:bodyPr>
          <a:lstStyle/>
          <a:p>
            <a:pPr algn="ctr">
              <a:lnSpc>
                <a:spcPts val="2964"/>
              </a:lnSpc>
            </a:pPr>
            <a:r>
              <a:rPr lang="en-US" sz="1900">
                <a:solidFill>
                  <a:srgbClr val="1A0A33"/>
                </a:solidFill>
                <a:latin typeface="Montserrat"/>
                <a:ea typeface="Montserrat"/>
                <a:cs typeface="Montserrat"/>
                <a:sym typeface="Montserrat"/>
              </a:rPr>
              <a:t>El código se escribe en un lenguaje compatible (habitualmente C o C++), teniendo en cuenta las limitaciones del sistema embebido y optimizando para el tamaño y eficiencia del binario.</a:t>
            </a:r>
          </a:p>
        </p:txBody>
      </p:sp>
      <p:sp>
        <p:nvSpPr>
          <p:cNvPr name="TextBox 17" id="17"/>
          <p:cNvSpPr txBox="true"/>
          <p:nvPr/>
        </p:nvSpPr>
        <p:spPr>
          <a:xfrm rot="0">
            <a:off x="13613330" y="3671002"/>
            <a:ext cx="3532480" cy="3414398"/>
          </a:xfrm>
          <a:prstGeom prst="rect">
            <a:avLst/>
          </a:prstGeom>
        </p:spPr>
        <p:txBody>
          <a:bodyPr anchor="t" rtlCol="false" tIns="0" lIns="0" bIns="0" rIns="0">
            <a:spAutoFit/>
          </a:bodyPr>
          <a:lstStyle/>
          <a:p>
            <a:pPr algn="ctr">
              <a:lnSpc>
                <a:spcPts val="2964"/>
              </a:lnSpc>
            </a:pPr>
            <a:r>
              <a:rPr lang="en-US" sz="1900">
                <a:solidFill>
                  <a:srgbClr val="FFFFFF"/>
                </a:solidFill>
                <a:latin typeface="Montserrat"/>
                <a:ea typeface="Montserrat"/>
                <a:cs typeface="Montserrat"/>
                <a:sym typeface="Montserrat"/>
              </a:rPr>
              <a:t>Una vez generado el binario, se transfiere al dispositivo mediante USB, JTAG, o a través de un puerto de serie. Luego, se realizan pruebas para asegurar que el software funcione correctamente en el hardware de destino, y se depuran posibles errores</a:t>
            </a:r>
          </a:p>
        </p:txBody>
      </p:sp>
      <p:sp>
        <p:nvSpPr>
          <p:cNvPr name="TextBox 18" id="18"/>
          <p:cNvSpPr txBox="true"/>
          <p:nvPr/>
        </p:nvSpPr>
        <p:spPr>
          <a:xfrm rot="0">
            <a:off x="1020299" y="3378270"/>
            <a:ext cx="3860321" cy="671198"/>
          </a:xfrm>
          <a:prstGeom prst="rect">
            <a:avLst/>
          </a:prstGeom>
        </p:spPr>
        <p:txBody>
          <a:bodyPr anchor="t" rtlCol="false" tIns="0" lIns="0" bIns="0" rIns="0">
            <a:spAutoFit/>
          </a:bodyPr>
          <a:lstStyle/>
          <a:p>
            <a:pPr algn="ctr">
              <a:lnSpc>
                <a:spcPts val="2964"/>
              </a:lnSpc>
            </a:pPr>
            <a:r>
              <a:rPr lang="en-US" b="true" sz="1900">
                <a:solidFill>
                  <a:srgbClr val="1A0A33"/>
                </a:solidFill>
                <a:latin typeface="Montserrat Bold"/>
                <a:ea typeface="Montserrat Bold"/>
                <a:cs typeface="Montserrat Bold"/>
                <a:sym typeface="Montserrat Bold"/>
              </a:rPr>
              <a:t>CONFIGURACIÓN DEL ENTORNO</a:t>
            </a:r>
          </a:p>
        </p:txBody>
      </p:sp>
      <p:sp>
        <p:nvSpPr>
          <p:cNvPr name="TextBox 19" id="19"/>
          <p:cNvSpPr txBox="true"/>
          <p:nvPr/>
        </p:nvSpPr>
        <p:spPr>
          <a:xfrm rot="0">
            <a:off x="9291876" y="3251768"/>
            <a:ext cx="3860321" cy="366398"/>
          </a:xfrm>
          <a:prstGeom prst="rect">
            <a:avLst/>
          </a:prstGeom>
        </p:spPr>
        <p:txBody>
          <a:bodyPr anchor="t" rtlCol="false" tIns="0" lIns="0" bIns="0" rIns="0">
            <a:spAutoFit/>
          </a:bodyPr>
          <a:lstStyle/>
          <a:p>
            <a:pPr algn="ctr">
              <a:lnSpc>
                <a:spcPts val="2964"/>
              </a:lnSpc>
            </a:pPr>
            <a:r>
              <a:rPr lang="en-US" b="true" sz="1900">
                <a:solidFill>
                  <a:srgbClr val="FFFFFF"/>
                </a:solidFill>
                <a:latin typeface="Montserrat Bold"/>
                <a:ea typeface="Montserrat Bold"/>
                <a:cs typeface="Montserrat Bold"/>
                <a:sym typeface="Montserrat Bold"/>
              </a:rPr>
              <a:t>COMPILACIÓN</a:t>
            </a:r>
          </a:p>
        </p:txBody>
      </p:sp>
      <p:sp>
        <p:nvSpPr>
          <p:cNvPr name="TextBox 20" id="20"/>
          <p:cNvSpPr txBox="true"/>
          <p:nvPr/>
        </p:nvSpPr>
        <p:spPr>
          <a:xfrm rot="0">
            <a:off x="5437442" y="3239710"/>
            <a:ext cx="3306023" cy="671198"/>
          </a:xfrm>
          <a:prstGeom prst="rect">
            <a:avLst/>
          </a:prstGeom>
        </p:spPr>
        <p:txBody>
          <a:bodyPr anchor="t" rtlCol="false" tIns="0" lIns="0" bIns="0" rIns="0">
            <a:spAutoFit/>
          </a:bodyPr>
          <a:lstStyle/>
          <a:p>
            <a:pPr algn="ctr">
              <a:lnSpc>
                <a:spcPts val="2964"/>
              </a:lnSpc>
            </a:pPr>
            <a:r>
              <a:rPr lang="en-US" b="true" sz="1900">
                <a:solidFill>
                  <a:srgbClr val="1A0A33"/>
                </a:solidFill>
                <a:latin typeface="Montserrat Bold"/>
                <a:ea typeface="Montserrat Bold"/>
                <a:cs typeface="Montserrat Bold"/>
                <a:sym typeface="Montserrat Bold"/>
              </a:rPr>
              <a:t>DESARROLLO DE CÓDIGO</a:t>
            </a:r>
          </a:p>
        </p:txBody>
      </p:sp>
      <p:sp>
        <p:nvSpPr>
          <p:cNvPr name="TextBox 21" id="21"/>
          <p:cNvSpPr txBox="true"/>
          <p:nvPr/>
        </p:nvSpPr>
        <p:spPr>
          <a:xfrm rot="0">
            <a:off x="13404609" y="3251768"/>
            <a:ext cx="3860321" cy="366398"/>
          </a:xfrm>
          <a:prstGeom prst="rect">
            <a:avLst/>
          </a:prstGeom>
        </p:spPr>
        <p:txBody>
          <a:bodyPr anchor="t" rtlCol="false" tIns="0" lIns="0" bIns="0" rIns="0">
            <a:spAutoFit/>
          </a:bodyPr>
          <a:lstStyle/>
          <a:p>
            <a:pPr algn="ctr">
              <a:lnSpc>
                <a:spcPts val="2964"/>
              </a:lnSpc>
            </a:pPr>
            <a:r>
              <a:rPr lang="en-US" b="true" sz="1900">
                <a:solidFill>
                  <a:srgbClr val="FFFFFF"/>
                </a:solidFill>
                <a:latin typeface="Montserrat Bold"/>
                <a:ea typeface="Montserrat Bold"/>
                <a:cs typeface="Montserrat Bold"/>
                <a:sym typeface="Montserrat Bold"/>
              </a:rPr>
              <a:t>CARGA Y PRUEBA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3038153" y="1028700"/>
            <a:ext cx="4221147" cy="5880544"/>
            <a:chOff x="0" y="0"/>
            <a:chExt cx="5628196" cy="7840726"/>
          </a:xfrm>
        </p:grpSpPr>
        <p:sp>
          <p:nvSpPr>
            <p:cNvPr name="Freeform 3" id="3"/>
            <p:cNvSpPr/>
            <p:nvPr/>
          </p:nvSpPr>
          <p:spPr>
            <a:xfrm flipH="false" flipV="false" rot="0">
              <a:off x="0" y="0"/>
              <a:ext cx="5628132" cy="7840726"/>
            </a:xfrm>
            <a:custGeom>
              <a:avLst/>
              <a:gdLst/>
              <a:ahLst/>
              <a:cxnLst/>
              <a:rect r="r" b="b" t="t" l="l"/>
              <a:pathLst>
                <a:path h="7840726" w="5628132">
                  <a:moveTo>
                    <a:pt x="0" y="0"/>
                  </a:moveTo>
                  <a:lnTo>
                    <a:pt x="5628132" y="0"/>
                  </a:lnTo>
                  <a:lnTo>
                    <a:pt x="5628132" y="7840726"/>
                  </a:lnTo>
                  <a:lnTo>
                    <a:pt x="0" y="7840726"/>
                  </a:lnTo>
                  <a:lnTo>
                    <a:pt x="0" y="0"/>
                  </a:lnTo>
                  <a:close/>
                </a:path>
              </a:pathLst>
            </a:custGeom>
            <a:blipFill>
              <a:blip r:embed="rId3"/>
              <a:stretch>
                <a:fillRect l="-61450" t="0" r="-61451" b="0"/>
              </a:stretch>
            </a:blipFill>
          </p:spPr>
        </p:sp>
      </p:grpSp>
      <p:grpSp>
        <p:nvGrpSpPr>
          <p:cNvPr name="Group 4" id="4"/>
          <p:cNvGrpSpPr/>
          <p:nvPr/>
        </p:nvGrpSpPr>
        <p:grpSpPr>
          <a:xfrm rot="0">
            <a:off x="8235172" y="1028700"/>
            <a:ext cx="4221147" cy="5852922"/>
            <a:chOff x="0" y="0"/>
            <a:chExt cx="5628196" cy="7803896"/>
          </a:xfrm>
        </p:grpSpPr>
        <p:sp>
          <p:nvSpPr>
            <p:cNvPr name="Freeform 5" id="5"/>
            <p:cNvSpPr/>
            <p:nvPr/>
          </p:nvSpPr>
          <p:spPr>
            <a:xfrm flipH="false" flipV="false" rot="0">
              <a:off x="0" y="0"/>
              <a:ext cx="5628132" cy="7803896"/>
            </a:xfrm>
            <a:custGeom>
              <a:avLst/>
              <a:gdLst/>
              <a:ahLst/>
              <a:cxnLst/>
              <a:rect r="r" b="b" t="t" l="l"/>
              <a:pathLst>
                <a:path h="7803896" w="5628132">
                  <a:moveTo>
                    <a:pt x="0" y="0"/>
                  </a:moveTo>
                  <a:lnTo>
                    <a:pt x="5628132" y="0"/>
                  </a:lnTo>
                  <a:lnTo>
                    <a:pt x="5628132" y="7803896"/>
                  </a:lnTo>
                  <a:lnTo>
                    <a:pt x="0" y="7803896"/>
                  </a:lnTo>
                  <a:lnTo>
                    <a:pt x="0" y="0"/>
                  </a:lnTo>
                  <a:close/>
                </a:path>
              </a:pathLst>
            </a:custGeom>
            <a:blipFill>
              <a:blip r:embed="rId4"/>
              <a:stretch>
                <a:fillRect l="-53942" t="0" r="-53943" b="0"/>
              </a:stretch>
            </a:blipFill>
          </p:spPr>
        </p:sp>
      </p:grpSp>
      <p:sp>
        <p:nvSpPr>
          <p:cNvPr name="Freeform 6" id="6"/>
          <p:cNvSpPr/>
          <p:nvPr/>
        </p:nvSpPr>
        <p:spPr>
          <a:xfrm flipH="false" flipV="false" rot="0">
            <a:off x="14662033" y="6422555"/>
            <a:ext cx="973407" cy="973407"/>
          </a:xfrm>
          <a:custGeom>
            <a:avLst/>
            <a:gdLst/>
            <a:ahLst/>
            <a:cxnLst/>
            <a:rect r="r" b="b" t="t" l="l"/>
            <a:pathLst>
              <a:path h="973407" w="973407">
                <a:moveTo>
                  <a:pt x="0" y="0"/>
                </a:moveTo>
                <a:lnTo>
                  <a:pt x="973407" y="0"/>
                </a:lnTo>
                <a:lnTo>
                  <a:pt x="973407" y="973407"/>
                </a:lnTo>
                <a:lnTo>
                  <a:pt x="0" y="9734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859051" y="6394933"/>
            <a:ext cx="973407" cy="973407"/>
          </a:xfrm>
          <a:custGeom>
            <a:avLst/>
            <a:gdLst/>
            <a:ahLst/>
            <a:cxnLst/>
            <a:rect r="r" b="b" t="t" l="l"/>
            <a:pathLst>
              <a:path h="973407" w="973407">
                <a:moveTo>
                  <a:pt x="0" y="0"/>
                </a:moveTo>
                <a:lnTo>
                  <a:pt x="973408" y="0"/>
                </a:lnTo>
                <a:lnTo>
                  <a:pt x="973408" y="973407"/>
                </a:lnTo>
                <a:lnTo>
                  <a:pt x="0" y="9734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028700" y="6466580"/>
            <a:ext cx="4349601" cy="2380898"/>
          </a:xfrm>
          <a:custGeom>
            <a:avLst/>
            <a:gdLst/>
            <a:ahLst/>
            <a:cxnLst/>
            <a:rect r="r" b="b" t="t" l="l"/>
            <a:pathLst>
              <a:path h="2380898" w="4349601">
                <a:moveTo>
                  <a:pt x="0" y="0"/>
                </a:moveTo>
                <a:lnTo>
                  <a:pt x="4349601" y="0"/>
                </a:lnTo>
                <a:lnTo>
                  <a:pt x="4349601" y="2380897"/>
                </a:lnTo>
                <a:lnTo>
                  <a:pt x="0" y="23808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9" id="9"/>
          <p:cNvGrpSpPr/>
          <p:nvPr/>
        </p:nvGrpSpPr>
        <p:grpSpPr>
          <a:xfrm rot="-5400000">
            <a:off x="10079907" y="6667624"/>
            <a:ext cx="531666" cy="427996"/>
            <a:chOff x="0" y="0"/>
            <a:chExt cx="708889" cy="570662"/>
          </a:xfrm>
        </p:grpSpPr>
        <p:sp>
          <p:nvSpPr>
            <p:cNvPr name="Freeform 10" id="10"/>
            <p:cNvSpPr/>
            <p:nvPr/>
          </p:nvSpPr>
          <p:spPr>
            <a:xfrm flipH="false" flipV="false" rot="0">
              <a:off x="0" y="0"/>
              <a:ext cx="708914" cy="570611"/>
            </a:xfrm>
            <a:custGeom>
              <a:avLst/>
              <a:gdLst/>
              <a:ahLst/>
              <a:cxnLst/>
              <a:rect r="r" b="b" t="t" l="l"/>
              <a:pathLst>
                <a:path h="570611" w="708914">
                  <a:moveTo>
                    <a:pt x="0" y="0"/>
                  </a:moveTo>
                  <a:lnTo>
                    <a:pt x="708914" y="0"/>
                  </a:lnTo>
                  <a:lnTo>
                    <a:pt x="708914" y="570611"/>
                  </a:lnTo>
                  <a:lnTo>
                    <a:pt x="0" y="570611"/>
                  </a:lnTo>
                  <a:lnTo>
                    <a:pt x="0" y="0"/>
                  </a:lnTo>
                  <a:close/>
                </a:path>
              </a:pathLst>
            </a:custGeom>
            <a:blipFill>
              <a:blip r:embed="rId11"/>
              <a:stretch>
                <a:fillRect l="0" t="-20" r="3" b="-26"/>
              </a:stretch>
            </a:blipFill>
          </p:spPr>
        </p:sp>
      </p:grpSp>
      <p:sp>
        <p:nvSpPr>
          <p:cNvPr name="TextBox 11" id="11"/>
          <p:cNvSpPr txBox="true"/>
          <p:nvPr/>
        </p:nvSpPr>
        <p:spPr>
          <a:xfrm rot="0">
            <a:off x="13038153" y="8099698"/>
            <a:ext cx="4557303" cy="2359952"/>
          </a:xfrm>
          <a:prstGeom prst="rect">
            <a:avLst/>
          </a:prstGeom>
        </p:spPr>
        <p:txBody>
          <a:bodyPr anchor="t" rtlCol="false" tIns="0" lIns="0" bIns="0" rIns="0">
            <a:spAutoFit/>
          </a:bodyPr>
          <a:lstStyle/>
          <a:p>
            <a:pPr algn="l" marL="388621" indent="-129540" lvl="2">
              <a:lnSpc>
                <a:spcPts val="2652"/>
              </a:lnSpc>
              <a:buFont typeface="Arial"/>
              <a:buChar char="⚬"/>
            </a:pPr>
            <a:r>
              <a:rPr lang="en-US" sz="1700">
                <a:solidFill>
                  <a:srgbClr val="FFFFFF"/>
                </a:solidFill>
                <a:latin typeface="Montserrat"/>
                <a:ea typeface="Montserrat"/>
                <a:cs typeface="Montserrat"/>
                <a:sym typeface="Montserrat"/>
              </a:rPr>
              <a:t>Permiten la construcción de aplicaciones distribuidas modulares y escalables.</a:t>
            </a:r>
          </a:p>
          <a:p>
            <a:pPr algn="l" marL="388621" indent="-129540" lvl="2">
              <a:lnSpc>
                <a:spcPts val="2652"/>
              </a:lnSpc>
              <a:buFont typeface="Arial"/>
              <a:buChar char="⚬"/>
            </a:pPr>
            <a:r>
              <a:rPr lang="en-US" sz="1700">
                <a:solidFill>
                  <a:srgbClr val="FFFFFF"/>
                </a:solidFill>
                <a:latin typeface="Montserrat"/>
                <a:ea typeface="Montserrat"/>
                <a:cs typeface="Montserrat"/>
                <a:sym typeface="Montserrat"/>
              </a:rPr>
              <a:t>Facilitan la reutilización de servicios y recursos en diferentes partes de una red.</a:t>
            </a:r>
          </a:p>
          <a:p>
            <a:pPr algn="l" marL="320041" indent="-106680" lvl="2">
              <a:lnSpc>
                <a:spcPts val="2183"/>
              </a:lnSpc>
            </a:pPr>
          </a:p>
        </p:txBody>
      </p:sp>
      <p:sp>
        <p:nvSpPr>
          <p:cNvPr name="TextBox 12" id="12"/>
          <p:cNvSpPr txBox="true"/>
          <p:nvPr/>
        </p:nvSpPr>
        <p:spPr>
          <a:xfrm rot="0">
            <a:off x="8045644" y="7975873"/>
            <a:ext cx="4600204" cy="2019748"/>
          </a:xfrm>
          <a:prstGeom prst="rect">
            <a:avLst/>
          </a:prstGeom>
        </p:spPr>
        <p:txBody>
          <a:bodyPr anchor="t" rtlCol="false" tIns="0" lIns="0" bIns="0" rIns="0">
            <a:spAutoFit/>
          </a:bodyPr>
          <a:lstStyle/>
          <a:p>
            <a:pPr algn="l" marL="388621" indent="-129540" lvl="2">
              <a:lnSpc>
                <a:spcPts val="2652"/>
              </a:lnSpc>
              <a:buFont typeface="Arial"/>
              <a:buChar char="⚬"/>
            </a:pPr>
            <a:r>
              <a:rPr lang="en-US" sz="1700">
                <a:solidFill>
                  <a:srgbClr val="FFFFFF"/>
                </a:solidFill>
                <a:latin typeface="Montserrat"/>
                <a:ea typeface="Montserrat"/>
                <a:cs typeface="Montserrat"/>
                <a:sym typeface="Montserrat"/>
              </a:rPr>
              <a:t>El cliente invoca una función local que, en realidad, envía una solicitud al servidor.</a:t>
            </a:r>
          </a:p>
          <a:p>
            <a:pPr algn="l" marL="388621" indent="-129540" lvl="2">
              <a:lnSpc>
                <a:spcPts val="2652"/>
              </a:lnSpc>
              <a:buFont typeface="Arial"/>
              <a:buChar char="⚬"/>
            </a:pPr>
            <a:r>
              <a:rPr lang="en-US" sz="1700">
                <a:solidFill>
                  <a:srgbClr val="FFFFFF"/>
                </a:solidFill>
                <a:latin typeface="Montserrat"/>
                <a:ea typeface="Montserrat"/>
                <a:cs typeface="Montserrat"/>
                <a:sym typeface="Montserrat"/>
              </a:rPr>
              <a:t>El servidor ejecuta la función solicitada y devuelve el resultado al cliente.</a:t>
            </a:r>
          </a:p>
          <a:p>
            <a:pPr algn="l" marL="320041" indent="-106680" lvl="2">
              <a:lnSpc>
                <a:spcPts val="2183"/>
              </a:lnSpc>
            </a:pPr>
          </a:p>
        </p:txBody>
      </p:sp>
      <p:sp>
        <p:nvSpPr>
          <p:cNvPr name="TextBox 13" id="13"/>
          <p:cNvSpPr txBox="true"/>
          <p:nvPr/>
        </p:nvSpPr>
        <p:spPr>
          <a:xfrm rot="0">
            <a:off x="13414562" y="7445016"/>
            <a:ext cx="3468300" cy="658949"/>
          </a:xfrm>
          <a:prstGeom prst="rect">
            <a:avLst/>
          </a:prstGeom>
        </p:spPr>
        <p:txBody>
          <a:bodyPr anchor="t" rtlCol="false" tIns="0" lIns="0" bIns="0" rIns="0">
            <a:spAutoFit/>
          </a:bodyPr>
          <a:lstStyle/>
          <a:p>
            <a:pPr algn="ctr">
              <a:lnSpc>
                <a:spcPts val="2652"/>
              </a:lnSpc>
            </a:pPr>
            <a:r>
              <a:rPr lang="en-US" b="true" sz="1700">
                <a:solidFill>
                  <a:srgbClr val="FFFFFF"/>
                </a:solidFill>
                <a:latin typeface="Montserrat Bold"/>
                <a:ea typeface="Montserrat Bold"/>
                <a:cs typeface="Montserrat Bold"/>
                <a:sym typeface="Montserrat Bold"/>
              </a:rPr>
              <a:t>IMPORTANCIA EN LOS SISTEMAS DISTRIBUIDOS</a:t>
            </a:r>
          </a:p>
        </p:txBody>
      </p:sp>
      <p:sp>
        <p:nvSpPr>
          <p:cNvPr name="TextBox 14" id="14"/>
          <p:cNvSpPr txBox="true"/>
          <p:nvPr/>
        </p:nvSpPr>
        <p:spPr>
          <a:xfrm rot="0">
            <a:off x="8611572" y="7555497"/>
            <a:ext cx="3468300" cy="318754"/>
          </a:xfrm>
          <a:prstGeom prst="rect">
            <a:avLst/>
          </a:prstGeom>
        </p:spPr>
        <p:txBody>
          <a:bodyPr anchor="t" rtlCol="false" tIns="0" lIns="0" bIns="0" rIns="0">
            <a:spAutoFit/>
          </a:bodyPr>
          <a:lstStyle/>
          <a:p>
            <a:pPr algn="ctr">
              <a:lnSpc>
                <a:spcPts val="2652"/>
              </a:lnSpc>
            </a:pPr>
            <a:r>
              <a:rPr lang="en-US" b="true" sz="1700">
                <a:solidFill>
                  <a:srgbClr val="FFFFFF"/>
                </a:solidFill>
                <a:latin typeface="Montserrat Bold"/>
                <a:ea typeface="Montserrat Bold"/>
                <a:cs typeface="Montserrat Bold"/>
                <a:sym typeface="Montserrat Bold"/>
              </a:rPr>
              <a:t>¿CÓMO FUNCIONA?</a:t>
            </a:r>
          </a:p>
        </p:txBody>
      </p:sp>
      <p:sp>
        <p:nvSpPr>
          <p:cNvPr name="TextBox 15" id="15"/>
          <p:cNvSpPr txBox="true"/>
          <p:nvPr/>
        </p:nvSpPr>
        <p:spPr>
          <a:xfrm rot="0">
            <a:off x="1028700" y="914314"/>
            <a:ext cx="6625504" cy="2325300"/>
          </a:xfrm>
          <a:prstGeom prst="rect">
            <a:avLst/>
          </a:prstGeom>
        </p:spPr>
        <p:txBody>
          <a:bodyPr anchor="t" rtlCol="false" tIns="0" lIns="0" bIns="0" rIns="0">
            <a:spAutoFit/>
          </a:bodyPr>
          <a:lstStyle/>
          <a:p>
            <a:pPr algn="l">
              <a:lnSpc>
                <a:spcPts val="6098"/>
              </a:lnSpc>
            </a:pPr>
            <a:r>
              <a:rPr lang="en-US" sz="4200">
                <a:solidFill>
                  <a:srgbClr val="FFFFFF"/>
                </a:solidFill>
                <a:latin typeface="Arial"/>
                <a:ea typeface="Arial"/>
                <a:cs typeface="Arial"/>
                <a:sym typeface="Arial"/>
              </a:rPr>
              <a:t>LLAMADAS A PROCEDIMIENTOS REMOTOS (</a:t>
            </a:r>
            <a:r>
              <a:rPr lang="en-US" sz="4200">
                <a:solidFill>
                  <a:srgbClr val="ACFDDB"/>
                </a:solidFill>
                <a:latin typeface="Arial"/>
                <a:ea typeface="Arial"/>
                <a:cs typeface="Arial"/>
                <a:sym typeface="Arial"/>
              </a:rPr>
              <a:t>RPC</a:t>
            </a:r>
            <a:r>
              <a:rPr lang="en-US" sz="4200">
                <a:solidFill>
                  <a:srgbClr val="FFFFFF"/>
                </a:solidFill>
                <a:latin typeface="Arial"/>
                <a:ea typeface="Arial"/>
                <a:cs typeface="Arial"/>
                <a:sym typeface="Arial"/>
              </a:rPr>
              <a:t>)</a:t>
            </a:r>
          </a:p>
        </p:txBody>
      </p:sp>
      <p:sp>
        <p:nvSpPr>
          <p:cNvPr name="TextBox 16" id="16"/>
          <p:cNvSpPr txBox="true"/>
          <p:nvPr/>
        </p:nvSpPr>
        <p:spPr>
          <a:xfrm rot="0">
            <a:off x="1028700" y="3276914"/>
            <a:ext cx="5698503" cy="235995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Las Llamadas a Procedimientos Remotos (RPC, por sus siglas en inglés) son un mecanismo que permite a un programa ejecutar una función o procedimiento en una </a:t>
            </a:r>
            <a:r>
              <a:rPr lang="en-US" sz="1700">
                <a:solidFill>
                  <a:srgbClr val="ACFDDB"/>
                </a:solidFill>
                <a:latin typeface="Montserrat"/>
                <a:ea typeface="Montserrat"/>
                <a:cs typeface="Montserrat"/>
                <a:sym typeface="Montserrat"/>
              </a:rPr>
              <a:t>computadora remota </a:t>
            </a:r>
            <a:r>
              <a:rPr lang="en-US" sz="1700">
                <a:solidFill>
                  <a:srgbClr val="FFFFFF"/>
                </a:solidFill>
                <a:latin typeface="Montserrat"/>
                <a:ea typeface="Montserrat"/>
                <a:cs typeface="Montserrat"/>
                <a:sym typeface="Montserrat"/>
              </a:rPr>
              <a:t>como si fuera una llamada local. Este enfoque facilita la comunicación y la colaboración entre diferentes sistemas dentro de un entorno distribuido.</a:t>
            </a:r>
          </a:p>
        </p:txBody>
      </p:sp>
      <p:sp>
        <p:nvSpPr>
          <p:cNvPr name="TextBox 17" id="17"/>
          <p:cNvSpPr txBox="true"/>
          <p:nvPr/>
        </p:nvSpPr>
        <p:spPr>
          <a:xfrm rot="0">
            <a:off x="1116921" y="7051824"/>
            <a:ext cx="4536900" cy="1886026"/>
          </a:xfrm>
          <a:prstGeom prst="rect">
            <a:avLst/>
          </a:prstGeom>
        </p:spPr>
        <p:txBody>
          <a:bodyPr anchor="t" rtlCol="false" tIns="0" lIns="0" bIns="0" rIns="0">
            <a:spAutoFit/>
          </a:bodyPr>
          <a:lstStyle/>
          <a:p>
            <a:pPr algn="l" marL="388621" indent="-129540" lvl="2">
              <a:lnSpc>
                <a:spcPts val="2998"/>
              </a:lnSpc>
              <a:buFont typeface="Arial"/>
              <a:buChar char="⚬"/>
            </a:pPr>
            <a:r>
              <a:rPr lang="en-US" sz="1700">
                <a:solidFill>
                  <a:srgbClr val="FFFFFF"/>
                </a:solidFill>
                <a:latin typeface="Montserrat"/>
                <a:ea typeface="Montserrat"/>
                <a:cs typeface="Montserrat"/>
                <a:sym typeface="Montserrat"/>
              </a:rPr>
              <a:t>Simplificar la interacción entre sistemas distribuidos.</a:t>
            </a:r>
          </a:p>
          <a:p>
            <a:pPr algn="l" marL="388621" indent="-129540" lvl="2">
              <a:lnSpc>
                <a:spcPts val="2998"/>
              </a:lnSpc>
              <a:buFont typeface="Arial"/>
              <a:buChar char="⚬"/>
            </a:pPr>
            <a:r>
              <a:rPr lang="en-US" sz="1700">
                <a:solidFill>
                  <a:srgbClr val="FFFFFF"/>
                </a:solidFill>
                <a:latin typeface="Montserrat"/>
                <a:ea typeface="Montserrat"/>
                <a:cs typeface="Montserrat"/>
                <a:sym typeface="Montserrat"/>
              </a:rPr>
              <a:t>Ocultar la complejidad de la comunicación de red al programador.</a:t>
            </a:r>
          </a:p>
          <a:p>
            <a:pPr algn="l" marL="320041" indent="-106680" lvl="2">
              <a:lnSpc>
                <a:spcPts val="2469"/>
              </a:lnSpc>
            </a:pPr>
          </a:p>
        </p:txBody>
      </p:sp>
      <p:grpSp>
        <p:nvGrpSpPr>
          <p:cNvPr name="Group 18" id="18"/>
          <p:cNvGrpSpPr/>
          <p:nvPr/>
        </p:nvGrpSpPr>
        <p:grpSpPr>
          <a:xfrm rot="-5400000">
            <a:off x="14882889" y="6695256"/>
            <a:ext cx="531666" cy="427996"/>
            <a:chOff x="0" y="0"/>
            <a:chExt cx="708889" cy="570662"/>
          </a:xfrm>
        </p:grpSpPr>
        <p:sp>
          <p:nvSpPr>
            <p:cNvPr name="Freeform 19" id="19"/>
            <p:cNvSpPr/>
            <p:nvPr/>
          </p:nvSpPr>
          <p:spPr>
            <a:xfrm flipH="false" flipV="false" rot="0">
              <a:off x="0" y="0"/>
              <a:ext cx="708914" cy="570611"/>
            </a:xfrm>
            <a:custGeom>
              <a:avLst/>
              <a:gdLst/>
              <a:ahLst/>
              <a:cxnLst/>
              <a:rect r="r" b="b" t="t" l="l"/>
              <a:pathLst>
                <a:path h="570611" w="708914">
                  <a:moveTo>
                    <a:pt x="0" y="0"/>
                  </a:moveTo>
                  <a:lnTo>
                    <a:pt x="708914" y="0"/>
                  </a:lnTo>
                  <a:lnTo>
                    <a:pt x="708914" y="570611"/>
                  </a:lnTo>
                  <a:lnTo>
                    <a:pt x="0" y="570611"/>
                  </a:lnTo>
                  <a:lnTo>
                    <a:pt x="0" y="0"/>
                  </a:lnTo>
                  <a:close/>
                </a:path>
              </a:pathLst>
            </a:custGeom>
            <a:blipFill>
              <a:blip r:embed="rId12"/>
              <a:stretch>
                <a:fillRect l="0" t="-20" r="3" b="-26"/>
              </a:stretch>
            </a:blipFill>
          </p:spPr>
        </p:sp>
      </p:grpSp>
      <p:sp>
        <p:nvSpPr>
          <p:cNvPr name="TextBox 20" id="20"/>
          <p:cNvSpPr txBox="true"/>
          <p:nvPr/>
        </p:nvSpPr>
        <p:spPr>
          <a:xfrm rot="0">
            <a:off x="1116921" y="6664747"/>
            <a:ext cx="3468300" cy="318754"/>
          </a:xfrm>
          <a:prstGeom prst="rect">
            <a:avLst/>
          </a:prstGeom>
        </p:spPr>
        <p:txBody>
          <a:bodyPr anchor="t" rtlCol="false" tIns="0" lIns="0" bIns="0" rIns="0">
            <a:spAutoFit/>
          </a:bodyPr>
          <a:lstStyle/>
          <a:p>
            <a:pPr algn="ctr">
              <a:lnSpc>
                <a:spcPts val="2652"/>
              </a:lnSpc>
            </a:pPr>
            <a:r>
              <a:rPr lang="en-US" b="true" sz="1700">
                <a:solidFill>
                  <a:srgbClr val="FFFFFF"/>
                </a:solidFill>
                <a:latin typeface="Montserrat Bold"/>
                <a:ea typeface="Montserrat Bold"/>
                <a:cs typeface="Montserrat Bold"/>
                <a:sym typeface="Montserrat Bold"/>
              </a:rPr>
              <a:t>OBJETIVO DE LAS RPC</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AutoShape 2" id="2"/>
          <p:cNvSpPr/>
          <p:nvPr/>
        </p:nvSpPr>
        <p:spPr>
          <a:xfrm rot="5347920">
            <a:off x="13921435" y="3809752"/>
            <a:ext cx="2514886" cy="0"/>
          </a:xfrm>
          <a:prstGeom prst="line">
            <a:avLst/>
          </a:prstGeom>
          <a:ln cap="rnd" w="28575">
            <a:solidFill>
              <a:srgbClr val="675688"/>
            </a:solidFill>
            <a:prstDash val="solid"/>
            <a:headEnd type="none" len="sm" w="sm"/>
            <a:tailEnd type="oval" len="lg" w="lg"/>
          </a:ln>
        </p:spPr>
      </p:sp>
      <p:sp>
        <p:nvSpPr>
          <p:cNvPr name="Freeform 3" id="3"/>
          <p:cNvSpPr/>
          <p:nvPr/>
        </p:nvSpPr>
        <p:spPr>
          <a:xfrm flipH="false" flipV="false" rot="0">
            <a:off x="14024905"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813451" y="1884664"/>
            <a:ext cx="730872" cy="730872"/>
          </a:xfrm>
          <a:custGeom>
            <a:avLst/>
            <a:gdLst/>
            <a:ahLst/>
            <a:cxnLst/>
            <a:rect r="r" b="b" t="t" l="l"/>
            <a:pathLst>
              <a:path h="730872" w="730872">
                <a:moveTo>
                  <a:pt x="0" y="0"/>
                </a:moveTo>
                <a:lnTo>
                  <a:pt x="730873" y="0"/>
                </a:lnTo>
                <a:lnTo>
                  <a:pt x="730873"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18504"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6" id="6"/>
          <p:cNvSpPr/>
          <p:nvPr/>
        </p:nvSpPr>
        <p:spPr>
          <a:xfrm rot="5347920">
            <a:off x="1415034" y="3809752"/>
            <a:ext cx="2514886" cy="0"/>
          </a:xfrm>
          <a:prstGeom prst="line">
            <a:avLst/>
          </a:prstGeom>
          <a:ln cap="rnd" w="28575">
            <a:solidFill>
              <a:srgbClr val="5CD9C1"/>
            </a:solidFill>
            <a:prstDash val="solid"/>
            <a:headEnd type="none" len="sm" w="sm"/>
            <a:tailEnd type="oval" len="lg" w="lg"/>
          </a:ln>
        </p:spPr>
      </p:sp>
      <p:sp>
        <p:nvSpPr>
          <p:cNvPr name="Freeform 7" id="7"/>
          <p:cNvSpPr/>
          <p:nvPr/>
        </p:nvSpPr>
        <p:spPr>
          <a:xfrm flipH="false" flipV="false" rot="0">
            <a:off x="2307050" y="1884664"/>
            <a:ext cx="730872" cy="730872"/>
          </a:xfrm>
          <a:custGeom>
            <a:avLst/>
            <a:gdLst/>
            <a:ahLst/>
            <a:cxnLst/>
            <a:rect r="r" b="b" t="t" l="l"/>
            <a:pathLst>
              <a:path h="730872" w="730872">
                <a:moveTo>
                  <a:pt x="0" y="0"/>
                </a:moveTo>
                <a:lnTo>
                  <a:pt x="730873" y="0"/>
                </a:lnTo>
                <a:lnTo>
                  <a:pt x="730873"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617026" y="2250091"/>
            <a:ext cx="2307946" cy="2307946"/>
          </a:xfrm>
          <a:custGeom>
            <a:avLst/>
            <a:gdLst/>
            <a:ahLst/>
            <a:cxnLst/>
            <a:rect r="r" b="b" t="t" l="l"/>
            <a:pathLst>
              <a:path h="2307946" w="2307946">
                <a:moveTo>
                  <a:pt x="0" y="0"/>
                </a:moveTo>
                <a:lnTo>
                  <a:pt x="2307945" y="0"/>
                </a:lnTo>
                <a:lnTo>
                  <a:pt x="2307945" y="2307945"/>
                </a:lnTo>
                <a:lnTo>
                  <a:pt x="0" y="23079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9" id="9"/>
          <p:cNvSpPr/>
          <p:nvPr/>
        </p:nvSpPr>
        <p:spPr>
          <a:xfrm rot="5347920">
            <a:off x="5513556" y="3809752"/>
            <a:ext cx="2514886" cy="0"/>
          </a:xfrm>
          <a:prstGeom prst="line">
            <a:avLst/>
          </a:prstGeom>
          <a:ln cap="rnd" w="28575">
            <a:solidFill>
              <a:srgbClr val="ACFDDB"/>
            </a:solidFill>
            <a:prstDash val="solid"/>
            <a:headEnd type="none" len="sm" w="sm"/>
            <a:tailEnd type="oval" len="lg" w="lg"/>
          </a:ln>
        </p:spPr>
      </p:sp>
      <p:sp>
        <p:nvSpPr>
          <p:cNvPr name="Freeform 10" id="10"/>
          <p:cNvSpPr/>
          <p:nvPr/>
        </p:nvSpPr>
        <p:spPr>
          <a:xfrm flipH="false" flipV="false" rot="0">
            <a:off x="6405572" y="1884664"/>
            <a:ext cx="730872" cy="730872"/>
          </a:xfrm>
          <a:custGeom>
            <a:avLst/>
            <a:gdLst/>
            <a:ahLst/>
            <a:cxnLst/>
            <a:rect r="r" b="b" t="t" l="l"/>
            <a:pathLst>
              <a:path h="730872" w="730872">
                <a:moveTo>
                  <a:pt x="0" y="0"/>
                </a:moveTo>
                <a:lnTo>
                  <a:pt x="730872" y="0"/>
                </a:lnTo>
                <a:lnTo>
                  <a:pt x="730872"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851469"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rot="5347920">
            <a:off x="9747999" y="3809752"/>
            <a:ext cx="2514886" cy="0"/>
          </a:xfrm>
          <a:prstGeom prst="line">
            <a:avLst/>
          </a:prstGeom>
          <a:ln cap="rnd" w="28575">
            <a:solidFill>
              <a:srgbClr val="B084CC"/>
            </a:solidFill>
            <a:prstDash val="solid"/>
            <a:headEnd type="none" len="sm" w="sm"/>
            <a:tailEnd type="oval" len="lg" w="lg"/>
          </a:ln>
        </p:spPr>
      </p:sp>
      <p:sp>
        <p:nvSpPr>
          <p:cNvPr name="Freeform 13" id="13"/>
          <p:cNvSpPr/>
          <p:nvPr/>
        </p:nvSpPr>
        <p:spPr>
          <a:xfrm flipH="false" flipV="false" rot="0">
            <a:off x="10640016" y="1884664"/>
            <a:ext cx="730872" cy="730872"/>
          </a:xfrm>
          <a:custGeom>
            <a:avLst/>
            <a:gdLst/>
            <a:ahLst/>
            <a:cxnLst/>
            <a:rect r="r" b="b" t="t" l="l"/>
            <a:pathLst>
              <a:path h="730872" w="730872">
                <a:moveTo>
                  <a:pt x="0" y="0"/>
                </a:moveTo>
                <a:lnTo>
                  <a:pt x="730872" y="0"/>
                </a:lnTo>
                <a:lnTo>
                  <a:pt x="730872"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4" id="14"/>
          <p:cNvSpPr/>
          <p:nvPr/>
        </p:nvSpPr>
        <p:spPr>
          <a:xfrm rot="5385000">
            <a:off x="2620108" y="5325723"/>
            <a:ext cx="4795466" cy="0"/>
          </a:xfrm>
          <a:prstGeom prst="line">
            <a:avLst/>
          </a:prstGeom>
          <a:ln cap="rnd" w="9525">
            <a:solidFill>
              <a:srgbClr val="FFFFFF"/>
            </a:solidFill>
            <a:prstDash val="solid"/>
            <a:headEnd type="none" len="sm" w="sm"/>
            <a:tailEnd type="none" len="sm" w="sm"/>
          </a:ln>
        </p:spPr>
      </p:sp>
      <p:sp>
        <p:nvSpPr>
          <p:cNvPr name="AutoShape 15" id="15"/>
          <p:cNvSpPr/>
          <p:nvPr/>
        </p:nvSpPr>
        <p:spPr>
          <a:xfrm rot="5371860">
            <a:off x="6517957" y="5325723"/>
            <a:ext cx="4795590" cy="0"/>
          </a:xfrm>
          <a:prstGeom prst="line">
            <a:avLst/>
          </a:prstGeom>
          <a:ln cap="rnd" w="9525">
            <a:solidFill>
              <a:srgbClr val="FFFFFF"/>
            </a:solidFill>
            <a:prstDash val="solid"/>
            <a:headEnd type="none" len="sm" w="sm"/>
            <a:tailEnd type="none" len="sm" w="sm"/>
          </a:ln>
        </p:spPr>
      </p:sp>
      <p:sp>
        <p:nvSpPr>
          <p:cNvPr name="AutoShape 16" id="16"/>
          <p:cNvSpPr/>
          <p:nvPr/>
        </p:nvSpPr>
        <p:spPr>
          <a:xfrm rot="5426460">
            <a:off x="10741657" y="5318446"/>
            <a:ext cx="4781464" cy="0"/>
          </a:xfrm>
          <a:prstGeom prst="line">
            <a:avLst/>
          </a:prstGeom>
          <a:ln cap="rnd" w="9525">
            <a:solidFill>
              <a:srgbClr val="FFFFFF"/>
            </a:solidFill>
            <a:prstDash val="solid"/>
            <a:headEnd type="none" len="sm" w="sm"/>
            <a:tailEnd type="none" len="sm" w="sm"/>
          </a:ln>
        </p:spPr>
      </p:sp>
      <p:grpSp>
        <p:nvGrpSpPr>
          <p:cNvPr name="Group 17" id="17"/>
          <p:cNvGrpSpPr/>
          <p:nvPr/>
        </p:nvGrpSpPr>
        <p:grpSpPr>
          <a:xfrm rot="0">
            <a:off x="10116455" y="2792901"/>
            <a:ext cx="1852098" cy="1521123"/>
            <a:chOff x="0" y="0"/>
            <a:chExt cx="2469464" cy="2028165"/>
          </a:xfrm>
        </p:grpSpPr>
        <p:sp>
          <p:nvSpPr>
            <p:cNvPr name="Freeform 18" id="18"/>
            <p:cNvSpPr/>
            <p:nvPr/>
          </p:nvSpPr>
          <p:spPr>
            <a:xfrm flipH="false" flipV="false" rot="0">
              <a:off x="0" y="0"/>
              <a:ext cx="2469515" cy="2028190"/>
            </a:xfrm>
            <a:custGeom>
              <a:avLst/>
              <a:gdLst/>
              <a:ahLst/>
              <a:cxnLst/>
              <a:rect r="r" b="b" t="t" l="l"/>
              <a:pathLst>
                <a:path h="2028190" w="2469515">
                  <a:moveTo>
                    <a:pt x="0" y="0"/>
                  </a:moveTo>
                  <a:lnTo>
                    <a:pt x="2469515" y="0"/>
                  </a:lnTo>
                  <a:lnTo>
                    <a:pt x="2469515" y="2028190"/>
                  </a:lnTo>
                  <a:lnTo>
                    <a:pt x="0" y="2028190"/>
                  </a:lnTo>
                  <a:lnTo>
                    <a:pt x="0" y="0"/>
                  </a:lnTo>
                  <a:close/>
                </a:path>
              </a:pathLst>
            </a:custGeom>
            <a:blipFill>
              <a:blip r:embed="rId11"/>
              <a:stretch>
                <a:fillRect l="0" t="0" r="2" b="1"/>
              </a:stretch>
            </a:blipFill>
          </p:spPr>
        </p:sp>
      </p:grpSp>
      <p:sp>
        <p:nvSpPr>
          <p:cNvPr name="TextBox 19" id="19"/>
          <p:cNvSpPr txBox="true"/>
          <p:nvPr/>
        </p:nvSpPr>
        <p:spPr>
          <a:xfrm rot="0">
            <a:off x="815292" y="120653"/>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FUNCIONAMIENTO BÁSICO DE RPC</a:t>
            </a:r>
          </a:p>
        </p:txBody>
      </p:sp>
      <p:sp>
        <p:nvSpPr>
          <p:cNvPr name="TextBox 20" id="20"/>
          <p:cNvSpPr txBox="true"/>
          <p:nvPr/>
        </p:nvSpPr>
        <p:spPr>
          <a:xfrm rot="0">
            <a:off x="14888785" y="1955016"/>
            <a:ext cx="580196" cy="446246"/>
          </a:xfrm>
          <a:prstGeom prst="rect">
            <a:avLst/>
          </a:prstGeom>
        </p:spPr>
        <p:txBody>
          <a:bodyPr anchor="t" rtlCol="false" tIns="0" lIns="0" bIns="0" rIns="0">
            <a:spAutoFit/>
          </a:bodyPr>
          <a:lstStyle/>
          <a:p>
            <a:pPr algn="ctr">
              <a:lnSpc>
                <a:spcPts val="3557"/>
              </a:lnSpc>
            </a:pPr>
            <a:r>
              <a:rPr lang="en-US" b="true" sz="2279">
                <a:solidFill>
                  <a:srgbClr val="482B66"/>
                </a:solidFill>
                <a:latin typeface="Arial Bold"/>
                <a:ea typeface="Arial Bold"/>
                <a:cs typeface="Arial Bold"/>
                <a:sym typeface="Arial Bold"/>
              </a:rPr>
              <a:t>04</a:t>
            </a:r>
          </a:p>
        </p:txBody>
      </p:sp>
      <p:sp>
        <p:nvSpPr>
          <p:cNvPr name="TextBox 21" id="21"/>
          <p:cNvSpPr txBox="true"/>
          <p:nvPr/>
        </p:nvSpPr>
        <p:spPr>
          <a:xfrm rot="0">
            <a:off x="13532587" y="5055632"/>
            <a:ext cx="3468300" cy="768077"/>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SERVIDOR PROCESA LA SOLICITUD</a:t>
            </a:r>
          </a:p>
        </p:txBody>
      </p:sp>
      <p:sp>
        <p:nvSpPr>
          <p:cNvPr name="TextBox 22" id="22"/>
          <p:cNvSpPr txBox="true"/>
          <p:nvPr/>
        </p:nvSpPr>
        <p:spPr>
          <a:xfrm rot="0">
            <a:off x="815292" y="5989444"/>
            <a:ext cx="3955504" cy="2081479"/>
          </a:xfrm>
          <a:prstGeom prst="rect">
            <a:avLst/>
          </a:prstGeom>
        </p:spPr>
        <p:txBody>
          <a:bodyPr anchor="t" rtlCol="false" tIns="0" lIns="0" bIns="0" rIns="0">
            <a:spAutoFit/>
          </a:bodyPr>
          <a:lstStyle/>
          <a:p>
            <a:pPr algn="l" marL="388621" indent="-129540" lvl="2">
              <a:lnSpc>
                <a:spcPts val="2733"/>
              </a:lnSpc>
              <a:buFont typeface="Arial"/>
              <a:buChar char="⚬"/>
            </a:pPr>
            <a:r>
              <a:rPr lang="en-US" sz="1700">
                <a:solidFill>
                  <a:srgbClr val="FFFFFF"/>
                </a:solidFill>
                <a:latin typeface="Montserrat"/>
                <a:ea typeface="Montserrat"/>
                <a:cs typeface="Montserrat"/>
                <a:sym typeface="Montserrat"/>
              </a:rPr>
              <a:t>El cliente invoca una función local que actúa como un proxy.</a:t>
            </a:r>
          </a:p>
          <a:p>
            <a:pPr algn="l" marL="388621" indent="-129540" lvl="2">
              <a:lnSpc>
                <a:spcPts val="2733"/>
              </a:lnSpc>
              <a:buFont typeface="Arial"/>
              <a:buChar char="⚬"/>
            </a:pPr>
            <a:r>
              <a:rPr lang="en-US" b="true" sz="1700" i="true">
                <a:solidFill>
                  <a:srgbClr val="FFFFFF"/>
                </a:solidFill>
                <a:latin typeface="Montserrat Bold Italics"/>
                <a:ea typeface="Montserrat Bold Italics"/>
                <a:cs typeface="Montserrat Bold Italics"/>
                <a:sym typeface="Montserrat Bold Italics"/>
              </a:rPr>
              <a:t>Stub </a:t>
            </a:r>
            <a:r>
              <a:rPr lang="en-US" b="true" sz="1700">
                <a:solidFill>
                  <a:srgbClr val="FFFFFF"/>
                </a:solidFill>
                <a:latin typeface="Montserrat Bold"/>
                <a:ea typeface="Montserrat Bold"/>
                <a:cs typeface="Montserrat Bold"/>
                <a:sym typeface="Montserrat Bold"/>
              </a:rPr>
              <a:t>del Cliente</a:t>
            </a:r>
            <a:r>
              <a:rPr lang="en-US" sz="1700">
                <a:solidFill>
                  <a:srgbClr val="FFFFFF"/>
                </a:solidFill>
                <a:latin typeface="Montserrat"/>
                <a:ea typeface="Montserrat"/>
                <a:cs typeface="Montserrat"/>
                <a:sym typeface="Montserrat"/>
              </a:rPr>
              <a:t>: Una interfaz que prepara la solicitud para enviarla al servidor.</a:t>
            </a:r>
          </a:p>
          <a:p>
            <a:pPr algn="l" marL="320041" indent="-106680" lvl="2">
              <a:lnSpc>
                <a:spcPts val="2251"/>
              </a:lnSpc>
            </a:pPr>
          </a:p>
        </p:txBody>
      </p:sp>
      <p:sp>
        <p:nvSpPr>
          <p:cNvPr name="TextBox 23" id="23"/>
          <p:cNvSpPr txBox="true"/>
          <p:nvPr/>
        </p:nvSpPr>
        <p:spPr>
          <a:xfrm rot="0">
            <a:off x="943099" y="5204974"/>
            <a:ext cx="3468300" cy="768077"/>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CLIENTE HACE UNA SOLICITUD</a:t>
            </a:r>
          </a:p>
        </p:txBody>
      </p:sp>
      <p:sp>
        <p:nvSpPr>
          <p:cNvPr name="TextBox 24" id="24"/>
          <p:cNvSpPr txBox="true"/>
          <p:nvPr/>
        </p:nvSpPr>
        <p:spPr>
          <a:xfrm rot="0">
            <a:off x="2382383" y="1955016"/>
            <a:ext cx="580196" cy="446246"/>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01</a:t>
            </a:r>
          </a:p>
        </p:txBody>
      </p:sp>
      <p:sp>
        <p:nvSpPr>
          <p:cNvPr name="TextBox 25" id="25"/>
          <p:cNvSpPr txBox="true"/>
          <p:nvPr/>
        </p:nvSpPr>
        <p:spPr>
          <a:xfrm rot="0">
            <a:off x="5023542" y="5217557"/>
            <a:ext cx="3748802" cy="371475"/>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MARSHALLING</a:t>
            </a:r>
          </a:p>
        </p:txBody>
      </p:sp>
      <p:sp>
        <p:nvSpPr>
          <p:cNvPr name="TextBox 26" id="26"/>
          <p:cNvSpPr txBox="true"/>
          <p:nvPr/>
        </p:nvSpPr>
        <p:spPr>
          <a:xfrm rot="0">
            <a:off x="6480896" y="1955016"/>
            <a:ext cx="580196" cy="446246"/>
          </a:xfrm>
          <a:prstGeom prst="rect">
            <a:avLst/>
          </a:prstGeom>
        </p:spPr>
        <p:txBody>
          <a:bodyPr anchor="t" rtlCol="false" tIns="0" lIns="0" bIns="0" rIns="0">
            <a:spAutoFit/>
          </a:bodyPr>
          <a:lstStyle/>
          <a:p>
            <a:pPr algn="ctr">
              <a:lnSpc>
                <a:spcPts val="3557"/>
              </a:lnSpc>
            </a:pPr>
            <a:r>
              <a:rPr lang="en-US" b="true" sz="2279">
                <a:solidFill>
                  <a:srgbClr val="67D3CD"/>
                </a:solidFill>
                <a:latin typeface="Arial Bold"/>
                <a:ea typeface="Arial Bold"/>
                <a:cs typeface="Arial Bold"/>
                <a:sym typeface="Arial Bold"/>
              </a:rPr>
              <a:t>02</a:t>
            </a:r>
          </a:p>
        </p:txBody>
      </p:sp>
      <p:sp>
        <p:nvSpPr>
          <p:cNvPr name="TextBox 27" id="27"/>
          <p:cNvSpPr txBox="true"/>
          <p:nvPr/>
        </p:nvSpPr>
        <p:spPr>
          <a:xfrm rot="0">
            <a:off x="9284951" y="5055632"/>
            <a:ext cx="3468300" cy="768077"/>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TRANSMISIÓN DE LA SOLICITUD</a:t>
            </a:r>
          </a:p>
        </p:txBody>
      </p:sp>
      <p:sp>
        <p:nvSpPr>
          <p:cNvPr name="TextBox 28" id="28"/>
          <p:cNvSpPr txBox="true"/>
          <p:nvPr/>
        </p:nvSpPr>
        <p:spPr>
          <a:xfrm rot="0">
            <a:off x="10715339" y="1955016"/>
            <a:ext cx="580196" cy="446246"/>
          </a:xfrm>
          <a:prstGeom prst="rect">
            <a:avLst/>
          </a:prstGeom>
        </p:spPr>
        <p:txBody>
          <a:bodyPr anchor="t" rtlCol="false" tIns="0" lIns="0" bIns="0" rIns="0">
            <a:spAutoFit/>
          </a:bodyPr>
          <a:lstStyle/>
          <a:p>
            <a:pPr algn="ctr">
              <a:lnSpc>
                <a:spcPts val="3557"/>
              </a:lnSpc>
            </a:pPr>
            <a:r>
              <a:rPr lang="en-US" b="true" sz="2279">
                <a:solidFill>
                  <a:srgbClr val="675688"/>
                </a:solidFill>
                <a:latin typeface="Arial Bold"/>
                <a:ea typeface="Arial Bold"/>
                <a:cs typeface="Arial Bold"/>
                <a:sym typeface="Arial Bold"/>
              </a:rPr>
              <a:t>03</a:t>
            </a:r>
          </a:p>
        </p:txBody>
      </p:sp>
      <p:sp>
        <p:nvSpPr>
          <p:cNvPr name="TextBox 29" id="29"/>
          <p:cNvSpPr txBox="true"/>
          <p:nvPr/>
        </p:nvSpPr>
        <p:spPr>
          <a:xfrm rot="0">
            <a:off x="5106448" y="5727382"/>
            <a:ext cx="3582895" cy="1136552"/>
          </a:xfrm>
          <a:prstGeom prst="rect">
            <a:avLst/>
          </a:prstGeom>
        </p:spPr>
        <p:txBody>
          <a:bodyPr anchor="t" rtlCol="false" tIns="0" lIns="0" bIns="0" rIns="0">
            <a:spAutoFit/>
          </a:bodyPr>
          <a:lstStyle/>
          <a:p>
            <a:pPr algn="ctr">
              <a:lnSpc>
                <a:spcPts val="3039"/>
              </a:lnSpc>
            </a:pPr>
            <a:r>
              <a:rPr lang="en-US" sz="1700">
                <a:solidFill>
                  <a:srgbClr val="FFFFFF"/>
                </a:solidFill>
                <a:latin typeface="Montserrat"/>
                <a:ea typeface="Montserrat"/>
                <a:cs typeface="Montserrat"/>
                <a:sym typeface="Montserrat"/>
              </a:rPr>
              <a:t>Serialización de los parámetros de la función para su transmisión a través de la red.</a:t>
            </a:r>
          </a:p>
        </p:txBody>
      </p:sp>
      <p:sp>
        <p:nvSpPr>
          <p:cNvPr name="TextBox 30" id="30"/>
          <p:cNvSpPr txBox="true"/>
          <p:nvPr/>
        </p:nvSpPr>
        <p:spPr>
          <a:xfrm rot="0">
            <a:off x="9115206" y="6021076"/>
            <a:ext cx="3637502" cy="635327"/>
          </a:xfrm>
          <a:prstGeom prst="rect">
            <a:avLst/>
          </a:prstGeom>
        </p:spPr>
        <p:txBody>
          <a:bodyPr anchor="t" rtlCol="false" tIns="0" lIns="0" bIns="0" rIns="0">
            <a:spAutoFit/>
          </a:bodyPr>
          <a:lstStyle/>
          <a:p>
            <a:pPr algn="ctr">
              <a:lnSpc>
                <a:spcPts val="2590"/>
              </a:lnSpc>
            </a:pPr>
            <a:r>
              <a:rPr lang="en-US" sz="1660">
                <a:solidFill>
                  <a:srgbClr val="FFFFFF"/>
                </a:solidFill>
                <a:latin typeface="Montserrat"/>
                <a:ea typeface="Montserrat"/>
                <a:cs typeface="Montserrat"/>
                <a:sym typeface="Montserrat"/>
              </a:rPr>
              <a:t>Los datos serializados se envían al servidor a través de la red.</a:t>
            </a:r>
          </a:p>
        </p:txBody>
      </p:sp>
      <p:sp>
        <p:nvSpPr>
          <p:cNvPr name="TextBox 31" id="31"/>
          <p:cNvSpPr txBox="true"/>
          <p:nvPr/>
        </p:nvSpPr>
        <p:spPr>
          <a:xfrm rot="0">
            <a:off x="13262010" y="5849626"/>
            <a:ext cx="4413904" cy="999153"/>
          </a:xfrm>
          <a:prstGeom prst="rect">
            <a:avLst/>
          </a:prstGeom>
        </p:spPr>
        <p:txBody>
          <a:bodyPr anchor="t" rtlCol="false" tIns="0" lIns="0" bIns="0" rIns="0">
            <a:spAutoFit/>
          </a:bodyPr>
          <a:lstStyle/>
          <a:p>
            <a:pPr algn="ctr">
              <a:lnSpc>
                <a:spcPts val="2652"/>
              </a:lnSpc>
            </a:pPr>
            <a:r>
              <a:rPr lang="en-US" b="true" sz="1700" i="true">
                <a:solidFill>
                  <a:srgbClr val="FFFFFF"/>
                </a:solidFill>
                <a:latin typeface="Montserrat Bold Italics"/>
                <a:ea typeface="Montserrat Bold Italics"/>
                <a:cs typeface="Montserrat Bold Italics"/>
                <a:sym typeface="Montserrat Bold Italics"/>
              </a:rPr>
              <a:t>Stub </a:t>
            </a:r>
            <a:r>
              <a:rPr lang="en-US" b="true" sz="1700">
                <a:solidFill>
                  <a:srgbClr val="FFFFFF"/>
                </a:solidFill>
                <a:latin typeface="Montserrat Bold"/>
                <a:ea typeface="Montserrat Bold"/>
                <a:cs typeface="Montserrat Bold"/>
                <a:sym typeface="Montserrat Bold"/>
              </a:rPr>
              <a:t>del Servidor</a:t>
            </a:r>
            <a:r>
              <a:rPr lang="en-US" sz="1700">
                <a:solidFill>
                  <a:srgbClr val="FFFFFF"/>
                </a:solidFill>
                <a:latin typeface="Montserrat"/>
                <a:ea typeface="Montserrat"/>
                <a:cs typeface="Montserrat"/>
                <a:sym typeface="Montserrat"/>
              </a:rPr>
              <a:t>: Recibe la solicitud, deserializar los parámetros y ejecuta la función solicitada.</a:t>
            </a:r>
          </a:p>
        </p:txBody>
      </p:sp>
      <p:grpSp>
        <p:nvGrpSpPr>
          <p:cNvPr name="Group 32" id="32"/>
          <p:cNvGrpSpPr/>
          <p:nvPr/>
        </p:nvGrpSpPr>
        <p:grpSpPr>
          <a:xfrm rot="0">
            <a:off x="1840773" y="2567588"/>
            <a:ext cx="1672952" cy="1672952"/>
            <a:chOff x="0" y="0"/>
            <a:chExt cx="2230603" cy="2230603"/>
          </a:xfrm>
        </p:grpSpPr>
        <p:sp>
          <p:nvSpPr>
            <p:cNvPr name="Freeform 33" id="33"/>
            <p:cNvSpPr/>
            <p:nvPr/>
          </p:nvSpPr>
          <p:spPr>
            <a:xfrm flipH="false" flipV="false" rot="0">
              <a:off x="0" y="0"/>
              <a:ext cx="2230628" cy="2230628"/>
            </a:xfrm>
            <a:custGeom>
              <a:avLst/>
              <a:gdLst/>
              <a:ahLst/>
              <a:cxnLst/>
              <a:rect r="r" b="b" t="t" l="l"/>
              <a:pathLst>
                <a:path h="2230628" w="2230628">
                  <a:moveTo>
                    <a:pt x="0" y="0"/>
                  </a:moveTo>
                  <a:lnTo>
                    <a:pt x="2230628" y="0"/>
                  </a:lnTo>
                  <a:lnTo>
                    <a:pt x="2230628" y="2230628"/>
                  </a:lnTo>
                  <a:lnTo>
                    <a:pt x="0" y="2230628"/>
                  </a:lnTo>
                  <a:lnTo>
                    <a:pt x="0" y="0"/>
                  </a:lnTo>
                  <a:close/>
                </a:path>
              </a:pathLst>
            </a:custGeom>
            <a:blipFill>
              <a:blip r:embed="rId12"/>
              <a:stretch>
                <a:fillRect l="0" t="0" r="1" b="1"/>
              </a:stretch>
            </a:blipFill>
          </p:spPr>
        </p:sp>
      </p:grpSp>
      <p:grpSp>
        <p:nvGrpSpPr>
          <p:cNvPr name="Group 34" id="34"/>
          <p:cNvGrpSpPr/>
          <p:nvPr/>
        </p:nvGrpSpPr>
        <p:grpSpPr>
          <a:xfrm rot="0">
            <a:off x="5836710" y="2463794"/>
            <a:ext cx="1852098" cy="1928070"/>
            <a:chOff x="0" y="0"/>
            <a:chExt cx="2469464" cy="2570759"/>
          </a:xfrm>
        </p:grpSpPr>
        <p:sp>
          <p:nvSpPr>
            <p:cNvPr name="Freeform 35" id="35"/>
            <p:cNvSpPr/>
            <p:nvPr/>
          </p:nvSpPr>
          <p:spPr>
            <a:xfrm flipH="false" flipV="false" rot="0">
              <a:off x="0" y="0"/>
              <a:ext cx="2469515" cy="2570734"/>
            </a:xfrm>
            <a:custGeom>
              <a:avLst/>
              <a:gdLst/>
              <a:ahLst/>
              <a:cxnLst/>
              <a:rect r="r" b="b" t="t" l="l"/>
              <a:pathLst>
                <a:path h="2570734" w="2469515">
                  <a:moveTo>
                    <a:pt x="0" y="0"/>
                  </a:moveTo>
                  <a:lnTo>
                    <a:pt x="2469515" y="0"/>
                  </a:lnTo>
                  <a:lnTo>
                    <a:pt x="2469515" y="2570734"/>
                  </a:lnTo>
                  <a:lnTo>
                    <a:pt x="0" y="2570734"/>
                  </a:lnTo>
                  <a:lnTo>
                    <a:pt x="0" y="0"/>
                  </a:lnTo>
                  <a:close/>
                </a:path>
              </a:pathLst>
            </a:custGeom>
            <a:blipFill>
              <a:blip r:embed="rId13"/>
              <a:stretch>
                <a:fillRect l="0" t="0" r="2" b="0"/>
              </a:stretch>
            </a:blipFill>
          </p:spPr>
        </p:sp>
      </p:grpSp>
      <p:grpSp>
        <p:nvGrpSpPr>
          <p:cNvPr name="Group 36" id="36"/>
          <p:cNvGrpSpPr/>
          <p:nvPr/>
        </p:nvGrpSpPr>
        <p:grpSpPr>
          <a:xfrm rot="0">
            <a:off x="14277880" y="2643788"/>
            <a:ext cx="1672952" cy="1672952"/>
            <a:chOff x="0" y="0"/>
            <a:chExt cx="2230603" cy="2230603"/>
          </a:xfrm>
        </p:grpSpPr>
        <p:sp>
          <p:nvSpPr>
            <p:cNvPr name="Freeform 37" id="37"/>
            <p:cNvSpPr/>
            <p:nvPr/>
          </p:nvSpPr>
          <p:spPr>
            <a:xfrm flipH="false" flipV="false" rot="0">
              <a:off x="0" y="0"/>
              <a:ext cx="2230628" cy="2230628"/>
            </a:xfrm>
            <a:custGeom>
              <a:avLst/>
              <a:gdLst/>
              <a:ahLst/>
              <a:cxnLst/>
              <a:rect r="r" b="b" t="t" l="l"/>
              <a:pathLst>
                <a:path h="2230628" w="2230628">
                  <a:moveTo>
                    <a:pt x="0" y="0"/>
                  </a:moveTo>
                  <a:lnTo>
                    <a:pt x="2230628" y="0"/>
                  </a:lnTo>
                  <a:lnTo>
                    <a:pt x="2230628" y="2230628"/>
                  </a:lnTo>
                  <a:lnTo>
                    <a:pt x="0" y="2230628"/>
                  </a:lnTo>
                  <a:lnTo>
                    <a:pt x="0" y="0"/>
                  </a:lnTo>
                  <a:close/>
                </a:path>
              </a:pathLst>
            </a:custGeom>
            <a:blipFill>
              <a:blip r:embed="rId14"/>
              <a:stretch>
                <a:fillRect l="0" t="0" r="1" b="1"/>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518504" y="2250091"/>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5347920">
            <a:off x="1415034" y="3809752"/>
            <a:ext cx="2514886" cy="0"/>
          </a:xfrm>
          <a:prstGeom prst="line">
            <a:avLst/>
          </a:prstGeom>
          <a:ln cap="rnd" w="28575">
            <a:solidFill>
              <a:srgbClr val="5CD9C1"/>
            </a:solidFill>
            <a:prstDash val="solid"/>
            <a:headEnd type="none" len="sm" w="sm"/>
            <a:tailEnd type="oval" len="lg" w="lg"/>
          </a:ln>
        </p:spPr>
      </p:sp>
      <p:sp>
        <p:nvSpPr>
          <p:cNvPr name="Freeform 4" id="4"/>
          <p:cNvSpPr/>
          <p:nvPr/>
        </p:nvSpPr>
        <p:spPr>
          <a:xfrm flipH="false" flipV="false" rot="0">
            <a:off x="2307050" y="1884664"/>
            <a:ext cx="730872" cy="730872"/>
          </a:xfrm>
          <a:custGeom>
            <a:avLst/>
            <a:gdLst/>
            <a:ahLst/>
            <a:cxnLst/>
            <a:rect r="r" b="b" t="t" l="l"/>
            <a:pathLst>
              <a:path h="730872" w="730872">
                <a:moveTo>
                  <a:pt x="0" y="0"/>
                </a:moveTo>
                <a:lnTo>
                  <a:pt x="730873" y="0"/>
                </a:lnTo>
                <a:lnTo>
                  <a:pt x="730873"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617026" y="2250091"/>
            <a:ext cx="2307946" cy="2307946"/>
          </a:xfrm>
          <a:custGeom>
            <a:avLst/>
            <a:gdLst/>
            <a:ahLst/>
            <a:cxnLst/>
            <a:rect r="r" b="b" t="t" l="l"/>
            <a:pathLst>
              <a:path h="2307946" w="2307946">
                <a:moveTo>
                  <a:pt x="0" y="0"/>
                </a:moveTo>
                <a:lnTo>
                  <a:pt x="2307945" y="0"/>
                </a:lnTo>
                <a:lnTo>
                  <a:pt x="2307945" y="2307945"/>
                </a:lnTo>
                <a:lnTo>
                  <a:pt x="0" y="2307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6" id="6"/>
          <p:cNvSpPr/>
          <p:nvPr/>
        </p:nvSpPr>
        <p:spPr>
          <a:xfrm rot="5347920">
            <a:off x="5513556" y="3809752"/>
            <a:ext cx="2514886" cy="0"/>
          </a:xfrm>
          <a:prstGeom prst="line">
            <a:avLst/>
          </a:prstGeom>
          <a:ln cap="rnd" w="28575">
            <a:solidFill>
              <a:srgbClr val="ACFDDB"/>
            </a:solidFill>
            <a:prstDash val="solid"/>
            <a:headEnd type="none" len="sm" w="sm"/>
            <a:tailEnd type="oval" len="lg" w="lg"/>
          </a:ln>
        </p:spPr>
      </p:sp>
      <p:sp>
        <p:nvSpPr>
          <p:cNvPr name="Freeform 7" id="7"/>
          <p:cNvSpPr/>
          <p:nvPr/>
        </p:nvSpPr>
        <p:spPr>
          <a:xfrm flipH="false" flipV="false" rot="0">
            <a:off x="6405572" y="1884664"/>
            <a:ext cx="730872" cy="730872"/>
          </a:xfrm>
          <a:custGeom>
            <a:avLst/>
            <a:gdLst/>
            <a:ahLst/>
            <a:cxnLst/>
            <a:rect r="r" b="b" t="t" l="l"/>
            <a:pathLst>
              <a:path h="730872" w="730872">
                <a:moveTo>
                  <a:pt x="0" y="0"/>
                </a:moveTo>
                <a:lnTo>
                  <a:pt x="730872" y="0"/>
                </a:lnTo>
                <a:lnTo>
                  <a:pt x="730872"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8" id="8"/>
          <p:cNvSpPr/>
          <p:nvPr/>
        </p:nvSpPr>
        <p:spPr>
          <a:xfrm rot="5385000">
            <a:off x="2620108" y="5325723"/>
            <a:ext cx="4795466" cy="0"/>
          </a:xfrm>
          <a:prstGeom prst="line">
            <a:avLst/>
          </a:prstGeom>
          <a:ln cap="rnd" w="9525">
            <a:solidFill>
              <a:srgbClr val="FFFFFF"/>
            </a:solidFill>
            <a:prstDash val="solid"/>
            <a:headEnd type="none" len="sm" w="sm"/>
            <a:tailEnd type="none" len="sm" w="sm"/>
          </a:ln>
        </p:spPr>
      </p:sp>
      <p:sp>
        <p:nvSpPr>
          <p:cNvPr name="AutoShape 9" id="9"/>
          <p:cNvSpPr/>
          <p:nvPr/>
        </p:nvSpPr>
        <p:spPr>
          <a:xfrm rot="5371860">
            <a:off x="6517957" y="5325723"/>
            <a:ext cx="4795590" cy="0"/>
          </a:xfrm>
          <a:prstGeom prst="line">
            <a:avLst/>
          </a:prstGeom>
          <a:ln cap="rnd" w="9525">
            <a:solidFill>
              <a:srgbClr val="FFFFFF"/>
            </a:solidFill>
            <a:prstDash val="solid"/>
            <a:headEnd type="none" len="sm" w="sm"/>
            <a:tailEnd type="none" len="sm" w="sm"/>
          </a:ln>
        </p:spPr>
      </p:sp>
      <p:grpSp>
        <p:nvGrpSpPr>
          <p:cNvPr name="Group 10" id="10"/>
          <p:cNvGrpSpPr/>
          <p:nvPr/>
        </p:nvGrpSpPr>
        <p:grpSpPr>
          <a:xfrm rot="0">
            <a:off x="9630680" y="1752762"/>
            <a:ext cx="7960890" cy="5970670"/>
            <a:chOff x="0" y="0"/>
            <a:chExt cx="10614520" cy="7960893"/>
          </a:xfrm>
        </p:grpSpPr>
        <p:sp>
          <p:nvSpPr>
            <p:cNvPr name="Freeform 11" id="11"/>
            <p:cNvSpPr/>
            <p:nvPr/>
          </p:nvSpPr>
          <p:spPr>
            <a:xfrm flipH="false" flipV="false" rot="0">
              <a:off x="0" y="0"/>
              <a:ext cx="10614533" cy="7960868"/>
            </a:xfrm>
            <a:custGeom>
              <a:avLst/>
              <a:gdLst/>
              <a:ahLst/>
              <a:cxnLst/>
              <a:rect r="r" b="b" t="t" l="l"/>
              <a:pathLst>
                <a:path h="7960868" w="10614533">
                  <a:moveTo>
                    <a:pt x="0" y="0"/>
                  </a:moveTo>
                  <a:lnTo>
                    <a:pt x="10614533" y="0"/>
                  </a:lnTo>
                  <a:lnTo>
                    <a:pt x="10614533" y="7960868"/>
                  </a:lnTo>
                  <a:lnTo>
                    <a:pt x="0" y="7960868"/>
                  </a:lnTo>
                  <a:lnTo>
                    <a:pt x="0" y="0"/>
                  </a:lnTo>
                  <a:close/>
                </a:path>
              </a:pathLst>
            </a:custGeom>
            <a:blipFill>
              <a:blip r:embed="rId9"/>
              <a:stretch>
                <a:fillRect l="-40" t="0" r="-40" b="0"/>
              </a:stretch>
            </a:blipFill>
          </p:spPr>
        </p:sp>
      </p:grpSp>
      <p:sp>
        <p:nvSpPr>
          <p:cNvPr name="TextBox 12" id="12"/>
          <p:cNvSpPr txBox="true"/>
          <p:nvPr/>
        </p:nvSpPr>
        <p:spPr>
          <a:xfrm rot="0">
            <a:off x="815292" y="120653"/>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FUNCIONAMIENTO BÁSICO DE RPC</a:t>
            </a:r>
          </a:p>
        </p:txBody>
      </p:sp>
      <p:sp>
        <p:nvSpPr>
          <p:cNvPr name="TextBox 13" id="13"/>
          <p:cNvSpPr txBox="true"/>
          <p:nvPr/>
        </p:nvSpPr>
        <p:spPr>
          <a:xfrm rot="0">
            <a:off x="815292" y="5973004"/>
            <a:ext cx="3955504" cy="678971"/>
          </a:xfrm>
          <a:prstGeom prst="rect">
            <a:avLst/>
          </a:prstGeom>
        </p:spPr>
        <p:txBody>
          <a:bodyPr anchor="t" rtlCol="false" tIns="0" lIns="0" bIns="0" rIns="0">
            <a:spAutoFit/>
          </a:bodyPr>
          <a:lstStyle/>
          <a:p>
            <a:pPr algn="l">
              <a:lnSpc>
                <a:spcPts val="2733"/>
              </a:lnSpc>
            </a:pPr>
            <a:r>
              <a:rPr lang="en-US" sz="1700">
                <a:solidFill>
                  <a:srgbClr val="FFFFFF"/>
                </a:solidFill>
                <a:latin typeface="Montserrat"/>
                <a:ea typeface="Montserrat"/>
                <a:cs typeface="Montserrat"/>
                <a:sym typeface="Montserrat"/>
              </a:rPr>
              <a:t>Deserialización del resultado para enviarlo de vuelta al cliente.</a:t>
            </a:r>
          </a:p>
        </p:txBody>
      </p:sp>
      <p:sp>
        <p:nvSpPr>
          <p:cNvPr name="TextBox 14" id="14"/>
          <p:cNvSpPr txBox="true"/>
          <p:nvPr/>
        </p:nvSpPr>
        <p:spPr>
          <a:xfrm rot="0">
            <a:off x="943099" y="5366899"/>
            <a:ext cx="3468300" cy="371475"/>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UNMARSHALLING</a:t>
            </a:r>
          </a:p>
        </p:txBody>
      </p:sp>
      <p:sp>
        <p:nvSpPr>
          <p:cNvPr name="TextBox 15" id="15"/>
          <p:cNvSpPr txBox="true"/>
          <p:nvPr/>
        </p:nvSpPr>
        <p:spPr>
          <a:xfrm rot="0">
            <a:off x="2382383" y="1955006"/>
            <a:ext cx="580196" cy="446246"/>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05</a:t>
            </a:r>
          </a:p>
        </p:txBody>
      </p:sp>
      <p:sp>
        <p:nvSpPr>
          <p:cNvPr name="TextBox 16" id="16"/>
          <p:cNvSpPr txBox="true"/>
          <p:nvPr/>
        </p:nvSpPr>
        <p:spPr>
          <a:xfrm rot="0">
            <a:off x="5023542" y="5366899"/>
            <a:ext cx="3748802" cy="371475"/>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RESPUESTA AL CLIENTE</a:t>
            </a:r>
          </a:p>
        </p:txBody>
      </p:sp>
      <p:sp>
        <p:nvSpPr>
          <p:cNvPr name="TextBox 17" id="17"/>
          <p:cNvSpPr txBox="true"/>
          <p:nvPr/>
        </p:nvSpPr>
        <p:spPr>
          <a:xfrm rot="0">
            <a:off x="6480896" y="1955006"/>
            <a:ext cx="580196" cy="446246"/>
          </a:xfrm>
          <a:prstGeom prst="rect">
            <a:avLst/>
          </a:prstGeom>
        </p:spPr>
        <p:txBody>
          <a:bodyPr anchor="t" rtlCol="false" tIns="0" lIns="0" bIns="0" rIns="0">
            <a:spAutoFit/>
          </a:bodyPr>
          <a:lstStyle/>
          <a:p>
            <a:pPr algn="ctr">
              <a:lnSpc>
                <a:spcPts val="3557"/>
              </a:lnSpc>
            </a:pPr>
            <a:r>
              <a:rPr lang="en-US" b="true" sz="2279">
                <a:solidFill>
                  <a:srgbClr val="67D3CD"/>
                </a:solidFill>
                <a:latin typeface="Arial Bold"/>
                <a:ea typeface="Arial Bold"/>
                <a:cs typeface="Arial Bold"/>
                <a:sym typeface="Arial Bold"/>
              </a:rPr>
              <a:t>06</a:t>
            </a:r>
          </a:p>
        </p:txBody>
      </p:sp>
      <p:sp>
        <p:nvSpPr>
          <p:cNvPr name="TextBox 18" id="18"/>
          <p:cNvSpPr txBox="true"/>
          <p:nvPr/>
        </p:nvSpPr>
        <p:spPr>
          <a:xfrm rot="0">
            <a:off x="5106448" y="5884545"/>
            <a:ext cx="3582895" cy="1136552"/>
          </a:xfrm>
          <a:prstGeom prst="rect">
            <a:avLst/>
          </a:prstGeom>
        </p:spPr>
        <p:txBody>
          <a:bodyPr anchor="t" rtlCol="false" tIns="0" lIns="0" bIns="0" rIns="0">
            <a:spAutoFit/>
          </a:bodyPr>
          <a:lstStyle/>
          <a:p>
            <a:pPr algn="ctr">
              <a:lnSpc>
                <a:spcPts val="3039"/>
              </a:lnSpc>
            </a:pPr>
            <a:r>
              <a:rPr lang="en-US" sz="1700">
                <a:solidFill>
                  <a:srgbClr val="FFFFFF"/>
                </a:solidFill>
                <a:latin typeface="Montserrat"/>
                <a:ea typeface="Montserrat"/>
                <a:cs typeface="Montserrat"/>
                <a:sym typeface="Montserrat"/>
              </a:rPr>
              <a:t>El cliente recibe el resultado y lo procesa como si fuera una llamada local.</a:t>
            </a:r>
          </a:p>
        </p:txBody>
      </p:sp>
      <p:sp>
        <p:nvSpPr>
          <p:cNvPr name="TextBox 19" id="19"/>
          <p:cNvSpPr txBox="true"/>
          <p:nvPr/>
        </p:nvSpPr>
        <p:spPr>
          <a:xfrm rot="0">
            <a:off x="12817459" y="8312601"/>
            <a:ext cx="4785598" cy="1700022"/>
          </a:xfrm>
          <a:prstGeom prst="rect">
            <a:avLst/>
          </a:prstGeom>
        </p:spPr>
        <p:txBody>
          <a:bodyPr anchor="t" rtlCol="false" tIns="0" lIns="0" bIns="0" rIns="0">
            <a:spAutoFit/>
          </a:bodyPr>
          <a:lstStyle/>
          <a:p>
            <a:pPr algn="l" marL="278942" indent="-92981" lvl="2">
              <a:lnSpc>
                <a:spcPts val="1903"/>
              </a:lnSpc>
              <a:buFont typeface="Arial"/>
              <a:buChar char="⚬"/>
            </a:pPr>
            <a:r>
              <a:rPr lang="en-US" b="true" sz="1220">
                <a:solidFill>
                  <a:srgbClr val="000000"/>
                </a:solidFill>
                <a:latin typeface="Montserrat Bold"/>
                <a:ea typeface="Montserrat Bold"/>
                <a:cs typeface="Montserrat Bold"/>
                <a:sym typeface="Montserrat Bold"/>
              </a:rPr>
              <a:t>Marshalling</a:t>
            </a:r>
            <a:r>
              <a:rPr lang="en-US" sz="1220">
                <a:solidFill>
                  <a:srgbClr val="000000"/>
                </a:solidFill>
                <a:latin typeface="Montserrat"/>
                <a:ea typeface="Montserrat"/>
                <a:cs typeface="Montserrat"/>
                <a:sym typeface="Montserrat"/>
              </a:rPr>
              <a:t>: Proceso de convertir los parámetros de la función en un formato que pueda ser transmitido a través de la red.</a:t>
            </a:r>
          </a:p>
          <a:p>
            <a:pPr algn="l" marL="278942" indent="-92981" lvl="2">
              <a:lnSpc>
                <a:spcPts val="1903"/>
              </a:lnSpc>
              <a:buFont typeface="Arial"/>
              <a:buChar char="⚬"/>
            </a:pPr>
            <a:r>
              <a:rPr lang="en-US" b="true" sz="1220">
                <a:solidFill>
                  <a:srgbClr val="000000"/>
                </a:solidFill>
                <a:latin typeface="Montserrat Bold"/>
                <a:ea typeface="Montserrat Bold"/>
                <a:cs typeface="Montserrat Bold"/>
                <a:sym typeface="Montserrat Bold"/>
              </a:rPr>
              <a:t>Unmarshalling</a:t>
            </a:r>
            <a:r>
              <a:rPr lang="en-US" sz="1220">
                <a:solidFill>
                  <a:srgbClr val="000000"/>
                </a:solidFill>
                <a:latin typeface="Montserrat"/>
                <a:ea typeface="Montserrat"/>
                <a:cs typeface="Montserrat"/>
                <a:sym typeface="Montserrat"/>
              </a:rPr>
              <a:t>: Proceso de convertir los datos recibidos de vuelta a su formato original para su uso en el programa.</a:t>
            </a:r>
          </a:p>
          <a:p>
            <a:pPr algn="ctr" marL="320097" indent="-106699" lvl="2">
              <a:lnSpc>
                <a:spcPts val="2183"/>
              </a:lnSpc>
            </a:pPr>
          </a:p>
        </p:txBody>
      </p:sp>
      <p:grpSp>
        <p:nvGrpSpPr>
          <p:cNvPr name="Group 20" id="20"/>
          <p:cNvGrpSpPr/>
          <p:nvPr/>
        </p:nvGrpSpPr>
        <p:grpSpPr>
          <a:xfrm rot="0">
            <a:off x="1883597" y="2577865"/>
            <a:ext cx="1587303" cy="1652397"/>
            <a:chOff x="0" y="0"/>
            <a:chExt cx="2116404" cy="2203196"/>
          </a:xfrm>
        </p:grpSpPr>
        <p:sp>
          <p:nvSpPr>
            <p:cNvPr name="Freeform 21" id="21"/>
            <p:cNvSpPr/>
            <p:nvPr/>
          </p:nvSpPr>
          <p:spPr>
            <a:xfrm flipH="false" flipV="false" rot="0">
              <a:off x="0" y="0"/>
              <a:ext cx="2116455" cy="2203196"/>
            </a:xfrm>
            <a:custGeom>
              <a:avLst/>
              <a:gdLst/>
              <a:ahLst/>
              <a:cxnLst/>
              <a:rect r="r" b="b" t="t" l="l"/>
              <a:pathLst>
                <a:path h="2203196" w="2116455">
                  <a:moveTo>
                    <a:pt x="0" y="0"/>
                  </a:moveTo>
                  <a:lnTo>
                    <a:pt x="2116455" y="0"/>
                  </a:lnTo>
                  <a:lnTo>
                    <a:pt x="2116455" y="2203196"/>
                  </a:lnTo>
                  <a:lnTo>
                    <a:pt x="0" y="2203196"/>
                  </a:lnTo>
                  <a:lnTo>
                    <a:pt x="0" y="0"/>
                  </a:lnTo>
                  <a:close/>
                </a:path>
              </a:pathLst>
            </a:custGeom>
            <a:blipFill>
              <a:blip r:embed="rId10"/>
              <a:stretch>
                <a:fillRect l="0" t="0" r="2" b="0"/>
              </a:stretch>
            </a:blipFill>
          </p:spPr>
        </p:sp>
      </p:grpSp>
      <p:grpSp>
        <p:nvGrpSpPr>
          <p:cNvPr name="Group 22" id="22"/>
          <p:cNvGrpSpPr/>
          <p:nvPr/>
        </p:nvGrpSpPr>
        <p:grpSpPr>
          <a:xfrm rot="0">
            <a:off x="6011113" y="2610402"/>
            <a:ext cx="1587303" cy="1587303"/>
            <a:chOff x="0" y="0"/>
            <a:chExt cx="2116404" cy="2116404"/>
          </a:xfrm>
        </p:grpSpPr>
        <p:sp>
          <p:nvSpPr>
            <p:cNvPr name="Freeform 23" id="23"/>
            <p:cNvSpPr/>
            <p:nvPr/>
          </p:nvSpPr>
          <p:spPr>
            <a:xfrm flipH="false" flipV="false" rot="0">
              <a:off x="0" y="0"/>
              <a:ext cx="2116455" cy="2116455"/>
            </a:xfrm>
            <a:custGeom>
              <a:avLst/>
              <a:gdLst/>
              <a:ahLst/>
              <a:cxnLst/>
              <a:rect r="r" b="b" t="t" l="l"/>
              <a:pathLst>
                <a:path h="2116455" w="2116455">
                  <a:moveTo>
                    <a:pt x="0" y="0"/>
                  </a:moveTo>
                  <a:lnTo>
                    <a:pt x="2116455" y="0"/>
                  </a:lnTo>
                  <a:lnTo>
                    <a:pt x="2116455" y="2116455"/>
                  </a:lnTo>
                  <a:lnTo>
                    <a:pt x="0" y="2116455"/>
                  </a:lnTo>
                  <a:lnTo>
                    <a:pt x="0" y="0"/>
                  </a:lnTo>
                  <a:close/>
                </a:path>
              </a:pathLst>
            </a:custGeom>
            <a:blipFill>
              <a:blip r:embed="rId11"/>
              <a:stretch>
                <a:fillRect l="0" t="0" r="2" b="2"/>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006859" y="2771966"/>
            <a:ext cx="7463323" cy="2808732"/>
          </a:xfrm>
          <a:custGeom>
            <a:avLst/>
            <a:gdLst/>
            <a:ahLst/>
            <a:cxnLst/>
            <a:rect r="r" b="b" t="t" l="l"/>
            <a:pathLst>
              <a:path h="2808732" w="7463323">
                <a:moveTo>
                  <a:pt x="0" y="0"/>
                </a:moveTo>
                <a:lnTo>
                  <a:pt x="7463323" y="0"/>
                </a:lnTo>
                <a:lnTo>
                  <a:pt x="7463323" y="2808731"/>
                </a:lnTo>
                <a:lnTo>
                  <a:pt x="0" y="28087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16866" y="6151140"/>
            <a:ext cx="7253326" cy="3349942"/>
          </a:xfrm>
          <a:custGeom>
            <a:avLst/>
            <a:gdLst/>
            <a:ahLst/>
            <a:cxnLst/>
            <a:rect r="r" b="b" t="t" l="l"/>
            <a:pathLst>
              <a:path h="3349942" w="7253326">
                <a:moveTo>
                  <a:pt x="0" y="0"/>
                </a:moveTo>
                <a:lnTo>
                  <a:pt x="7253326" y="0"/>
                </a:lnTo>
                <a:lnTo>
                  <a:pt x="7253326" y="3349943"/>
                </a:lnTo>
                <a:lnTo>
                  <a:pt x="0" y="33499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9824552" y="956367"/>
            <a:ext cx="7554192" cy="2528830"/>
          </a:xfrm>
          <a:custGeom>
            <a:avLst/>
            <a:gdLst/>
            <a:ahLst/>
            <a:cxnLst/>
            <a:rect r="r" b="b" t="t" l="l"/>
            <a:pathLst>
              <a:path h="2528830" w="7554192">
                <a:moveTo>
                  <a:pt x="0" y="0"/>
                </a:moveTo>
                <a:lnTo>
                  <a:pt x="7554192" y="0"/>
                </a:lnTo>
                <a:lnTo>
                  <a:pt x="7554192" y="2528831"/>
                </a:lnTo>
                <a:lnTo>
                  <a:pt x="0" y="25288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399955" y="3546672"/>
            <a:ext cx="1973875" cy="950100"/>
            <a:chOff x="0" y="0"/>
            <a:chExt cx="2631834" cy="1266800"/>
          </a:xfrm>
        </p:grpSpPr>
        <p:sp>
          <p:nvSpPr>
            <p:cNvPr name="Freeform 6" id="6"/>
            <p:cNvSpPr/>
            <p:nvPr/>
          </p:nvSpPr>
          <p:spPr>
            <a:xfrm flipH="false" flipV="false" rot="0">
              <a:off x="0" y="0"/>
              <a:ext cx="2631821" cy="1266825"/>
            </a:xfrm>
            <a:custGeom>
              <a:avLst/>
              <a:gdLst/>
              <a:ahLst/>
              <a:cxnLst/>
              <a:rect r="r" b="b" t="t" l="l"/>
              <a:pathLst>
                <a:path h="1266825" w="2631821">
                  <a:moveTo>
                    <a:pt x="0" y="0"/>
                  </a:moveTo>
                  <a:lnTo>
                    <a:pt x="2631821" y="0"/>
                  </a:lnTo>
                  <a:lnTo>
                    <a:pt x="2631821" y="1266825"/>
                  </a:lnTo>
                  <a:lnTo>
                    <a:pt x="0" y="1266825"/>
                  </a:lnTo>
                  <a:lnTo>
                    <a:pt x="0" y="0"/>
                  </a:lnTo>
                  <a:close/>
                </a:path>
              </a:pathLst>
            </a:custGeom>
            <a:blipFill>
              <a:blip r:embed="rId9"/>
              <a:stretch>
                <a:fillRect l="0" t="-8563" r="0" b="-8561"/>
              </a:stretch>
            </a:blipFill>
          </p:spPr>
        </p:sp>
      </p:grpSp>
      <p:grpSp>
        <p:nvGrpSpPr>
          <p:cNvPr name="Group 7" id="7"/>
          <p:cNvGrpSpPr/>
          <p:nvPr/>
        </p:nvGrpSpPr>
        <p:grpSpPr>
          <a:xfrm rot="0">
            <a:off x="533162" y="6825348"/>
            <a:ext cx="1707452" cy="1596466"/>
            <a:chOff x="0" y="0"/>
            <a:chExt cx="2276602" cy="2128622"/>
          </a:xfrm>
        </p:grpSpPr>
        <p:sp>
          <p:nvSpPr>
            <p:cNvPr name="Freeform 8" id="8"/>
            <p:cNvSpPr/>
            <p:nvPr/>
          </p:nvSpPr>
          <p:spPr>
            <a:xfrm flipH="false" flipV="false" rot="0">
              <a:off x="0" y="0"/>
              <a:ext cx="2276602" cy="2128647"/>
            </a:xfrm>
            <a:custGeom>
              <a:avLst/>
              <a:gdLst/>
              <a:ahLst/>
              <a:cxnLst/>
              <a:rect r="r" b="b" t="t" l="l"/>
              <a:pathLst>
                <a:path h="2128647" w="2276602">
                  <a:moveTo>
                    <a:pt x="0" y="0"/>
                  </a:moveTo>
                  <a:lnTo>
                    <a:pt x="2276602" y="0"/>
                  </a:lnTo>
                  <a:lnTo>
                    <a:pt x="2276602" y="2128647"/>
                  </a:lnTo>
                  <a:lnTo>
                    <a:pt x="0" y="2128647"/>
                  </a:lnTo>
                  <a:lnTo>
                    <a:pt x="0" y="0"/>
                  </a:lnTo>
                  <a:close/>
                </a:path>
              </a:pathLst>
            </a:custGeom>
            <a:blipFill>
              <a:blip r:embed="rId10"/>
              <a:stretch>
                <a:fillRect l="0" t="-3" r="0" b="-1"/>
              </a:stretch>
            </a:blipFill>
          </p:spPr>
        </p:sp>
      </p:grpSp>
      <p:sp>
        <p:nvSpPr>
          <p:cNvPr name="Freeform 9" id="9"/>
          <p:cNvSpPr/>
          <p:nvPr/>
        </p:nvSpPr>
        <p:spPr>
          <a:xfrm flipH="false" flipV="false" rot="0">
            <a:off x="9741322" y="3834632"/>
            <a:ext cx="7554192" cy="2631500"/>
          </a:xfrm>
          <a:custGeom>
            <a:avLst/>
            <a:gdLst/>
            <a:ahLst/>
            <a:cxnLst/>
            <a:rect r="r" b="b" t="t" l="l"/>
            <a:pathLst>
              <a:path h="2631500" w="7554192">
                <a:moveTo>
                  <a:pt x="0" y="0"/>
                </a:moveTo>
                <a:lnTo>
                  <a:pt x="7554192" y="0"/>
                </a:lnTo>
                <a:lnTo>
                  <a:pt x="7554192" y="2631500"/>
                </a:lnTo>
                <a:lnTo>
                  <a:pt x="0" y="26315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9824552" y="7282405"/>
            <a:ext cx="7554192" cy="2817752"/>
          </a:xfrm>
          <a:custGeom>
            <a:avLst/>
            <a:gdLst/>
            <a:ahLst/>
            <a:cxnLst/>
            <a:rect r="r" b="b" t="t" l="l"/>
            <a:pathLst>
              <a:path h="2817752" w="7554192">
                <a:moveTo>
                  <a:pt x="0" y="0"/>
                </a:moveTo>
                <a:lnTo>
                  <a:pt x="7554192" y="0"/>
                </a:lnTo>
                <a:lnTo>
                  <a:pt x="7554192" y="2817753"/>
                </a:lnTo>
                <a:lnTo>
                  <a:pt x="0" y="281775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1" id="11"/>
          <p:cNvSpPr txBox="true"/>
          <p:nvPr/>
        </p:nvSpPr>
        <p:spPr>
          <a:xfrm rot="0">
            <a:off x="985714" y="876300"/>
            <a:ext cx="8696096" cy="912371"/>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PROTOCOLOS DE </a:t>
            </a:r>
            <a:r>
              <a:rPr lang="en-US" sz="4999">
                <a:solidFill>
                  <a:srgbClr val="67D3CD"/>
                </a:solidFill>
                <a:latin typeface="Arial"/>
                <a:ea typeface="Arial"/>
                <a:cs typeface="Arial"/>
                <a:sym typeface="Arial"/>
              </a:rPr>
              <a:t>RPC</a:t>
            </a:r>
          </a:p>
        </p:txBody>
      </p:sp>
      <p:sp>
        <p:nvSpPr>
          <p:cNvPr name="TextBox 12" id="12"/>
          <p:cNvSpPr txBox="true"/>
          <p:nvPr/>
        </p:nvSpPr>
        <p:spPr>
          <a:xfrm rot="0">
            <a:off x="2765850" y="2893104"/>
            <a:ext cx="4391101" cy="403050"/>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gRPC</a:t>
            </a:r>
          </a:p>
        </p:txBody>
      </p:sp>
      <p:sp>
        <p:nvSpPr>
          <p:cNvPr name="TextBox 13" id="13"/>
          <p:cNvSpPr txBox="true"/>
          <p:nvPr/>
        </p:nvSpPr>
        <p:spPr>
          <a:xfrm rot="0">
            <a:off x="2765850" y="3353772"/>
            <a:ext cx="5379596" cy="2560272"/>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Un framework de RPC de alto rendimiento desarrollado por Google, basado en HTTP/2.</a:t>
            </a:r>
          </a:p>
          <a:p>
            <a:pPr algn="l">
              <a:lnSpc>
                <a:spcPts val="2351"/>
              </a:lnSpc>
            </a:pPr>
          </a:p>
          <a:p>
            <a:pPr algn="l" marL="342900" indent="-114300" lvl="2">
              <a:lnSpc>
                <a:spcPts val="2520"/>
              </a:lnSpc>
              <a:buFont typeface="Arial"/>
              <a:buChar char="⚬"/>
            </a:pPr>
            <a:r>
              <a:rPr lang="en-US" sz="1500">
                <a:solidFill>
                  <a:srgbClr val="FFFFFF"/>
                </a:solidFill>
                <a:latin typeface="Open Sans"/>
                <a:ea typeface="Open Sans"/>
                <a:cs typeface="Open Sans"/>
                <a:sym typeface="Open Sans"/>
              </a:rPr>
              <a:t>Soporte para múltiples lenguajes, streaming bidireccional, eficiente en el uso de recursos.</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Casos de Uso</a:t>
            </a:r>
            <a:r>
              <a:rPr lang="en-US" sz="1500">
                <a:solidFill>
                  <a:srgbClr val="FFFFFF"/>
                </a:solidFill>
                <a:latin typeface="Open Sans"/>
                <a:ea typeface="Open Sans"/>
                <a:cs typeface="Open Sans"/>
                <a:sym typeface="Open Sans"/>
              </a:rPr>
              <a:t>: Microservicios, comunicación entre servicios en la nube.</a:t>
            </a:r>
          </a:p>
          <a:p>
            <a:pPr algn="l" marL="320040" indent="-106680" lvl="2">
              <a:lnSpc>
                <a:spcPts val="2351"/>
              </a:lnSpc>
            </a:pPr>
          </a:p>
        </p:txBody>
      </p:sp>
      <p:sp>
        <p:nvSpPr>
          <p:cNvPr name="TextBox 14" id="14"/>
          <p:cNvSpPr txBox="true"/>
          <p:nvPr/>
        </p:nvSpPr>
        <p:spPr>
          <a:xfrm rot="0">
            <a:off x="2722845" y="6233979"/>
            <a:ext cx="5221796" cy="403050"/>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SOAP (Simple Object Access Protocol):</a:t>
            </a:r>
          </a:p>
        </p:txBody>
      </p:sp>
      <p:sp>
        <p:nvSpPr>
          <p:cNvPr name="TextBox 15" id="15"/>
          <p:cNvSpPr txBox="true"/>
          <p:nvPr/>
        </p:nvSpPr>
        <p:spPr>
          <a:xfrm rot="0">
            <a:off x="2808827" y="7007438"/>
            <a:ext cx="5136004" cy="2883379"/>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Un protocolo basado en XML para intercambiar información estructurada en la implementación de servicios web.</a:t>
            </a:r>
          </a:p>
          <a:p>
            <a:pPr algn="l">
              <a:lnSpc>
                <a:spcPts val="2351"/>
              </a:lnSpc>
            </a:pPr>
          </a:p>
          <a:p>
            <a:pPr algn="l" marL="342900" indent="-114300" lvl="2">
              <a:lnSpc>
                <a:spcPts val="2520"/>
              </a:lnSpc>
              <a:buFont typeface="Arial"/>
              <a:buChar char="⚬"/>
            </a:pPr>
            <a:r>
              <a:rPr lang="en-US" sz="1500">
                <a:solidFill>
                  <a:srgbClr val="FFFFFF"/>
                </a:solidFill>
                <a:latin typeface="Open Sans"/>
                <a:ea typeface="Open Sans"/>
                <a:cs typeface="Open Sans"/>
                <a:sym typeface="Open Sans"/>
              </a:rPr>
              <a:t>Extensible, independiente del protocolo de transporte, alto nivel de seguridad.</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Casos de Uso</a:t>
            </a:r>
            <a:r>
              <a:rPr lang="en-US" sz="1500">
                <a:solidFill>
                  <a:srgbClr val="FFFFFF"/>
                </a:solidFill>
                <a:latin typeface="Open Sans"/>
                <a:ea typeface="Open Sans"/>
                <a:cs typeface="Open Sans"/>
                <a:sym typeface="Open Sans"/>
              </a:rPr>
              <a:t>: Servicios empresariales, aplicaciones que requieren transacciones seguras y fiables.</a:t>
            </a:r>
          </a:p>
          <a:p>
            <a:pPr algn="l" marL="320040" indent="-106680" lvl="2">
              <a:lnSpc>
                <a:spcPts val="2351"/>
              </a:lnSpc>
            </a:pPr>
          </a:p>
        </p:txBody>
      </p:sp>
      <p:sp>
        <p:nvSpPr>
          <p:cNvPr name="TextBox 16" id="16"/>
          <p:cNvSpPr txBox="true"/>
          <p:nvPr/>
        </p:nvSpPr>
        <p:spPr>
          <a:xfrm rot="0">
            <a:off x="11425714" y="1099899"/>
            <a:ext cx="4391101" cy="403050"/>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XML-RPC</a:t>
            </a:r>
          </a:p>
        </p:txBody>
      </p:sp>
      <p:sp>
        <p:nvSpPr>
          <p:cNvPr name="TextBox 17" id="17"/>
          <p:cNvSpPr txBox="true"/>
          <p:nvPr/>
        </p:nvSpPr>
        <p:spPr>
          <a:xfrm rot="0">
            <a:off x="10854395" y="1673771"/>
            <a:ext cx="6309303" cy="1913773"/>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Un protocolo que utiliza XML para codificar sus llamadas y HTTP como protocolo de transporte.</a:t>
            </a:r>
          </a:p>
          <a:p>
            <a:pPr algn="l">
              <a:lnSpc>
                <a:spcPts val="2351"/>
              </a:lnSpc>
            </a:pPr>
          </a:p>
          <a:p>
            <a:pPr algn="l" marL="342900" indent="-114300" lvl="2">
              <a:lnSpc>
                <a:spcPts val="2520"/>
              </a:lnSpc>
              <a:buFont typeface="Arial"/>
              <a:buChar char="⚬"/>
            </a:pPr>
            <a:r>
              <a:rPr lang="en-US" sz="1500">
                <a:solidFill>
                  <a:srgbClr val="FFFFFF"/>
                </a:solidFill>
                <a:latin typeface="Open Sans"/>
                <a:ea typeface="Open Sans"/>
                <a:cs typeface="Open Sans"/>
                <a:sym typeface="Open Sans"/>
              </a:rPr>
              <a:t>Simplicidad, fácil de implementar.</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Casos de Uso</a:t>
            </a:r>
            <a:r>
              <a:rPr lang="en-US" sz="1500">
                <a:solidFill>
                  <a:srgbClr val="FFFFFF"/>
                </a:solidFill>
                <a:latin typeface="Open Sans"/>
                <a:ea typeface="Open Sans"/>
                <a:cs typeface="Open Sans"/>
                <a:sym typeface="Open Sans"/>
              </a:rPr>
              <a:t>: Integración de sistemas, aplicaciones web simples.</a:t>
            </a:r>
          </a:p>
          <a:p>
            <a:pPr algn="l" marL="320040" indent="-106680" lvl="2">
              <a:lnSpc>
                <a:spcPts val="2351"/>
              </a:lnSpc>
            </a:pPr>
          </a:p>
        </p:txBody>
      </p:sp>
      <p:sp>
        <p:nvSpPr>
          <p:cNvPr name="TextBox 18" id="18"/>
          <p:cNvSpPr txBox="true"/>
          <p:nvPr/>
        </p:nvSpPr>
        <p:spPr>
          <a:xfrm rot="0">
            <a:off x="11342484" y="3978164"/>
            <a:ext cx="4391101" cy="403050"/>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JSON-RPC</a:t>
            </a:r>
          </a:p>
        </p:txBody>
      </p:sp>
      <p:sp>
        <p:nvSpPr>
          <p:cNvPr name="TextBox 19" id="19"/>
          <p:cNvSpPr txBox="true"/>
          <p:nvPr/>
        </p:nvSpPr>
        <p:spPr>
          <a:xfrm rot="0">
            <a:off x="10771156" y="4552036"/>
            <a:ext cx="6309303" cy="1913773"/>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Similar a XML-RPC pero utiliza JSON para la codificación.</a:t>
            </a:r>
          </a:p>
          <a:p>
            <a:pPr algn="l">
              <a:lnSpc>
                <a:spcPts val="2351"/>
              </a:lnSpc>
            </a:pPr>
          </a:p>
          <a:p>
            <a:pPr algn="l" marL="342900" indent="-114300" lvl="2">
              <a:lnSpc>
                <a:spcPts val="2520"/>
              </a:lnSpc>
              <a:buFont typeface="Arial"/>
              <a:buChar char="⚬"/>
            </a:pPr>
            <a:r>
              <a:rPr lang="en-US" sz="1500">
                <a:solidFill>
                  <a:srgbClr val="FFFFFF"/>
                </a:solidFill>
                <a:latin typeface="Open Sans"/>
                <a:ea typeface="Open Sans"/>
                <a:cs typeface="Open Sans"/>
                <a:sym typeface="Open Sans"/>
              </a:rPr>
              <a:t>Ligero, fácil de leer y escribir, compatible con aplicaciones web modernas.</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Casos de Uso</a:t>
            </a:r>
            <a:r>
              <a:rPr lang="en-US" sz="1500">
                <a:solidFill>
                  <a:srgbClr val="FFFFFF"/>
                </a:solidFill>
                <a:latin typeface="Open Sans"/>
                <a:ea typeface="Open Sans"/>
                <a:cs typeface="Open Sans"/>
                <a:sym typeface="Open Sans"/>
              </a:rPr>
              <a:t>: Aplicaciones web y móviles, APIs RESTful.</a:t>
            </a:r>
          </a:p>
          <a:p>
            <a:pPr algn="l" marL="320040" indent="-106680" lvl="2">
              <a:lnSpc>
                <a:spcPts val="2351"/>
              </a:lnSpc>
            </a:pPr>
          </a:p>
        </p:txBody>
      </p:sp>
      <p:sp>
        <p:nvSpPr>
          <p:cNvPr name="TextBox 20" id="20"/>
          <p:cNvSpPr txBox="true"/>
          <p:nvPr/>
        </p:nvSpPr>
        <p:spPr>
          <a:xfrm rot="0">
            <a:off x="11425714" y="7425938"/>
            <a:ext cx="4391101" cy="403050"/>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¿CUÁL </a:t>
            </a:r>
            <a:r>
              <a:rPr lang="en-US" b="true" sz="2000">
                <a:solidFill>
                  <a:srgbClr val="67D3CD"/>
                </a:solidFill>
                <a:latin typeface="Open Sans Bold"/>
                <a:ea typeface="Open Sans Bold"/>
                <a:cs typeface="Open Sans Bold"/>
                <a:sym typeface="Open Sans Bold"/>
              </a:rPr>
              <a:t>USAR</a:t>
            </a:r>
            <a:r>
              <a:rPr lang="en-US" b="true" sz="2000">
                <a:solidFill>
                  <a:srgbClr val="FFFFFF"/>
                </a:solidFill>
                <a:latin typeface="Open Sans Bold"/>
                <a:ea typeface="Open Sans Bold"/>
                <a:cs typeface="Open Sans Bold"/>
                <a:sym typeface="Open Sans Bold"/>
              </a:rPr>
              <a:t>?</a:t>
            </a:r>
          </a:p>
        </p:txBody>
      </p:sp>
      <p:sp>
        <p:nvSpPr>
          <p:cNvPr name="TextBox 21" id="21"/>
          <p:cNvSpPr txBox="true"/>
          <p:nvPr/>
        </p:nvSpPr>
        <p:spPr>
          <a:xfrm rot="0">
            <a:off x="10596496" y="7999809"/>
            <a:ext cx="6746100" cy="2236880"/>
          </a:xfrm>
          <a:prstGeom prst="rect">
            <a:avLst/>
          </a:prstGeom>
        </p:spPr>
        <p:txBody>
          <a:bodyPr anchor="t" rtlCol="false" tIns="0" lIns="0" bIns="0" rIns="0">
            <a:spAutoFit/>
          </a:bodyPr>
          <a:lstStyle/>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gRPC</a:t>
            </a:r>
            <a:r>
              <a:rPr lang="en-US" sz="1500">
                <a:solidFill>
                  <a:srgbClr val="FFFFFF"/>
                </a:solidFill>
                <a:latin typeface="Open Sans"/>
                <a:ea typeface="Open Sans"/>
                <a:cs typeface="Open Sans"/>
                <a:sym typeface="Open Sans"/>
              </a:rPr>
              <a:t>: Comunicación entre microservicios en una arquitectura de Kubernetes.</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SOAP</a:t>
            </a:r>
            <a:r>
              <a:rPr lang="en-US" sz="1500">
                <a:solidFill>
                  <a:srgbClr val="FFFFFF"/>
                </a:solidFill>
                <a:latin typeface="Open Sans"/>
                <a:ea typeface="Open Sans"/>
                <a:cs typeface="Open Sans"/>
                <a:sym typeface="Open Sans"/>
              </a:rPr>
              <a:t>: Servicios web financieros que requieren alta seguridad y transacciones confiables.</a:t>
            </a:r>
          </a:p>
          <a:p>
            <a:pPr algn="l" marL="342900" indent="-114300" lvl="2">
              <a:lnSpc>
                <a:spcPts val="2520"/>
              </a:lnSpc>
              <a:buFont typeface="Arial"/>
              <a:buChar char="⚬"/>
            </a:pPr>
            <a:r>
              <a:rPr lang="en-US" b="true" sz="1500">
                <a:solidFill>
                  <a:srgbClr val="FFFFFF"/>
                </a:solidFill>
                <a:latin typeface="Open Sans Bold"/>
                <a:ea typeface="Open Sans Bold"/>
                <a:cs typeface="Open Sans Bold"/>
                <a:sym typeface="Open Sans Bold"/>
              </a:rPr>
              <a:t>JSON-RPC: </a:t>
            </a:r>
            <a:r>
              <a:rPr lang="en-US" sz="1500">
                <a:solidFill>
                  <a:srgbClr val="FFFFFF"/>
                </a:solidFill>
                <a:latin typeface="Open Sans"/>
                <a:ea typeface="Open Sans"/>
                <a:cs typeface="Open Sans"/>
                <a:sym typeface="Open Sans"/>
              </a:rPr>
              <a:t>APIs para aplicaciones móviles que requieren respuestas rápidas y ligeras.</a:t>
            </a:r>
          </a:p>
          <a:p>
            <a:pPr algn="l" marL="320040" indent="-106680" lvl="2">
              <a:lnSpc>
                <a:spcPts val="2351"/>
              </a:lnSpc>
            </a:pPr>
          </a:p>
        </p:txBody>
      </p:sp>
      <p:grpSp>
        <p:nvGrpSpPr>
          <p:cNvPr name="Group 22" id="22"/>
          <p:cNvGrpSpPr/>
          <p:nvPr/>
        </p:nvGrpSpPr>
        <p:grpSpPr>
          <a:xfrm rot="0">
            <a:off x="9316945" y="1562929"/>
            <a:ext cx="1279550" cy="1279550"/>
            <a:chOff x="0" y="0"/>
            <a:chExt cx="1706067" cy="1706067"/>
          </a:xfrm>
        </p:grpSpPr>
        <p:sp>
          <p:nvSpPr>
            <p:cNvPr name="Freeform 23" id="23"/>
            <p:cNvSpPr/>
            <p:nvPr/>
          </p:nvSpPr>
          <p:spPr>
            <a:xfrm flipH="false" flipV="false" rot="0">
              <a:off x="0" y="0"/>
              <a:ext cx="1706118" cy="1706118"/>
            </a:xfrm>
            <a:custGeom>
              <a:avLst/>
              <a:gdLst/>
              <a:ahLst/>
              <a:cxnLst/>
              <a:rect r="r" b="b" t="t" l="l"/>
              <a:pathLst>
                <a:path h="1706118" w="1706118">
                  <a:moveTo>
                    <a:pt x="0" y="0"/>
                  </a:moveTo>
                  <a:lnTo>
                    <a:pt x="1706118" y="0"/>
                  </a:lnTo>
                  <a:lnTo>
                    <a:pt x="1706118" y="1706118"/>
                  </a:lnTo>
                  <a:lnTo>
                    <a:pt x="0" y="1706118"/>
                  </a:lnTo>
                  <a:lnTo>
                    <a:pt x="0" y="0"/>
                  </a:lnTo>
                  <a:close/>
                </a:path>
              </a:pathLst>
            </a:custGeom>
            <a:blipFill>
              <a:blip r:embed="rId15"/>
              <a:stretch>
                <a:fillRect l="0" t="0" r="2" b="2"/>
              </a:stretch>
            </a:blipFill>
          </p:spPr>
        </p:sp>
      </p:grpSp>
      <p:grpSp>
        <p:nvGrpSpPr>
          <p:cNvPr name="Group 24" id="24"/>
          <p:cNvGrpSpPr/>
          <p:nvPr/>
        </p:nvGrpSpPr>
        <p:grpSpPr>
          <a:xfrm rot="0">
            <a:off x="9234049" y="4618730"/>
            <a:ext cx="1279550" cy="1279550"/>
            <a:chOff x="0" y="0"/>
            <a:chExt cx="1706067" cy="1706067"/>
          </a:xfrm>
        </p:grpSpPr>
        <p:sp>
          <p:nvSpPr>
            <p:cNvPr name="Freeform 25" id="25"/>
            <p:cNvSpPr/>
            <p:nvPr/>
          </p:nvSpPr>
          <p:spPr>
            <a:xfrm flipH="false" flipV="false" rot="0">
              <a:off x="0" y="0"/>
              <a:ext cx="1706118" cy="1706118"/>
            </a:xfrm>
            <a:custGeom>
              <a:avLst/>
              <a:gdLst/>
              <a:ahLst/>
              <a:cxnLst/>
              <a:rect r="r" b="b" t="t" l="l"/>
              <a:pathLst>
                <a:path h="1706118" w="1706118">
                  <a:moveTo>
                    <a:pt x="0" y="0"/>
                  </a:moveTo>
                  <a:lnTo>
                    <a:pt x="1706118" y="0"/>
                  </a:lnTo>
                  <a:lnTo>
                    <a:pt x="1706118" y="1706118"/>
                  </a:lnTo>
                  <a:lnTo>
                    <a:pt x="0" y="1706118"/>
                  </a:lnTo>
                  <a:lnTo>
                    <a:pt x="0" y="0"/>
                  </a:lnTo>
                  <a:close/>
                </a:path>
              </a:pathLst>
            </a:custGeom>
            <a:blipFill>
              <a:blip r:embed="rId16"/>
              <a:stretch>
                <a:fillRect l="0" t="0" r="2" b="2"/>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931920">
            <a:off x="-5937580" y="-3092615"/>
            <a:ext cx="8317630" cy="7243267"/>
            <a:chOff x="0" y="0"/>
            <a:chExt cx="11090173" cy="9657690"/>
          </a:xfrm>
        </p:grpSpPr>
        <p:sp>
          <p:nvSpPr>
            <p:cNvPr name="Freeform 3" id="3"/>
            <p:cNvSpPr/>
            <p:nvPr/>
          </p:nvSpPr>
          <p:spPr>
            <a:xfrm flipH="false" flipV="false" rot="0">
              <a:off x="0" y="0"/>
              <a:ext cx="11090148" cy="9657715"/>
            </a:xfrm>
            <a:custGeom>
              <a:avLst/>
              <a:gdLst/>
              <a:ahLst/>
              <a:cxnLst/>
              <a:rect r="r" b="b" t="t" l="l"/>
              <a:pathLst>
                <a:path h="9657715" w="11090148">
                  <a:moveTo>
                    <a:pt x="0" y="0"/>
                  </a:moveTo>
                  <a:lnTo>
                    <a:pt x="11090148" y="0"/>
                  </a:lnTo>
                  <a:lnTo>
                    <a:pt x="11090148" y="9657715"/>
                  </a:lnTo>
                  <a:lnTo>
                    <a:pt x="0" y="9657715"/>
                  </a:lnTo>
                  <a:lnTo>
                    <a:pt x="0" y="0"/>
                  </a:lnTo>
                  <a:close/>
                </a:path>
              </a:pathLst>
            </a:custGeom>
            <a:blipFill>
              <a:blip r:embed="rId3"/>
              <a:stretch>
                <a:fillRect l="-5" t="0" r="-5" b="0"/>
              </a:stretch>
            </a:blipFill>
          </p:spPr>
        </p:sp>
      </p:grpSp>
      <p:sp>
        <p:nvSpPr>
          <p:cNvPr name="TextBox 4" id="4"/>
          <p:cNvSpPr txBox="true"/>
          <p:nvPr/>
        </p:nvSpPr>
        <p:spPr>
          <a:xfrm rot="0">
            <a:off x="4335523" y="2347103"/>
            <a:ext cx="12042600" cy="3309147"/>
          </a:xfrm>
          <a:prstGeom prst="rect">
            <a:avLst/>
          </a:prstGeom>
        </p:spPr>
        <p:txBody>
          <a:bodyPr anchor="t" rtlCol="false" tIns="0" lIns="0" bIns="0" rIns="0">
            <a:spAutoFit/>
          </a:bodyPr>
          <a:lstStyle/>
          <a:p>
            <a:pPr algn="ctr">
              <a:lnSpc>
                <a:spcPts val="13068"/>
              </a:lnSpc>
            </a:pPr>
            <a:r>
              <a:rPr lang="en-US" b="true" sz="9000">
                <a:solidFill>
                  <a:srgbClr val="FFFFFF"/>
                </a:solidFill>
                <a:latin typeface="Arial Bold"/>
                <a:ea typeface="Arial Bold"/>
                <a:cs typeface="Arial Bold"/>
                <a:sym typeface="Arial Bold"/>
              </a:rPr>
              <a:t>Ejemplo Guiado:</a:t>
            </a:r>
          </a:p>
          <a:p>
            <a:pPr algn="ctr">
              <a:lnSpc>
                <a:spcPts val="13068"/>
              </a:lnSpc>
            </a:pPr>
            <a:r>
              <a:rPr lang="en-US" sz="9000">
                <a:solidFill>
                  <a:srgbClr val="FFFFFF"/>
                </a:solidFill>
                <a:latin typeface="Arial"/>
                <a:ea typeface="Arial"/>
                <a:cs typeface="Arial"/>
                <a:sym typeface="Arial"/>
              </a:rPr>
              <a:t>gRPC</a:t>
            </a:r>
          </a:p>
        </p:txBody>
      </p:sp>
      <p:grpSp>
        <p:nvGrpSpPr>
          <p:cNvPr name="Group 5" id="5"/>
          <p:cNvGrpSpPr/>
          <p:nvPr/>
        </p:nvGrpSpPr>
        <p:grpSpPr>
          <a:xfrm rot="0">
            <a:off x="1782823" y="3924300"/>
            <a:ext cx="2438400" cy="2438400"/>
            <a:chOff x="0" y="0"/>
            <a:chExt cx="3251200" cy="3251200"/>
          </a:xfrm>
        </p:grpSpPr>
        <p:sp>
          <p:nvSpPr>
            <p:cNvPr name="Freeform 6" id="6"/>
            <p:cNvSpPr/>
            <p:nvPr/>
          </p:nvSpPr>
          <p:spPr>
            <a:xfrm flipH="false" flipV="false" rot="0">
              <a:off x="0" y="0"/>
              <a:ext cx="3251200" cy="3251200"/>
            </a:xfrm>
            <a:custGeom>
              <a:avLst/>
              <a:gdLst/>
              <a:ahLst/>
              <a:cxnLst/>
              <a:rect r="r" b="b" t="t" l="l"/>
              <a:pathLst>
                <a:path h="3251200" w="3251200">
                  <a:moveTo>
                    <a:pt x="0" y="0"/>
                  </a:moveTo>
                  <a:lnTo>
                    <a:pt x="3251200" y="0"/>
                  </a:lnTo>
                  <a:lnTo>
                    <a:pt x="3251200" y="3251200"/>
                  </a:lnTo>
                  <a:lnTo>
                    <a:pt x="0" y="3251200"/>
                  </a:lnTo>
                  <a:lnTo>
                    <a:pt x="0" y="0"/>
                  </a:lnTo>
                  <a:close/>
                </a:path>
              </a:pathLst>
            </a:custGeom>
            <a:blipFill>
              <a:blip r:embed="rId4"/>
              <a:stretch>
                <a:fillRect l="0" t="0" r="0" b="0"/>
              </a:stretch>
            </a:blipFill>
          </p:spPr>
        </p:sp>
      </p:grpSp>
      <p:grpSp>
        <p:nvGrpSpPr>
          <p:cNvPr name="Group 7" id="7"/>
          <p:cNvGrpSpPr/>
          <p:nvPr/>
        </p:nvGrpSpPr>
        <p:grpSpPr>
          <a:xfrm rot="0">
            <a:off x="19015643" y="-4"/>
            <a:ext cx="4626464" cy="4576000"/>
            <a:chOff x="0" y="0"/>
            <a:chExt cx="6168619" cy="6101334"/>
          </a:xfrm>
        </p:grpSpPr>
        <p:sp>
          <p:nvSpPr>
            <p:cNvPr name="Freeform 8" id="8"/>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5"/>
              <a:stretch>
                <a:fillRect l="0" t="-22" r="0" b="-22"/>
              </a:stretch>
            </a:blipFill>
          </p:spPr>
        </p:sp>
      </p:grpSp>
      <p:sp>
        <p:nvSpPr>
          <p:cNvPr name="TextBox 9" id="9"/>
          <p:cNvSpPr txBox="true"/>
          <p:nvPr/>
        </p:nvSpPr>
        <p:spPr>
          <a:xfrm rot="0">
            <a:off x="19709759" y="1013174"/>
            <a:ext cx="3238205" cy="3009748"/>
          </a:xfrm>
          <a:prstGeom prst="rect">
            <a:avLst/>
          </a:prstGeom>
        </p:spPr>
        <p:txBody>
          <a:bodyPr anchor="t" rtlCol="false" tIns="0" lIns="0" bIns="0" rIns="0">
            <a:spAutoFit/>
          </a:bodyPr>
          <a:lstStyle/>
          <a:p>
            <a:pPr algn="l">
              <a:lnSpc>
                <a:spcPts val="3383"/>
              </a:lnSpc>
            </a:pPr>
            <a:r>
              <a:rPr lang="en-US" sz="2014">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CONCEPTOS CLAVE APRENDIDOS</a:t>
            </a:r>
          </a:p>
        </p:txBody>
      </p:sp>
      <p:sp>
        <p:nvSpPr>
          <p:cNvPr name="Freeform 5" id="5"/>
          <p:cNvSpPr/>
          <p:nvPr/>
        </p:nvSpPr>
        <p:spPr>
          <a:xfrm flipH="false" flipV="false" rot="0">
            <a:off x="2695527" y="2304374"/>
            <a:ext cx="12896945" cy="5258181"/>
          </a:xfrm>
          <a:custGeom>
            <a:avLst/>
            <a:gdLst/>
            <a:ahLst/>
            <a:cxnLst/>
            <a:rect r="r" b="b" t="t" l="l"/>
            <a:pathLst>
              <a:path h="5258181" w="12896945">
                <a:moveTo>
                  <a:pt x="0" y="0"/>
                </a:moveTo>
                <a:lnTo>
                  <a:pt x="12896946" y="0"/>
                </a:lnTo>
                <a:lnTo>
                  <a:pt x="12896946" y="5258181"/>
                </a:lnTo>
                <a:lnTo>
                  <a:pt x="0" y="52581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652723" y="2912421"/>
            <a:ext cx="10982554" cy="4022998"/>
          </a:xfrm>
          <a:prstGeom prst="rect">
            <a:avLst/>
          </a:prstGeom>
        </p:spPr>
        <p:txBody>
          <a:bodyPr anchor="t" rtlCol="false" tIns="0" lIns="0" bIns="0" rIns="0">
            <a:spAutoFit/>
          </a:bodyPr>
          <a:lstStyle/>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Sistemas Operativos Móviles e Integrados: </a:t>
            </a:r>
            <a:r>
              <a:rPr lang="en-US" sz="2600">
                <a:solidFill>
                  <a:srgbClr val="FFFFFF"/>
                </a:solidFill>
                <a:latin typeface="Arial"/>
                <a:ea typeface="Arial"/>
                <a:cs typeface="Arial"/>
                <a:sym typeface="Arial"/>
              </a:rPr>
              <a:t>Los móviles gestionan dispositivos con interfaces gráficas y redes, mientras que los integrados controlan dispositivos específicos con recursos limitados y tareas en tiempo real (ej. Android vs FreeRTOS).</a:t>
            </a:r>
          </a:p>
          <a:p>
            <a:pPr algn="l" marL="377190" indent="-188595" lvl="1">
              <a:lnSpc>
                <a:spcPts val="3120"/>
              </a:lnSpc>
            </a:pPr>
            <a:r>
              <a:rPr lang="en-US" b="true" sz="2600">
                <a:solidFill>
                  <a:srgbClr val="FFFFFF"/>
                </a:solidFill>
                <a:latin typeface="Arial Bold"/>
                <a:ea typeface="Arial Bold"/>
                <a:cs typeface="Arial Bold"/>
                <a:sym typeface="Arial Bold"/>
              </a:rPr>
              <a:t>FreeRTOS y Restricciones: </a:t>
            </a:r>
            <a:r>
              <a:rPr lang="en-US" sz="2600">
                <a:solidFill>
                  <a:srgbClr val="FFFFFF"/>
                </a:solidFill>
                <a:latin typeface="Arial"/>
                <a:ea typeface="Arial"/>
                <a:cs typeface="Arial"/>
                <a:sym typeface="Arial"/>
              </a:rPr>
              <a:t>FreeRTOS es un RTOS ligero para microcontroladores que optimiza multitarea y recursos en entornos con memoria, CPU y energía muy limitadas.</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RPC: </a:t>
            </a:r>
            <a:r>
              <a:rPr lang="en-US" sz="2600">
                <a:solidFill>
                  <a:srgbClr val="FFFFFF"/>
                </a:solidFill>
                <a:latin typeface="Arial"/>
                <a:ea typeface="Arial"/>
                <a:cs typeface="Arial"/>
                <a:sym typeface="Arial"/>
              </a:rPr>
              <a:t>RPC permite llamar funciones remotas como locales, usando protocolos como gRPC, SOAP o JSON-RPC para facilitar la comunicación en sistemas distribuidos.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10" y="952700"/>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VALOR DE LA SEMANA</a:t>
            </a:r>
          </a:p>
        </p:txBody>
      </p:sp>
      <p:sp>
        <p:nvSpPr>
          <p:cNvPr name="Freeform 5" id="5"/>
          <p:cNvSpPr/>
          <p:nvPr/>
        </p:nvSpPr>
        <p:spPr>
          <a:xfrm flipH="false" flipV="false" rot="0">
            <a:off x="2293077" y="3299174"/>
            <a:ext cx="13701817" cy="4860103"/>
          </a:xfrm>
          <a:custGeom>
            <a:avLst/>
            <a:gdLst/>
            <a:ahLst/>
            <a:cxnLst/>
            <a:rect r="r" b="b" t="t" l="l"/>
            <a:pathLst>
              <a:path h="4860103" w="13701817">
                <a:moveTo>
                  <a:pt x="0" y="0"/>
                </a:moveTo>
                <a:lnTo>
                  <a:pt x="13701817" y="0"/>
                </a:lnTo>
                <a:lnTo>
                  <a:pt x="13701817" y="4860103"/>
                </a:lnTo>
                <a:lnTo>
                  <a:pt x="0" y="4860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78103" y="4468320"/>
            <a:ext cx="12531747" cy="2493226"/>
          </a:xfrm>
          <a:prstGeom prst="rect">
            <a:avLst/>
          </a:prstGeom>
        </p:spPr>
        <p:txBody>
          <a:bodyPr anchor="t" rtlCol="false" tIns="0" lIns="0" bIns="0" rIns="0">
            <a:spAutoFit/>
          </a:bodyPr>
          <a:lstStyle/>
          <a:p>
            <a:pPr algn="l" marL="411480" indent="-205740" lvl="1">
              <a:lnSpc>
                <a:spcPts val="3840"/>
              </a:lnSpc>
              <a:buFont typeface="Arial"/>
              <a:buChar char="•"/>
            </a:pPr>
            <a:r>
              <a:rPr lang="en-US" b="true" sz="3200">
                <a:solidFill>
                  <a:srgbClr val="FFFFFF"/>
                </a:solidFill>
                <a:latin typeface="Arial Bold"/>
                <a:ea typeface="Arial Bold"/>
                <a:cs typeface="Arial Bold"/>
                <a:sym typeface="Arial Bold"/>
              </a:rPr>
              <a:t>Innovacion: </a:t>
            </a:r>
            <a:r>
              <a:rPr lang="en-US" sz="3200">
                <a:solidFill>
                  <a:srgbClr val="FFFFFF"/>
                </a:solidFill>
                <a:latin typeface="Arial"/>
                <a:ea typeface="Arial"/>
                <a:cs typeface="Arial"/>
                <a:sym typeface="Arial"/>
              </a:rPr>
              <a:t>Al entender las limitaciones de la tecnología, es inevitable buscar formas alternativas de obtener resultados, las computadoras han evolucionado muchas veces a lo largo de la historia, lo mismo ha sucedido con los sistemas operativos, de manera que es necesario continuar esa evolución e innovación.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REFERENCIAS</a:t>
            </a:r>
          </a:p>
        </p:txBody>
      </p:sp>
      <p:sp>
        <p:nvSpPr>
          <p:cNvPr name="Freeform 5" id="5"/>
          <p:cNvSpPr/>
          <p:nvPr/>
        </p:nvSpPr>
        <p:spPr>
          <a:xfrm flipH="false" flipV="false" rot="0">
            <a:off x="2695527" y="2304374"/>
            <a:ext cx="12896945" cy="5576268"/>
          </a:xfrm>
          <a:custGeom>
            <a:avLst/>
            <a:gdLst/>
            <a:ahLst/>
            <a:cxnLst/>
            <a:rect r="r" b="b" t="t" l="l"/>
            <a:pathLst>
              <a:path h="5576268" w="12896945">
                <a:moveTo>
                  <a:pt x="0" y="0"/>
                </a:moveTo>
                <a:lnTo>
                  <a:pt x="12896946" y="0"/>
                </a:lnTo>
                <a:lnTo>
                  <a:pt x="12896946" y="5576268"/>
                </a:lnTo>
                <a:lnTo>
                  <a:pt x="0" y="5576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24276" y="3212001"/>
            <a:ext cx="12039448" cy="4022998"/>
          </a:xfrm>
          <a:prstGeom prst="rect">
            <a:avLst/>
          </a:prstGeom>
        </p:spPr>
        <p:txBody>
          <a:bodyPr anchor="t" rtlCol="false" tIns="0" lIns="0" bIns="0" rIns="0">
            <a:spAutoFit/>
          </a:bodyPr>
          <a:lstStyle/>
          <a:p>
            <a:pPr algn="l">
              <a:lnSpc>
                <a:spcPts val="3120"/>
              </a:lnSpc>
            </a:pPr>
            <a:r>
              <a:rPr lang="en-US" b="true" sz="2600">
                <a:solidFill>
                  <a:srgbClr val="FFFFFF"/>
                </a:solidFill>
                <a:latin typeface="Arial Bold"/>
                <a:ea typeface="Arial Bold"/>
                <a:cs typeface="Arial Bold"/>
                <a:sym typeface="Arial Bold"/>
              </a:rPr>
              <a:t>FreeRTOS</a:t>
            </a:r>
          </a:p>
          <a:p>
            <a:pPr algn="l">
              <a:lnSpc>
                <a:spcPts val="3120"/>
              </a:lnSpc>
            </a:pPr>
            <a:r>
              <a:rPr lang="en-US" b="true" sz="2600" u="sng">
                <a:solidFill>
                  <a:srgbClr val="0000FF"/>
                </a:solidFill>
                <a:latin typeface="Arial Bold"/>
                <a:ea typeface="Arial Bold"/>
                <a:cs typeface="Arial Bold"/>
                <a:sym typeface="Arial Bold"/>
                <a:hlinkClick r:id="rId6" tooltip="https://freertos.org/"/>
              </a:rPr>
              <a:t>https://freertos.org/</a:t>
            </a:r>
          </a:p>
          <a:p>
            <a:pPr algn="l">
              <a:lnSpc>
                <a:spcPts val="1679"/>
              </a:lnSpc>
            </a:pPr>
          </a:p>
          <a:p>
            <a:pPr algn="l">
              <a:lnSpc>
                <a:spcPts val="3120"/>
              </a:lnSpc>
            </a:pPr>
            <a:r>
              <a:rPr lang="en-US" b="true" sz="2600">
                <a:solidFill>
                  <a:srgbClr val="FFFFFF"/>
                </a:solidFill>
                <a:latin typeface="Arial Bold"/>
                <a:ea typeface="Arial Bold"/>
                <a:cs typeface="Arial Bold"/>
                <a:sym typeface="Arial Bold"/>
              </a:rPr>
              <a:t>	Optimizing Embedded Systems</a:t>
            </a:r>
          </a:p>
          <a:p>
            <a:pPr algn="l">
              <a:lnSpc>
                <a:spcPts val="3120"/>
              </a:lnSpc>
            </a:pPr>
            <a:r>
              <a:rPr lang="en-US" b="true" sz="2600" u="sng">
                <a:solidFill>
                  <a:srgbClr val="0000FF"/>
                </a:solidFill>
                <a:latin typeface="Arial Bold"/>
                <a:ea typeface="Arial Bold"/>
                <a:cs typeface="Arial Bold"/>
                <a:sym typeface="Arial Bold"/>
                <a:hlinkClick r:id="rId7" tooltip="https://emb-academy.com/articles/optimizing-performance-in-embedded-systems/"/>
              </a:rPr>
              <a:t>https://emb-academy.com/articles/optimizing-performance-in-embedded-systems/</a:t>
            </a:r>
          </a:p>
          <a:p>
            <a:pPr algn="l">
              <a:lnSpc>
                <a:spcPts val="1679"/>
              </a:lnSpc>
            </a:pPr>
          </a:p>
          <a:p>
            <a:pPr algn="l">
              <a:lnSpc>
                <a:spcPts val="3120"/>
              </a:lnSpc>
            </a:pPr>
            <a:r>
              <a:rPr lang="en-US" b="true" sz="2600">
                <a:solidFill>
                  <a:srgbClr val="FFFFFF"/>
                </a:solidFill>
                <a:latin typeface="Arial Bold"/>
                <a:ea typeface="Arial Bold"/>
                <a:cs typeface="Arial Bold"/>
                <a:sym typeface="Arial Bold"/>
              </a:rPr>
              <a:t>gRPC</a:t>
            </a:r>
          </a:p>
          <a:p>
            <a:pPr algn="l">
              <a:lnSpc>
                <a:spcPts val="3120"/>
              </a:lnSpc>
            </a:pPr>
            <a:r>
              <a:rPr lang="en-US" b="true" sz="2600" u="sng">
                <a:solidFill>
                  <a:srgbClr val="0000FF"/>
                </a:solidFill>
                <a:latin typeface="Arial Bold"/>
                <a:ea typeface="Arial Bold"/>
                <a:cs typeface="Arial Bold"/>
                <a:sym typeface="Arial Bold"/>
                <a:hlinkClick r:id="rId8" tooltip="https://grpc.io/"/>
              </a:rPr>
              <a:t>https://grpc.io/</a:t>
            </a:r>
          </a:p>
          <a:p>
            <a:pPr algn="l">
              <a:lnSpc>
                <a:spcPts val="1679"/>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6725936" y="6354794"/>
            <a:ext cx="4836128" cy="1241012"/>
          </a:xfrm>
          <a:custGeom>
            <a:avLst/>
            <a:gdLst/>
            <a:ahLst/>
            <a:cxnLst/>
            <a:rect r="r" b="b" t="t" l="l"/>
            <a:pathLst>
              <a:path h="1241012" w="4836128">
                <a:moveTo>
                  <a:pt x="0" y="0"/>
                </a:moveTo>
                <a:lnTo>
                  <a:pt x="4836128" y="0"/>
                </a:lnTo>
                <a:lnTo>
                  <a:pt x="4836128" y="1241012"/>
                </a:lnTo>
                <a:lnTo>
                  <a:pt x="0" y="1241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3937273" y="2278418"/>
            <a:ext cx="10413463" cy="3501390"/>
          </a:xfrm>
          <a:prstGeom prst="rect">
            <a:avLst/>
          </a:prstGeom>
        </p:spPr>
        <p:txBody>
          <a:bodyPr anchor="t" rtlCol="false" tIns="0" lIns="0" bIns="0" rIns="0">
            <a:spAutoFit/>
          </a:bodyPr>
          <a:lstStyle/>
          <a:p>
            <a:pPr algn="ctr">
              <a:lnSpc>
                <a:spcPts val="15246"/>
              </a:lnSpc>
            </a:pPr>
            <a:r>
              <a:rPr lang="en-US" sz="10500">
                <a:solidFill>
                  <a:srgbClr val="FFFFFF"/>
                </a:solidFill>
                <a:latin typeface="Arial"/>
                <a:ea typeface="Arial"/>
                <a:cs typeface="Arial"/>
                <a:sym typeface="Arial"/>
              </a:rPr>
              <a:t>¡GRACIAS POR LA ATENCIÓN!</a:t>
            </a:r>
          </a:p>
        </p:txBody>
      </p:sp>
      <p:sp>
        <p:nvSpPr>
          <p:cNvPr name="TextBox 4" id="4"/>
          <p:cNvSpPr txBox="true"/>
          <p:nvPr/>
        </p:nvSpPr>
        <p:spPr>
          <a:xfrm rot="0">
            <a:off x="7689504" y="6263116"/>
            <a:ext cx="2908992" cy="1144267"/>
          </a:xfrm>
          <a:prstGeom prst="rect">
            <a:avLst/>
          </a:prstGeom>
        </p:spPr>
        <p:txBody>
          <a:bodyPr anchor="t" rtlCol="false" tIns="0" lIns="0" bIns="0" rIns="0">
            <a:spAutoFit/>
          </a:bodyPr>
          <a:lstStyle/>
          <a:p>
            <a:pPr algn="ctr">
              <a:lnSpc>
                <a:spcPts val="8734"/>
              </a:lnSpc>
            </a:pPr>
            <a:r>
              <a:rPr lang="en-US" sz="5198">
                <a:solidFill>
                  <a:srgbClr val="FFFFFF"/>
                </a:solidFill>
                <a:latin typeface="Arial"/>
                <a:ea typeface="Arial"/>
                <a:cs typeface="Arial"/>
                <a:sym typeface="Arial"/>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DAHJU9qjHHM</dc:identifier>
  <dcterms:modified xsi:type="dcterms:W3CDTF">2011-08-01T06:04:30Z</dcterms:modified>
  <cp:revision>1</cp:revision>
  <dc:title>2S2026_Semana_11.pptx</dc:title>
</cp:coreProperties>
</file>