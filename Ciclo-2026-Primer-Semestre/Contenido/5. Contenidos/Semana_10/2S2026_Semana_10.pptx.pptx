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Arial Bold" charset="1" panose="020B0704020202020204"/>
      <p:regular r:id="rId31"/>
    </p:embeddedFont>
    <p:embeddedFont>
      <p:font typeface="Arial" charset="1" panose="020B0604020202020204"/>
      <p:regular r:id="rId32"/>
    </p:embeddedFont>
    <p:embeddedFont>
      <p:font typeface="Open Sans Bold" charset="1" panose="00000000000000000000"/>
      <p:regular r:id="rId34"/>
    </p:embeddedFont>
    <p:embeddedFont>
      <p:font typeface="Montserrat Bold" charset="1" panose="00000800000000000000"/>
      <p:regular r:id="rId36"/>
    </p:embeddedFont>
    <p:embeddedFont>
      <p:font typeface="Calibri (MS)" charset="1" panose="020F0502020204030204"/>
      <p:regular r:id="rId37"/>
    </p:embeddedFont>
    <p:embeddedFont>
      <p:font typeface="Open Sans" charset="1" panose="00000000000000000000"/>
      <p:regular r:id="rId40"/>
    </p:embeddedFont>
    <p:embeddedFont>
      <p:font typeface="Montserrat" charset="1" panose="0000050000000000000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notesMasters/notesMaster1.xml" Type="http://schemas.openxmlformats.org/officeDocument/2006/relationships/notesMaster"/><Relationship Id="rId29" Target="theme/theme2.xml" Type="http://schemas.openxmlformats.org/officeDocument/2006/relationships/theme"/><Relationship Id="rId3" Target="viewProps.xml" Type="http://schemas.openxmlformats.org/officeDocument/2006/relationships/viewProps"/><Relationship Id="rId30" Target="notesSlides/notesSlide1.xml" Type="http://schemas.openxmlformats.org/officeDocument/2006/relationships/notesSlide"/><Relationship Id="rId31" Target="fonts/font31.fntdata" Type="http://schemas.openxmlformats.org/officeDocument/2006/relationships/font"/><Relationship Id="rId32" Target="fonts/font32.fntdata" Type="http://schemas.openxmlformats.org/officeDocument/2006/relationships/font"/><Relationship Id="rId33" Target="notesSlides/notesSlide2.xml" Type="http://schemas.openxmlformats.org/officeDocument/2006/relationships/notesSlide"/><Relationship Id="rId34" Target="fonts/font34.fntdata" Type="http://schemas.openxmlformats.org/officeDocument/2006/relationships/font"/><Relationship Id="rId35" Target="notesSlides/notesSlide3.xml" Type="http://schemas.openxmlformats.org/officeDocument/2006/relationships/notesSlide"/><Relationship Id="rId36" Target="fonts/font36.fntdata" Type="http://schemas.openxmlformats.org/officeDocument/2006/relationships/font"/><Relationship Id="rId37" Target="fonts/font37.fntdata" Type="http://schemas.openxmlformats.org/officeDocument/2006/relationships/font"/><Relationship Id="rId38" Target="notesSlides/notesSlide4.xml" Type="http://schemas.openxmlformats.org/officeDocument/2006/relationships/notesSlide"/><Relationship Id="rId39" Target="notesSlides/notesSlide5.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notesSlides/notesSlide6.xml" Type="http://schemas.openxmlformats.org/officeDocument/2006/relationships/notesSlide"/><Relationship Id="rId43" Target="notesSlides/notesSlide7.xml" Type="http://schemas.openxmlformats.org/officeDocument/2006/relationships/notesSlide"/><Relationship Id="rId44" Target="notesSlides/notesSlide8.xml" Type="http://schemas.openxmlformats.org/officeDocument/2006/relationships/notesSlide"/><Relationship Id="rId45" Target="notesSlides/notesSlide9.xml" Type="http://schemas.openxmlformats.org/officeDocument/2006/relationships/notesSlide"/><Relationship Id="rId46" Target="notesSlides/notesSlide10.xml" Type="http://schemas.openxmlformats.org/officeDocument/2006/relationships/notesSlide"/><Relationship Id="rId47" Target="notesSlides/notesSlide11.xml" Type="http://schemas.openxmlformats.org/officeDocument/2006/relationships/notesSlide"/><Relationship Id="rId48" Target="notesSlides/notesSlide12.xml" Type="http://schemas.openxmlformats.org/officeDocument/2006/relationships/notesSlide"/><Relationship Id="rId49" Target="notesSlides/notesSlide13.xml" Type="http://schemas.openxmlformats.org/officeDocument/2006/relationships/notesSlide"/><Relationship Id="rId5" Target="tableStyles.xml" Type="http://schemas.openxmlformats.org/officeDocument/2006/relationships/tableStyles"/><Relationship Id="rId50" Target="notesSlides/notesSlide14.xml" Type="http://schemas.openxmlformats.org/officeDocument/2006/relationships/notesSlide"/><Relationship Id="rId51" Target="notesSlides/notesSlide15.xml" Type="http://schemas.openxmlformats.org/officeDocument/2006/relationships/notesSlide"/><Relationship Id="rId52" Target="notesSlides/notesSlide16.xml" Type="http://schemas.openxmlformats.org/officeDocument/2006/relationships/notesSlide"/><Relationship Id="rId53" Target="notesSlides/notesSlide17.xml" Type="http://schemas.openxmlformats.org/officeDocument/2006/relationships/notesSlide"/><Relationship Id="rId54" Target="notesSlides/notesSlide18.xml" Type="http://schemas.openxmlformats.org/officeDocument/2006/relationships/notesSlide"/><Relationship Id="rId55" Target="notesSlides/notesSlide19.xml" Type="http://schemas.openxmlformats.org/officeDocument/2006/relationships/notesSlide"/><Relationship Id="rId56" Target="notesSlides/notesSlide20.xml" Type="http://schemas.openxmlformats.org/officeDocument/2006/relationships/notesSlide"/><Relationship Id="rId57" Target="notesSlides/notesSlide21.xml" Type="http://schemas.openxmlformats.org/officeDocument/2006/relationships/notesSlide"/><Relationship Id="rId58" Target="notesSlides/notesSlide22.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jpe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jpe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3.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2" Target="../notesSlides/notesSlide8.xml" Type="http://schemas.openxmlformats.org/officeDocument/2006/relationships/notesSlide"/><Relationship Id="rId3" Target="../media/image17.pn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media/image34.png" Type="http://schemas.openxmlformats.org/officeDocument/2006/relationships/image"/><Relationship Id="rId13" Target="../media/image35.png" Type="http://schemas.openxmlformats.org/officeDocument/2006/relationships/image"/><Relationship Id="rId14" Target="../media/image36.png" Type="http://schemas.openxmlformats.org/officeDocument/2006/relationships/image"/><Relationship Id="rId2" Target="../notesSlides/notesSlide9.xml" Type="http://schemas.openxmlformats.org/officeDocument/2006/relationships/notesSlid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37.png" Type="http://schemas.openxmlformats.org/officeDocument/2006/relationships/image"/><Relationship Id="rId4" Target="../media/image38.svg" Type="http://schemas.openxmlformats.org/officeDocument/2006/relationships/image"/><Relationship Id="rId5" Target="../media/image3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4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41.png" Type="http://schemas.openxmlformats.org/officeDocument/2006/relationships/image"/><Relationship Id="rId4" Target="../media/image42.svg" Type="http://schemas.openxmlformats.org/officeDocument/2006/relationships/image"/><Relationship Id="rId5" Target="../media/image43.png" Type="http://schemas.openxmlformats.org/officeDocument/2006/relationships/image"/><Relationship Id="rId6" Target="../media/image44.png" Type="http://schemas.openxmlformats.org/officeDocument/2006/relationships/image"/><Relationship Id="rId7" Target="../media/image45.png" Type="http://schemas.openxmlformats.org/officeDocument/2006/relationships/image"/><Relationship Id="rId8" Target="../media/image4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47.png" Type="http://schemas.openxmlformats.org/officeDocument/2006/relationships/image"/><Relationship Id="rId8" Target="../media/image4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2" Target="../notesSlides/notesSlide15.xml" Type="http://schemas.openxmlformats.org/officeDocument/2006/relationships/notesSlide"/><Relationship Id="rId3" Target="../media/image49.png" Type="http://schemas.openxmlformats.org/officeDocument/2006/relationships/image"/><Relationship Id="rId4" Target="../media/image50.svg" Type="http://schemas.openxmlformats.org/officeDocument/2006/relationships/image"/><Relationship Id="rId5" Target="../media/image51.png" Type="http://schemas.openxmlformats.org/officeDocument/2006/relationships/image"/><Relationship Id="rId6" Target="../media/image52.png" Type="http://schemas.openxmlformats.org/officeDocument/2006/relationships/image"/><Relationship Id="rId7" Target="../media/image53.png" Type="http://schemas.openxmlformats.org/officeDocument/2006/relationships/image"/><Relationship Id="rId8" Target="../media/image54.svg" Type="http://schemas.openxmlformats.org/officeDocument/2006/relationships/image"/><Relationship Id="rId9" Target="../media/image55.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svg" Type="http://schemas.openxmlformats.org/officeDocument/2006/relationships/image"/><Relationship Id="rId11" Target="../media/image65.png" Type="http://schemas.openxmlformats.org/officeDocument/2006/relationships/image"/><Relationship Id="rId12" Target="../media/image66.png" Type="http://schemas.openxmlformats.org/officeDocument/2006/relationships/image"/><Relationship Id="rId13" Target="../media/image67.svg" Type="http://schemas.openxmlformats.org/officeDocument/2006/relationships/image"/><Relationship Id="rId14" Target="../media/image68.png" Type="http://schemas.openxmlformats.org/officeDocument/2006/relationships/image"/><Relationship Id="rId2" Target="../notesSlides/notesSlide16.xml" Type="http://schemas.openxmlformats.org/officeDocument/2006/relationships/notesSlide"/><Relationship Id="rId3" Target="../media/image57.jpe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62.png" Type="http://schemas.openxmlformats.org/officeDocument/2006/relationships/image"/><Relationship Id="rId9" Target="../media/image6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69.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70.png" Type="http://schemas.openxmlformats.org/officeDocument/2006/relationships/image"/><Relationship Id="rId4" Target="../media/image1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71.png" Type="http://schemas.openxmlformats.org/officeDocument/2006/relationships/image"/><Relationship Id="rId4" Target="../media/image72.png" Type="http://schemas.openxmlformats.org/officeDocument/2006/relationships/image"/><Relationship Id="rId5" Target="../media/image73.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71.png" Type="http://schemas.openxmlformats.org/officeDocument/2006/relationships/image"/><Relationship Id="rId4" Target="../media/image74.png" Type="http://schemas.openxmlformats.org/officeDocument/2006/relationships/image"/><Relationship Id="rId5" Target="../media/image75.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71.png" Type="http://schemas.openxmlformats.org/officeDocument/2006/relationships/image"/><Relationship Id="rId4" Target="../media/image76.png" Type="http://schemas.openxmlformats.org/officeDocument/2006/relationships/image"/><Relationship Id="rId5" Target="../media/image77.svg" Type="http://schemas.openxmlformats.org/officeDocument/2006/relationships/image"/><Relationship Id="rId6" Target="https://www.docker.com/resources/what-container/" TargetMode="External" Type="http://schemas.openxmlformats.org/officeDocument/2006/relationships/hyperlink"/><Relationship Id="rId7" Target="https://www.vmware.com/solutions/cloud-infrastructure/virtualization" TargetMode="External" Type="http://schemas.openxmlformats.org/officeDocument/2006/relationships/hyperlink"/><Relationship Id="rId8" Target="https://www.redhat.com/en/topics/virtualization/what-is-a-hypervisor" TargetMode="External" Type="http://schemas.openxmlformats.org/officeDocument/2006/relationships/hyperlink"/></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78.png" Type="http://schemas.openxmlformats.org/officeDocument/2006/relationships/image"/><Relationship Id="rId4" Target="../media/image7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97" y="0"/>
            <a:ext cx="18254196" cy="10287000"/>
            <a:chOff x="0" y="0"/>
            <a:chExt cx="24338928" cy="13716000"/>
          </a:xfrm>
        </p:grpSpPr>
        <p:sp>
          <p:nvSpPr>
            <p:cNvPr name="Freeform 3" id="3"/>
            <p:cNvSpPr/>
            <p:nvPr/>
          </p:nvSpPr>
          <p:spPr>
            <a:xfrm flipH="false" flipV="false" rot="0">
              <a:off x="0" y="0"/>
              <a:ext cx="24338914" cy="13716000"/>
            </a:xfrm>
            <a:custGeom>
              <a:avLst/>
              <a:gdLst/>
              <a:ahLst/>
              <a:cxnLst/>
              <a:rect r="r" b="b" t="t" l="l"/>
              <a:pathLst>
                <a:path h="13716000" w="24338914">
                  <a:moveTo>
                    <a:pt x="0" y="0"/>
                  </a:moveTo>
                  <a:lnTo>
                    <a:pt x="24338914" y="0"/>
                  </a:lnTo>
                  <a:lnTo>
                    <a:pt x="24338914" y="13716000"/>
                  </a:lnTo>
                  <a:lnTo>
                    <a:pt x="0" y="13716000"/>
                  </a:lnTo>
                  <a:lnTo>
                    <a:pt x="0" y="0"/>
                  </a:lnTo>
                  <a:close/>
                </a:path>
              </a:pathLst>
            </a:custGeom>
            <a:blipFill>
              <a:blip r:embed="rId3">
                <a:alphaModFix amt="62000"/>
              </a:blip>
              <a:stretch>
                <a:fillRect l="0" t="0" r="0" b="0"/>
              </a:stretch>
            </a:blipFill>
          </p:spPr>
        </p:sp>
      </p:grpSp>
      <p:graphicFrame>
        <p:nvGraphicFramePr>
          <p:cNvPr name="Table 4" id="4"/>
          <p:cNvGraphicFramePr>
            <a:graphicFrameLocks noGrp="true"/>
          </p:cNvGraphicFramePr>
          <p:nvPr/>
        </p:nvGraphicFramePr>
        <p:xfrm>
          <a:off x="10656400" y="1940050"/>
          <a:ext cx="7378700" cy="1358900"/>
        </p:xfrm>
        <a:graphic>
          <a:graphicData uri="http://schemas.openxmlformats.org/drawingml/2006/table">
            <a:tbl>
              <a:tblPr/>
              <a:tblGrid>
                <a:gridCol w="3035392"/>
                <a:gridCol w="4343308"/>
              </a:tblGrid>
              <a:tr h="639162">
                <a:tc>
                  <a:txBody>
                    <a:bodyPr anchor="t" rtlCol="false"/>
                    <a:lstStyle/>
                    <a:p>
                      <a:pPr algn="l">
                        <a:lnSpc>
                          <a:spcPts val="3359"/>
                        </a:lnSpc>
                        <a:defRPr/>
                      </a:pPr>
                      <a:r>
                        <a:rPr lang="en-US" b="true" sz="2799">
                          <a:solidFill>
                            <a:srgbClr val="000000"/>
                          </a:solidFill>
                          <a:latin typeface="Arial Bold"/>
                          <a:ea typeface="Arial Bold"/>
                          <a:cs typeface="Arial Bold"/>
                          <a:sym typeface="Arial Bold"/>
                        </a:rPr>
                        <a:t>Día, Fecha:</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359"/>
                        </a:lnSpc>
                        <a:defRPr/>
                      </a:pPr>
                      <a:r>
                        <a:rPr lang="en-US" sz="2799">
                          <a:solidFill>
                            <a:srgbClr val="000000"/>
                          </a:solidFill>
                          <a:latin typeface="Arial"/>
                          <a:ea typeface="Arial"/>
                          <a:cs typeface="Arial"/>
                          <a:sym typeface="Arial"/>
                        </a:rPr>
                        <a:t>DIA, DD/MM/YYYY</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19738">
                <a:tc>
                  <a:txBody>
                    <a:bodyPr anchor="t" rtlCol="false"/>
                    <a:lstStyle/>
                    <a:p>
                      <a:pPr algn="l">
                        <a:lnSpc>
                          <a:spcPts val="3359"/>
                        </a:lnSpc>
                        <a:defRPr/>
                      </a:pPr>
                      <a:r>
                        <a:rPr lang="en-US" b="true" sz="2799">
                          <a:solidFill>
                            <a:srgbClr val="000000"/>
                          </a:solidFill>
                          <a:latin typeface="Arial Bold"/>
                          <a:ea typeface="Arial Bold"/>
                          <a:cs typeface="Arial Bold"/>
                          <a:sym typeface="Arial Bold"/>
                        </a:rPr>
                        <a:t>Hora de inicio:</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359"/>
                        </a:lnSpc>
                        <a:defRPr/>
                      </a:pPr>
                      <a:r>
                        <a:rPr lang="en-US" sz="2799">
                          <a:solidFill>
                            <a:srgbClr val="000000"/>
                          </a:solidFill>
                          <a:latin typeface="Arial"/>
                          <a:ea typeface="Arial"/>
                          <a:cs typeface="Arial"/>
                          <a:sym typeface="Arial"/>
                        </a:rPr>
                        <a:t>00:00</a:t>
                      </a:r>
                      <a:endParaRPr lang="en-US" sz="1100"/>
                    </a:p>
                  </a:txBody>
                  <a:tcPr marL="182850" marR="182850" marT="182850" marB="1828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3063202" y="4670879"/>
            <a:ext cx="13218300" cy="848173"/>
          </a:xfrm>
          <a:prstGeom prst="rect">
            <a:avLst/>
          </a:prstGeom>
        </p:spPr>
        <p:txBody>
          <a:bodyPr anchor="t" rtlCol="false" tIns="0" lIns="0" bIns="0" rIns="0">
            <a:spAutoFit/>
          </a:bodyPr>
          <a:lstStyle/>
          <a:p>
            <a:pPr algn="l">
              <a:lnSpc>
                <a:spcPts val="6359"/>
              </a:lnSpc>
            </a:pPr>
            <a:r>
              <a:rPr lang="en-US" b="true" sz="5299">
                <a:solidFill>
                  <a:srgbClr val="000000"/>
                </a:solidFill>
                <a:latin typeface="Arial Bold"/>
                <a:ea typeface="Arial Bold"/>
                <a:cs typeface="Arial Bold"/>
                <a:sym typeface="Arial Bold"/>
              </a:rPr>
              <a:t>Sistemas Operativos 2 [A]</a:t>
            </a:r>
          </a:p>
        </p:txBody>
      </p:sp>
      <p:sp>
        <p:nvSpPr>
          <p:cNvPr name="TextBox 6" id="6"/>
          <p:cNvSpPr txBox="true"/>
          <p:nvPr/>
        </p:nvSpPr>
        <p:spPr>
          <a:xfrm rot="0">
            <a:off x="3740248" y="5965298"/>
            <a:ext cx="10807503" cy="700049"/>
          </a:xfrm>
          <a:prstGeom prst="rect">
            <a:avLst/>
          </a:prstGeom>
        </p:spPr>
        <p:txBody>
          <a:bodyPr anchor="t" rtlCol="false" tIns="0" lIns="0" bIns="0" rIns="0">
            <a:spAutoFit/>
          </a:bodyPr>
          <a:lstStyle/>
          <a:p>
            <a:pPr algn="l">
              <a:lnSpc>
                <a:spcPts val="5280"/>
              </a:lnSpc>
            </a:pPr>
            <a:r>
              <a:rPr lang="en-US" sz="4400">
                <a:solidFill>
                  <a:srgbClr val="000000"/>
                </a:solidFill>
                <a:latin typeface="Arial"/>
                <a:ea typeface="Arial"/>
                <a:cs typeface="Arial"/>
                <a:sym typeface="Arial"/>
              </a:rPr>
              <a:t>NOMBRE_ESTUDIANTE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14405105" y="0"/>
            <a:ext cx="3898944" cy="1161383"/>
            <a:chOff x="0" y="0"/>
            <a:chExt cx="5198593" cy="1548511"/>
          </a:xfrm>
        </p:grpSpPr>
        <p:sp>
          <p:nvSpPr>
            <p:cNvPr name="Freeform 3" id="3"/>
            <p:cNvSpPr/>
            <p:nvPr/>
          </p:nvSpPr>
          <p:spPr>
            <a:xfrm flipH="false" flipV="false" rot="0">
              <a:off x="0" y="0"/>
              <a:ext cx="5198618" cy="1548511"/>
            </a:xfrm>
            <a:custGeom>
              <a:avLst/>
              <a:gdLst/>
              <a:ahLst/>
              <a:cxnLst/>
              <a:rect r="r" b="b" t="t" l="l"/>
              <a:pathLst>
                <a:path h="1548511" w="5198618">
                  <a:moveTo>
                    <a:pt x="0" y="0"/>
                  </a:moveTo>
                  <a:lnTo>
                    <a:pt x="5198618" y="0"/>
                  </a:lnTo>
                  <a:lnTo>
                    <a:pt x="5198618" y="1548511"/>
                  </a:lnTo>
                  <a:lnTo>
                    <a:pt x="0" y="1548511"/>
                  </a:lnTo>
                  <a:lnTo>
                    <a:pt x="0" y="0"/>
                  </a:lnTo>
                  <a:close/>
                </a:path>
              </a:pathLst>
            </a:custGeom>
            <a:blipFill>
              <a:blip r:embed="rId3"/>
              <a:stretch>
                <a:fillRect l="0" t="0" r="0" b="0"/>
              </a:stretch>
            </a:blipFill>
          </p:spPr>
        </p:sp>
      </p:grpSp>
      <p:sp>
        <p:nvSpPr>
          <p:cNvPr name="TextBox 4" id="4"/>
          <p:cNvSpPr txBox="true"/>
          <p:nvPr/>
        </p:nvSpPr>
        <p:spPr>
          <a:xfrm rot="0">
            <a:off x="1028700" y="8626192"/>
            <a:ext cx="6981301" cy="498900"/>
          </a:xfrm>
          <a:prstGeom prst="rect">
            <a:avLst/>
          </a:prstGeom>
        </p:spPr>
        <p:txBody>
          <a:bodyPr anchor="t" rtlCol="false" tIns="0" lIns="0" bIns="0" rIns="0">
            <a:spAutoFit/>
          </a:bodyPr>
          <a:lstStyle/>
          <a:p>
            <a:pPr algn="ctr">
              <a:lnSpc>
                <a:spcPts val="4198"/>
              </a:lnSpc>
            </a:pPr>
            <a:r>
              <a:rPr lang="en-US" b="true" sz="2499">
                <a:solidFill>
                  <a:srgbClr val="FFFFFF"/>
                </a:solidFill>
                <a:latin typeface="Open Sans Bold"/>
                <a:ea typeface="Open Sans Bold"/>
                <a:cs typeface="Open Sans Bold"/>
                <a:sym typeface="Open Sans Bold"/>
              </a:rPr>
              <a:t>Escuela de Ingeniería de Ciencias Y Sistemas</a:t>
            </a:r>
          </a:p>
        </p:txBody>
      </p:sp>
      <p:sp>
        <p:nvSpPr>
          <p:cNvPr name="TextBox 5" id="5"/>
          <p:cNvSpPr txBox="true"/>
          <p:nvPr/>
        </p:nvSpPr>
        <p:spPr>
          <a:xfrm rot="0">
            <a:off x="1028700" y="9050988"/>
            <a:ext cx="3525298" cy="498900"/>
          </a:xfrm>
          <a:prstGeom prst="rect">
            <a:avLst/>
          </a:prstGeom>
        </p:spPr>
        <p:txBody>
          <a:bodyPr anchor="t" rtlCol="false" tIns="0" lIns="0" bIns="0" rIns="0">
            <a:spAutoFit/>
          </a:bodyPr>
          <a:lstStyle/>
          <a:p>
            <a:pPr algn="ctr">
              <a:lnSpc>
                <a:spcPts val="4198"/>
              </a:lnSpc>
            </a:pPr>
            <a:r>
              <a:rPr lang="en-US" b="true" sz="2499">
                <a:solidFill>
                  <a:srgbClr val="FFFFFF"/>
                </a:solidFill>
                <a:latin typeface="Open Sans Bold"/>
                <a:ea typeface="Open Sans Bold"/>
                <a:cs typeface="Open Sans Bold"/>
                <a:sym typeface="Open Sans Bold"/>
              </a:rPr>
              <a:t>Facultad de Ingeniería</a:t>
            </a:r>
          </a:p>
        </p:txBody>
      </p:sp>
      <p:sp>
        <p:nvSpPr>
          <p:cNvPr name="TextBox 6" id="6"/>
          <p:cNvSpPr txBox="true"/>
          <p:nvPr/>
        </p:nvSpPr>
        <p:spPr>
          <a:xfrm rot="0">
            <a:off x="1028700" y="9471022"/>
            <a:ext cx="6408001" cy="498900"/>
          </a:xfrm>
          <a:prstGeom prst="rect">
            <a:avLst/>
          </a:prstGeom>
        </p:spPr>
        <p:txBody>
          <a:bodyPr anchor="t" rtlCol="false" tIns="0" lIns="0" bIns="0" rIns="0">
            <a:spAutoFit/>
          </a:bodyPr>
          <a:lstStyle/>
          <a:p>
            <a:pPr algn="ctr">
              <a:lnSpc>
                <a:spcPts val="4198"/>
              </a:lnSpc>
            </a:pPr>
            <a:r>
              <a:rPr lang="en-US" b="true" sz="2499">
                <a:solidFill>
                  <a:srgbClr val="FFFFFF"/>
                </a:solidFill>
                <a:latin typeface="Open Sans Bold"/>
                <a:ea typeface="Open Sans Bold"/>
                <a:cs typeface="Open Sans Bold"/>
                <a:sym typeface="Open Sans Bold"/>
              </a:rPr>
              <a:t>Universidad de San Carlos de Guatemala</a:t>
            </a:r>
          </a:p>
        </p:txBody>
      </p:sp>
      <p:sp>
        <p:nvSpPr>
          <p:cNvPr name="TextBox 7" id="7"/>
          <p:cNvSpPr txBox="true"/>
          <p:nvPr/>
        </p:nvSpPr>
        <p:spPr>
          <a:xfrm rot="0">
            <a:off x="1667828" y="3121428"/>
            <a:ext cx="15099602" cy="5163392"/>
          </a:xfrm>
          <a:prstGeom prst="rect">
            <a:avLst/>
          </a:prstGeom>
        </p:spPr>
        <p:txBody>
          <a:bodyPr anchor="t" rtlCol="false" tIns="0" lIns="0" bIns="0" rIns="0">
            <a:spAutoFit/>
          </a:bodyPr>
          <a:lstStyle/>
          <a:p>
            <a:pPr algn="ctr">
              <a:lnSpc>
                <a:spcPts val="10187"/>
              </a:lnSpc>
            </a:pPr>
            <a:r>
              <a:rPr lang="en-US" sz="7933">
                <a:solidFill>
                  <a:srgbClr val="FFFFFF"/>
                </a:solidFill>
                <a:latin typeface="Arial"/>
                <a:ea typeface="Arial"/>
                <a:cs typeface="Arial"/>
                <a:sym typeface="Arial"/>
              </a:rPr>
              <a:t>UNIDAD 4:</a:t>
            </a:r>
          </a:p>
          <a:p>
            <a:pPr algn="ctr" marL="1096816" indent="-548408" lvl="1">
              <a:lnSpc>
                <a:spcPts val="10187"/>
              </a:lnSpc>
            </a:pPr>
            <a:r>
              <a:rPr lang="en-US" sz="7933">
                <a:solidFill>
                  <a:srgbClr val="FFFFFF"/>
                </a:solidFill>
                <a:latin typeface="Arial"/>
                <a:ea typeface="Arial"/>
                <a:cs typeface="Arial"/>
                <a:sym typeface="Arial"/>
              </a:rPr>
              <a:t>SISTEMAS ESPECIALIZADOS Y DISTRIBUIDOS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9975142" y="2474976"/>
            <a:ext cx="7764161" cy="618820"/>
            <a:chOff x="0" y="0"/>
            <a:chExt cx="10352214" cy="825094"/>
          </a:xfrm>
        </p:grpSpPr>
        <p:sp>
          <p:nvSpPr>
            <p:cNvPr name="Freeform 3" id="3"/>
            <p:cNvSpPr/>
            <p:nvPr/>
          </p:nvSpPr>
          <p:spPr>
            <a:xfrm flipH="false" flipV="false" rot="0">
              <a:off x="0" y="0"/>
              <a:ext cx="10352151" cy="824992"/>
            </a:xfrm>
            <a:custGeom>
              <a:avLst/>
              <a:gdLst/>
              <a:ahLst/>
              <a:cxnLst/>
              <a:rect r="r" b="b" t="t" l="l"/>
              <a:pathLst>
                <a:path h="824992" w="10352151">
                  <a:moveTo>
                    <a:pt x="9939655" y="0"/>
                  </a:moveTo>
                  <a:cubicBezTo>
                    <a:pt x="10167493" y="0"/>
                    <a:pt x="10352151" y="184658"/>
                    <a:pt x="10352151" y="412496"/>
                  </a:cubicBezTo>
                  <a:cubicBezTo>
                    <a:pt x="10352151" y="640334"/>
                    <a:pt x="10167493" y="824992"/>
                    <a:pt x="9939655" y="824992"/>
                  </a:cubicBezTo>
                  <a:lnTo>
                    <a:pt x="412496" y="824992"/>
                  </a:lnTo>
                  <a:cubicBezTo>
                    <a:pt x="184658" y="825119"/>
                    <a:pt x="0" y="640334"/>
                    <a:pt x="0" y="412496"/>
                  </a:cubicBezTo>
                  <a:cubicBezTo>
                    <a:pt x="0" y="184658"/>
                    <a:pt x="184658" y="0"/>
                    <a:pt x="412496" y="0"/>
                  </a:cubicBezTo>
                  <a:close/>
                </a:path>
              </a:pathLst>
            </a:custGeom>
            <a:solidFill>
              <a:srgbClr val="67D3CD"/>
            </a:solidFill>
          </p:spPr>
        </p:sp>
      </p:grpSp>
      <p:grpSp>
        <p:nvGrpSpPr>
          <p:cNvPr name="Group 4" id="4"/>
          <p:cNvGrpSpPr/>
          <p:nvPr/>
        </p:nvGrpSpPr>
        <p:grpSpPr>
          <a:xfrm rot="0">
            <a:off x="9975047" y="2453202"/>
            <a:ext cx="7764342" cy="662378"/>
            <a:chOff x="0" y="0"/>
            <a:chExt cx="10352456" cy="883171"/>
          </a:xfrm>
        </p:grpSpPr>
        <p:sp>
          <p:nvSpPr>
            <p:cNvPr name="Freeform 5" id="5"/>
            <p:cNvSpPr/>
            <p:nvPr/>
          </p:nvSpPr>
          <p:spPr>
            <a:xfrm flipH="false" flipV="false" rot="0">
              <a:off x="0" y="0"/>
              <a:ext cx="10352461" cy="883165"/>
            </a:xfrm>
            <a:custGeom>
              <a:avLst/>
              <a:gdLst/>
              <a:ahLst/>
              <a:cxnLst/>
              <a:rect r="r" b="b" t="t" l="l"/>
              <a:pathLst>
                <a:path h="883165" w="10352461">
                  <a:moveTo>
                    <a:pt x="0" y="0"/>
                  </a:moveTo>
                  <a:lnTo>
                    <a:pt x="10352461" y="0"/>
                  </a:lnTo>
                  <a:lnTo>
                    <a:pt x="10352461" y="883165"/>
                  </a:lnTo>
                  <a:lnTo>
                    <a:pt x="0" y="883165"/>
                  </a:lnTo>
                  <a:close/>
                </a:path>
              </a:pathLst>
            </a:custGeom>
            <a:blipFill>
              <a:blip r:embed="rId3">
                <a:alphaModFix amt="0"/>
              </a:blip>
              <a:stretch>
                <a:fillRect l="0" t="-178403" r="0" b="-178403"/>
              </a:stretch>
            </a:blipFill>
          </p:spPr>
        </p:sp>
        <p:sp>
          <p:nvSpPr>
            <p:cNvPr name="TextBox 6" id="6"/>
            <p:cNvSpPr txBox="true"/>
            <p:nvPr/>
          </p:nvSpPr>
          <p:spPr>
            <a:xfrm>
              <a:off x="0" y="-85725"/>
              <a:ext cx="10352456" cy="968896"/>
            </a:xfrm>
            <a:prstGeom prst="rect">
              <a:avLst/>
            </a:prstGeom>
          </p:spPr>
          <p:txBody>
            <a:bodyPr anchor="ctr" rtlCol="false" tIns="0" lIns="0" bIns="0" rIns="0"/>
            <a:lstStyle/>
            <a:p>
              <a:pPr algn="ctr">
                <a:lnSpc>
                  <a:spcPts val="3626"/>
                </a:lnSpc>
              </a:pPr>
              <a:r>
                <a:rPr lang="en-US" b="true" sz="2325">
                  <a:solidFill>
                    <a:srgbClr val="000000"/>
                  </a:solidFill>
                  <a:latin typeface="Montserrat Bold"/>
                  <a:ea typeface="Montserrat Bold"/>
                  <a:cs typeface="Montserrat Bold"/>
                  <a:sym typeface="Montserrat Bold"/>
                </a:rPr>
                <a:t>Anuncios Importantes</a:t>
              </a:r>
            </a:p>
          </p:txBody>
        </p:sp>
      </p:grpSp>
      <p:grpSp>
        <p:nvGrpSpPr>
          <p:cNvPr name="Group 7" id="7"/>
          <p:cNvGrpSpPr/>
          <p:nvPr/>
        </p:nvGrpSpPr>
        <p:grpSpPr>
          <a:xfrm rot="-1769340">
            <a:off x="2487701" y="2265797"/>
            <a:ext cx="3499333" cy="3372288"/>
            <a:chOff x="0" y="0"/>
            <a:chExt cx="4665777" cy="4496384"/>
          </a:xfrm>
        </p:grpSpPr>
        <p:sp>
          <p:nvSpPr>
            <p:cNvPr name="Freeform 8" id="8"/>
            <p:cNvSpPr/>
            <p:nvPr/>
          </p:nvSpPr>
          <p:spPr>
            <a:xfrm flipH="false" flipV="false" rot="0">
              <a:off x="0" y="0"/>
              <a:ext cx="4665726" cy="4496435"/>
            </a:xfrm>
            <a:custGeom>
              <a:avLst/>
              <a:gdLst/>
              <a:ahLst/>
              <a:cxnLst/>
              <a:rect r="r" b="b" t="t" l="l"/>
              <a:pathLst>
                <a:path h="4496435" w="4665726">
                  <a:moveTo>
                    <a:pt x="0" y="0"/>
                  </a:moveTo>
                  <a:lnTo>
                    <a:pt x="4665726" y="0"/>
                  </a:lnTo>
                  <a:lnTo>
                    <a:pt x="4665726" y="4496435"/>
                  </a:lnTo>
                  <a:lnTo>
                    <a:pt x="0" y="4496435"/>
                  </a:lnTo>
                  <a:lnTo>
                    <a:pt x="0" y="0"/>
                  </a:lnTo>
                  <a:close/>
                </a:path>
              </a:pathLst>
            </a:custGeom>
            <a:blipFill>
              <a:blip r:embed="rId4"/>
              <a:stretch>
                <a:fillRect l="3870" t="-145" r="-3870" b="-3619"/>
              </a:stretch>
            </a:blipFill>
          </p:spPr>
        </p:sp>
      </p:grpSp>
      <p:sp>
        <p:nvSpPr>
          <p:cNvPr name="TextBox 9" id="9"/>
          <p:cNvSpPr txBox="true"/>
          <p:nvPr/>
        </p:nvSpPr>
        <p:spPr>
          <a:xfrm rot="0">
            <a:off x="7419022" y="3556616"/>
            <a:ext cx="10228955" cy="2673372"/>
          </a:xfrm>
          <a:prstGeom prst="rect">
            <a:avLst/>
          </a:prstGeom>
        </p:spPr>
        <p:txBody>
          <a:bodyPr anchor="t" rtlCol="false" tIns="0" lIns="0" bIns="0" rIns="0">
            <a:spAutoFit/>
          </a:bodyPr>
          <a:lstStyle/>
          <a:p>
            <a:pPr algn="r">
              <a:lnSpc>
                <a:spcPts val="5040"/>
              </a:lnSpc>
            </a:pPr>
            <a:r>
              <a:rPr lang="en-US" sz="4200">
                <a:solidFill>
                  <a:srgbClr val="FFFFFF"/>
                </a:solidFill>
                <a:latin typeface="Calibri (MS)"/>
                <a:ea typeface="Calibri (MS)"/>
                <a:cs typeface="Calibri (MS)"/>
                <a:sym typeface="Calibri (MS)"/>
              </a:rPr>
              <a:t>Tema 1</a:t>
            </a:r>
          </a:p>
          <a:p>
            <a:pPr algn="r">
              <a:lnSpc>
                <a:spcPts val="5040"/>
              </a:lnSpc>
            </a:pPr>
            <a:r>
              <a:rPr lang="en-US" sz="4200">
                <a:solidFill>
                  <a:srgbClr val="FFFFFF"/>
                </a:solidFill>
                <a:latin typeface="Calibri (MS)"/>
                <a:ea typeface="Calibri (MS)"/>
                <a:cs typeface="Calibri (MS)"/>
                <a:sym typeface="Calibri (MS)"/>
              </a:rPr>
              <a:t>Tema 2</a:t>
            </a:r>
          </a:p>
          <a:p>
            <a:pPr algn="r">
              <a:lnSpc>
                <a:spcPts val="5040"/>
              </a:lnSpc>
            </a:pPr>
            <a:r>
              <a:rPr lang="en-US" sz="4200">
                <a:solidFill>
                  <a:srgbClr val="FFFFFF"/>
                </a:solidFill>
                <a:latin typeface="Calibri (MS)"/>
                <a:ea typeface="Calibri (MS)"/>
                <a:cs typeface="Calibri (MS)"/>
                <a:sym typeface="Calibri (MS)"/>
              </a:rPr>
              <a:t>Tema 3</a:t>
            </a:r>
          </a:p>
          <a:p>
            <a:pPr algn="r">
              <a:lnSpc>
                <a:spcPts val="5040"/>
              </a:lnSpc>
            </a:pPr>
            <a:r>
              <a:rPr lang="en-US" sz="4200">
                <a:solidFill>
                  <a:srgbClr val="FFFFFF"/>
                </a:solidFill>
                <a:latin typeface="Calibri (MS)"/>
                <a:ea typeface="Calibri (MS)"/>
                <a:cs typeface="Calibri (MS)"/>
                <a:sym typeface="Calibri (MS)"/>
              </a:rPr>
              <a:t>Tema 4</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TextBox 2" id="2"/>
          <p:cNvSpPr txBox="true"/>
          <p:nvPr/>
        </p:nvSpPr>
        <p:spPr>
          <a:xfrm rot="0">
            <a:off x="6083246" y="3459137"/>
            <a:ext cx="10228955" cy="3319872"/>
          </a:xfrm>
          <a:prstGeom prst="rect">
            <a:avLst/>
          </a:prstGeom>
        </p:spPr>
        <p:txBody>
          <a:bodyPr anchor="t" rtlCol="false" tIns="0" lIns="0" bIns="0" rIns="0">
            <a:spAutoFit/>
          </a:bodyPr>
          <a:lstStyle/>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Virtualización</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Hipervisores y máquinas virtuales</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Hosted vs Bare Metal</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Contenedores vs Máquinas Virtuales</a:t>
            </a:r>
          </a:p>
          <a:p>
            <a:pPr algn="l" marL="506730" indent="-253365" lvl="1">
              <a:lnSpc>
                <a:spcPts val="5040"/>
              </a:lnSpc>
              <a:buAutoNum type="arabicPeriod" startAt="1"/>
            </a:pPr>
            <a:r>
              <a:rPr lang="en-US" sz="4200">
                <a:solidFill>
                  <a:srgbClr val="FFFFFF"/>
                </a:solidFill>
                <a:latin typeface="Calibri (MS)"/>
                <a:ea typeface="Calibri (MS)"/>
                <a:cs typeface="Calibri (MS)"/>
                <a:sym typeface="Calibri (MS)"/>
              </a:rPr>
              <a:t>Traducción Binaria y Paravirtualización</a:t>
            </a:r>
          </a:p>
        </p:txBody>
      </p:sp>
      <p:grpSp>
        <p:nvGrpSpPr>
          <p:cNvPr name="Group 3" id="3"/>
          <p:cNvGrpSpPr/>
          <p:nvPr/>
        </p:nvGrpSpPr>
        <p:grpSpPr>
          <a:xfrm rot="0">
            <a:off x="5261820" y="1930165"/>
            <a:ext cx="7764161" cy="618820"/>
            <a:chOff x="0" y="0"/>
            <a:chExt cx="10352214" cy="825094"/>
          </a:xfrm>
        </p:grpSpPr>
        <p:sp>
          <p:nvSpPr>
            <p:cNvPr name="Freeform 4" id="4"/>
            <p:cNvSpPr/>
            <p:nvPr/>
          </p:nvSpPr>
          <p:spPr>
            <a:xfrm flipH="false" flipV="false" rot="0">
              <a:off x="0" y="0"/>
              <a:ext cx="10352151" cy="824992"/>
            </a:xfrm>
            <a:custGeom>
              <a:avLst/>
              <a:gdLst/>
              <a:ahLst/>
              <a:cxnLst/>
              <a:rect r="r" b="b" t="t" l="l"/>
              <a:pathLst>
                <a:path h="824992" w="10352151">
                  <a:moveTo>
                    <a:pt x="9939655" y="0"/>
                  </a:moveTo>
                  <a:cubicBezTo>
                    <a:pt x="10167493" y="0"/>
                    <a:pt x="10352151" y="184658"/>
                    <a:pt x="10352151" y="412496"/>
                  </a:cubicBezTo>
                  <a:cubicBezTo>
                    <a:pt x="10352151" y="640334"/>
                    <a:pt x="10167493" y="824992"/>
                    <a:pt x="9939655" y="824992"/>
                  </a:cubicBezTo>
                  <a:lnTo>
                    <a:pt x="412496" y="824992"/>
                  </a:lnTo>
                  <a:cubicBezTo>
                    <a:pt x="184658" y="825119"/>
                    <a:pt x="0" y="640334"/>
                    <a:pt x="0" y="412496"/>
                  </a:cubicBezTo>
                  <a:cubicBezTo>
                    <a:pt x="0" y="184658"/>
                    <a:pt x="184658" y="0"/>
                    <a:pt x="412496" y="0"/>
                  </a:cubicBezTo>
                  <a:close/>
                </a:path>
              </a:pathLst>
            </a:custGeom>
            <a:solidFill>
              <a:srgbClr val="67D3CD"/>
            </a:solidFill>
          </p:spPr>
        </p:sp>
      </p:grpSp>
      <p:grpSp>
        <p:nvGrpSpPr>
          <p:cNvPr name="Group 5" id="5"/>
          <p:cNvGrpSpPr/>
          <p:nvPr/>
        </p:nvGrpSpPr>
        <p:grpSpPr>
          <a:xfrm rot="0">
            <a:off x="5261820" y="1886655"/>
            <a:ext cx="7764342" cy="662378"/>
            <a:chOff x="0" y="0"/>
            <a:chExt cx="10352456" cy="883171"/>
          </a:xfrm>
        </p:grpSpPr>
        <p:sp>
          <p:nvSpPr>
            <p:cNvPr name="Freeform 6" id="6"/>
            <p:cNvSpPr/>
            <p:nvPr/>
          </p:nvSpPr>
          <p:spPr>
            <a:xfrm flipH="false" flipV="false" rot="0">
              <a:off x="0" y="0"/>
              <a:ext cx="10352461" cy="883165"/>
            </a:xfrm>
            <a:custGeom>
              <a:avLst/>
              <a:gdLst/>
              <a:ahLst/>
              <a:cxnLst/>
              <a:rect r="r" b="b" t="t" l="l"/>
              <a:pathLst>
                <a:path h="883165" w="10352461">
                  <a:moveTo>
                    <a:pt x="0" y="0"/>
                  </a:moveTo>
                  <a:lnTo>
                    <a:pt x="10352461" y="0"/>
                  </a:lnTo>
                  <a:lnTo>
                    <a:pt x="10352461" y="883165"/>
                  </a:lnTo>
                  <a:lnTo>
                    <a:pt x="0" y="883165"/>
                  </a:lnTo>
                  <a:close/>
                </a:path>
              </a:pathLst>
            </a:custGeom>
            <a:blipFill>
              <a:blip r:embed="rId3">
                <a:alphaModFix amt="0"/>
              </a:blip>
              <a:stretch>
                <a:fillRect l="0" t="-178403" r="0" b="-178403"/>
              </a:stretch>
            </a:blipFill>
          </p:spPr>
        </p:sp>
        <p:sp>
          <p:nvSpPr>
            <p:cNvPr name="TextBox 7" id="7"/>
            <p:cNvSpPr txBox="true"/>
            <p:nvPr/>
          </p:nvSpPr>
          <p:spPr>
            <a:xfrm>
              <a:off x="0" y="-85725"/>
              <a:ext cx="10352456" cy="968896"/>
            </a:xfrm>
            <a:prstGeom prst="rect">
              <a:avLst/>
            </a:prstGeom>
          </p:spPr>
          <p:txBody>
            <a:bodyPr anchor="ctr" rtlCol="false" tIns="0" lIns="0" bIns="0" rIns="0"/>
            <a:lstStyle/>
            <a:p>
              <a:pPr algn="ctr">
                <a:lnSpc>
                  <a:spcPts val="3626"/>
                </a:lnSpc>
              </a:pPr>
              <a:r>
                <a:rPr lang="en-US" b="true" sz="2325">
                  <a:solidFill>
                    <a:srgbClr val="000000"/>
                  </a:solidFill>
                  <a:latin typeface="Montserrat Bold"/>
                  <a:ea typeface="Montserrat Bold"/>
                  <a:cs typeface="Montserrat Bold"/>
                  <a:sym typeface="Montserrat Bold"/>
                </a:rPr>
                <a:t>AGENDA</a:t>
              </a:r>
            </a:p>
          </p:txBody>
        </p:sp>
      </p:grpSp>
      <p:grpSp>
        <p:nvGrpSpPr>
          <p:cNvPr name="Group 8" id="8"/>
          <p:cNvGrpSpPr/>
          <p:nvPr/>
        </p:nvGrpSpPr>
        <p:grpSpPr>
          <a:xfrm rot="0">
            <a:off x="7758027" y="1886645"/>
            <a:ext cx="662378" cy="662378"/>
            <a:chOff x="0" y="0"/>
            <a:chExt cx="883171" cy="883171"/>
          </a:xfrm>
        </p:grpSpPr>
        <p:sp>
          <p:nvSpPr>
            <p:cNvPr name="Freeform 9" id="9"/>
            <p:cNvSpPr/>
            <p:nvPr/>
          </p:nvSpPr>
          <p:spPr>
            <a:xfrm flipH="false" flipV="false" rot="0">
              <a:off x="0" y="0"/>
              <a:ext cx="883158" cy="883158"/>
            </a:xfrm>
            <a:custGeom>
              <a:avLst/>
              <a:gdLst/>
              <a:ahLst/>
              <a:cxnLst/>
              <a:rect r="r" b="b" t="t" l="l"/>
              <a:pathLst>
                <a:path h="883158" w="883158">
                  <a:moveTo>
                    <a:pt x="0" y="0"/>
                  </a:moveTo>
                  <a:lnTo>
                    <a:pt x="883158" y="0"/>
                  </a:lnTo>
                  <a:lnTo>
                    <a:pt x="883158" y="883158"/>
                  </a:lnTo>
                  <a:lnTo>
                    <a:pt x="0" y="883158"/>
                  </a:lnTo>
                  <a:lnTo>
                    <a:pt x="0" y="0"/>
                  </a:lnTo>
                  <a:close/>
                </a:path>
              </a:pathLst>
            </a:custGeom>
            <a:blipFill>
              <a:blip r:embed="rId4"/>
              <a:stretch>
                <a:fillRect l="0" t="0" r="-1" b="-1"/>
              </a:stretch>
            </a:blipFill>
          </p:spPr>
        </p:sp>
      </p:grpSp>
      <p:grpSp>
        <p:nvGrpSpPr>
          <p:cNvPr name="Group 10" id="10"/>
          <p:cNvGrpSpPr/>
          <p:nvPr/>
        </p:nvGrpSpPr>
        <p:grpSpPr>
          <a:xfrm rot="0">
            <a:off x="1264529" y="3317243"/>
            <a:ext cx="3652523" cy="3652523"/>
            <a:chOff x="0" y="0"/>
            <a:chExt cx="4870031" cy="4870031"/>
          </a:xfrm>
        </p:grpSpPr>
        <p:sp>
          <p:nvSpPr>
            <p:cNvPr name="Freeform 11" id="11"/>
            <p:cNvSpPr/>
            <p:nvPr/>
          </p:nvSpPr>
          <p:spPr>
            <a:xfrm flipH="false" flipV="false" rot="0">
              <a:off x="0" y="0"/>
              <a:ext cx="4870069" cy="4870069"/>
            </a:xfrm>
            <a:custGeom>
              <a:avLst/>
              <a:gdLst/>
              <a:ahLst/>
              <a:cxnLst/>
              <a:rect r="r" b="b" t="t" l="l"/>
              <a:pathLst>
                <a:path h="4870069" w="4870069">
                  <a:moveTo>
                    <a:pt x="0" y="0"/>
                  </a:moveTo>
                  <a:lnTo>
                    <a:pt x="4870069" y="0"/>
                  </a:lnTo>
                  <a:lnTo>
                    <a:pt x="4870069" y="4870069"/>
                  </a:lnTo>
                  <a:lnTo>
                    <a:pt x="0" y="4870069"/>
                  </a:lnTo>
                  <a:lnTo>
                    <a:pt x="0" y="0"/>
                  </a:lnTo>
                  <a:close/>
                </a:path>
              </a:pathLst>
            </a:custGeom>
            <a:blipFill>
              <a:blip r:embed="rId5"/>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3300298" y="3865645"/>
            <a:ext cx="11687423" cy="2780186"/>
          </a:xfrm>
          <a:custGeom>
            <a:avLst/>
            <a:gdLst/>
            <a:ahLst/>
            <a:cxnLst/>
            <a:rect r="r" b="b" t="t" l="l"/>
            <a:pathLst>
              <a:path h="2780186" w="11687423">
                <a:moveTo>
                  <a:pt x="0" y="0"/>
                </a:moveTo>
                <a:lnTo>
                  <a:pt x="11687423" y="0"/>
                </a:lnTo>
                <a:lnTo>
                  <a:pt x="11687423" y="2780186"/>
                </a:lnTo>
                <a:lnTo>
                  <a:pt x="0" y="27801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3713597" y="4575229"/>
            <a:ext cx="1136542" cy="1136542"/>
          </a:xfrm>
          <a:custGeom>
            <a:avLst/>
            <a:gdLst/>
            <a:ahLst/>
            <a:cxnLst/>
            <a:rect r="r" b="b" t="t" l="l"/>
            <a:pathLst>
              <a:path h="1136542" w="1136542">
                <a:moveTo>
                  <a:pt x="0" y="0"/>
                </a:moveTo>
                <a:lnTo>
                  <a:pt x="1136543" y="0"/>
                </a:lnTo>
                <a:lnTo>
                  <a:pt x="1136543" y="1136542"/>
                </a:lnTo>
                <a:lnTo>
                  <a:pt x="0" y="11365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3925033" y="4743202"/>
            <a:ext cx="713661" cy="713661"/>
            <a:chOff x="0" y="0"/>
            <a:chExt cx="951548" cy="951548"/>
          </a:xfrm>
        </p:grpSpPr>
        <p:sp>
          <p:nvSpPr>
            <p:cNvPr name="Freeform 5" id="5"/>
            <p:cNvSpPr/>
            <p:nvPr/>
          </p:nvSpPr>
          <p:spPr>
            <a:xfrm flipH="false" flipV="false" rot="0">
              <a:off x="0" y="0"/>
              <a:ext cx="951611" cy="951611"/>
            </a:xfrm>
            <a:custGeom>
              <a:avLst/>
              <a:gdLst/>
              <a:ahLst/>
              <a:cxnLst/>
              <a:rect r="r" b="b" t="t" l="l"/>
              <a:pathLst>
                <a:path h="951611" w="951611">
                  <a:moveTo>
                    <a:pt x="0" y="0"/>
                  </a:moveTo>
                  <a:lnTo>
                    <a:pt x="951611" y="0"/>
                  </a:lnTo>
                  <a:lnTo>
                    <a:pt x="951611" y="951611"/>
                  </a:lnTo>
                  <a:lnTo>
                    <a:pt x="0" y="951611"/>
                  </a:lnTo>
                  <a:lnTo>
                    <a:pt x="0" y="0"/>
                  </a:lnTo>
                  <a:close/>
                </a:path>
              </a:pathLst>
            </a:custGeom>
            <a:blipFill>
              <a:blip r:embed="rId7"/>
              <a:stretch>
                <a:fillRect l="0" t="0" r="6" b="6"/>
              </a:stretch>
            </a:blipFill>
          </p:spPr>
        </p:sp>
      </p:grpSp>
      <p:sp>
        <p:nvSpPr>
          <p:cNvPr name="TextBox 6" id="6"/>
          <p:cNvSpPr txBox="true"/>
          <p:nvPr/>
        </p:nvSpPr>
        <p:spPr>
          <a:xfrm rot="0">
            <a:off x="1028700" y="947099"/>
            <a:ext cx="16230600" cy="912371"/>
          </a:xfrm>
          <a:prstGeom prst="rect">
            <a:avLst/>
          </a:prstGeom>
        </p:spPr>
        <p:txBody>
          <a:bodyPr anchor="t" rtlCol="false" tIns="0" lIns="0" bIns="0" rIns="0">
            <a:spAutoFit/>
          </a:bodyPr>
          <a:lstStyle/>
          <a:p>
            <a:pPr algn="ctr">
              <a:lnSpc>
                <a:spcPts val="7259"/>
              </a:lnSpc>
            </a:pPr>
            <a:r>
              <a:rPr lang="en-US" sz="4999">
                <a:solidFill>
                  <a:srgbClr val="FFFFFF"/>
                </a:solidFill>
                <a:latin typeface="Arial"/>
                <a:ea typeface="Arial"/>
                <a:cs typeface="Arial"/>
                <a:sym typeface="Arial"/>
              </a:rPr>
              <a:t>COMPETENCIA(S) QUE DESARROLLAREMOS</a:t>
            </a:r>
          </a:p>
        </p:txBody>
      </p:sp>
      <p:grpSp>
        <p:nvGrpSpPr>
          <p:cNvPr name="Group 7" id="7"/>
          <p:cNvGrpSpPr/>
          <p:nvPr/>
        </p:nvGrpSpPr>
        <p:grpSpPr>
          <a:xfrm rot="0">
            <a:off x="18996546" y="5524224"/>
            <a:ext cx="4626464" cy="4576000"/>
            <a:chOff x="0" y="0"/>
            <a:chExt cx="6168619" cy="6101334"/>
          </a:xfrm>
        </p:grpSpPr>
        <p:sp>
          <p:nvSpPr>
            <p:cNvPr name="Freeform 8" id="8"/>
            <p:cNvSpPr/>
            <p:nvPr/>
          </p:nvSpPr>
          <p:spPr>
            <a:xfrm flipH="false" flipV="false" rot="0">
              <a:off x="0" y="0"/>
              <a:ext cx="6168644" cy="6101334"/>
            </a:xfrm>
            <a:custGeom>
              <a:avLst/>
              <a:gdLst/>
              <a:ahLst/>
              <a:cxnLst/>
              <a:rect r="r" b="b" t="t" l="l"/>
              <a:pathLst>
                <a:path h="6101334" w="6168644">
                  <a:moveTo>
                    <a:pt x="0" y="0"/>
                  </a:moveTo>
                  <a:lnTo>
                    <a:pt x="6168644" y="0"/>
                  </a:lnTo>
                  <a:lnTo>
                    <a:pt x="6168644" y="6101334"/>
                  </a:lnTo>
                  <a:lnTo>
                    <a:pt x="0" y="6101334"/>
                  </a:lnTo>
                  <a:lnTo>
                    <a:pt x="0" y="0"/>
                  </a:lnTo>
                  <a:close/>
                </a:path>
              </a:pathLst>
            </a:custGeom>
            <a:blipFill>
              <a:blip r:embed="rId8"/>
              <a:stretch>
                <a:fillRect l="0" t="-22" r="0" b="-22"/>
              </a:stretch>
            </a:blipFill>
          </p:spPr>
        </p:sp>
      </p:grpSp>
      <p:sp>
        <p:nvSpPr>
          <p:cNvPr name="TextBox 9" id="9"/>
          <p:cNvSpPr txBox="true"/>
          <p:nvPr/>
        </p:nvSpPr>
        <p:spPr>
          <a:xfrm rot="0">
            <a:off x="19409207" y="5966508"/>
            <a:ext cx="3428400" cy="3829879"/>
          </a:xfrm>
          <a:prstGeom prst="rect">
            <a:avLst/>
          </a:prstGeom>
        </p:spPr>
        <p:txBody>
          <a:bodyPr anchor="t" rtlCol="false" tIns="0" lIns="0" bIns="0" rIns="0">
            <a:spAutoFit/>
          </a:bodyPr>
          <a:lstStyle/>
          <a:p>
            <a:pPr algn="ctr">
              <a:lnSpc>
                <a:spcPts val="3764"/>
              </a:lnSpc>
            </a:pPr>
            <a:r>
              <a:rPr lang="en-US" sz="2241">
                <a:solidFill>
                  <a:srgbClr val="131416"/>
                </a:solidFill>
                <a:latin typeface="Open Sans"/>
                <a:ea typeface="Open Sans"/>
                <a:cs typeface="Open Sans"/>
                <a:sym typeface="Open Sans"/>
              </a:rPr>
              <a:t>En el programa del curso encontrarás la competencia o competencias que debe cumplir el curso que estás impartiendo.</a:t>
            </a:r>
          </a:p>
          <a:p>
            <a:pPr algn="ctr">
              <a:lnSpc>
                <a:spcPts val="3764"/>
              </a:lnSpc>
            </a:pPr>
            <a:r>
              <a:rPr lang="en-US" sz="2241">
                <a:solidFill>
                  <a:srgbClr val="131416"/>
                </a:solidFill>
                <a:latin typeface="Open Sans"/>
                <a:ea typeface="Open Sans"/>
                <a:cs typeface="Open Sans"/>
                <a:sym typeface="Open Sans"/>
              </a:rPr>
              <a:t>Colocala(s) en este apartado </a:t>
            </a:r>
          </a:p>
        </p:txBody>
      </p:sp>
      <p:sp>
        <p:nvSpPr>
          <p:cNvPr name="TextBox 10" id="10"/>
          <p:cNvSpPr txBox="true"/>
          <p:nvPr/>
        </p:nvSpPr>
        <p:spPr>
          <a:xfrm rot="0">
            <a:off x="5040449" y="4269476"/>
            <a:ext cx="9287399" cy="1575073"/>
          </a:xfrm>
          <a:prstGeom prst="rect">
            <a:avLst/>
          </a:prstGeom>
        </p:spPr>
        <p:txBody>
          <a:bodyPr anchor="t" rtlCol="false" tIns="0" lIns="0" bIns="0" rIns="0">
            <a:spAutoFit/>
          </a:bodyPr>
          <a:lstStyle/>
          <a:p>
            <a:pPr algn="l" marL="342900" indent="-171450" lvl="1">
              <a:lnSpc>
                <a:spcPts val="3120"/>
              </a:lnSpc>
              <a:buFont typeface="Arial"/>
              <a:buChar char="•"/>
            </a:pPr>
            <a:r>
              <a:rPr lang="en-US" sz="2000">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p>
          <a:p>
            <a:pPr algn="l" marL="342900" indent="-171450" lvl="1">
              <a:lnSpc>
                <a:spcPts val="3120"/>
              </a:lnSpc>
              <a:buFont typeface="Arial"/>
              <a:buChar char="•"/>
            </a:pPr>
            <a:r>
              <a:rPr lang="en-US" sz="2000">
                <a:solidFill>
                  <a:srgbClr val="FFFFFF"/>
                </a:solidFill>
                <a:latin typeface="Montserrat"/>
                <a:ea typeface="Montserrat"/>
                <a:cs typeface="Montserrat"/>
                <a:sym typeface="Montserrat"/>
              </a:rPr>
              <a:t>Evaluar sistemas operativos para soluciones específicas.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TextBox 2" id="2"/>
          <p:cNvSpPr txBox="true"/>
          <p:nvPr/>
        </p:nvSpPr>
        <p:spPr>
          <a:xfrm rot="0">
            <a:off x="3503695" y="4428077"/>
            <a:ext cx="11280600" cy="1326071"/>
          </a:xfrm>
          <a:prstGeom prst="rect">
            <a:avLst/>
          </a:prstGeom>
        </p:spPr>
        <p:txBody>
          <a:bodyPr anchor="t" rtlCol="false" tIns="0" lIns="0" bIns="0" rIns="0">
            <a:spAutoFit/>
          </a:bodyPr>
          <a:lstStyle/>
          <a:p>
            <a:pPr algn="ctr">
              <a:lnSpc>
                <a:spcPts val="10186"/>
              </a:lnSpc>
            </a:pPr>
            <a:r>
              <a:rPr lang="en-US" sz="7933">
                <a:solidFill>
                  <a:srgbClr val="FFFFFF"/>
                </a:solidFill>
                <a:latin typeface="Arial"/>
                <a:ea typeface="Arial"/>
                <a:cs typeface="Arial"/>
                <a:sym typeface="Arial"/>
              </a:rPr>
              <a:t>VIRTUALIZACIÓN</a:t>
            </a:r>
          </a:p>
        </p:txBody>
      </p:sp>
      <p:grpSp>
        <p:nvGrpSpPr>
          <p:cNvPr name="Group 3" id="3"/>
          <p:cNvGrpSpPr/>
          <p:nvPr/>
        </p:nvGrpSpPr>
        <p:grpSpPr>
          <a:xfrm rot="0">
            <a:off x="5261791" y="3146431"/>
            <a:ext cx="7764409" cy="618801"/>
            <a:chOff x="0" y="0"/>
            <a:chExt cx="10352545" cy="825068"/>
          </a:xfrm>
        </p:grpSpPr>
        <p:sp>
          <p:nvSpPr>
            <p:cNvPr name="Freeform 4" id="4"/>
            <p:cNvSpPr/>
            <p:nvPr/>
          </p:nvSpPr>
          <p:spPr>
            <a:xfrm flipH="false" flipV="false" rot="0">
              <a:off x="0" y="0"/>
              <a:ext cx="10352532" cy="824992"/>
            </a:xfrm>
            <a:custGeom>
              <a:avLst/>
              <a:gdLst/>
              <a:ahLst/>
              <a:cxnLst/>
              <a:rect r="r" b="b" t="t" l="l"/>
              <a:pathLst>
                <a:path h="824992" w="10352532">
                  <a:moveTo>
                    <a:pt x="9940036" y="0"/>
                  </a:moveTo>
                  <a:cubicBezTo>
                    <a:pt x="10167874" y="0"/>
                    <a:pt x="10352532" y="184658"/>
                    <a:pt x="10352532" y="412496"/>
                  </a:cubicBezTo>
                  <a:cubicBezTo>
                    <a:pt x="10352532" y="640334"/>
                    <a:pt x="10167874" y="824992"/>
                    <a:pt x="9940036" y="824992"/>
                  </a:cubicBezTo>
                  <a:lnTo>
                    <a:pt x="412496" y="824992"/>
                  </a:lnTo>
                  <a:cubicBezTo>
                    <a:pt x="184658" y="825119"/>
                    <a:pt x="0" y="640334"/>
                    <a:pt x="0" y="412496"/>
                  </a:cubicBezTo>
                  <a:cubicBezTo>
                    <a:pt x="0" y="184658"/>
                    <a:pt x="184658" y="0"/>
                    <a:pt x="412496" y="0"/>
                  </a:cubicBezTo>
                  <a:close/>
                </a:path>
              </a:pathLst>
            </a:custGeom>
            <a:solidFill>
              <a:srgbClr val="67D3CD"/>
            </a:solidFill>
          </p:spPr>
        </p:sp>
      </p:grpSp>
      <p:grpSp>
        <p:nvGrpSpPr>
          <p:cNvPr name="Group 5" id="5"/>
          <p:cNvGrpSpPr/>
          <p:nvPr/>
        </p:nvGrpSpPr>
        <p:grpSpPr>
          <a:xfrm rot="0">
            <a:off x="5261791" y="3102921"/>
            <a:ext cx="7764409" cy="662311"/>
            <a:chOff x="0" y="0"/>
            <a:chExt cx="10352545" cy="883082"/>
          </a:xfrm>
        </p:grpSpPr>
        <p:sp>
          <p:nvSpPr>
            <p:cNvPr name="Freeform 6" id="6"/>
            <p:cNvSpPr/>
            <p:nvPr/>
          </p:nvSpPr>
          <p:spPr>
            <a:xfrm flipH="false" flipV="false" rot="0">
              <a:off x="0" y="0"/>
              <a:ext cx="10352548" cy="883087"/>
            </a:xfrm>
            <a:custGeom>
              <a:avLst/>
              <a:gdLst/>
              <a:ahLst/>
              <a:cxnLst/>
              <a:rect r="r" b="b" t="t" l="l"/>
              <a:pathLst>
                <a:path h="883087" w="10352548">
                  <a:moveTo>
                    <a:pt x="0" y="0"/>
                  </a:moveTo>
                  <a:lnTo>
                    <a:pt x="10352548" y="0"/>
                  </a:lnTo>
                  <a:lnTo>
                    <a:pt x="10352548" y="883087"/>
                  </a:lnTo>
                  <a:lnTo>
                    <a:pt x="0" y="883087"/>
                  </a:lnTo>
                  <a:close/>
                </a:path>
              </a:pathLst>
            </a:custGeom>
            <a:blipFill>
              <a:blip r:embed="rId3">
                <a:alphaModFix amt="0"/>
              </a:blip>
              <a:stretch>
                <a:fillRect l="0" t="-178426" r="0" b="-178425"/>
              </a:stretch>
            </a:blipFill>
          </p:spPr>
        </p:sp>
        <p:sp>
          <p:nvSpPr>
            <p:cNvPr name="TextBox 7" id="7"/>
            <p:cNvSpPr txBox="true"/>
            <p:nvPr/>
          </p:nvSpPr>
          <p:spPr>
            <a:xfrm>
              <a:off x="0" y="-85725"/>
              <a:ext cx="10352545" cy="968807"/>
            </a:xfrm>
            <a:prstGeom prst="rect">
              <a:avLst/>
            </a:prstGeom>
          </p:spPr>
          <p:txBody>
            <a:bodyPr anchor="ctr" rtlCol="false" tIns="0" lIns="0" bIns="0" rIns="0"/>
            <a:lstStyle/>
            <a:p>
              <a:pPr algn="ctr">
                <a:lnSpc>
                  <a:spcPts val="3626"/>
                </a:lnSpc>
              </a:pPr>
              <a:r>
                <a:rPr lang="en-US" b="true" sz="2325">
                  <a:solidFill>
                    <a:srgbClr val="000000"/>
                  </a:solidFill>
                  <a:latin typeface="Montserrat Bold"/>
                  <a:ea typeface="Montserrat Bold"/>
                  <a:cs typeface="Montserrat Bold"/>
                  <a:sym typeface="Montserrat Bold"/>
                </a:rPr>
                <a:t>LABORATORIO SISTEMAS OPERATIVOS 2</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6497700">
            <a:off x="-3298860" y="-3929510"/>
            <a:ext cx="22752006" cy="18863481"/>
            <a:chOff x="0" y="0"/>
            <a:chExt cx="30336007" cy="25151309"/>
          </a:xfrm>
        </p:grpSpPr>
        <p:sp>
          <p:nvSpPr>
            <p:cNvPr name="Freeform 3" id="3"/>
            <p:cNvSpPr/>
            <p:nvPr/>
          </p:nvSpPr>
          <p:spPr>
            <a:xfrm flipH="false" flipV="false" rot="0">
              <a:off x="0" y="0"/>
              <a:ext cx="30335981" cy="25151335"/>
            </a:xfrm>
            <a:custGeom>
              <a:avLst/>
              <a:gdLst/>
              <a:ahLst/>
              <a:cxnLst/>
              <a:rect r="r" b="b" t="t" l="l"/>
              <a:pathLst>
                <a:path h="25151335" w="30335981">
                  <a:moveTo>
                    <a:pt x="0" y="0"/>
                  </a:moveTo>
                  <a:lnTo>
                    <a:pt x="30335981" y="0"/>
                  </a:lnTo>
                  <a:lnTo>
                    <a:pt x="30335981" y="25151335"/>
                  </a:lnTo>
                  <a:lnTo>
                    <a:pt x="0" y="25151335"/>
                  </a:lnTo>
                  <a:lnTo>
                    <a:pt x="0" y="0"/>
                  </a:lnTo>
                  <a:close/>
                </a:path>
              </a:pathLst>
            </a:custGeom>
            <a:blipFill>
              <a:blip r:embed="rId3"/>
              <a:stretch>
                <a:fillRect l="0" t="-54" r="0" b="-54"/>
              </a:stretch>
            </a:blipFill>
          </p:spPr>
        </p:sp>
      </p:grpSp>
      <p:sp>
        <p:nvSpPr>
          <p:cNvPr name="Freeform 4" id="4"/>
          <p:cNvSpPr/>
          <p:nvPr/>
        </p:nvSpPr>
        <p:spPr>
          <a:xfrm flipH="false" flipV="false" rot="0">
            <a:off x="684790" y="596979"/>
            <a:ext cx="7288987" cy="8925487"/>
          </a:xfrm>
          <a:custGeom>
            <a:avLst/>
            <a:gdLst/>
            <a:ahLst/>
            <a:cxnLst/>
            <a:rect r="r" b="b" t="t" l="l"/>
            <a:pathLst>
              <a:path h="8925487" w="7288987">
                <a:moveTo>
                  <a:pt x="0" y="0"/>
                </a:moveTo>
                <a:lnTo>
                  <a:pt x="7288988" y="0"/>
                </a:lnTo>
                <a:lnTo>
                  <a:pt x="7288988" y="8925487"/>
                </a:lnTo>
                <a:lnTo>
                  <a:pt x="0" y="89254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rot="20040">
            <a:off x="1064057" y="1689230"/>
            <a:ext cx="6530454" cy="0"/>
          </a:xfrm>
          <a:prstGeom prst="line">
            <a:avLst/>
          </a:prstGeom>
          <a:ln cap="rnd" w="28575">
            <a:solidFill>
              <a:srgbClr val="FFFFFF"/>
            </a:solidFill>
            <a:prstDash val="solid"/>
            <a:headEnd type="none" len="sm" w="sm"/>
            <a:tailEnd type="none" len="sm" w="sm"/>
          </a:ln>
        </p:spPr>
      </p:sp>
      <p:sp>
        <p:nvSpPr>
          <p:cNvPr name="AutoShape 6" id="6"/>
          <p:cNvSpPr/>
          <p:nvPr/>
        </p:nvSpPr>
        <p:spPr>
          <a:xfrm rot="20040">
            <a:off x="1064057" y="8380495"/>
            <a:ext cx="6530454" cy="0"/>
          </a:xfrm>
          <a:prstGeom prst="line">
            <a:avLst/>
          </a:prstGeom>
          <a:ln cap="rnd" w="28575">
            <a:solidFill>
              <a:srgbClr val="FFFFFF"/>
            </a:solidFill>
            <a:prstDash val="solid"/>
            <a:headEnd type="none" len="sm" w="sm"/>
            <a:tailEnd type="none" len="sm" w="sm"/>
          </a:ln>
        </p:spPr>
      </p:sp>
      <p:grpSp>
        <p:nvGrpSpPr>
          <p:cNvPr name="Group 7" id="7"/>
          <p:cNvGrpSpPr/>
          <p:nvPr/>
        </p:nvGrpSpPr>
        <p:grpSpPr>
          <a:xfrm rot="0">
            <a:off x="1385221" y="1870672"/>
            <a:ext cx="5888136" cy="6356956"/>
            <a:chOff x="0" y="0"/>
            <a:chExt cx="7850848" cy="8475942"/>
          </a:xfrm>
        </p:grpSpPr>
        <p:sp>
          <p:nvSpPr>
            <p:cNvPr name="Freeform 8" id="8"/>
            <p:cNvSpPr/>
            <p:nvPr/>
          </p:nvSpPr>
          <p:spPr>
            <a:xfrm flipH="false" flipV="false" rot="0">
              <a:off x="0" y="0"/>
              <a:ext cx="7850886" cy="8475980"/>
            </a:xfrm>
            <a:custGeom>
              <a:avLst/>
              <a:gdLst/>
              <a:ahLst/>
              <a:cxnLst/>
              <a:rect r="r" b="b" t="t" l="l"/>
              <a:pathLst>
                <a:path h="8475980" w="7850886">
                  <a:moveTo>
                    <a:pt x="0" y="0"/>
                  </a:moveTo>
                  <a:lnTo>
                    <a:pt x="7850886" y="0"/>
                  </a:lnTo>
                  <a:lnTo>
                    <a:pt x="7850886" y="8475980"/>
                  </a:lnTo>
                  <a:lnTo>
                    <a:pt x="0" y="8475980"/>
                  </a:lnTo>
                  <a:lnTo>
                    <a:pt x="0" y="0"/>
                  </a:lnTo>
                  <a:close/>
                </a:path>
              </a:pathLst>
            </a:custGeom>
            <a:blipFill>
              <a:blip r:embed="rId6"/>
              <a:stretch>
                <a:fillRect l="0" t="-30" r="0" b="-30"/>
              </a:stretch>
            </a:blipFill>
          </p:spPr>
        </p:sp>
      </p:grpSp>
      <p:sp>
        <p:nvSpPr>
          <p:cNvPr name="TextBox 9" id="9"/>
          <p:cNvSpPr txBox="true"/>
          <p:nvPr/>
        </p:nvSpPr>
        <p:spPr>
          <a:xfrm rot="0">
            <a:off x="8804900" y="1967036"/>
            <a:ext cx="8454400" cy="7094220"/>
          </a:xfrm>
          <a:prstGeom prst="rect">
            <a:avLst/>
          </a:prstGeom>
        </p:spPr>
        <p:txBody>
          <a:bodyPr anchor="t" rtlCol="false" tIns="0" lIns="0" bIns="0" rIns="0">
            <a:spAutoFit/>
          </a:bodyPr>
          <a:lstStyle/>
          <a:p>
            <a:pPr algn="just">
              <a:lnSpc>
                <a:spcPts val="3744"/>
              </a:lnSpc>
            </a:pPr>
            <a:r>
              <a:rPr lang="en-US" sz="2400">
                <a:solidFill>
                  <a:srgbClr val="FFFFFF"/>
                </a:solidFill>
                <a:latin typeface="Montserrat"/>
                <a:ea typeface="Montserrat"/>
                <a:cs typeface="Montserrat"/>
                <a:sym typeface="Montserrat"/>
              </a:rPr>
              <a:t>La virtualización es una tecnología que permite que </a:t>
            </a:r>
            <a:r>
              <a:rPr lang="en-US" sz="2400">
                <a:solidFill>
                  <a:srgbClr val="ACFDDB"/>
                </a:solidFill>
                <a:latin typeface="Montserrat"/>
                <a:ea typeface="Montserrat"/>
                <a:cs typeface="Montserrat"/>
                <a:sym typeface="Montserrat"/>
              </a:rPr>
              <a:t>múltiples sistemas operativos </a:t>
            </a:r>
            <a:r>
              <a:rPr lang="en-US" sz="2400">
                <a:solidFill>
                  <a:srgbClr val="FFFFFF"/>
                </a:solidFill>
                <a:latin typeface="Montserrat"/>
                <a:ea typeface="Montserrat"/>
                <a:cs typeface="Montserrat"/>
                <a:sym typeface="Montserrat"/>
              </a:rPr>
              <a:t>y aplicaciones se ejecuten en una sola máquina física, creando entornos virtuales. Estos entornos imitan hardware real, permitiendo que cada sistema operativo funcione de forma aislada como si tuviera su propio hardware. Mediante un hipervisor, se gestiona el uso de los recursos físicos, como la CPU, la memoria y el almacenamiento, entre las diferentes máquinas virtuales.</a:t>
            </a:r>
          </a:p>
          <a:p>
            <a:pPr algn="just">
              <a:lnSpc>
                <a:spcPts val="2183"/>
              </a:lnSpc>
            </a:pPr>
          </a:p>
          <a:p>
            <a:pPr algn="just">
              <a:lnSpc>
                <a:spcPts val="3744"/>
              </a:lnSpc>
            </a:pPr>
            <a:r>
              <a:rPr lang="en-US" sz="2400">
                <a:solidFill>
                  <a:srgbClr val="FFFFFF"/>
                </a:solidFill>
                <a:latin typeface="Montserrat"/>
                <a:ea typeface="Montserrat"/>
                <a:cs typeface="Montserrat"/>
                <a:sym typeface="Montserrat"/>
              </a:rPr>
              <a:t>La virtualización optimiza el uso de los recursos físicos, permitiendo que varias cargas de trabajo compartan la misma infraestructura. Esto ayuda a reducir el número de servidores físicos necesarios, disminuyendo costos de hardware, mantenimiento, espacio y consumo energético. </a:t>
            </a:r>
          </a:p>
        </p:txBody>
      </p:sp>
      <p:sp>
        <p:nvSpPr>
          <p:cNvPr name="TextBox 10" id="10"/>
          <p:cNvSpPr txBox="true"/>
          <p:nvPr/>
        </p:nvSpPr>
        <p:spPr>
          <a:xfrm rot="0">
            <a:off x="8804900" y="1154239"/>
            <a:ext cx="8454400" cy="908047"/>
          </a:xfrm>
          <a:prstGeom prst="rect">
            <a:avLst/>
          </a:prstGeom>
        </p:spPr>
        <p:txBody>
          <a:bodyPr anchor="t" rtlCol="false" tIns="0" lIns="0" bIns="0" rIns="0">
            <a:spAutoFit/>
          </a:bodyPr>
          <a:lstStyle/>
          <a:p>
            <a:pPr algn="ctr">
              <a:lnSpc>
                <a:spcPts val="7259"/>
              </a:lnSpc>
            </a:pPr>
            <a:r>
              <a:rPr lang="en-US" sz="4999">
                <a:solidFill>
                  <a:srgbClr val="FFFFFF"/>
                </a:solidFill>
                <a:latin typeface="Arial"/>
                <a:ea typeface="Arial"/>
                <a:cs typeface="Arial"/>
                <a:sym typeface="Arial"/>
              </a:rPr>
              <a:t>VIRTUALIZACIÓN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10164420">
            <a:off x="-2246900" y="-3921300"/>
            <a:ext cx="25064561" cy="17089479"/>
            <a:chOff x="0" y="0"/>
            <a:chExt cx="33419415" cy="22785972"/>
          </a:xfrm>
        </p:grpSpPr>
        <p:sp>
          <p:nvSpPr>
            <p:cNvPr name="Freeform 3" id="3"/>
            <p:cNvSpPr/>
            <p:nvPr/>
          </p:nvSpPr>
          <p:spPr>
            <a:xfrm flipH="false" flipV="false" rot="0">
              <a:off x="0" y="0"/>
              <a:ext cx="33419414" cy="22785960"/>
            </a:xfrm>
            <a:custGeom>
              <a:avLst/>
              <a:gdLst/>
              <a:ahLst/>
              <a:cxnLst/>
              <a:rect r="r" b="b" t="t" l="l"/>
              <a:pathLst>
                <a:path h="22785960" w="33419414">
                  <a:moveTo>
                    <a:pt x="0" y="0"/>
                  </a:moveTo>
                  <a:lnTo>
                    <a:pt x="33419414" y="0"/>
                  </a:lnTo>
                  <a:lnTo>
                    <a:pt x="33419414" y="22785960"/>
                  </a:lnTo>
                  <a:lnTo>
                    <a:pt x="0" y="22785960"/>
                  </a:lnTo>
                  <a:lnTo>
                    <a:pt x="0" y="0"/>
                  </a:lnTo>
                  <a:close/>
                </a:path>
              </a:pathLst>
            </a:custGeom>
            <a:blipFill>
              <a:blip r:embed="rId3"/>
              <a:stretch>
                <a:fillRect l="0" t="-13" r="0" b="-13"/>
              </a:stretch>
            </a:blipFill>
          </p:spPr>
        </p:sp>
      </p:grpSp>
      <p:sp>
        <p:nvSpPr>
          <p:cNvPr name="Freeform 4" id="4"/>
          <p:cNvSpPr/>
          <p:nvPr/>
        </p:nvSpPr>
        <p:spPr>
          <a:xfrm flipH="false" flipV="false" rot="0">
            <a:off x="1028700" y="2657723"/>
            <a:ext cx="5104171" cy="5617978"/>
          </a:xfrm>
          <a:custGeom>
            <a:avLst/>
            <a:gdLst/>
            <a:ahLst/>
            <a:cxnLst/>
            <a:rect r="r" b="b" t="t" l="l"/>
            <a:pathLst>
              <a:path h="5617978" w="5104171">
                <a:moveTo>
                  <a:pt x="0" y="0"/>
                </a:moveTo>
                <a:lnTo>
                  <a:pt x="5104171" y="0"/>
                </a:lnTo>
                <a:lnTo>
                  <a:pt x="5104171" y="5617978"/>
                </a:lnTo>
                <a:lnTo>
                  <a:pt x="0" y="56179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3064888"/>
            <a:ext cx="4825517" cy="5452034"/>
          </a:xfrm>
          <a:prstGeom prst="rect">
            <a:avLst/>
          </a:prstGeom>
        </p:spPr>
        <p:txBody>
          <a:bodyPr anchor="t" rtlCol="false" tIns="0" lIns="0" bIns="0" rIns="0">
            <a:spAutoFit/>
          </a:bodyPr>
          <a:lstStyle/>
          <a:p>
            <a:pPr algn="l">
              <a:lnSpc>
                <a:spcPts val="2372"/>
              </a:lnSpc>
            </a:pPr>
          </a:p>
          <a:p>
            <a:pPr algn="l" marL="447146" indent="-149049" lvl="2">
              <a:lnSpc>
                <a:spcPts val="3050"/>
              </a:lnSpc>
              <a:buFont typeface="Arial"/>
              <a:buChar char="⚬"/>
            </a:pPr>
            <a:r>
              <a:rPr lang="en-US" b="true" sz="1955">
                <a:solidFill>
                  <a:srgbClr val="FFFFFF"/>
                </a:solidFill>
                <a:latin typeface="Montserrat Bold"/>
                <a:ea typeface="Montserrat Bold"/>
                <a:cs typeface="Montserrat Bold"/>
                <a:sym typeface="Montserrat Bold"/>
              </a:rPr>
              <a:t>Virtualización de servidor: </a:t>
            </a:r>
            <a:r>
              <a:rPr lang="en-US" sz="1955">
                <a:solidFill>
                  <a:srgbClr val="FFFFFF"/>
                </a:solidFill>
                <a:latin typeface="Montserrat"/>
                <a:ea typeface="Montserrat"/>
                <a:cs typeface="Montserrat"/>
                <a:sym typeface="Montserrat"/>
              </a:rPr>
              <a:t>Permite que varios sistemas operativos se ejecuten en un solo servidor físico, mejorando la eficiencia y consolidación de recursos.</a:t>
            </a:r>
          </a:p>
          <a:p>
            <a:pPr algn="l" marL="320043" indent="-106681" lvl="2">
              <a:lnSpc>
                <a:spcPts val="2183"/>
              </a:lnSpc>
            </a:pPr>
          </a:p>
          <a:p>
            <a:pPr algn="l" marL="447146" indent="-149049" lvl="2">
              <a:lnSpc>
                <a:spcPts val="3050"/>
              </a:lnSpc>
              <a:buFont typeface="Arial"/>
              <a:buChar char="⚬"/>
            </a:pPr>
            <a:r>
              <a:rPr lang="en-US" b="true" sz="1955">
                <a:solidFill>
                  <a:srgbClr val="FFFFFF"/>
                </a:solidFill>
                <a:latin typeface="Montserrat Bold"/>
                <a:ea typeface="Montserrat Bold"/>
                <a:cs typeface="Montserrat Bold"/>
                <a:sym typeface="Montserrat Bold"/>
              </a:rPr>
              <a:t>Virtualización de red: Crea </a:t>
            </a:r>
            <a:r>
              <a:rPr lang="en-US" sz="1955">
                <a:solidFill>
                  <a:srgbClr val="FFFFFF"/>
                </a:solidFill>
                <a:latin typeface="Montserrat"/>
                <a:ea typeface="Montserrat"/>
                <a:cs typeface="Montserrat"/>
                <a:sym typeface="Montserrat"/>
              </a:rPr>
              <a:t>redes virtuales que pueden funcionar independientemente de la infraestructura física, facilitando la configuración y el mantenimiento.</a:t>
            </a:r>
          </a:p>
          <a:p>
            <a:pPr algn="l" marL="320043" indent="-106681" lvl="2">
              <a:lnSpc>
                <a:spcPts val="2183"/>
              </a:lnSpc>
            </a:pPr>
          </a:p>
          <a:p>
            <a:pPr algn="l" marL="320043" indent="-106681" lvl="2">
              <a:lnSpc>
                <a:spcPts val="2183"/>
              </a:lnSpc>
            </a:pPr>
          </a:p>
          <a:p>
            <a:pPr algn="l" marL="320043" indent="-106681" lvl="2">
              <a:lnSpc>
                <a:spcPts val="2183"/>
              </a:lnSpc>
            </a:pPr>
          </a:p>
        </p:txBody>
      </p:sp>
      <p:sp>
        <p:nvSpPr>
          <p:cNvPr name="Freeform 6" id="6"/>
          <p:cNvSpPr/>
          <p:nvPr/>
        </p:nvSpPr>
        <p:spPr>
          <a:xfrm flipH="false" flipV="false" rot="0">
            <a:off x="6883975" y="2963151"/>
            <a:ext cx="4357802" cy="4530871"/>
          </a:xfrm>
          <a:custGeom>
            <a:avLst/>
            <a:gdLst/>
            <a:ahLst/>
            <a:cxnLst/>
            <a:rect r="r" b="b" t="t" l="l"/>
            <a:pathLst>
              <a:path h="4530871" w="4357802">
                <a:moveTo>
                  <a:pt x="0" y="0"/>
                </a:moveTo>
                <a:lnTo>
                  <a:pt x="4357801" y="0"/>
                </a:lnTo>
                <a:lnTo>
                  <a:pt x="4357801" y="4530871"/>
                </a:lnTo>
                <a:lnTo>
                  <a:pt x="0" y="45308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992870" y="2716378"/>
            <a:ext cx="5104171" cy="4777645"/>
          </a:xfrm>
          <a:custGeom>
            <a:avLst/>
            <a:gdLst/>
            <a:ahLst/>
            <a:cxnLst/>
            <a:rect r="r" b="b" t="t" l="l"/>
            <a:pathLst>
              <a:path h="4777645" w="5104171">
                <a:moveTo>
                  <a:pt x="0" y="0"/>
                </a:moveTo>
                <a:lnTo>
                  <a:pt x="5104172" y="0"/>
                </a:lnTo>
                <a:lnTo>
                  <a:pt x="5104172" y="4777644"/>
                </a:lnTo>
                <a:lnTo>
                  <a:pt x="0" y="477764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8" id="8"/>
          <p:cNvGrpSpPr/>
          <p:nvPr/>
        </p:nvGrpSpPr>
        <p:grpSpPr>
          <a:xfrm rot="0">
            <a:off x="8508454" y="2689079"/>
            <a:ext cx="1108834" cy="1111806"/>
            <a:chOff x="0" y="0"/>
            <a:chExt cx="1478445" cy="1482408"/>
          </a:xfrm>
        </p:grpSpPr>
        <p:sp>
          <p:nvSpPr>
            <p:cNvPr name="Freeform 9" id="9"/>
            <p:cNvSpPr/>
            <p:nvPr/>
          </p:nvSpPr>
          <p:spPr>
            <a:xfrm flipH="false" flipV="false" rot="0">
              <a:off x="0" y="0"/>
              <a:ext cx="1478407" cy="1482344"/>
            </a:xfrm>
            <a:custGeom>
              <a:avLst/>
              <a:gdLst/>
              <a:ahLst/>
              <a:cxnLst/>
              <a:rect r="r" b="b" t="t" l="l"/>
              <a:pathLst>
                <a:path h="1482344" w="1478407">
                  <a:moveTo>
                    <a:pt x="0" y="0"/>
                  </a:moveTo>
                  <a:lnTo>
                    <a:pt x="1478407" y="0"/>
                  </a:lnTo>
                  <a:lnTo>
                    <a:pt x="1478407" y="1482344"/>
                  </a:lnTo>
                  <a:lnTo>
                    <a:pt x="0" y="1482344"/>
                  </a:lnTo>
                  <a:lnTo>
                    <a:pt x="0" y="0"/>
                  </a:lnTo>
                  <a:close/>
                </a:path>
              </a:pathLst>
            </a:custGeom>
            <a:blipFill>
              <a:blip r:embed="rId10"/>
              <a:stretch>
                <a:fillRect l="0" t="0" r="-2" b="-4"/>
              </a:stretch>
            </a:blipFill>
          </p:spPr>
        </p:sp>
      </p:grpSp>
      <p:sp>
        <p:nvSpPr>
          <p:cNvPr name="TextBox 10" id="10"/>
          <p:cNvSpPr txBox="true"/>
          <p:nvPr/>
        </p:nvSpPr>
        <p:spPr>
          <a:xfrm rot="0">
            <a:off x="12049249" y="4267000"/>
            <a:ext cx="4991414" cy="2013318"/>
          </a:xfrm>
          <a:prstGeom prst="rect">
            <a:avLst/>
          </a:prstGeom>
        </p:spPr>
        <p:txBody>
          <a:bodyPr anchor="t" rtlCol="false" tIns="0" lIns="0" bIns="0" rIns="0">
            <a:spAutoFit/>
          </a:bodyPr>
          <a:lstStyle/>
          <a:p>
            <a:pPr algn="l" marL="450452" indent="-150151" lvl="2">
              <a:lnSpc>
                <a:spcPts val="3074"/>
              </a:lnSpc>
              <a:buFont typeface="Arial"/>
              <a:buChar char="⚬"/>
            </a:pPr>
            <a:r>
              <a:rPr lang="en-US" b="true" sz="1970">
                <a:solidFill>
                  <a:srgbClr val="FFFFFF"/>
                </a:solidFill>
                <a:latin typeface="Montserrat Bold"/>
                <a:ea typeface="Montserrat Bold"/>
                <a:cs typeface="Montserrat Bold"/>
                <a:sym typeface="Montserrat Bold"/>
              </a:rPr>
              <a:t>Virtualización de escritorio </a:t>
            </a:r>
            <a:r>
              <a:rPr lang="en-US" sz="1970">
                <a:solidFill>
                  <a:srgbClr val="FFFFFF"/>
                </a:solidFill>
                <a:latin typeface="Montserrat"/>
                <a:ea typeface="Montserrat"/>
                <a:cs typeface="Montserrat"/>
                <a:sym typeface="Montserrat"/>
              </a:rPr>
              <a:t>Permite ejecutar entornos de escritorio en servidores centrales, accesibles desde cualquier dispositivo, mejorando la flexibilidad para los usuarios.</a:t>
            </a:r>
          </a:p>
        </p:txBody>
      </p:sp>
      <p:sp>
        <p:nvSpPr>
          <p:cNvPr name="TextBox 11" id="11"/>
          <p:cNvSpPr txBox="true"/>
          <p:nvPr/>
        </p:nvSpPr>
        <p:spPr>
          <a:xfrm rot="0">
            <a:off x="7187403" y="4795799"/>
            <a:ext cx="3750945" cy="2195198"/>
          </a:xfrm>
          <a:prstGeom prst="rect">
            <a:avLst/>
          </a:prstGeom>
        </p:spPr>
        <p:txBody>
          <a:bodyPr anchor="t" rtlCol="false" tIns="0" lIns="0" bIns="0" rIns="0">
            <a:spAutoFit/>
          </a:bodyPr>
          <a:lstStyle/>
          <a:p>
            <a:pPr algn="ctr">
              <a:lnSpc>
                <a:spcPts val="2964"/>
              </a:lnSpc>
            </a:pPr>
            <a:r>
              <a:rPr lang="en-US" sz="1900">
                <a:solidFill>
                  <a:srgbClr val="1A0A33"/>
                </a:solidFill>
                <a:latin typeface="Montserrat"/>
                <a:ea typeface="Montserrat"/>
                <a:cs typeface="Montserrat"/>
                <a:sym typeface="Montserrat"/>
              </a:rPr>
              <a:t> Permite que varios dispositivos de almacenamiento físicos se combinen en un solo recurso virtual, simplificando la administración de datos.</a:t>
            </a:r>
          </a:p>
        </p:txBody>
      </p:sp>
      <p:sp>
        <p:nvSpPr>
          <p:cNvPr name="TextBox 12" id="12"/>
          <p:cNvSpPr txBox="true"/>
          <p:nvPr/>
        </p:nvSpPr>
        <p:spPr>
          <a:xfrm rot="0">
            <a:off x="7187403" y="3944655"/>
            <a:ext cx="3750945" cy="708269"/>
          </a:xfrm>
          <a:prstGeom prst="rect">
            <a:avLst/>
          </a:prstGeom>
        </p:spPr>
        <p:txBody>
          <a:bodyPr anchor="t" rtlCol="false" tIns="0" lIns="0" bIns="0" rIns="0">
            <a:spAutoFit/>
          </a:bodyPr>
          <a:lstStyle/>
          <a:p>
            <a:pPr algn="ctr">
              <a:lnSpc>
                <a:spcPts val="3089"/>
              </a:lnSpc>
            </a:pPr>
            <a:r>
              <a:rPr lang="en-US" b="true" sz="1979">
                <a:solidFill>
                  <a:srgbClr val="1A0A33"/>
                </a:solidFill>
                <a:latin typeface="Montserrat Bold"/>
                <a:ea typeface="Montserrat Bold"/>
                <a:cs typeface="Montserrat Bold"/>
                <a:sym typeface="Montserrat Bold"/>
              </a:rPr>
              <a:t>VIRTUALIZACIÓN DE ALMACENAMIENTO:</a:t>
            </a:r>
          </a:p>
        </p:txBody>
      </p:sp>
      <p:sp>
        <p:nvSpPr>
          <p:cNvPr name="TextBox 13" id="13"/>
          <p:cNvSpPr txBox="true"/>
          <p:nvPr/>
        </p:nvSpPr>
        <p:spPr>
          <a:xfrm rot="0">
            <a:off x="4916795" y="429035"/>
            <a:ext cx="8454304" cy="866175"/>
          </a:xfrm>
          <a:prstGeom prst="rect">
            <a:avLst/>
          </a:prstGeom>
        </p:spPr>
        <p:txBody>
          <a:bodyPr anchor="t" rtlCol="false" tIns="0" lIns="0" bIns="0" rIns="0">
            <a:spAutoFit/>
          </a:bodyPr>
          <a:lstStyle/>
          <a:p>
            <a:pPr algn="ctr">
              <a:lnSpc>
                <a:spcPts val="6824"/>
              </a:lnSpc>
            </a:pPr>
            <a:r>
              <a:rPr lang="en-US" sz="4700">
                <a:solidFill>
                  <a:srgbClr val="FFFFFF"/>
                </a:solidFill>
                <a:latin typeface="Arial"/>
                <a:ea typeface="Arial"/>
                <a:cs typeface="Arial"/>
                <a:sym typeface="Arial"/>
              </a:rPr>
              <a:t>TIPOS DE VIRTUALIZACIÓN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AutoShape 2" id="2"/>
          <p:cNvSpPr/>
          <p:nvPr/>
        </p:nvSpPr>
        <p:spPr>
          <a:xfrm rot="5347920">
            <a:off x="14221035" y="5405818"/>
            <a:ext cx="2514762" cy="0"/>
          </a:xfrm>
          <a:prstGeom prst="line">
            <a:avLst/>
          </a:prstGeom>
          <a:ln cap="rnd" w="28575">
            <a:solidFill>
              <a:srgbClr val="675688"/>
            </a:solidFill>
            <a:prstDash val="solid"/>
            <a:headEnd type="none" len="sm" w="sm"/>
            <a:tailEnd type="oval" len="lg" w="lg"/>
          </a:ln>
        </p:spPr>
      </p:sp>
      <p:sp>
        <p:nvSpPr>
          <p:cNvPr name="Freeform 3" id="3"/>
          <p:cNvSpPr/>
          <p:nvPr/>
        </p:nvSpPr>
        <p:spPr>
          <a:xfrm flipH="false" flipV="false" rot="0">
            <a:off x="14324447" y="3846224"/>
            <a:ext cx="2307946" cy="2307946"/>
          </a:xfrm>
          <a:custGeom>
            <a:avLst/>
            <a:gdLst/>
            <a:ahLst/>
            <a:cxnLst/>
            <a:rect r="r" b="b" t="t" l="l"/>
            <a:pathLst>
              <a:path h="2307946" w="2307946">
                <a:moveTo>
                  <a:pt x="0" y="0"/>
                </a:moveTo>
                <a:lnTo>
                  <a:pt x="2307946" y="0"/>
                </a:lnTo>
                <a:lnTo>
                  <a:pt x="2307946" y="2307945"/>
                </a:lnTo>
                <a:lnTo>
                  <a:pt x="0" y="2307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112994" y="3480787"/>
            <a:ext cx="730853" cy="730853"/>
          </a:xfrm>
          <a:custGeom>
            <a:avLst/>
            <a:gdLst/>
            <a:ahLst/>
            <a:cxnLst/>
            <a:rect r="r" b="b" t="t" l="l"/>
            <a:pathLst>
              <a:path h="730853" w="730853">
                <a:moveTo>
                  <a:pt x="0" y="0"/>
                </a:moveTo>
                <a:lnTo>
                  <a:pt x="730853" y="0"/>
                </a:lnTo>
                <a:lnTo>
                  <a:pt x="730853" y="730854"/>
                </a:lnTo>
                <a:lnTo>
                  <a:pt x="0" y="7308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1585200">
            <a:off x="14731470" y="4310701"/>
            <a:ext cx="1493901" cy="1455868"/>
            <a:chOff x="0" y="0"/>
            <a:chExt cx="1991868" cy="1941157"/>
          </a:xfrm>
        </p:grpSpPr>
        <p:sp>
          <p:nvSpPr>
            <p:cNvPr name="Freeform 6" id="6"/>
            <p:cNvSpPr/>
            <p:nvPr/>
          </p:nvSpPr>
          <p:spPr>
            <a:xfrm flipH="false" flipV="false" rot="0">
              <a:off x="0" y="0"/>
              <a:ext cx="1991868" cy="1941195"/>
            </a:xfrm>
            <a:custGeom>
              <a:avLst/>
              <a:gdLst/>
              <a:ahLst/>
              <a:cxnLst/>
              <a:rect r="r" b="b" t="t" l="l"/>
              <a:pathLst>
                <a:path h="1941195" w="1991868">
                  <a:moveTo>
                    <a:pt x="0" y="0"/>
                  </a:moveTo>
                  <a:lnTo>
                    <a:pt x="1991868" y="0"/>
                  </a:lnTo>
                  <a:lnTo>
                    <a:pt x="1991868" y="1941195"/>
                  </a:lnTo>
                  <a:lnTo>
                    <a:pt x="0" y="1941195"/>
                  </a:lnTo>
                  <a:lnTo>
                    <a:pt x="0" y="0"/>
                  </a:lnTo>
                  <a:close/>
                </a:path>
              </a:pathLst>
            </a:custGeom>
            <a:blipFill>
              <a:blip r:embed="rId7"/>
              <a:stretch>
                <a:fillRect l="0" t="-7" r="0" b="-5"/>
              </a:stretch>
            </a:blipFill>
          </p:spPr>
        </p:sp>
      </p:grpSp>
      <p:sp>
        <p:nvSpPr>
          <p:cNvPr name="Freeform 7" id="7"/>
          <p:cNvSpPr/>
          <p:nvPr/>
        </p:nvSpPr>
        <p:spPr>
          <a:xfrm flipH="false" flipV="false" rot="0">
            <a:off x="1743123" y="3846224"/>
            <a:ext cx="2307946" cy="2307946"/>
          </a:xfrm>
          <a:custGeom>
            <a:avLst/>
            <a:gdLst/>
            <a:ahLst/>
            <a:cxnLst/>
            <a:rect r="r" b="b" t="t" l="l"/>
            <a:pathLst>
              <a:path h="2307946" w="2307946">
                <a:moveTo>
                  <a:pt x="0" y="0"/>
                </a:moveTo>
                <a:lnTo>
                  <a:pt x="2307945" y="0"/>
                </a:lnTo>
                <a:lnTo>
                  <a:pt x="2307945" y="2307945"/>
                </a:lnTo>
                <a:lnTo>
                  <a:pt x="0" y="23079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8" id="8"/>
          <p:cNvSpPr/>
          <p:nvPr/>
        </p:nvSpPr>
        <p:spPr>
          <a:xfrm rot="5347920">
            <a:off x="1639710" y="5405818"/>
            <a:ext cx="2514762" cy="0"/>
          </a:xfrm>
          <a:prstGeom prst="line">
            <a:avLst/>
          </a:prstGeom>
          <a:ln cap="rnd" w="28575">
            <a:solidFill>
              <a:srgbClr val="5CD9C1"/>
            </a:solidFill>
            <a:prstDash val="solid"/>
            <a:headEnd type="none" len="sm" w="sm"/>
            <a:tailEnd type="oval" len="lg" w="lg"/>
          </a:ln>
        </p:spPr>
      </p:sp>
      <p:sp>
        <p:nvSpPr>
          <p:cNvPr name="Freeform 9" id="9"/>
          <p:cNvSpPr/>
          <p:nvPr/>
        </p:nvSpPr>
        <p:spPr>
          <a:xfrm flipH="false" flipV="false" rot="0">
            <a:off x="2531669" y="3480787"/>
            <a:ext cx="730853" cy="730853"/>
          </a:xfrm>
          <a:custGeom>
            <a:avLst/>
            <a:gdLst/>
            <a:ahLst/>
            <a:cxnLst/>
            <a:rect r="r" b="b" t="t" l="l"/>
            <a:pathLst>
              <a:path h="730853" w="730853">
                <a:moveTo>
                  <a:pt x="0" y="0"/>
                </a:moveTo>
                <a:lnTo>
                  <a:pt x="730853" y="0"/>
                </a:lnTo>
                <a:lnTo>
                  <a:pt x="730853" y="730854"/>
                </a:lnTo>
                <a:lnTo>
                  <a:pt x="0" y="7308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5916568" y="3846224"/>
            <a:ext cx="2307946" cy="2307946"/>
          </a:xfrm>
          <a:custGeom>
            <a:avLst/>
            <a:gdLst/>
            <a:ahLst/>
            <a:cxnLst/>
            <a:rect r="r" b="b" t="t" l="l"/>
            <a:pathLst>
              <a:path h="2307946" w="2307946">
                <a:moveTo>
                  <a:pt x="0" y="0"/>
                </a:moveTo>
                <a:lnTo>
                  <a:pt x="2307946" y="0"/>
                </a:lnTo>
                <a:lnTo>
                  <a:pt x="2307946" y="2307945"/>
                </a:lnTo>
                <a:lnTo>
                  <a:pt x="0" y="230794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AutoShape 11" id="11"/>
          <p:cNvSpPr/>
          <p:nvPr/>
        </p:nvSpPr>
        <p:spPr>
          <a:xfrm rot="5347920">
            <a:off x="5813155" y="5405818"/>
            <a:ext cx="2514762" cy="0"/>
          </a:xfrm>
          <a:prstGeom prst="line">
            <a:avLst/>
          </a:prstGeom>
          <a:ln cap="rnd" w="28575">
            <a:solidFill>
              <a:srgbClr val="ACFDDB"/>
            </a:solidFill>
            <a:prstDash val="solid"/>
            <a:headEnd type="none" len="sm" w="sm"/>
            <a:tailEnd type="oval" len="lg" w="lg"/>
          </a:ln>
        </p:spPr>
      </p:sp>
      <p:sp>
        <p:nvSpPr>
          <p:cNvPr name="Freeform 12" id="12"/>
          <p:cNvSpPr/>
          <p:nvPr/>
        </p:nvSpPr>
        <p:spPr>
          <a:xfrm flipH="false" flipV="false" rot="0">
            <a:off x="6705114" y="3480787"/>
            <a:ext cx="730853" cy="730853"/>
          </a:xfrm>
          <a:custGeom>
            <a:avLst/>
            <a:gdLst/>
            <a:ahLst/>
            <a:cxnLst/>
            <a:rect r="r" b="b" t="t" l="l"/>
            <a:pathLst>
              <a:path h="730853" w="730853">
                <a:moveTo>
                  <a:pt x="0" y="0"/>
                </a:moveTo>
                <a:lnTo>
                  <a:pt x="730853" y="0"/>
                </a:lnTo>
                <a:lnTo>
                  <a:pt x="730853" y="730854"/>
                </a:lnTo>
                <a:lnTo>
                  <a:pt x="0" y="7308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0151002" y="3846224"/>
            <a:ext cx="2307946" cy="2307946"/>
          </a:xfrm>
          <a:custGeom>
            <a:avLst/>
            <a:gdLst/>
            <a:ahLst/>
            <a:cxnLst/>
            <a:rect r="r" b="b" t="t" l="l"/>
            <a:pathLst>
              <a:path h="2307946" w="2307946">
                <a:moveTo>
                  <a:pt x="0" y="0"/>
                </a:moveTo>
                <a:lnTo>
                  <a:pt x="2307946" y="0"/>
                </a:lnTo>
                <a:lnTo>
                  <a:pt x="2307946" y="2307945"/>
                </a:lnTo>
                <a:lnTo>
                  <a:pt x="0" y="2307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4" id="14"/>
          <p:cNvSpPr/>
          <p:nvPr/>
        </p:nvSpPr>
        <p:spPr>
          <a:xfrm rot="5347920">
            <a:off x="10047599" y="5405818"/>
            <a:ext cx="2514762" cy="0"/>
          </a:xfrm>
          <a:prstGeom prst="line">
            <a:avLst/>
          </a:prstGeom>
          <a:ln cap="rnd" w="28575">
            <a:solidFill>
              <a:srgbClr val="B084CC"/>
            </a:solidFill>
            <a:prstDash val="solid"/>
            <a:headEnd type="none" len="sm" w="sm"/>
            <a:tailEnd type="oval" len="lg" w="lg"/>
          </a:ln>
        </p:spPr>
      </p:sp>
      <p:sp>
        <p:nvSpPr>
          <p:cNvPr name="Freeform 15" id="15"/>
          <p:cNvSpPr/>
          <p:nvPr/>
        </p:nvSpPr>
        <p:spPr>
          <a:xfrm flipH="false" flipV="false" rot="0">
            <a:off x="10939548" y="3480787"/>
            <a:ext cx="730853" cy="730853"/>
          </a:xfrm>
          <a:custGeom>
            <a:avLst/>
            <a:gdLst/>
            <a:ahLst/>
            <a:cxnLst/>
            <a:rect r="r" b="b" t="t" l="l"/>
            <a:pathLst>
              <a:path h="730853" w="730853">
                <a:moveTo>
                  <a:pt x="0" y="0"/>
                </a:moveTo>
                <a:lnTo>
                  <a:pt x="730853" y="0"/>
                </a:lnTo>
                <a:lnTo>
                  <a:pt x="730853" y="730854"/>
                </a:lnTo>
                <a:lnTo>
                  <a:pt x="0" y="7308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6" id="16"/>
          <p:cNvSpPr/>
          <p:nvPr/>
        </p:nvSpPr>
        <p:spPr>
          <a:xfrm rot="5394240">
            <a:off x="2221211" y="6307084"/>
            <a:ext cx="5669470" cy="0"/>
          </a:xfrm>
          <a:prstGeom prst="line">
            <a:avLst/>
          </a:prstGeom>
          <a:ln cap="rnd" w="9525">
            <a:solidFill>
              <a:srgbClr val="FFFFFF"/>
            </a:solidFill>
            <a:prstDash val="solid"/>
            <a:headEnd type="none" len="sm" w="sm"/>
            <a:tailEnd type="none" len="sm" w="sm"/>
          </a:ln>
        </p:spPr>
      </p:sp>
      <p:sp>
        <p:nvSpPr>
          <p:cNvPr name="AutoShape 17" id="17"/>
          <p:cNvSpPr/>
          <p:nvPr/>
        </p:nvSpPr>
        <p:spPr>
          <a:xfrm rot="5394240">
            <a:off x="6309265" y="6307084"/>
            <a:ext cx="5669470" cy="0"/>
          </a:xfrm>
          <a:prstGeom prst="line">
            <a:avLst/>
          </a:prstGeom>
          <a:ln cap="rnd" w="9525">
            <a:solidFill>
              <a:srgbClr val="FFFFFF"/>
            </a:solidFill>
            <a:prstDash val="solid"/>
            <a:headEnd type="none" len="sm" w="sm"/>
            <a:tailEnd type="none" len="sm" w="sm"/>
          </a:ln>
        </p:spPr>
      </p:sp>
      <p:sp>
        <p:nvSpPr>
          <p:cNvPr name="AutoShape 18" id="18"/>
          <p:cNvSpPr/>
          <p:nvPr/>
        </p:nvSpPr>
        <p:spPr>
          <a:xfrm rot="5394240">
            <a:off x="10554481" y="6307084"/>
            <a:ext cx="5669470" cy="0"/>
          </a:xfrm>
          <a:prstGeom prst="line">
            <a:avLst/>
          </a:prstGeom>
          <a:ln cap="rnd" w="9525">
            <a:solidFill>
              <a:srgbClr val="FFFFFF"/>
            </a:solidFill>
            <a:prstDash val="solid"/>
            <a:headEnd type="none" len="sm" w="sm"/>
            <a:tailEnd type="none" len="sm" w="sm"/>
          </a:ln>
        </p:spPr>
      </p:sp>
      <p:grpSp>
        <p:nvGrpSpPr>
          <p:cNvPr name="Group 19" id="19"/>
          <p:cNvGrpSpPr/>
          <p:nvPr/>
        </p:nvGrpSpPr>
        <p:grpSpPr>
          <a:xfrm rot="0">
            <a:off x="2216429" y="4297366"/>
            <a:ext cx="1361342" cy="1361342"/>
            <a:chOff x="0" y="0"/>
            <a:chExt cx="1815122" cy="1815122"/>
          </a:xfrm>
        </p:grpSpPr>
        <p:sp>
          <p:nvSpPr>
            <p:cNvPr name="Freeform 20" id="20"/>
            <p:cNvSpPr/>
            <p:nvPr/>
          </p:nvSpPr>
          <p:spPr>
            <a:xfrm flipH="false" flipV="false" rot="0">
              <a:off x="0" y="0"/>
              <a:ext cx="1815084" cy="1815084"/>
            </a:xfrm>
            <a:custGeom>
              <a:avLst/>
              <a:gdLst/>
              <a:ahLst/>
              <a:cxnLst/>
              <a:rect r="r" b="b" t="t" l="l"/>
              <a:pathLst>
                <a:path h="1815084" w="1815084">
                  <a:moveTo>
                    <a:pt x="0" y="0"/>
                  </a:moveTo>
                  <a:lnTo>
                    <a:pt x="1815084" y="0"/>
                  </a:lnTo>
                  <a:lnTo>
                    <a:pt x="1815084" y="1815084"/>
                  </a:lnTo>
                  <a:lnTo>
                    <a:pt x="0" y="1815084"/>
                  </a:lnTo>
                  <a:lnTo>
                    <a:pt x="0" y="0"/>
                  </a:lnTo>
                  <a:close/>
                </a:path>
              </a:pathLst>
            </a:custGeom>
            <a:blipFill>
              <a:blip r:embed="rId12"/>
              <a:stretch>
                <a:fillRect l="0" t="0" r="-2" b="-2"/>
              </a:stretch>
            </a:blipFill>
          </p:spPr>
        </p:sp>
      </p:grpSp>
      <p:sp>
        <p:nvSpPr>
          <p:cNvPr name="TextBox 21" id="21"/>
          <p:cNvSpPr txBox="true"/>
          <p:nvPr/>
        </p:nvSpPr>
        <p:spPr>
          <a:xfrm rot="0">
            <a:off x="1028700" y="947099"/>
            <a:ext cx="16230600" cy="908047"/>
          </a:xfrm>
          <a:prstGeom prst="rect">
            <a:avLst/>
          </a:prstGeom>
        </p:spPr>
        <p:txBody>
          <a:bodyPr anchor="t" rtlCol="false" tIns="0" lIns="0" bIns="0" rIns="0">
            <a:spAutoFit/>
          </a:bodyPr>
          <a:lstStyle/>
          <a:p>
            <a:pPr algn="ctr">
              <a:lnSpc>
                <a:spcPts val="7259"/>
              </a:lnSpc>
            </a:pPr>
            <a:r>
              <a:rPr lang="en-US" sz="4999">
                <a:solidFill>
                  <a:srgbClr val="FFFFFF"/>
                </a:solidFill>
                <a:latin typeface="Arial"/>
                <a:ea typeface="Arial"/>
                <a:cs typeface="Arial"/>
                <a:sym typeface="Arial"/>
              </a:rPr>
              <a:t>APLICACIONES DE LA VIRTUALIZACIÓN </a:t>
            </a:r>
          </a:p>
        </p:txBody>
      </p:sp>
      <p:sp>
        <p:nvSpPr>
          <p:cNvPr name="TextBox 22" id="22"/>
          <p:cNvSpPr txBox="true"/>
          <p:nvPr/>
        </p:nvSpPr>
        <p:spPr>
          <a:xfrm rot="0">
            <a:off x="1028700" y="2002041"/>
            <a:ext cx="16230600" cy="384172"/>
          </a:xfrm>
          <a:prstGeom prst="rect">
            <a:avLst/>
          </a:prstGeom>
        </p:spPr>
        <p:txBody>
          <a:bodyPr anchor="t" rtlCol="false" tIns="0" lIns="0" bIns="0" rIns="0">
            <a:spAutoFit/>
          </a:bodyPr>
          <a:lstStyle/>
          <a:p>
            <a:pPr algn="ctr">
              <a:lnSpc>
                <a:spcPts val="3120"/>
              </a:lnSpc>
            </a:pPr>
            <a:r>
              <a:rPr lang="en-US" sz="2000">
                <a:solidFill>
                  <a:srgbClr val="FFFFFF"/>
                </a:solidFill>
                <a:latin typeface="Montserrat"/>
                <a:ea typeface="Montserrat"/>
                <a:cs typeface="Montserrat"/>
                <a:sym typeface="Montserrat"/>
              </a:rPr>
              <a:t>La virtualización se utiliza en una variedad de contextos</a:t>
            </a:r>
          </a:p>
        </p:txBody>
      </p:sp>
      <p:sp>
        <p:nvSpPr>
          <p:cNvPr name="TextBox 23" id="23"/>
          <p:cNvSpPr txBox="true"/>
          <p:nvPr/>
        </p:nvSpPr>
        <p:spPr>
          <a:xfrm rot="0">
            <a:off x="15188317" y="3551149"/>
            <a:ext cx="580196" cy="466315"/>
          </a:xfrm>
          <a:prstGeom prst="rect">
            <a:avLst/>
          </a:prstGeom>
        </p:spPr>
        <p:txBody>
          <a:bodyPr anchor="t" rtlCol="false" tIns="0" lIns="0" bIns="0" rIns="0">
            <a:spAutoFit/>
          </a:bodyPr>
          <a:lstStyle/>
          <a:p>
            <a:pPr algn="ctr">
              <a:lnSpc>
                <a:spcPts val="3557"/>
              </a:lnSpc>
            </a:pPr>
            <a:r>
              <a:rPr lang="en-US" b="true" sz="2279">
                <a:solidFill>
                  <a:srgbClr val="482B66"/>
                </a:solidFill>
                <a:latin typeface="Arial Bold"/>
                <a:ea typeface="Arial Bold"/>
                <a:cs typeface="Arial Bold"/>
                <a:sym typeface="Arial Bold"/>
              </a:rPr>
              <a:t>04</a:t>
            </a:r>
          </a:p>
        </p:txBody>
      </p:sp>
      <p:sp>
        <p:nvSpPr>
          <p:cNvPr name="TextBox 24" id="24"/>
          <p:cNvSpPr txBox="true"/>
          <p:nvPr/>
        </p:nvSpPr>
        <p:spPr>
          <a:xfrm rot="0">
            <a:off x="13744251" y="6877374"/>
            <a:ext cx="3468338" cy="708269"/>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RECUPERACIÓN ANTE DESASTRES</a:t>
            </a:r>
          </a:p>
        </p:txBody>
      </p:sp>
      <p:sp>
        <p:nvSpPr>
          <p:cNvPr name="TextBox 25" id="25"/>
          <p:cNvSpPr txBox="true"/>
          <p:nvPr/>
        </p:nvSpPr>
        <p:spPr>
          <a:xfrm rot="0">
            <a:off x="1162926" y="7623743"/>
            <a:ext cx="3468338" cy="1988182"/>
          </a:xfrm>
          <a:prstGeom prst="rect">
            <a:avLst/>
          </a:prstGeom>
        </p:spPr>
        <p:txBody>
          <a:bodyPr anchor="t" rtlCol="false" tIns="0" lIns="0" bIns="0" rIns="0">
            <a:spAutoFit/>
          </a:bodyPr>
          <a:lstStyle/>
          <a:p>
            <a:pPr algn="ctr">
              <a:lnSpc>
                <a:spcPts val="2652"/>
              </a:lnSpc>
            </a:pPr>
            <a:r>
              <a:rPr lang="en-US" sz="1700">
                <a:solidFill>
                  <a:srgbClr val="FFFFFF"/>
                </a:solidFill>
                <a:latin typeface="Montserrat"/>
                <a:ea typeface="Montserrat"/>
                <a:cs typeface="Montserrat"/>
                <a:sym typeface="Montserrat"/>
              </a:rPr>
              <a:t>Las plataformas en la nube aprovechan la virtualización para ofrecer recursos bajo demanda, permitiendo a los usuarios acceder a sistemas y servicios sin necesidad de infraestructura física</a:t>
            </a:r>
          </a:p>
        </p:txBody>
      </p:sp>
      <p:sp>
        <p:nvSpPr>
          <p:cNvPr name="TextBox 26" id="26"/>
          <p:cNvSpPr txBox="true"/>
          <p:nvPr/>
        </p:nvSpPr>
        <p:spPr>
          <a:xfrm rot="0">
            <a:off x="1162926" y="6877374"/>
            <a:ext cx="3468338" cy="708269"/>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COMPUTACIÓN EN LA NUBE</a:t>
            </a:r>
          </a:p>
        </p:txBody>
      </p:sp>
      <p:sp>
        <p:nvSpPr>
          <p:cNvPr name="TextBox 27" id="27"/>
          <p:cNvSpPr txBox="true"/>
          <p:nvPr/>
        </p:nvSpPr>
        <p:spPr>
          <a:xfrm rot="0">
            <a:off x="2607002" y="3551149"/>
            <a:ext cx="580196" cy="466315"/>
          </a:xfrm>
          <a:prstGeom prst="rect">
            <a:avLst/>
          </a:prstGeom>
        </p:spPr>
        <p:txBody>
          <a:bodyPr anchor="t" rtlCol="false" tIns="0" lIns="0" bIns="0" rIns="0">
            <a:spAutoFit/>
          </a:bodyPr>
          <a:lstStyle/>
          <a:p>
            <a:pPr algn="ctr">
              <a:lnSpc>
                <a:spcPts val="3557"/>
              </a:lnSpc>
            </a:pPr>
            <a:r>
              <a:rPr lang="en-US" b="true" sz="2279">
                <a:solidFill>
                  <a:srgbClr val="24B296"/>
                </a:solidFill>
                <a:latin typeface="Arial Bold"/>
                <a:ea typeface="Arial Bold"/>
                <a:cs typeface="Arial Bold"/>
                <a:sym typeface="Arial Bold"/>
              </a:rPr>
              <a:t>01</a:t>
            </a:r>
          </a:p>
        </p:txBody>
      </p:sp>
      <p:sp>
        <p:nvSpPr>
          <p:cNvPr name="TextBox 28" id="28"/>
          <p:cNvSpPr txBox="true"/>
          <p:nvPr/>
        </p:nvSpPr>
        <p:spPr>
          <a:xfrm rot="0">
            <a:off x="5225596" y="6805936"/>
            <a:ext cx="3748764" cy="708269"/>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ENTORNOS DE PRUEBAS Y DESARROLLO</a:t>
            </a:r>
          </a:p>
        </p:txBody>
      </p:sp>
      <p:sp>
        <p:nvSpPr>
          <p:cNvPr name="TextBox 29" id="29"/>
          <p:cNvSpPr txBox="true"/>
          <p:nvPr/>
        </p:nvSpPr>
        <p:spPr>
          <a:xfrm rot="0">
            <a:off x="6780438" y="3551149"/>
            <a:ext cx="580196" cy="466315"/>
          </a:xfrm>
          <a:prstGeom prst="rect">
            <a:avLst/>
          </a:prstGeom>
        </p:spPr>
        <p:txBody>
          <a:bodyPr anchor="t" rtlCol="false" tIns="0" lIns="0" bIns="0" rIns="0">
            <a:spAutoFit/>
          </a:bodyPr>
          <a:lstStyle/>
          <a:p>
            <a:pPr algn="ctr">
              <a:lnSpc>
                <a:spcPts val="3557"/>
              </a:lnSpc>
            </a:pPr>
            <a:r>
              <a:rPr lang="en-US" b="true" sz="2279">
                <a:solidFill>
                  <a:srgbClr val="67D3CD"/>
                </a:solidFill>
                <a:latin typeface="Arial Bold"/>
                <a:ea typeface="Arial Bold"/>
                <a:cs typeface="Arial Bold"/>
                <a:sym typeface="Arial Bold"/>
              </a:rPr>
              <a:t>02</a:t>
            </a:r>
          </a:p>
        </p:txBody>
      </p:sp>
      <p:sp>
        <p:nvSpPr>
          <p:cNvPr name="TextBox 30" id="30"/>
          <p:cNvSpPr txBox="true"/>
          <p:nvPr/>
        </p:nvSpPr>
        <p:spPr>
          <a:xfrm rot="0">
            <a:off x="9570806" y="6877374"/>
            <a:ext cx="3468338" cy="708269"/>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CONSOLIDACIÓN DE SERVIDORES</a:t>
            </a:r>
          </a:p>
        </p:txBody>
      </p:sp>
      <p:sp>
        <p:nvSpPr>
          <p:cNvPr name="TextBox 31" id="31"/>
          <p:cNvSpPr txBox="true"/>
          <p:nvPr/>
        </p:nvSpPr>
        <p:spPr>
          <a:xfrm rot="0">
            <a:off x="11014881" y="3551149"/>
            <a:ext cx="580196" cy="466354"/>
          </a:xfrm>
          <a:prstGeom prst="rect">
            <a:avLst/>
          </a:prstGeom>
        </p:spPr>
        <p:txBody>
          <a:bodyPr anchor="t" rtlCol="false" tIns="0" lIns="0" bIns="0" rIns="0">
            <a:spAutoFit/>
          </a:bodyPr>
          <a:lstStyle/>
          <a:p>
            <a:pPr algn="ctr">
              <a:lnSpc>
                <a:spcPts val="3557"/>
              </a:lnSpc>
            </a:pPr>
            <a:r>
              <a:rPr lang="en-US" b="true" sz="2279">
                <a:solidFill>
                  <a:srgbClr val="675688"/>
                </a:solidFill>
                <a:latin typeface="Arial Bold"/>
                <a:ea typeface="Arial Bold"/>
                <a:cs typeface="Arial Bold"/>
                <a:sym typeface="Arial Bold"/>
              </a:rPr>
              <a:t>03</a:t>
            </a:r>
          </a:p>
        </p:txBody>
      </p:sp>
      <p:sp>
        <p:nvSpPr>
          <p:cNvPr name="TextBox 32" id="32"/>
          <p:cNvSpPr txBox="true"/>
          <p:nvPr/>
        </p:nvSpPr>
        <p:spPr>
          <a:xfrm rot="0">
            <a:off x="5336372" y="7671368"/>
            <a:ext cx="3468338" cy="1711957"/>
          </a:xfrm>
          <a:prstGeom prst="rect">
            <a:avLst/>
          </a:prstGeom>
        </p:spPr>
        <p:txBody>
          <a:bodyPr anchor="t" rtlCol="false" tIns="0" lIns="0" bIns="0" rIns="0">
            <a:spAutoFit/>
          </a:bodyPr>
          <a:lstStyle/>
          <a:p>
            <a:pPr algn="ctr">
              <a:lnSpc>
                <a:spcPts val="2652"/>
              </a:lnSpc>
            </a:pPr>
            <a:r>
              <a:rPr lang="en-US" sz="1700">
                <a:solidFill>
                  <a:srgbClr val="FFFFFF"/>
                </a:solidFill>
                <a:latin typeface="Montserrat"/>
                <a:ea typeface="Montserrat"/>
                <a:cs typeface="Montserrat"/>
                <a:sym typeface="Montserrat"/>
              </a:rPr>
              <a:t>Permite crear entornos de pruebas aislados y replicables, donde los desarrolladores pueden experimentar sin afectar los sistemas de producción.</a:t>
            </a:r>
          </a:p>
        </p:txBody>
      </p:sp>
      <p:sp>
        <p:nvSpPr>
          <p:cNvPr name="TextBox 33" id="33"/>
          <p:cNvSpPr txBox="true"/>
          <p:nvPr/>
        </p:nvSpPr>
        <p:spPr>
          <a:xfrm rot="0">
            <a:off x="9570806" y="7652318"/>
            <a:ext cx="3468338" cy="1711957"/>
          </a:xfrm>
          <a:prstGeom prst="rect">
            <a:avLst/>
          </a:prstGeom>
        </p:spPr>
        <p:txBody>
          <a:bodyPr anchor="t" rtlCol="false" tIns="0" lIns="0" bIns="0" rIns="0">
            <a:spAutoFit/>
          </a:bodyPr>
          <a:lstStyle/>
          <a:p>
            <a:pPr algn="ctr">
              <a:lnSpc>
                <a:spcPts val="2652"/>
              </a:lnSpc>
            </a:pPr>
            <a:r>
              <a:rPr lang="en-US" sz="1700">
                <a:solidFill>
                  <a:srgbClr val="FFFFFF"/>
                </a:solidFill>
                <a:latin typeface="Montserrat"/>
                <a:ea typeface="Montserrat"/>
                <a:cs typeface="Montserrat"/>
                <a:sym typeface="Montserrat"/>
              </a:rPr>
              <a:t>Agrupar varios servidores en una sola máquina física reduce la cantidad de hardware necesario, simplificando la gestión y disminuyendo los costos.</a:t>
            </a:r>
          </a:p>
        </p:txBody>
      </p:sp>
      <p:sp>
        <p:nvSpPr>
          <p:cNvPr name="TextBox 34" id="34"/>
          <p:cNvSpPr txBox="true"/>
          <p:nvPr/>
        </p:nvSpPr>
        <p:spPr>
          <a:xfrm rot="0">
            <a:off x="13744251" y="7652318"/>
            <a:ext cx="3468338" cy="1711957"/>
          </a:xfrm>
          <a:prstGeom prst="rect">
            <a:avLst/>
          </a:prstGeom>
        </p:spPr>
        <p:txBody>
          <a:bodyPr anchor="t" rtlCol="false" tIns="0" lIns="0" bIns="0" rIns="0">
            <a:spAutoFit/>
          </a:bodyPr>
          <a:lstStyle/>
          <a:p>
            <a:pPr algn="ctr">
              <a:lnSpc>
                <a:spcPts val="2652"/>
              </a:lnSpc>
            </a:pPr>
            <a:r>
              <a:rPr lang="en-US" sz="1700">
                <a:solidFill>
                  <a:srgbClr val="FFFFFF"/>
                </a:solidFill>
                <a:latin typeface="Montserrat"/>
                <a:ea typeface="Montserrat"/>
                <a:cs typeface="Montserrat"/>
                <a:sym typeface="Montserrat"/>
              </a:rPr>
              <a:t>Los entornos virtuales se pueden respaldar y restaurar fácilmente en caso de fallas, proporcionando una capa adicional de seguridad en la continuidad del negocio.</a:t>
            </a:r>
          </a:p>
        </p:txBody>
      </p:sp>
      <p:grpSp>
        <p:nvGrpSpPr>
          <p:cNvPr name="Group 35" id="35"/>
          <p:cNvGrpSpPr/>
          <p:nvPr/>
        </p:nvGrpSpPr>
        <p:grpSpPr>
          <a:xfrm rot="0">
            <a:off x="6305941" y="4184028"/>
            <a:ext cx="1588084" cy="1588065"/>
            <a:chOff x="0" y="0"/>
            <a:chExt cx="2117446" cy="2117420"/>
          </a:xfrm>
        </p:grpSpPr>
        <p:sp>
          <p:nvSpPr>
            <p:cNvPr name="Freeform 36" id="36"/>
            <p:cNvSpPr/>
            <p:nvPr/>
          </p:nvSpPr>
          <p:spPr>
            <a:xfrm flipH="false" flipV="false" rot="0">
              <a:off x="0" y="0"/>
              <a:ext cx="2117471" cy="2117471"/>
            </a:xfrm>
            <a:custGeom>
              <a:avLst/>
              <a:gdLst/>
              <a:ahLst/>
              <a:cxnLst/>
              <a:rect r="r" b="b" t="t" l="l"/>
              <a:pathLst>
                <a:path h="2117471" w="2117471">
                  <a:moveTo>
                    <a:pt x="0" y="0"/>
                  </a:moveTo>
                  <a:lnTo>
                    <a:pt x="2117471" y="0"/>
                  </a:lnTo>
                  <a:lnTo>
                    <a:pt x="2117471" y="2117471"/>
                  </a:lnTo>
                  <a:lnTo>
                    <a:pt x="0" y="2117471"/>
                  </a:lnTo>
                  <a:lnTo>
                    <a:pt x="0" y="0"/>
                  </a:lnTo>
                  <a:close/>
                </a:path>
              </a:pathLst>
            </a:custGeom>
            <a:blipFill>
              <a:blip r:embed="rId13"/>
              <a:stretch>
                <a:fillRect l="0" t="0" r="1" b="1"/>
              </a:stretch>
            </a:blipFill>
          </p:spPr>
        </p:sp>
      </p:grpSp>
      <p:grpSp>
        <p:nvGrpSpPr>
          <p:cNvPr name="Group 37" id="37"/>
          <p:cNvGrpSpPr/>
          <p:nvPr/>
        </p:nvGrpSpPr>
        <p:grpSpPr>
          <a:xfrm rot="0">
            <a:off x="10561015" y="4184009"/>
            <a:ext cx="1588075" cy="1588075"/>
            <a:chOff x="0" y="0"/>
            <a:chExt cx="2117433" cy="2117433"/>
          </a:xfrm>
        </p:grpSpPr>
        <p:sp>
          <p:nvSpPr>
            <p:cNvPr name="Freeform 38" id="38"/>
            <p:cNvSpPr/>
            <p:nvPr/>
          </p:nvSpPr>
          <p:spPr>
            <a:xfrm flipH="false" flipV="false" rot="0">
              <a:off x="0" y="0"/>
              <a:ext cx="2117471" cy="2117471"/>
            </a:xfrm>
            <a:custGeom>
              <a:avLst/>
              <a:gdLst/>
              <a:ahLst/>
              <a:cxnLst/>
              <a:rect r="r" b="b" t="t" l="l"/>
              <a:pathLst>
                <a:path h="2117471" w="2117471">
                  <a:moveTo>
                    <a:pt x="0" y="0"/>
                  </a:moveTo>
                  <a:lnTo>
                    <a:pt x="2117471" y="0"/>
                  </a:lnTo>
                  <a:lnTo>
                    <a:pt x="2117471" y="2117471"/>
                  </a:lnTo>
                  <a:lnTo>
                    <a:pt x="0" y="2117471"/>
                  </a:lnTo>
                  <a:lnTo>
                    <a:pt x="0" y="0"/>
                  </a:lnTo>
                  <a:close/>
                </a:path>
              </a:pathLst>
            </a:custGeom>
            <a:blipFill>
              <a:blip r:embed="rId14"/>
              <a:stretch>
                <a:fillRect l="0" t="0" r="1" b="1"/>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2769022"/>
            <a:ext cx="8267471" cy="5695121"/>
          </a:xfrm>
          <a:custGeom>
            <a:avLst/>
            <a:gdLst/>
            <a:ahLst/>
            <a:cxnLst/>
            <a:rect r="r" b="b" t="t" l="l"/>
            <a:pathLst>
              <a:path h="5695121" w="8267471">
                <a:moveTo>
                  <a:pt x="0" y="0"/>
                </a:moveTo>
                <a:lnTo>
                  <a:pt x="8267471" y="0"/>
                </a:lnTo>
                <a:lnTo>
                  <a:pt x="8267471" y="5695122"/>
                </a:lnTo>
                <a:lnTo>
                  <a:pt x="0" y="56951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9506960" y="3097092"/>
            <a:ext cx="7541562" cy="5118830"/>
            <a:chOff x="0" y="0"/>
            <a:chExt cx="10055416" cy="6825107"/>
          </a:xfrm>
        </p:grpSpPr>
        <p:sp>
          <p:nvSpPr>
            <p:cNvPr name="Freeform 4" id="4"/>
            <p:cNvSpPr/>
            <p:nvPr/>
          </p:nvSpPr>
          <p:spPr>
            <a:xfrm flipH="false" flipV="false" rot="0">
              <a:off x="0" y="0"/>
              <a:ext cx="10055352" cy="6825107"/>
            </a:xfrm>
            <a:custGeom>
              <a:avLst/>
              <a:gdLst/>
              <a:ahLst/>
              <a:cxnLst/>
              <a:rect r="r" b="b" t="t" l="l"/>
              <a:pathLst>
                <a:path h="6825107" w="10055352">
                  <a:moveTo>
                    <a:pt x="0" y="0"/>
                  </a:moveTo>
                  <a:lnTo>
                    <a:pt x="10055352" y="0"/>
                  </a:lnTo>
                  <a:lnTo>
                    <a:pt x="10055352" y="6825107"/>
                  </a:lnTo>
                  <a:lnTo>
                    <a:pt x="0" y="6825107"/>
                  </a:lnTo>
                  <a:lnTo>
                    <a:pt x="0" y="0"/>
                  </a:lnTo>
                  <a:close/>
                </a:path>
              </a:pathLst>
            </a:custGeom>
            <a:blipFill>
              <a:blip r:embed="rId5"/>
              <a:stretch>
                <a:fillRect l="0" t="-15" r="0" b="-15"/>
              </a:stretch>
            </a:blipFill>
          </p:spPr>
        </p:sp>
      </p:grpSp>
      <p:sp>
        <p:nvSpPr>
          <p:cNvPr name="TextBox 5" id="5"/>
          <p:cNvSpPr txBox="true"/>
          <p:nvPr/>
        </p:nvSpPr>
        <p:spPr>
          <a:xfrm rot="0">
            <a:off x="1006545" y="876300"/>
            <a:ext cx="8137455" cy="1670047"/>
          </a:xfrm>
          <a:prstGeom prst="rect">
            <a:avLst/>
          </a:prstGeom>
        </p:spPr>
        <p:txBody>
          <a:bodyPr anchor="t" rtlCol="false" tIns="0" lIns="0" bIns="0" rIns="0">
            <a:spAutoFit/>
          </a:bodyPr>
          <a:lstStyle/>
          <a:p>
            <a:pPr algn="l">
              <a:lnSpc>
                <a:spcPts val="7259"/>
              </a:lnSpc>
            </a:pPr>
            <a:r>
              <a:rPr lang="en-US" sz="4999">
                <a:solidFill>
                  <a:srgbClr val="FFFFFF"/>
                </a:solidFill>
                <a:latin typeface="Arial"/>
                <a:ea typeface="Arial"/>
                <a:cs typeface="Arial"/>
                <a:sym typeface="Arial"/>
              </a:rPr>
              <a:t>HIPERVISORES Y MÁQUINAS VIRTUALES</a:t>
            </a:r>
          </a:p>
        </p:txBody>
      </p:sp>
      <p:sp>
        <p:nvSpPr>
          <p:cNvPr name="TextBox 6" id="6"/>
          <p:cNvSpPr txBox="true"/>
          <p:nvPr/>
        </p:nvSpPr>
        <p:spPr>
          <a:xfrm rot="0">
            <a:off x="862193" y="3824992"/>
            <a:ext cx="7720994" cy="4978403"/>
          </a:xfrm>
          <a:prstGeom prst="rect">
            <a:avLst/>
          </a:prstGeom>
        </p:spPr>
        <p:txBody>
          <a:bodyPr anchor="t" rtlCol="false" tIns="0" lIns="0" bIns="0" rIns="0">
            <a:spAutoFit/>
          </a:bodyPr>
          <a:lstStyle/>
          <a:p>
            <a:pPr algn="just">
              <a:lnSpc>
                <a:spcPts val="3898"/>
              </a:lnSpc>
            </a:pPr>
            <a:r>
              <a:rPr lang="en-US" sz="2499">
                <a:solidFill>
                  <a:srgbClr val="FFFFFF"/>
                </a:solidFill>
                <a:latin typeface="Montserrat"/>
                <a:ea typeface="Montserrat"/>
                <a:cs typeface="Montserrat"/>
                <a:sym typeface="Montserrat"/>
              </a:rPr>
              <a:t>Un hipervisor es un software que permite la creación y administración de máquinas virtuales (VMs) en una computadora física. </a:t>
            </a:r>
            <a:r>
              <a:rPr lang="en-US" sz="2499">
                <a:solidFill>
                  <a:srgbClr val="ACFDDB"/>
                </a:solidFill>
                <a:latin typeface="Montserrat"/>
                <a:ea typeface="Montserrat"/>
                <a:cs typeface="Montserrat"/>
                <a:sym typeface="Montserrat"/>
              </a:rPr>
              <a:t>Actúa como un intermediario</a:t>
            </a:r>
            <a:r>
              <a:rPr lang="en-US" sz="2499">
                <a:solidFill>
                  <a:srgbClr val="FFFFFF"/>
                </a:solidFill>
                <a:latin typeface="Montserrat"/>
                <a:ea typeface="Montserrat"/>
                <a:cs typeface="Montserrat"/>
                <a:sym typeface="Montserrat"/>
              </a:rPr>
              <a:t> entre el hardware físico y las VMs, distribuyendo los recursos físicos (CPU, memoria, almacenamiento) entre las máquinas virtuales. Gracias a los hipervisores, varias VMs pueden funcionar de forma aislada en el mismo hardware, maximizando el uso de recursos y permitiendo la ejecución simultánea de distintos sistemas operativos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AutoShape 2" id="2"/>
          <p:cNvSpPr/>
          <p:nvPr/>
        </p:nvSpPr>
        <p:spPr>
          <a:xfrm rot="4260">
            <a:off x="1023938" y="5453082"/>
            <a:ext cx="7730519" cy="0"/>
          </a:xfrm>
          <a:prstGeom prst="line">
            <a:avLst/>
          </a:prstGeom>
          <a:ln cap="rnd" w="9525">
            <a:solidFill>
              <a:srgbClr val="FFFFFF"/>
            </a:solidFill>
            <a:prstDash val="solid"/>
            <a:headEnd type="none" len="sm" w="sm"/>
            <a:tailEnd type="none" len="sm" w="sm"/>
          </a:ln>
        </p:spPr>
      </p:sp>
      <p:sp>
        <p:nvSpPr>
          <p:cNvPr name="AutoShape 3" id="3"/>
          <p:cNvSpPr/>
          <p:nvPr/>
        </p:nvSpPr>
        <p:spPr>
          <a:xfrm rot="4260">
            <a:off x="1023938" y="7853029"/>
            <a:ext cx="7730519"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9593456" y="2354751"/>
            <a:ext cx="7665844" cy="5326828"/>
            <a:chOff x="0" y="0"/>
            <a:chExt cx="10221125" cy="7102437"/>
          </a:xfrm>
        </p:grpSpPr>
        <p:sp>
          <p:nvSpPr>
            <p:cNvPr name="Freeform 5" id="5"/>
            <p:cNvSpPr/>
            <p:nvPr/>
          </p:nvSpPr>
          <p:spPr>
            <a:xfrm flipH="false" flipV="false" rot="0">
              <a:off x="0" y="0"/>
              <a:ext cx="10221087" cy="7102475"/>
            </a:xfrm>
            <a:custGeom>
              <a:avLst/>
              <a:gdLst/>
              <a:ahLst/>
              <a:cxnLst/>
              <a:rect r="r" b="b" t="t" l="l"/>
              <a:pathLst>
                <a:path h="7102475" w="10221087">
                  <a:moveTo>
                    <a:pt x="0" y="0"/>
                  </a:moveTo>
                  <a:lnTo>
                    <a:pt x="10221087" y="0"/>
                  </a:lnTo>
                  <a:lnTo>
                    <a:pt x="10221087" y="7102475"/>
                  </a:lnTo>
                  <a:lnTo>
                    <a:pt x="0" y="7102475"/>
                  </a:lnTo>
                  <a:lnTo>
                    <a:pt x="0" y="0"/>
                  </a:lnTo>
                  <a:close/>
                </a:path>
              </a:pathLst>
            </a:custGeom>
            <a:blipFill>
              <a:blip r:embed="rId3"/>
              <a:stretch>
                <a:fillRect l="-3452" t="0" r="-3452" b="0"/>
              </a:stretch>
            </a:blipFill>
          </p:spPr>
        </p:sp>
      </p:grpSp>
      <p:sp>
        <p:nvSpPr>
          <p:cNvPr name="TextBox 6" id="6"/>
          <p:cNvSpPr txBox="true"/>
          <p:nvPr/>
        </p:nvSpPr>
        <p:spPr>
          <a:xfrm rot="0">
            <a:off x="1028700" y="1328099"/>
            <a:ext cx="8115300" cy="908047"/>
          </a:xfrm>
          <a:prstGeom prst="rect">
            <a:avLst/>
          </a:prstGeom>
        </p:spPr>
        <p:txBody>
          <a:bodyPr anchor="t" rtlCol="false" tIns="0" lIns="0" bIns="0" rIns="0">
            <a:spAutoFit/>
          </a:bodyPr>
          <a:lstStyle/>
          <a:p>
            <a:pPr algn="l">
              <a:lnSpc>
                <a:spcPts val="7259"/>
              </a:lnSpc>
            </a:pPr>
            <a:r>
              <a:rPr lang="en-US" sz="4999">
                <a:solidFill>
                  <a:srgbClr val="FFFFFF"/>
                </a:solidFill>
                <a:latin typeface="Arial"/>
                <a:ea typeface="Arial"/>
                <a:cs typeface="Arial"/>
                <a:sym typeface="Arial"/>
              </a:rPr>
              <a:t>TIPOS DE HIPERVISOR</a:t>
            </a:r>
          </a:p>
        </p:txBody>
      </p:sp>
      <p:sp>
        <p:nvSpPr>
          <p:cNvPr name="TextBox 7" id="7"/>
          <p:cNvSpPr txBox="true"/>
          <p:nvPr/>
        </p:nvSpPr>
        <p:spPr>
          <a:xfrm rot="0">
            <a:off x="1028700" y="3294764"/>
            <a:ext cx="7720994" cy="1988182"/>
          </a:xfrm>
          <a:prstGeom prst="rect">
            <a:avLst/>
          </a:prstGeom>
        </p:spPr>
        <p:txBody>
          <a:bodyPr anchor="t" rtlCol="false" tIns="0" lIns="0" bIns="0" rIns="0">
            <a:spAutoFit/>
          </a:bodyPr>
          <a:lstStyle/>
          <a:p>
            <a:pPr algn="l">
              <a:lnSpc>
                <a:spcPts val="2652"/>
              </a:lnSpc>
            </a:pPr>
            <a:r>
              <a:rPr lang="en-US" sz="1700">
                <a:solidFill>
                  <a:srgbClr val="FFFFFF"/>
                </a:solidFill>
                <a:latin typeface="Montserrat"/>
                <a:ea typeface="Montserrat"/>
                <a:cs typeface="Montserrat"/>
                <a:sym typeface="Montserrat"/>
              </a:rPr>
              <a:t>Este tipo de hipervisor se ejecuta directamente sobre el </a:t>
            </a:r>
            <a:r>
              <a:rPr lang="en-US" sz="1700">
                <a:solidFill>
                  <a:srgbClr val="ACFDDB"/>
                </a:solidFill>
                <a:latin typeface="Montserrat"/>
                <a:ea typeface="Montserrat"/>
                <a:cs typeface="Montserrat"/>
                <a:sym typeface="Montserrat"/>
              </a:rPr>
              <a:t>hardware físico</a:t>
            </a:r>
            <a:r>
              <a:rPr lang="en-US" sz="1700">
                <a:solidFill>
                  <a:srgbClr val="FFFFFF"/>
                </a:solidFill>
                <a:latin typeface="Montserrat"/>
                <a:ea typeface="Montserrat"/>
                <a:cs typeface="Montserrat"/>
                <a:sym typeface="Montserrat"/>
              </a:rPr>
              <a:t>, sin necesidad de un sistema operativo subyacente. Ofrece un rendimiento cercano al del hardware real, ya que interactúa directamente con los recursos de la máquina física. Es ideal para centros de datos y entornos empresariales de alta disponibilidad. Ejemplos comunes incluyen </a:t>
            </a:r>
            <a:r>
              <a:rPr lang="en-US" b="true" sz="1700">
                <a:solidFill>
                  <a:srgbClr val="FFFFFF"/>
                </a:solidFill>
                <a:latin typeface="Montserrat Bold"/>
                <a:ea typeface="Montserrat Bold"/>
                <a:cs typeface="Montserrat Bold"/>
                <a:sym typeface="Montserrat Bold"/>
              </a:rPr>
              <a:t>VMware ESXi</a:t>
            </a:r>
            <a:r>
              <a:rPr lang="en-US" sz="1700">
                <a:solidFill>
                  <a:srgbClr val="FFFFFF"/>
                </a:solidFill>
                <a:latin typeface="Montserrat"/>
                <a:ea typeface="Montserrat"/>
                <a:cs typeface="Montserrat"/>
                <a:sym typeface="Montserrat"/>
              </a:rPr>
              <a:t> y </a:t>
            </a:r>
            <a:r>
              <a:rPr lang="en-US" b="true" sz="1700">
                <a:solidFill>
                  <a:srgbClr val="FFFFFF"/>
                </a:solidFill>
                <a:latin typeface="Montserrat Bold"/>
                <a:ea typeface="Montserrat Bold"/>
                <a:cs typeface="Montserrat Bold"/>
                <a:sym typeface="Montserrat Bold"/>
              </a:rPr>
              <a:t>Microsoft Hyper-V</a:t>
            </a:r>
            <a:r>
              <a:rPr lang="en-US" sz="1700">
                <a:solidFill>
                  <a:srgbClr val="FFFFFF"/>
                </a:solidFill>
                <a:latin typeface="Montserrat"/>
                <a:ea typeface="Montserrat"/>
                <a:cs typeface="Montserrat"/>
                <a:sym typeface="Montserrat"/>
              </a:rPr>
              <a:t>.</a:t>
            </a:r>
          </a:p>
        </p:txBody>
      </p:sp>
      <p:sp>
        <p:nvSpPr>
          <p:cNvPr name="TextBox 8" id="8"/>
          <p:cNvSpPr txBox="true"/>
          <p:nvPr/>
        </p:nvSpPr>
        <p:spPr>
          <a:xfrm rot="0">
            <a:off x="1028700" y="2816428"/>
            <a:ext cx="7720994" cy="384419"/>
          </a:xfrm>
          <a:prstGeom prst="rect">
            <a:avLst/>
          </a:prstGeom>
        </p:spPr>
        <p:txBody>
          <a:bodyPr anchor="t" rtlCol="false" tIns="0" lIns="0" bIns="0" rIns="0">
            <a:spAutoFit/>
          </a:bodyPr>
          <a:lstStyle/>
          <a:p>
            <a:pPr algn="l">
              <a:lnSpc>
                <a:spcPts val="3089"/>
              </a:lnSpc>
            </a:pPr>
            <a:r>
              <a:rPr lang="en-US" b="true" sz="1979">
                <a:solidFill>
                  <a:srgbClr val="FFFFFF"/>
                </a:solidFill>
                <a:latin typeface="Montserrat Bold"/>
                <a:ea typeface="Montserrat Bold"/>
                <a:cs typeface="Montserrat Bold"/>
                <a:sym typeface="Montserrat Bold"/>
              </a:rPr>
              <a:t>HIPERVISOR DE TIPO 1 (BARE-METAL):</a:t>
            </a:r>
          </a:p>
        </p:txBody>
      </p:sp>
      <p:sp>
        <p:nvSpPr>
          <p:cNvPr name="TextBox 9" id="9"/>
          <p:cNvSpPr txBox="true"/>
          <p:nvPr/>
        </p:nvSpPr>
        <p:spPr>
          <a:xfrm rot="0">
            <a:off x="1028700" y="5548332"/>
            <a:ext cx="7720994" cy="384419"/>
          </a:xfrm>
          <a:prstGeom prst="rect">
            <a:avLst/>
          </a:prstGeom>
        </p:spPr>
        <p:txBody>
          <a:bodyPr anchor="t" rtlCol="false" tIns="0" lIns="0" bIns="0" rIns="0">
            <a:spAutoFit/>
          </a:bodyPr>
          <a:lstStyle/>
          <a:p>
            <a:pPr algn="l">
              <a:lnSpc>
                <a:spcPts val="3089"/>
              </a:lnSpc>
            </a:pPr>
            <a:r>
              <a:rPr lang="en-US" b="true" sz="1979">
                <a:solidFill>
                  <a:srgbClr val="FFFFFF"/>
                </a:solidFill>
                <a:latin typeface="Montserrat Bold"/>
                <a:ea typeface="Montserrat Bold"/>
                <a:cs typeface="Montserrat Bold"/>
                <a:sym typeface="Montserrat Bold"/>
              </a:rPr>
              <a:t>HIPERVISOR DE TIPO 2 (HOSTED):</a:t>
            </a:r>
          </a:p>
        </p:txBody>
      </p:sp>
      <p:sp>
        <p:nvSpPr>
          <p:cNvPr name="TextBox 10" id="10"/>
          <p:cNvSpPr txBox="true"/>
          <p:nvPr/>
        </p:nvSpPr>
        <p:spPr>
          <a:xfrm rot="0">
            <a:off x="1028700" y="5969613"/>
            <a:ext cx="7720994" cy="1711957"/>
          </a:xfrm>
          <a:prstGeom prst="rect">
            <a:avLst/>
          </a:prstGeom>
        </p:spPr>
        <p:txBody>
          <a:bodyPr anchor="t" rtlCol="false" tIns="0" lIns="0" bIns="0" rIns="0">
            <a:spAutoFit/>
          </a:bodyPr>
          <a:lstStyle/>
          <a:p>
            <a:pPr algn="l">
              <a:lnSpc>
                <a:spcPts val="2652"/>
              </a:lnSpc>
            </a:pPr>
            <a:r>
              <a:rPr lang="en-US" sz="1700">
                <a:solidFill>
                  <a:srgbClr val="FFFFFF"/>
                </a:solidFill>
                <a:latin typeface="Montserrat"/>
                <a:ea typeface="Montserrat"/>
                <a:cs typeface="Montserrat"/>
                <a:sym typeface="Montserrat"/>
              </a:rPr>
              <a:t>se instala sobre un sistema operativo anfitrión, como si fuera una aplicación más. Debido a esta capa adicional, suele tener un rendimiento ligeramente inferior en comparación con el tipo 1, pero es más fácil de configurar y usar, lo que lo hace ideal para usuarios domésticos o </a:t>
            </a:r>
            <a:r>
              <a:rPr lang="en-US" sz="1700">
                <a:solidFill>
                  <a:srgbClr val="ACFDDB"/>
                </a:solidFill>
                <a:latin typeface="Montserrat"/>
                <a:ea typeface="Montserrat"/>
                <a:cs typeface="Montserrat"/>
                <a:sym typeface="Montserrat"/>
              </a:rPr>
              <a:t>entornos de desarrollo</a:t>
            </a:r>
            <a:r>
              <a:rPr lang="en-US" sz="1700">
                <a:solidFill>
                  <a:srgbClr val="FFFFFF"/>
                </a:solidFill>
                <a:latin typeface="Montserrat"/>
                <a:ea typeface="Montserrat"/>
                <a:cs typeface="Montserrat"/>
                <a:sym typeface="Montserrat"/>
              </a:rPr>
              <a:t>. Ejemplos incluyen </a:t>
            </a:r>
            <a:r>
              <a:rPr lang="en-US" b="true" sz="1700">
                <a:solidFill>
                  <a:srgbClr val="FFFFFF"/>
                </a:solidFill>
                <a:latin typeface="Montserrat Bold"/>
                <a:ea typeface="Montserrat Bold"/>
                <a:cs typeface="Montserrat Bold"/>
                <a:sym typeface="Montserrat Bold"/>
              </a:rPr>
              <a:t>VMware Workstation</a:t>
            </a:r>
            <a:r>
              <a:rPr lang="en-US" sz="1700">
                <a:solidFill>
                  <a:srgbClr val="FFFFFF"/>
                </a:solidFill>
                <a:latin typeface="Montserrat"/>
                <a:ea typeface="Montserrat"/>
                <a:cs typeface="Montserrat"/>
                <a:sym typeface="Montserrat"/>
              </a:rPr>
              <a:t> y </a:t>
            </a:r>
            <a:r>
              <a:rPr lang="en-US" b="true" sz="1700">
                <a:solidFill>
                  <a:srgbClr val="FFFFFF"/>
                </a:solidFill>
                <a:latin typeface="Montserrat Bold"/>
                <a:ea typeface="Montserrat Bold"/>
                <a:cs typeface="Montserrat Bold"/>
                <a:sym typeface="Montserrat Bold"/>
              </a:rPr>
              <a:t>VirtualBox</a:t>
            </a:r>
            <a:r>
              <a:rPr lang="en-US" sz="1700">
                <a:solidFill>
                  <a:srgbClr val="FFFFFF"/>
                </a:solidFill>
                <a:latin typeface="Montserrat"/>
                <a:ea typeface="Montserrat"/>
                <a:cs typeface="Montserrat"/>
                <a:sym typeface="Montserrat"/>
              </a:rPr>
              <a: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992534" y="3062840"/>
            <a:ext cx="7463276" cy="2420283"/>
          </a:xfrm>
          <a:custGeom>
            <a:avLst/>
            <a:gdLst/>
            <a:ahLst/>
            <a:cxnLst/>
            <a:rect r="r" b="b" t="t" l="l"/>
            <a:pathLst>
              <a:path h="2420283" w="7463276">
                <a:moveTo>
                  <a:pt x="0" y="0"/>
                </a:moveTo>
                <a:lnTo>
                  <a:pt x="7463275" y="0"/>
                </a:lnTo>
                <a:lnTo>
                  <a:pt x="7463275" y="2420283"/>
                </a:lnTo>
                <a:lnTo>
                  <a:pt x="0" y="2420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992534" y="5850398"/>
            <a:ext cx="7463276" cy="2420283"/>
          </a:xfrm>
          <a:custGeom>
            <a:avLst/>
            <a:gdLst/>
            <a:ahLst/>
            <a:cxnLst/>
            <a:rect r="r" b="b" t="t" l="l"/>
            <a:pathLst>
              <a:path h="2420283" w="7463276">
                <a:moveTo>
                  <a:pt x="0" y="0"/>
                </a:moveTo>
                <a:lnTo>
                  <a:pt x="7463275" y="0"/>
                </a:lnTo>
                <a:lnTo>
                  <a:pt x="7463275" y="2420283"/>
                </a:lnTo>
                <a:lnTo>
                  <a:pt x="0" y="2420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832191" y="3062840"/>
            <a:ext cx="7463276" cy="2420283"/>
          </a:xfrm>
          <a:custGeom>
            <a:avLst/>
            <a:gdLst/>
            <a:ahLst/>
            <a:cxnLst/>
            <a:rect r="r" b="b" t="t" l="l"/>
            <a:pathLst>
              <a:path h="2420283" w="7463276">
                <a:moveTo>
                  <a:pt x="0" y="0"/>
                </a:moveTo>
                <a:lnTo>
                  <a:pt x="7463275" y="0"/>
                </a:lnTo>
                <a:lnTo>
                  <a:pt x="7463275" y="2420283"/>
                </a:lnTo>
                <a:lnTo>
                  <a:pt x="0" y="2420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832191" y="5850398"/>
            <a:ext cx="7463276" cy="2420283"/>
          </a:xfrm>
          <a:custGeom>
            <a:avLst/>
            <a:gdLst/>
            <a:ahLst/>
            <a:cxnLst/>
            <a:rect r="r" b="b" t="t" l="l"/>
            <a:pathLst>
              <a:path h="2420283" w="7463276">
                <a:moveTo>
                  <a:pt x="0" y="0"/>
                </a:moveTo>
                <a:lnTo>
                  <a:pt x="7463275" y="0"/>
                </a:lnTo>
                <a:lnTo>
                  <a:pt x="7463275" y="2420283"/>
                </a:lnTo>
                <a:lnTo>
                  <a:pt x="0" y="2420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028700" y="1448429"/>
            <a:ext cx="16230600" cy="908047"/>
          </a:xfrm>
          <a:prstGeom prst="rect">
            <a:avLst/>
          </a:prstGeom>
        </p:spPr>
        <p:txBody>
          <a:bodyPr anchor="t" rtlCol="false" tIns="0" lIns="0" bIns="0" rIns="0">
            <a:spAutoFit/>
          </a:bodyPr>
          <a:lstStyle/>
          <a:p>
            <a:pPr algn="ctr">
              <a:lnSpc>
                <a:spcPts val="7259"/>
              </a:lnSpc>
            </a:pPr>
            <a:r>
              <a:rPr lang="en-US" sz="4999">
                <a:solidFill>
                  <a:srgbClr val="FFFFFF"/>
                </a:solidFill>
                <a:latin typeface="Arial"/>
                <a:ea typeface="Arial"/>
                <a:cs typeface="Arial"/>
                <a:sym typeface="Arial"/>
              </a:rPr>
              <a:t>VENTAJAS DE USAR HIPERVISORES Y VMS</a:t>
            </a:r>
          </a:p>
        </p:txBody>
      </p:sp>
      <p:sp>
        <p:nvSpPr>
          <p:cNvPr name="TextBox 7" id="7"/>
          <p:cNvSpPr txBox="true"/>
          <p:nvPr/>
        </p:nvSpPr>
        <p:spPr>
          <a:xfrm rot="0">
            <a:off x="11625644" y="3570027"/>
            <a:ext cx="4390958" cy="444503"/>
          </a:xfrm>
          <a:prstGeom prst="rect">
            <a:avLst/>
          </a:prstGeom>
        </p:spPr>
        <p:txBody>
          <a:bodyPr anchor="t" rtlCol="false" tIns="0" lIns="0" bIns="0" rIns="0">
            <a:spAutoFit/>
          </a:bodyPr>
          <a:lstStyle/>
          <a:p>
            <a:pPr algn="l">
              <a:lnSpc>
                <a:spcPts val="3360"/>
              </a:lnSpc>
            </a:pPr>
            <a:r>
              <a:rPr lang="en-US" b="true" sz="2000">
                <a:solidFill>
                  <a:srgbClr val="FFFFFF"/>
                </a:solidFill>
                <a:latin typeface="Open Sans Bold"/>
                <a:ea typeface="Open Sans Bold"/>
                <a:cs typeface="Open Sans Bold"/>
                <a:sym typeface="Open Sans Bold"/>
              </a:rPr>
              <a:t>Eficiencia en el uso de recursos</a:t>
            </a:r>
          </a:p>
        </p:txBody>
      </p:sp>
      <p:sp>
        <p:nvSpPr>
          <p:cNvPr name="TextBox 8" id="8"/>
          <p:cNvSpPr txBox="true"/>
          <p:nvPr/>
        </p:nvSpPr>
        <p:spPr>
          <a:xfrm rot="0">
            <a:off x="11625644" y="4069937"/>
            <a:ext cx="4390939" cy="1123950"/>
          </a:xfrm>
          <a:prstGeom prst="rect">
            <a:avLst/>
          </a:prstGeom>
        </p:spPr>
        <p:txBody>
          <a:bodyPr anchor="t" rtlCol="false" tIns="0" lIns="0" bIns="0" rIns="0">
            <a:spAutoFit/>
          </a:bodyPr>
          <a:lstStyle/>
          <a:p>
            <a:pPr algn="l">
              <a:lnSpc>
                <a:spcPts val="2520"/>
              </a:lnSpc>
            </a:pPr>
            <a:r>
              <a:rPr lang="en-US" sz="1500">
                <a:solidFill>
                  <a:srgbClr val="FFFFFF"/>
                </a:solidFill>
                <a:latin typeface="Open Sans"/>
                <a:ea typeface="Open Sans"/>
                <a:cs typeface="Open Sans"/>
                <a:sym typeface="Open Sans"/>
              </a:rPr>
              <a:t>Permite maximizar el uso del hardware disponible, ya que múltiples VMs pueden compartir los recursos de un solo servidor físico sin necesidad de equipos adicionales.</a:t>
            </a:r>
          </a:p>
        </p:txBody>
      </p:sp>
      <p:sp>
        <p:nvSpPr>
          <p:cNvPr name="TextBox 9" id="9"/>
          <p:cNvSpPr txBox="true"/>
          <p:nvPr/>
        </p:nvSpPr>
        <p:spPr>
          <a:xfrm rot="0">
            <a:off x="2847965" y="3570027"/>
            <a:ext cx="4390958" cy="444503"/>
          </a:xfrm>
          <a:prstGeom prst="rect">
            <a:avLst/>
          </a:prstGeom>
        </p:spPr>
        <p:txBody>
          <a:bodyPr anchor="t" rtlCol="false" tIns="0" lIns="0" bIns="0" rIns="0">
            <a:spAutoFit/>
          </a:bodyPr>
          <a:lstStyle/>
          <a:p>
            <a:pPr algn="l">
              <a:lnSpc>
                <a:spcPts val="3360"/>
              </a:lnSpc>
            </a:pPr>
            <a:r>
              <a:rPr lang="en-US" b="true" sz="2000">
                <a:solidFill>
                  <a:srgbClr val="FFFFFF"/>
                </a:solidFill>
                <a:latin typeface="Open Sans Bold"/>
                <a:ea typeface="Open Sans Bold"/>
                <a:cs typeface="Open Sans Bold"/>
                <a:sym typeface="Open Sans Bold"/>
              </a:rPr>
              <a:t>Aislamiento</a:t>
            </a:r>
          </a:p>
        </p:txBody>
      </p:sp>
      <p:sp>
        <p:nvSpPr>
          <p:cNvPr name="TextBox 10" id="10"/>
          <p:cNvSpPr txBox="true"/>
          <p:nvPr/>
        </p:nvSpPr>
        <p:spPr>
          <a:xfrm rot="0">
            <a:off x="2847965" y="4069937"/>
            <a:ext cx="4390939" cy="1123950"/>
          </a:xfrm>
          <a:prstGeom prst="rect">
            <a:avLst/>
          </a:prstGeom>
        </p:spPr>
        <p:txBody>
          <a:bodyPr anchor="t" rtlCol="false" tIns="0" lIns="0" bIns="0" rIns="0">
            <a:spAutoFit/>
          </a:bodyPr>
          <a:lstStyle/>
          <a:p>
            <a:pPr algn="l">
              <a:lnSpc>
                <a:spcPts val="2520"/>
              </a:lnSpc>
            </a:pPr>
            <a:r>
              <a:rPr lang="en-US" sz="1500">
                <a:solidFill>
                  <a:srgbClr val="FFFFFF"/>
                </a:solidFill>
                <a:latin typeface="Open Sans"/>
                <a:ea typeface="Open Sans"/>
                <a:cs typeface="Open Sans"/>
                <a:sym typeface="Open Sans"/>
              </a:rPr>
              <a:t>Cada VM opera de forma independiente, lo que mejora la seguridad y previene interferencias entre distintos sistemas operativos en la misma máquina física.</a:t>
            </a:r>
          </a:p>
        </p:txBody>
      </p:sp>
      <p:sp>
        <p:nvSpPr>
          <p:cNvPr name="TextBox 11" id="11"/>
          <p:cNvSpPr txBox="true"/>
          <p:nvPr/>
        </p:nvSpPr>
        <p:spPr>
          <a:xfrm rot="0">
            <a:off x="2847965" y="6357585"/>
            <a:ext cx="4992700" cy="444503"/>
          </a:xfrm>
          <a:prstGeom prst="rect">
            <a:avLst/>
          </a:prstGeom>
        </p:spPr>
        <p:txBody>
          <a:bodyPr anchor="t" rtlCol="false" tIns="0" lIns="0" bIns="0" rIns="0">
            <a:spAutoFit/>
          </a:bodyPr>
          <a:lstStyle/>
          <a:p>
            <a:pPr algn="l">
              <a:lnSpc>
                <a:spcPts val="3360"/>
              </a:lnSpc>
            </a:pPr>
            <a:r>
              <a:rPr lang="en-US" b="true" sz="2000">
                <a:solidFill>
                  <a:srgbClr val="FFFFFF"/>
                </a:solidFill>
                <a:latin typeface="Open Sans Bold"/>
                <a:ea typeface="Open Sans Bold"/>
                <a:cs typeface="Open Sans Bold"/>
                <a:sym typeface="Open Sans Bold"/>
              </a:rPr>
              <a:t>Flexibilidad para pruebas y desarrollo</a:t>
            </a:r>
          </a:p>
        </p:txBody>
      </p:sp>
      <p:sp>
        <p:nvSpPr>
          <p:cNvPr name="TextBox 12" id="12"/>
          <p:cNvSpPr txBox="true"/>
          <p:nvPr/>
        </p:nvSpPr>
        <p:spPr>
          <a:xfrm rot="0">
            <a:off x="2847965" y="6857505"/>
            <a:ext cx="4390939" cy="857250"/>
          </a:xfrm>
          <a:prstGeom prst="rect">
            <a:avLst/>
          </a:prstGeom>
        </p:spPr>
        <p:txBody>
          <a:bodyPr anchor="t" rtlCol="false" tIns="0" lIns="0" bIns="0" rIns="0">
            <a:spAutoFit/>
          </a:bodyPr>
          <a:lstStyle/>
          <a:p>
            <a:pPr algn="l">
              <a:lnSpc>
                <a:spcPts val="2520"/>
              </a:lnSpc>
            </a:pPr>
            <a:r>
              <a:rPr lang="en-US" sz="1500">
                <a:solidFill>
                  <a:srgbClr val="FFFFFF"/>
                </a:solidFill>
                <a:latin typeface="Open Sans"/>
                <a:ea typeface="Open Sans"/>
                <a:cs typeface="Open Sans"/>
                <a:sym typeface="Open Sans"/>
              </a:rPr>
              <a:t>Facilita la creación de entornos consistentes para pruebas y desarrollo sin afectar la infraestructura física, acelerando los ciclos de desarrollo.</a:t>
            </a:r>
          </a:p>
        </p:txBody>
      </p:sp>
      <p:sp>
        <p:nvSpPr>
          <p:cNvPr name="TextBox 13" id="13"/>
          <p:cNvSpPr txBox="true"/>
          <p:nvPr/>
        </p:nvSpPr>
        <p:spPr>
          <a:xfrm rot="0">
            <a:off x="11625644" y="6357585"/>
            <a:ext cx="5324532" cy="444503"/>
          </a:xfrm>
          <a:prstGeom prst="rect">
            <a:avLst/>
          </a:prstGeom>
        </p:spPr>
        <p:txBody>
          <a:bodyPr anchor="t" rtlCol="false" tIns="0" lIns="0" bIns="0" rIns="0">
            <a:spAutoFit/>
          </a:bodyPr>
          <a:lstStyle/>
          <a:p>
            <a:pPr algn="l">
              <a:lnSpc>
                <a:spcPts val="3360"/>
              </a:lnSpc>
            </a:pPr>
            <a:r>
              <a:rPr lang="en-US" b="true" sz="2000">
                <a:solidFill>
                  <a:srgbClr val="FFFFFF"/>
                </a:solidFill>
                <a:latin typeface="Open Sans Bold"/>
                <a:ea typeface="Open Sans Bold"/>
                <a:cs typeface="Open Sans Bold"/>
                <a:sym typeface="Open Sans Bold"/>
              </a:rPr>
              <a:t>Facilidad de administración y migración</a:t>
            </a:r>
          </a:p>
        </p:txBody>
      </p:sp>
      <p:sp>
        <p:nvSpPr>
          <p:cNvPr name="TextBox 14" id="14"/>
          <p:cNvSpPr txBox="true"/>
          <p:nvPr/>
        </p:nvSpPr>
        <p:spPr>
          <a:xfrm rot="0">
            <a:off x="11625644" y="6857505"/>
            <a:ext cx="5181257" cy="857250"/>
          </a:xfrm>
          <a:prstGeom prst="rect">
            <a:avLst/>
          </a:prstGeom>
        </p:spPr>
        <p:txBody>
          <a:bodyPr anchor="t" rtlCol="false" tIns="0" lIns="0" bIns="0" rIns="0">
            <a:spAutoFit/>
          </a:bodyPr>
          <a:lstStyle/>
          <a:p>
            <a:pPr algn="l">
              <a:lnSpc>
                <a:spcPts val="2520"/>
              </a:lnSpc>
            </a:pPr>
            <a:r>
              <a:rPr lang="en-US" sz="1500">
                <a:solidFill>
                  <a:srgbClr val="FFFFFF"/>
                </a:solidFill>
                <a:latin typeface="Open Sans"/>
                <a:ea typeface="Open Sans"/>
                <a:cs typeface="Open Sans"/>
                <a:sym typeface="Open Sans"/>
              </a:rPr>
              <a:t>Las VMs se pueden trasladar fácilmente entre servidores, lo cual permite balancear la carga, realizar mantenimiento o escalar sin interrupciones significativas.</a:t>
            </a:r>
          </a:p>
        </p:txBody>
      </p:sp>
      <p:grpSp>
        <p:nvGrpSpPr>
          <p:cNvPr name="Group 15" id="15"/>
          <p:cNvGrpSpPr/>
          <p:nvPr/>
        </p:nvGrpSpPr>
        <p:grpSpPr>
          <a:xfrm rot="0">
            <a:off x="1232402" y="3655257"/>
            <a:ext cx="1199302" cy="1199302"/>
            <a:chOff x="0" y="0"/>
            <a:chExt cx="1599070" cy="1599070"/>
          </a:xfrm>
        </p:grpSpPr>
        <p:sp>
          <p:nvSpPr>
            <p:cNvPr name="Freeform 16" id="16"/>
            <p:cNvSpPr/>
            <p:nvPr/>
          </p:nvSpPr>
          <p:spPr>
            <a:xfrm flipH="false" flipV="false" rot="0">
              <a:off x="0" y="0"/>
              <a:ext cx="1599057" cy="1599057"/>
            </a:xfrm>
            <a:custGeom>
              <a:avLst/>
              <a:gdLst/>
              <a:ahLst/>
              <a:cxnLst/>
              <a:rect r="r" b="b" t="t" l="l"/>
              <a:pathLst>
                <a:path h="1599057" w="1599057">
                  <a:moveTo>
                    <a:pt x="0" y="0"/>
                  </a:moveTo>
                  <a:lnTo>
                    <a:pt x="1599057" y="0"/>
                  </a:lnTo>
                  <a:lnTo>
                    <a:pt x="1599057" y="1599057"/>
                  </a:lnTo>
                  <a:lnTo>
                    <a:pt x="0" y="1599057"/>
                  </a:lnTo>
                  <a:lnTo>
                    <a:pt x="0" y="0"/>
                  </a:lnTo>
                  <a:close/>
                </a:path>
              </a:pathLst>
            </a:custGeom>
            <a:blipFill>
              <a:blip r:embed="rId5"/>
              <a:stretch>
                <a:fillRect l="0" t="0" r="0" b="0"/>
              </a:stretch>
            </a:blipFill>
          </p:spPr>
        </p:sp>
      </p:grpSp>
      <p:grpSp>
        <p:nvGrpSpPr>
          <p:cNvPr name="Group 17" id="17"/>
          <p:cNvGrpSpPr/>
          <p:nvPr/>
        </p:nvGrpSpPr>
        <p:grpSpPr>
          <a:xfrm rot="0">
            <a:off x="10082927" y="3655266"/>
            <a:ext cx="1199302" cy="1199274"/>
            <a:chOff x="0" y="0"/>
            <a:chExt cx="1599070" cy="1599032"/>
          </a:xfrm>
        </p:grpSpPr>
        <p:sp>
          <p:nvSpPr>
            <p:cNvPr name="Freeform 18" id="18"/>
            <p:cNvSpPr/>
            <p:nvPr/>
          </p:nvSpPr>
          <p:spPr>
            <a:xfrm flipH="false" flipV="false" rot="0">
              <a:off x="0" y="0"/>
              <a:ext cx="1599057" cy="1599057"/>
            </a:xfrm>
            <a:custGeom>
              <a:avLst/>
              <a:gdLst/>
              <a:ahLst/>
              <a:cxnLst/>
              <a:rect r="r" b="b" t="t" l="l"/>
              <a:pathLst>
                <a:path h="1599057" w="1599057">
                  <a:moveTo>
                    <a:pt x="0" y="0"/>
                  </a:moveTo>
                  <a:lnTo>
                    <a:pt x="1599057" y="0"/>
                  </a:lnTo>
                  <a:lnTo>
                    <a:pt x="1599057" y="1599057"/>
                  </a:lnTo>
                  <a:lnTo>
                    <a:pt x="0" y="1599057"/>
                  </a:lnTo>
                  <a:lnTo>
                    <a:pt x="0" y="0"/>
                  </a:lnTo>
                  <a:close/>
                </a:path>
              </a:pathLst>
            </a:custGeom>
            <a:blipFill>
              <a:blip r:embed="rId6"/>
              <a:stretch>
                <a:fillRect l="0" t="0" r="0" b="0"/>
              </a:stretch>
            </a:blipFill>
          </p:spPr>
        </p:sp>
      </p:grpSp>
      <p:grpSp>
        <p:nvGrpSpPr>
          <p:cNvPr name="Group 19" id="19"/>
          <p:cNvGrpSpPr/>
          <p:nvPr/>
        </p:nvGrpSpPr>
        <p:grpSpPr>
          <a:xfrm rot="0">
            <a:off x="10082927" y="6442815"/>
            <a:ext cx="1199302" cy="1199302"/>
            <a:chOff x="0" y="0"/>
            <a:chExt cx="1599070" cy="1599070"/>
          </a:xfrm>
        </p:grpSpPr>
        <p:sp>
          <p:nvSpPr>
            <p:cNvPr name="Freeform 20" id="20"/>
            <p:cNvSpPr/>
            <p:nvPr/>
          </p:nvSpPr>
          <p:spPr>
            <a:xfrm flipH="false" flipV="false" rot="0">
              <a:off x="0" y="0"/>
              <a:ext cx="1599057" cy="1599057"/>
            </a:xfrm>
            <a:custGeom>
              <a:avLst/>
              <a:gdLst/>
              <a:ahLst/>
              <a:cxnLst/>
              <a:rect r="r" b="b" t="t" l="l"/>
              <a:pathLst>
                <a:path h="1599057" w="1599057">
                  <a:moveTo>
                    <a:pt x="0" y="0"/>
                  </a:moveTo>
                  <a:lnTo>
                    <a:pt x="1599057" y="0"/>
                  </a:lnTo>
                  <a:lnTo>
                    <a:pt x="1599057" y="1599057"/>
                  </a:lnTo>
                  <a:lnTo>
                    <a:pt x="0" y="1599057"/>
                  </a:lnTo>
                  <a:lnTo>
                    <a:pt x="0" y="0"/>
                  </a:lnTo>
                  <a:close/>
                </a:path>
              </a:pathLst>
            </a:custGeom>
            <a:blipFill>
              <a:blip r:embed="rId7"/>
              <a:stretch>
                <a:fillRect l="0" t="0" r="0" b="0"/>
              </a:stretch>
            </a:blipFill>
          </p:spPr>
        </p:sp>
      </p:grpSp>
      <p:grpSp>
        <p:nvGrpSpPr>
          <p:cNvPr name="Group 21" id="21"/>
          <p:cNvGrpSpPr/>
          <p:nvPr/>
        </p:nvGrpSpPr>
        <p:grpSpPr>
          <a:xfrm rot="0">
            <a:off x="1232402" y="6442815"/>
            <a:ext cx="1199302" cy="1199302"/>
            <a:chOff x="0" y="0"/>
            <a:chExt cx="1599070" cy="1599070"/>
          </a:xfrm>
        </p:grpSpPr>
        <p:sp>
          <p:nvSpPr>
            <p:cNvPr name="Freeform 22" id="22"/>
            <p:cNvSpPr/>
            <p:nvPr/>
          </p:nvSpPr>
          <p:spPr>
            <a:xfrm flipH="false" flipV="false" rot="0">
              <a:off x="0" y="0"/>
              <a:ext cx="1599057" cy="1599057"/>
            </a:xfrm>
            <a:custGeom>
              <a:avLst/>
              <a:gdLst/>
              <a:ahLst/>
              <a:cxnLst/>
              <a:rect r="r" b="b" t="t" l="l"/>
              <a:pathLst>
                <a:path h="1599057" w="1599057">
                  <a:moveTo>
                    <a:pt x="0" y="0"/>
                  </a:moveTo>
                  <a:lnTo>
                    <a:pt x="1599057" y="0"/>
                  </a:lnTo>
                  <a:lnTo>
                    <a:pt x="1599057" y="1599057"/>
                  </a:lnTo>
                  <a:lnTo>
                    <a:pt x="0" y="1599057"/>
                  </a:lnTo>
                  <a:lnTo>
                    <a:pt x="0" y="0"/>
                  </a:lnTo>
                  <a:close/>
                </a:path>
              </a:pathLst>
            </a:custGeom>
            <a:blipFill>
              <a:blip r:embed="rId8"/>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p:cSld>
    <p:bg>
      <p:bgPr>
        <a:solidFill>
          <a:srgbClr val="5170FF"/>
        </a:solidFill>
      </p:bgPr>
    </p:bg>
    <p:spTree>
      <p:nvGrpSpPr>
        <p:cNvPr id="1" name=""/>
        <p:cNvGrpSpPr/>
        <p:nvPr/>
      </p:nvGrpSpPr>
      <p:grpSpPr>
        <a:xfrm>
          <a:off x="0" y="0"/>
          <a:ext cx="0" cy="0"/>
          <a:chOff x="0" y="0"/>
          <a:chExt cx="0" cy="0"/>
        </a:xfrm>
      </p:grpSpPr>
      <p:sp>
        <p:nvSpPr>
          <p:cNvPr name="TextBox 2" id="2"/>
          <p:cNvSpPr txBox="true"/>
          <p:nvPr/>
        </p:nvSpPr>
        <p:spPr>
          <a:xfrm rot="0">
            <a:off x="2009556" y="2296401"/>
            <a:ext cx="14268888" cy="1267463"/>
          </a:xfrm>
          <a:prstGeom prst="rect">
            <a:avLst/>
          </a:prstGeom>
        </p:spPr>
        <p:txBody>
          <a:bodyPr anchor="t" rtlCol="false" tIns="0" lIns="0" bIns="0" rIns="0">
            <a:spAutoFit/>
          </a:bodyPr>
          <a:lstStyle/>
          <a:p>
            <a:pPr algn="ctr">
              <a:lnSpc>
                <a:spcPts val="10162"/>
              </a:lnSpc>
            </a:pPr>
            <a:r>
              <a:rPr lang="en-US" sz="6998">
                <a:solidFill>
                  <a:srgbClr val="FFFFFF"/>
                </a:solidFill>
                <a:latin typeface="Arial"/>
                <a:ea typeface="Arial"/>
                <a:cs typeface="Arial"/>
                <a:sym typeface="Arial"/>
              </a:rPr>
              <a:t>VIDEO </a:t>
            </a:r>
          </a:p>
        </p:txBody>
      </p:sp>
      <p:sp>
        <p:nvSpPr>
          <p:cNvPr name="TextBox 3" id="3"/>
          <p:cNvSpPr txBox="true"/>
          <p:nvPr/>
        </p:nvSpPr>
        <p:spPr>
          <a:xfrm rot="0">
            <a:off x="1896064" y="4436955"/>
            <a:ext cx="14268602" cy="544954"/>
          </a:xfrm>
          <a:prstGeom prst="rect">
            <a:avLst/>
          </a:prstGeom>
        </p:spPr>
        <p:txBody>
          <a:bodyPr anchor="t" rtlCol="false" tIns="0" lIns="0" bIns="0" rIns="0">
            <a:spAutoFit/>
          </a:bodyPr>
          <a:lstStyle/>
          <a:p>
            <a:pPr algn="ctr">
              <a:lnSpc>
                <a:spcPts val="4557"/>
              </a:lnSpc>
            </a:pPr>
            <a:r>
              <a:rPr lang="en-US" sz="2921">
                <a:solidFill>
                  <a:srgbClr val="67D3CD"/>
                </a:solidFill>
                <a:latin typeface="Montserrat"/>
                <a:ea typeface="Montserrat"/>
                <a:cs typeface="Montserrat"/>
                <a:sym typeface="Montserrat"/>
              </a:rPr>
              <a:t>TIPOS DE HIPERVISORES: </a:t>
            </a:r>
            <a:r>
              <a:rPr lang="en-US" b="true" sz="2921">
                <a:solidFill>
                  <a:srgbClr val="67D3CD"/>
                </a:solidFill>
                <a:latin typeface="Montserrat Bold"/>
                <a:ea typeface="Montserrat Bold"/>
                <a:cs typeface="Montserrat Bold"/>
                <a:sym typeface="Montserrat Bold"/>
              </a:rPr>
              <a:t>https://youtu.be/ou-ZyVxsOK8</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4271315" y="2927918"/>
            <a:ext cx="2307946" cy="2307946"/>
          </a:xfrm>
          <a:custGeom>
            <a:avLst/>
            <a:gdLst/>
            <a:ahLst/>
            <a:cxnLst/>
            <a:rect r="r" b="b" t="t" l="l"/>
            <a:pathLst>
              <a:path h="2307946" w="2307946">
                <a:moveTo>
                  <a:pt x="0" y="0"/>
                </a:moveTo>
                <a:lnTo>
                  <a:pt x="2307945" y="0"/>
                </a:lnTo>
                <a:lnTo>
                  <a:pt x="2307945" y="2307946"/>
                </a:lnTo>
                <a:lnTo>
                  <a:pt x="0" y="23079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rot="5394240">
            <a:off x="6925780" y="6129318"/>
            <a:ext cx="5669470" cy="0"/>
          </a:xfrm>
          <a:prstGeom prst="line">
            <a:avLst/>
          </a:prstGeom>
          <a:ln cap="rnd" w="9525">
            <a:solidFill>
              <a:srgbClr val="FFFFFF"/>
            </a:solidFill>
            <a:prstDash val="solid"/>
            <a:headEnd type="none" len="sm" w="sm"/>
            <a:tailEnd type="none" len="sm" w="sm"/>
          </a:ln>
        </p:spPr>
      </p:sp>
      <p:sp>
        <p:nvSpPr>
          <p:cNvPr name="Freeform 4" id="4"/>
          <p:cNvSpPr/>
          <p:nvPr/>
        </p:nvSpPr>
        <p:spPr>
          <a:xfrm flipH="false" flipV="false" rot="0">
            <a:off x="12690891" y="3156518"/>
            <a:ext cx="2307946" cy="2307946"/>
          </a:xfrm>
          <a:custGeom>
            <a:avLst/>
            <a:gdLst/>
            <a:ahLst/>
            <a:cxnLst/>
            <a:rect r="r" b="b" t="t" l="l"/>
            <a:pathLst>
              <a:path h="2307946" w="2307946">
                <a:moveTo>
                  <a:pt x="0" y="0"/>
                </a:moveTo>
                <a:lnTo>
                  <a:pt x="2307946" y="0"/>
                </a:lnTo>
                <a:lnTo>
                  <a:pt x="2307946" y="2307946"/>
                </a:lnTo>
                <a:lnTo>
                  <a:pt x="0" y="2307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900903" y="857250"/>
            <a:ext cx="16486184" cy="1021585"/>
          </a:xfrm>
          <a:prstGeom prst="rect">
            <a:avLst/>
          </a:prstGeom>
        </p:spPr>
        <p:txBody>
          <a:bodyPr anchor="t" rtlCol="false" tIns="0" lIns="0" bIns="0" rIns="0">
            <a:spAutoFit/>
          </a:bodyPr>
          <a:lstStyle/>
          <a:p>
            <a:pPr algn="l">
              <a:lnSpc>
                <a:spcPts val="8131"/>
              </a:lnSpc>
            </a:pPr>
            <a:r>
              <a:rPr lang="en-US" sz="5599">
                <a:solidFill>
                  <a:srgbClr val="FFFFFF"/>
                </a:solidFill>
                <a:latin typeface="Arial"/>
                <a:ea typeface="Arial"/>
                <a:cs typeface="Arial"/>
                <a:sym typeface="Arial"/>
              </a:rPr>
              <a:t>CONTENEDORES </a:t>
            </a:r>
            <a:r>
              <a:rPr lang="en-US" sz="5599">
                <a:solidFill>
                  <a:srgbClr val="67D3CD"/>
                </a:solidFill>
                <a:latin typeface="Arial"/>
                <a:ea typeface="Arial"/>
                <a:cs typeface="Arial"/>
                <a:sym typeface="Arial"/>
              </a:rPr>
              <a:t>VS </a:t>
            </a:r>
            <a:r>
              <a:rPr lang="en-US" sz="5599">
                <a:solidFill>
                  <a:srgbClr val="FFFFFF"/>
                </a:solidFill>
                <a:latin typeface="Arial"/>
                <a:ea typeface="Arial"/>
                <a:cs typeface="Arial"/>
                <a:sym typeface="Arial"/>
              </a:rPr>
              <a:t>MÁQUINAS VIRTUALES</a:t>
            </a:r>
          </a:p>
        </p:txBody>
      </p:sp>
      <p:sp>
        <p:nvSpPr>
          <p:cNvPr name="TextBox 6" id="6"/>
          <p:cNvSpPr txBox="true"/>
          <p:nvPr/>
        </p:nvSpPr>
        <p:spPr>
          <a:xfrm rot="0">
            <a:off x="1621050" y="6334106"/>
            <a:ext cx="7522950" cy="2540632"/>
          </a:xfrm>
          <a:prstGeom prst="rect">
            <a:avLst/>
          </a:prstGeom>
        </p:spPr>
        <p:txBody>
          <a:bodyPr anchor="t" rtlCol="false" tIns="0" lIns="0" bIns="0" rIns="0">
            <a:spAutoFit/>
          </a:bodyPr>
          <a:lstStyle/>
          <a:p>
            <a:pPr algn="just">
              <a:lnSpc>
                <a:spcPts val="2652"/>
              </a:lnSpc>
            </a:pPr>
            <a:r>
              <a:rPr lang="en-US" sz="1700">
                <a:solidFill>
                  <a:srgbClr val="FFFFFF"/>
                </a:solidFill>
                <a:latin typeface="Montserrat"/>
                <a:ea typeface="Montserrat"/>
                <a:cs typeface="Montserrat"/>
                <a:sym typeface="Montserrat"/>
              </a:rPr>
              <a:t>Las máquinas virtuales (VMs) emulan un hardware completo, lo que permite ejecutar un </a:t>
            </a:r>
            <a:r>
              <a:rPr lang="en-US" sz="1700">
                <a:solidFill>
                  <a:srgbClr val="ACFDDB"/>
                </a:solidFill>
                <a:latin typeface="Montserrat"/>
                <a:ea typeface="Montserrat"/>
                <a:cs typeface="Montserrat"/>
                <a:sym typeface="Montserrat"/>
              </a:rPr>
              <a:t>sistema operativo completo</a:t>
            </a:r>
            <a:r>
              <a:rPr lang="en-US" sz="1700">
                <a:solidFill>
                  <a:srgbClr val="FFFFFF"/>
                </a:solidFill>
                <a:latin typeface="Montserrat"/>
                <a:ea typeface="Montserrat"/>
                <a:cs typeface="Montserrat"/>
                <a:sym typeface="Montserrat"/>
              </a:rPr>
              <a:t> sobre otro, incluyendo aplicaciones, controladores y configuraciones de red. Cada VM opera con su propio sistema operativo, bibliotecas y dependencias, logrando un aislamiento total entre ellas, incluso en el mismo hardware físico. Este aislamiento ofrece gran seguridad y flexibilidad, pero implica un mayor consumo de recursos y tiempos de inicio más prolongados</a:t>
            </a:r>
          </a:p>
        </p:txBody>
      </p:sp>
      <p:sp>
        <p:nvSpPr>
          <p:cNvPr name="TextBox 7" id="7"/>
          <p:cNvSpPr txBox="true"/>
          <p:nvPr/>
        </p:nvSpPr>
        <p:spPr>
          <a:xfrm rot="0">
            <a:off x="3648361" y="5372167"/>
            <a:ext cx="3468338" cy="708269"/>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MÁQUINAS VIRTUALES (VMS)</a:t>
            </a:r>
          </a:p>
        </p:txBody>
      </p:sp>
      <p:sp>
        <p:nvSpPr>
          <p:cNvPr name="TextBox 8" id="8"/>
          <p:cNvSpPr txBox="true"/>
          <p:nvPr/>
        </p:nvSpPr>
        <p:spPr>
          <a:xfrm rot="0">
            <a:off x="12110695" y="5605491"/>
            <a:ext cx="3468338" cy="384419"/>
          </a:xfrm>
          <a:prstGeom prst="rect">
            <a:avLst/>
          </a:prstGeom>
        </p:spPr>
        <p:txBody>
          <a:bodyPr anchor="t" rtlCol="false" tIns="0" lIns="0" bIns="0" rIns="0">
            <a:spAutoFit/>
          </a:bodyPr>
          <a:lstStyle/>
          <a:p>
            <a:pPr algn="ctr">
              <a:lnSpc>
                <a:spcPts val="3089"/>
              </a:lnSpc>
            </a:pPr>
            <a:r>
              <a:rPr lang="en-US" b="true" sz="1979">
                <a:solidFill>
                  <a:srgbClr val="FFFFFF"/>
                </a:solidFill>
                <a:latin typeface="Montserrat Bold"/>
                <a:ea typeface="Montserrat Bold"/>
                <a:cs typeface="Montserrat Bold"/>
                <a:sym typeface="Montserrat Bold"/>
              </a:rPr>
              <a:t>CONTENEDORES</a:t>
            </a:r>
          </a:p>
        </p:txBody>
      </p:sp>
      <p:sp>
        <p:nvSpPr>
          <p:cNvPr name="TextBox 9" id="9"/>
          <p:cNvSpPr txBox="true"/>
          <p:nvPr/>
        </p:nvSpPr>
        <p:spPr>
          <a:xfrm rot="0">
            <a:off x="10374878" y="5913711"/>
            <a:ext cx="6939972" cy="2540632"/>
          </a:xfrm>
          <a:prstGeom prst="rect">
            <a:avLst/>
          </a:prstGeom>
        </p:spPr>
        <p:txBody>
          <a:bodyPr anchor="t" rtlCol="false" tIns="0" lIns="0" bIns="0" rIns="0">
            <a:spAutoFit/>
          </a:bodyPr>
          <a:lstStyle/>
          <a:p>
            <a:pPr algn="just">
              <a:lnSpc>
                <a:spcPts val="2062"/>
              </a:lnSpc>
            </a:pPr>
          </a:p>
          <a:p>
            <a:pPr algn="just">
              <a:lnSpc>
                <a:spcPts val="2652"/>
              </a:lnSpc>
            </a:pPr>
            <a:r>
              <a:rPr lang="en-US" sz="1700">
                <a:solidFill>
                  <a:srgbClr val="FFFFFF"/>
                </a:solidFill>
                <a:latin typeface="Montserrat"/>
                <a:ea typeface="Montserrat"/>
                <a:cs typeface="Montserrat"/>
                <a:sym typeface="Montserrat"/>
              </a:rPr>
              <a:t>Los contenedores son entornos aislados que comparten el kernel del sistema operativo anfitrión, </a:t>
            </a:r>
            <a:r>
              <a:rPr lang="en-US" sz="1700">
                <a:solidFill>
                  <a:srgbClr val="ACFDDB"/>
                </a:solidFill>
                <a:latin typeface="Montserrat"/>
                <a:ea typeface="Montserrat"/>
                <a:cs typeface="Montserrat"/>
                <a:sym typeface="Montserrat"/>
              </a:rPr>
              <a:t>eliminando </a:t>
            </a:r>
            <a:r>
              <a:rPr lang="en-US" sz="1700">
                <a:solidFill>
                  <a:srgbClr val="FFFFFF"/>
                </a:solidFill>
                <a:latin typeface="Montserrat"/>
                <a:ea typeface="Montserrat"/>
                <a:cs typeface="Montserrat"/>
                <a:sym typeface="Montserrat"/>
              </a:rPr>
              <a:t>la necesidad de virtualizar hardware completo. Esto los hace más ligeros y rápidos de iniciar que las VMs. Al contener solo las aplicaciones y bibliotecas necesarias, su eficiencia los hace ideales para desplegar aplicaciones y microservicios en entornos escalables con tiempos de respuesta críticos.</a:t>
            </a:r>
          </a:p>
        </p:txBody>
      </p:sp>
      <p:grpSp>
        <p:nvGrpSpPr>
          <p:cNvPr name="Group 10" id="10"/>
          <p:cNvGrpSpPr/>
          <p:nvPr/>
        </p:nvGrpSpPr>
        <p:grpSpPr>
          <a:xfrm rot="0">
            <a:off x="4599518" y="3256121"/>
            <a:ext cx="1651549" cy="1651549"/>
            <a:chOff x="0" y="0"/>
            <a:chExt cx="2202066" cy="2202066"/>
          </a:xfrm>
        </p:grpSpPr>
        <p:sp>
          <p:nvSpPr>
            <p:cNvPr name="Freeform 11" id="11"/>
            <p:cNvSpPr/>
            <p:nvPr/>
          </p:nvSpPr>
          <p:spPr>
            <a:xfrm flipH="false" flipV="false" rot="0">
              <a:off x="0" y="0"/>
              <a:ext cx="2202053" cy="2202053"/>
            </a:xfrm>
            <a:custGeom>
              <a:avLst/>
              <a:gdLst/>
              <a:ahLst/>
              <a:cxnLst/>
              <a:rect r="r" b="b" t="t" l="l"/>
              <a:pathLst>
                <a:path h="2202053" w="2202053">
                  <a:moveTo>
                    <a:pt x="0" y="0"/>
                  </a:moveTo>
                  <a:lnTo>
                    <a:pt x="2202053" y="0"/>
                  </a:lnTo>
                  <a:lnTo>
                    <a:pt x="2202053" y="2202053"/>
                  </a:lnTo>
                  <a:lnTo>
                    <a:pt x="0" y="2202053"/>
                  </a:lnTo>
                  <a:lnTo>
                    <a:pt x="0" y="0"/>
                  </a:lnTo>
                  <a:close/>
                </a:path>
              </a:pathLst>
            </a:custGeom>
            <a:blipFill>
              <a:blip r:embed="rId7"/>
              <a:stretch>
                <a:fillRect l="0" t="0" r="0" b="0"/>
              </a:stretch>
            </a:blipFill>
          </p:spPr>
        </p:sp>
      </p:grpSp>
      <p:grpSp>
        <p:nvGrpSpPr>
          <p:cNvPr name="Group 12" id="12"/>
          <p:cNvGrpSpPr/>
          <p:nvPr/>
        </p:nvGrpSpPr>
        <p:grpSpPr>
          <a:xfrm rot="0">
            <a:off x="13154997" y="3528603"/>
            <a:ext cx="1563795" cy="1563795"/>
            <a:chOff x="0" y="0"/>
            <a:chExt cx="2085061" cy="2085061"/>
          </a:xfrm>
        </p:grpSpPr>
        <p:sp>
          <p:nvSpPr>
            <p:cNvPr name="Freeform 13" id="13"/>
            <p:cNvSpPr/>
            <p:nvPr/>
          </p:nvSpPr>
          <p:spPr>
            <a:xfrm flipH="false" flipV="false" rot="0">
              <a:off x="0" y="0"/>
              <a:ext cx="2085086" cy="2085086"/>
            </a:xfrm>
            <a:custGeom>
              <a:avLst/>
              <a:gdLst/>
              <a:ahLst/>
              <a:cxnLst/>
              <a:rect r="r" b="b" t="t" l="l"/>
              <a:pathLst>
                <a:path h="2085086" w="2085086">
                  <a:moveTo>
                    <a:pt x="0" y="0"/>
                  </a:moveTo>
                  <a:lnTo>
                    <a:pt x="2085086" y="0"/>
                  </a:lnTo>
                  <a:lnTo>
                    <a:pt x="2085086" y="2085086"/>
                  </a:lnTo>
                  <a:lnTo>
                    <a:pt x="0" y="2085086"/>
                  </a:lnTo>
                  <a:lnTo>
                    <a:pt x="0" y="0"/>
                  </a:lnTo>
                  <a:close/>
                </a:path>
              </a:pathLst>
            </a:custGeom>
            <a:blipFill>
              <a:blip r:embed="rId8"/>
              <a:stretch>
                <a:fillRect l="0" t="0" r="1" b="1"/>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623811" y="2063134"/>
            <a:ext cx="17040368" cy="7195166"/>
          </a:xfrm>
          <a:custGeom>
            <a:avLst/>
            <a:gdLst/>
            <a:ahLst/>
            <a:cxnLst/>
            <a:rect r="r" b="b" t="t" l="l"/>
            <a:pathLst>
              <a:path h="7195166" w="17040368">
                <a:moveTo>
                  <a:pt x="0" y="0"/>
                </a:moveTo>
                <a:lnTo>
                  <a:pt x="17040368" y="0"/>
                </a:lnTo>
                <a:lnTo>
                  <a:pt x="17040368" y="7195166"/>
                </a:lnTo>
                <a:lnTo>
                  <a:pt x="0" y="71951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428930" y="3118847"/>
            <a:ext cx="4015826" cy="4015826"/>
            <a:chOff x="0" y="0"/>
            <a:chExt cx="5354434" cy="5354434"/>
          </a:xfrm>
        </p:grpSpPr>
        <p:sp>
          <p:nvSpPr>
            <p:cNvPr name="Freeform 4" id="4"/>
            <p:cNvSpPr/>
            <p:nvPr/>
          </p:nvSpPr>
          <p:spPr>
            <a:xfrm flipH="false" flipV="false" rot="0">
              <a:off x="0" y="0"/>
              <a:ext cx="5354447" cy="5354447"/>
            </a:xfrm>
            <a:custGeom>
              <a:avLst/>
              <a:gdLst/>
              <a:ahLst/>
              <a:cxnLst/>
              <a:rect r="r" b="b" t="t" l="l"/>
              <a:pathLst>
                <a:path h="5354447" w="5354447">
                  <a:moveTo>
                    <a:pt x="0" y="0"/>
                  </a:moveTo>
                  <a:lnTo>
                    <a:pt x="5354447" y="0"/>
                  </a:lnTo>
                  <a:lnTo>
                    <a:pt x="5354447" y="5354447"/>
                  </a:lnTo>
                  <a:lnTo>
                    <a:pt x="0" y="5354447"/>
                  </a:lnTo>
                  <a:lnTo>
                    <a:pt x="0" y="0"/>
                  </a:lnTo>
                  <a:close/>
                </a:path>
              </a:pathLst>
            </a:custGeom>
            <a:blipFill>
              <a:blip r:embed="rId5"/>
              <a:stretch>
                <a:fillRect l="0" t="0" r="0" b="0"/>
              </a:stretch>
            </a:blipFill>
          </p:spPr>
        </p:sp>
      </p:grpSp>
      <p:grpSp>
        <p:nvGrpSpPr>
          <p:cNvPr name="Group 5" id="5"/>
          <p:cNvGrpSpPr/>
          <p:nvPr/>
        </p:nvGrpSpPr>
        <p:grpSpPr>
          <a:xfrm rot="0">
            <a:off x="9903304" y="1951911"/>
            <a:ext cx="3486140" cy="3486140"/>
            <a:chOff x="0" y="0"/>
            <a:chExt cx="4648187" cy="4648187"/>
          </a:xfrm>
        </p:grpSpPr>
        <p:sp>
          <p:nvSpPr>
            <p:cNvPr name="Freeform 6" id="6"/>
            <p:cNvSpPr/>
            <p:nvPr/>
          </p:nvSpPr>
          <p:spPr>
            <a:xfrm flipH="false" flipV="false" rot="0">
              <a:off x="0" y="0"/>
              <a:ext cx="4648200" cy="4648200"/>
            </a:xfrm>
            <a:custGeom>
              <a:avLst/>
              <a:gdLst/>
              <a:ahLst/>
              <a:cxnLst/>
              <a:rect r="r" b="b" t="t" l="l"/>
              <a:pathLst>
                <a:path h="4648200" w="4648200">
                  <a:moveTo>
                    <a:pt x="0" y="0"/>
                  </a:moveTo>
                  <a:lnTo>
                    <a:pt x="4648200" y="0"/>
                  </a:lnTo>
                  <a:lnTo>
                    <a:pt x="4648200" y="4648200"/>
                  </a:lnTo>
                  <a:lnTo>
                    <a:pt x="0" y="4648200"/>
                  </a:lnTo>
                  <a:lnTo>
                    <a:pt x="0" y="0"/>
                  </a:lnTo>
                  <a:close/>
                </a:path>
              </a:pathLst>
            </a:custGeom>
            <a:blipFill>
              <a:blip r:embed="rId6"/>
              <a:stretch>
                <a:fillRect l="0" t="0" r="0" b="0"/>
              </a:stretch>
            </a:blipFill>
          </p:spPr>
        </p:sp>
      </p:grpSp>
      <p:sp>
        <p:nvSpPr>
          <p:cNvPr name="Freeform 7" id="7"/>
          <p:cNvSpPr/>
          <p:nvPr/>
        </p:nvSpPr>
        <p:spPr>
          <a:xfrm flipH="false" flipV="false" rot="0">
            <a:off x="4844253" y="2339159"/>
            <a:ext cx="1971180" cy="1971170"/>
          </a:xfrm>
          <a:custGeom>
            <a:avLst/>
            <a:gdLst/>
            <a:ahLst/>
            <a:cxnLst/>
            <a:rect r="r" b="b" t="t" l="l"/>
            <a:pathLst>
              <a:path h="1971170" w="1971180">
                <a:moveTo>
                  <a:pt x="0" y="0"/>
                </a:moveTo>
                <a:lnTo>
                  <a:pt x="1971180" y="0"/>
                </a:lnTo>
                <a:lnTo>
                  <a:pt x="1971180" y="1971170"/>
                </a:lnTo>
                <a:lnTo>
                  <a:pt x="0" y="19711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8" id="8"/>
          <p:cNvGrpSpPr/>
          <p:nvPr/>
        </p:nvGrpSpPr>
        <p:grpSpPr>
          <a:xfrm rot="0">
            <a:off x="14638696" y="2135467"/>
            <a:ext cx="1958473" cy="1958473"/>
            <a:chOff x="0" y="0"/>
            <a:chExt cx="2611298" cy="2611298"/>
          </a:xfrm>
        </p:grpSpPr>
        <p:sp>
          <p:nvSpPr>
            <p:cNvPr name="Freeform 9" id="9"/>
            <p:cNvSpPr/>
            <p:nvPr/>
          </p:nvSpPr>
          <p:spPr>
            <a:xfrm flipH="false" flipV="false" rot="0">
              <a:off x="0" y="0"/>
              <a:ext cx="2611247" cy="2611374"/>
            </a:xfrm>
            <a:custGeom>
              <a:avLst/>
              <a:gdLst/>
              <a:ahLst/>
              <a:cxnLst/>
              <a:rect r="r" b="b" t="t" l="l"/>
              <a:pathLst>
                <a:path h="2611374" w="2611247">
                  <a:moveTo>
                    <a:pt x="2611247" y="1305687"/>
                  </a:moveTo>
                  <a:cubicBezTo>
                    <a:pt x="2611247" y="2026793"/>
                    <a:pt x="2026666" y="2611374"/>
                    <a:pt x="1305560" y="2611374"/>
                  </a:cubicBezTo>
                  <a:cubicBezTo>
                    <a:pt x="584454" y="2611374"/>
                    <a:pt x="0" y="2026666"/>
                    <a:pt x="0" y="1305687"/>
                  </a:cubicBezTo>
                  <a:cubicBezTo>
                    <a:pt x="0" y="584708"/>
                    <a:pt x="584581" y="0"/>
                    <a:pt x="1305687" y="0"/>
                  </a:cubicBezTo>
                  <a:cubicBezTo>
                    <a:pt x="2026793" y="0"/>
                    <a:pt x="2611247" y="584581"/>
                    <a:pt x="2611247" y="1305687"/>
                  </a:cubicBezTo>
                  <a:close/>
                </a:path>
              </a:pathLst>
            </a:custGeom>
            <a:blipFill>
              <a:blip r:embed="rId9"/>
              <a:stretch>
                <a:fillRect l="-25000" t="0" r="-25002" b="2"/>
              </a:stretch>
            </a:blipFill>
          </p:spPr>
        </p:sp>
      </p:grpSp>
      <p:sp>
        <p:nvSpPr>
          <p:cNvPr name="TextBox 10" id="10"/>
          <p:cNvSpPr txBox="true"/>
          <p:nvPr/>
        </p:nvSpPr>
        <p:spPr>
          <a:xfrm rot="0">
            <a:off x="4217060" y="5512737"/>
            <a:ext cx="5757120" cy="3369307"/>
          </a:xfrm>
          <a:prstGeom prst="rect">
            <a:avLst/>
          </a:prstGeom>
        </p:spPr>
        <p:txBody>
          <a:bodyPr anchor="t" rtlCol="false" tIns="0" lIns="0" bIns="0" rIns="0">
            <a:spAutoFit/>
          </a:bodyPr>
          <a:lstStyle/>
          <a:p>
            <a:pPr algn="l">
              <a:lnSpc>
                <a:spcPts val="2652"/>
              </a:lnSpc>
            </a:pPr>
            <a:r>
              <a:rPr lang="en-US" sz="1700">
                <a:solidFill>
                  <a:srgbClr val="FFFFFF"/>
                </a:solidFill>
                <a:latin typeface="Montserrat"/>
                <a:ea typeface="Montserrat"/>
                <a:cs typeface="Montserrat"/>
                <a:sym typeface="Montserrat"/>
              </a:rPr>
              <a:t>Esta técnica permite al hipervisor interceptar y traducir las instrucciones de máquina del sistema operativo huésped en</a:t>
            </a:r>
            <a:r>
              <a:rPr lang="en-US" sz="1700">
                <a:solidFill>
                  <a:srgbClr val="67D3CD"/>
                </a:solidFill>
                <a:latin typeface="Montserrat"/>
                <a:ea typeface="Montserrat"/>
                <a:cs typeface="Montserrat"/>
                <a:sym typeface="Montserrat"/>
              </a:rPr>
              <a:t> tiempo real</a:t>
            </a:r>
            <a:r>
              <a:rPr lang="en-US" sz="1700">
                <a:solidFill>
                  <a:srgbClr val="FFFFFF"/>
                </a:solidFill>
                <a:latin typeface="Montserrat"/>
                <a:ea typeface="Montserrat"/>
                <a:cs typeface="Montserrat"/>
                <a:sym typeface="Montserrat"/>
              </a:rPr>
              <a:t>, logrando que se ejecute en hardware sin modificaciones. Es ideal para virtualizar sistemas operativos no adaptados para trabajar con el hipervisor, asegurando compatibilidad total sin cambios en el software huésped. Sin embargo, esta traducción en tiempo real introduce una sobrecarga que puede reducir la eficiencia y el rendimiento respecto a métodos más directos.</a:t>
            </a:r>
          </a:p>
        </p:txBody>
      </p:sp>
      <p:sp>
        <p:nvSpPr>
          <p:cNvPr name="TextBox 11" id="11"/>
          <p:cNvSpPr txBox="true"/>
          <p:nvPr/>
        </p:nvSpPr>
        <p:spPr>
          <a:xfrm rot="0">
            <a:off x="12422838" y="5517528"/>
            <a:ext cx="5241341" cy="3093082"/>
          </a:xfrm>
          <a:prstGeom prst="rect">
            <a:avLst/>
          </a:prstGeom>
        </p:spPr>
        <p:txBody>
          <a:bodyPr anchor="t" rtlCol="false" tIns="0" lIns="0" bIns="0" rIns="0">
            <a:spAutoFit/>
          </a:bodyPr>
          <a:lstStyle/>
          <a:p>
            <a:pPr algn="l">
              <a:lnSpc>
                <a:spcPts val="2652"/>
              </a:lnSpc>
            </a:pPr>
            <a:r>
              <a:rPr lang="en-US" sz="1700">
                <a:solidFill>
                  <a:srgbClr val="FFFFFF"/>
                </a:solidFill>
                <a:latin typeface="Montserrat"/>
                <a:ea typeface="Montserrat"/>
                <a:cs typeface="Montserrat"/>
                <a:sym typeface="Montserrat"/>
              </a:rPr>
              <a:t>En la paravirtualización, el sistema operativo huésped se modifica para interactuar directamente con el hipervisor, lo que reduce la sobrecarga y mejora el rendimiento al </a:t>
            </a:r>
            <a:r>
              <a:rPr lang="en-US" sz="1700">
                <a:solidFill>
                  <a:srgbClr val="67D3CD"/>
                </a:solidFill>
                <a:latin typeface="Montserrat"/>
                <a:ea typeface="Montserrat"/>
                <a:cs typeface="Montserrat"/>
                <a:sym typeface="Montserrat"/>
              </a:rPr>
              <a:t>eliminar la traducción</a:t>
            </a:r>
            <a:r>
              <a:rPr lang="en-US" sz="1700">
                <a:solidFill>
                  <a:srgbClr val="FFFFFF"/>
                </a:solidFill>
                <a:latin typeface="Montserrat"/>
                <a:ea typeface="Montserrat"/>
                <a:cs typeface="Montserrat"/>
                <a:sym typeface="Montserrat"/>
              </a:rPr>
              <a:t> en tiempo real de instrucciones. Aunque es altamente eficiente, este método requiere modificar el código fuente del sistema operativo huésped, limitando su uso a sistemas que permitan dichas modificaciones.</a:t>
            </a:r>
          </a:p>
        </p:txBody>
      </p:sp>
      <p:sp>
        <p:nvSpPr>
          <p:cNvPr name="TextBox 12" id="12"/>
          <p:cNvSpPr txBox="true"/>
          <p:nvPr/>
        </p:nvSpPr>
        <p:spPr>
          <a:xfrm rot="0">
            <a:off x="4812506" y="5061804"/>
            <a:ext cx="3565055" cy="384419"/>
          </a:xfrm>
          <a:prstGeom prst="rect">
            <a:avLst/>
          </a:prstGeom>
        </p:spPr>
        <p:txBody>
          <a:bodyPr anchor="t" rtlCol="false" tIns="0" lIns="0" bIns="0" rIns="0">
            <a:spAutoFit/>
          </a:bodyPr>
          <a:lstStyle/>
          <a:p>
            <a:pPr algn="l">
              <a:lnSpc>
                <a:spcPts val="3089"/>
              </a:lnSpc>
            </a:pPr>
            <a:r>
              <a:rPr lang="en-US" b="true" sz="1979">
                <a:solidFill>
                  <a:srgbClr val="FFFFFF"/>
                </a:solidFill>
                <a:latin typeface="Montserrat Bold"/>
                <a:ea typeface="Montserrat Bold"/>
                <a:cs typeface="Montserrat Bold"/>
                <a:sym typeface="Montserrat Bold"/>
              </a:rPr>
              <a:t>TRADUCCIÓN BINARIA </a:t>
            </a:r>
          </a:p>
        </p:txBody>
      </p:sp>
      <p:sp>
        <p:nvSpPr>
          <p:cNvPr name="TextBox 13" id="13"/>
          <p:cNvSpPr txBox="true"/>
          <p:nvPr/>
        </p:nvSpPr>
        <p:spPr>
          <a:xfrm rot="0">
            <a:off x="12856169" y="5041030"/>
            <a:ext cx="3565055" cy="384419"/>
          </a:xfrm>
          <a:prstGeom prst="rect">
            <a:avLst/>
          </a:prstGeom>
        </p:spPr>
        <p:txBody>
          <a:bodyPr anchor="t" rtlCol="false" tIns="0" lIns="0" bIns="0" rIns="0">
            <a:spAutoFit/>
          </a:bodyPr>
          <a:lstStyle/>
          <a:p>
            <a:pPr algn="l">
              <a:lnSpc>
                <a:spcPts val="3089"/>
              </a:lnSpc>
            </a:pPr>
            <a:r>
              <a:rPr lang="en-US" b="true" sz="1979">
                <a:solidFill>
                  <a:srgbClr val="FFFFFF"/>
                </a:solidFill>
                <a:latin typeface="Montserrat Bold"/>
                <a:ea typeface="Montserrat Bold"/>
                <a:cs typeface="Montserrat Bold"/>
                <a:sym typeface="Montserrat Bold"/>
              </a:rPr>
              <a:t>PARAVIRTUALIZACIÓN</a:t>
            </a:r>
          </a:p>
        </p:txBody>
      </p:sp>
      <p:sp>
        <p:nvSpPr>
          <p:cNvPr name="TextBox 14" id="14"/>
          <p:cNvSpPr txBox="true"/>
          <p:nvPr/>
        </p:nvSpPr>
        <p:spPr>
          <a:xfrm rot="0">
            <a:off x="1028700" y="947099"/>
            <a:ext cx="16230600" cy="908047"/>
          </a:xfrm>
          <a:prstGeom prst="rect">
            <a:avLst/>
          </a:prstGeom>
        </p:spPr>
        <p:txBody>
          <a:bodyPr anchor="t" rtlCol="false" tIns="0" lIns="0" bIns="0" rIns="0">
            <a:spAutoFit/>
          </a:bodyPr>
          <a:lstStyle/>
          <a:p>
            <a:pPr algn="ctr">
              <a:lnSpc>
                <a:spcPts val="7259"/>
              </a:lnSpc>
            </a:pPr>
            <a:r>
              <a:rPr lang="en-US" sz="4999">
                <a:solidFill>
                  <a:srgbClr val="FFFFFF"/>
                </a:solidFill>
                <a:latin typeface="Arial"/>
                <a:ea typeface="Arial"/>
                <a:cs typeface="Arial"/>
                <a:sym typeface="Arial"/>
              </a:rPr>
              <a:t>TRADUCCIÓN BINARIA Y PARAVIRTUALIZACIÓN</a:t>
            </a:r>
          </a:p>
        </p:txBody>
      </p:sp>
      <p:sp>
        <p:nvSpPr>
          <p:cNvPr name="AutoShape 15" id="15"/>
          <p:cNvSpPr/>
          <p:nvPr/>
        </p:nvSpPr>
        <p:spPr>
          <a:xfrm rot="9108180">
            <a:off x="3703225" y="3901392"/>
            <a:ext cx="1230668" cy="0"/>
          </a:xfrm>
          <a:prstGeom prst="line">
            <a:avLst/>
          </a:prstGeom>
          <a:ln cap="rnd" w="28575">
            <a:solidFill>
              <a:srgbClr val="B084CC"/>
            </a:solidFill>
            <a:prstDash val="solid"/>
            <a:headEnd type="arrow" len="sm" w="med"/>
            <a:tailEnd type="none" len="sm" w="sm"/>
          </a:ln>
        </p:spPr>
      </p:sp>
      <p:sp>
        <p:nvSpPr>
          <p:cNvPr name="AutoShape 16" id="16"/>
          <p:cNvSpPr/>
          <p:nvPr/>
        </p:nvSpPr>
        <p:spPr>
          <a:xfrm rot="9886440">
            <a:off x="13053717" y="3504028"/>
            <a:ext cx="1490377" cy="0"/>
          </a:xfrm>
          <a:prstGeom prst="line">
            <a:avLst/>
          </a:prstGeom>
          <a:ln cap="rnd" w="28575">
            <a:solidFill>
              <a:srgbClr val="ACFDDB"/>
            </a:solidFill>
            <a:prstDash val="solid"/>
            <a:headEnd type="arrow" len="sm" w="med"/>
            <a:tailEnd type="none" len="sm" w="sm"/>
          </a:ln>
        </p:spPr>
      </p:sp>
      <p:grpSp>
        <p:nvGrpSpPr>
          <p:cNvPr name="Group 17" id="17"/>
          <p:cNvGrpSpPr/>
          <p:nvPr/>
        </p:nvGrpSpPr>
        <p:grpSpPr>
          <a:xfrm rot="0">
            <a:off x="4919186" y="2414102"/>
            <a:ext cx="1821304" cy="1821304"/>
            <a:chOff x="0" y="0"/>
            <a:chExt cx="2428405" cy="2428405"/>
          </a:xfrm>
        </p:grpSpPr>
        <p:sp>
          <p:nvSpPr>
            <p:cNvPr name="Freeform 18" id="18"/>
            <p:cNvSpPr/>
            <p:nvPr/>
          </p:nvSpPr>
          <p:spPr>
            <a:xfrm flipH="false" flipV="false" rot="0">
              <a:off x="0" y="0"/>
              <a:ext cx="2428367" cy="2428367"/>
            </a:xfrm>
            <a:custGeom>
              <a:avLst/>
              <a:gdLst/>
              <a:ahLst/>
              <a:cxnLst/>
              <a:rect r="r" b="b" t="t" l="l"/>
              <a:pathLst>
                <a:path h="2428367" w="2428367">
                  <a:moveTo>
                    <a:pt x="0" y="0"/>
                  </a:moveTo>
                  <a:lnTo>
                    <a:pt x="2428367" y="0"/>
                  </a:lnTo>
                  <a:lnTo>
                    <a:pt x="2428367" y="2428367"/>
                  </a:lnTo>
                  <a:lnTo>
                    <a:pt x="0" y="2428367"/>
                  </a:lnTo>
                  <a:lnTo>
                    <a:pt x="0" y="0"/>
                  </a:lnTo>
                  <a:close/>
                </a:path>
              </a:pathLst>
            </a:custGeom>
            <a:blipFill>
              <a:blip r:embed="rId10"/>
              <a:stretch>
                <a:fillRect l="0" t="0" r="-1" b="-1"/>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10763231" y="-17155"/>
            <a:ext cx="7524769" cy="10410501"/>
            <a:chOff x="0" y="0"/>
            <a:chExt cx="10033025" cy="13880668"/>
          </a:xfrm>
        </p:grpSpPr>
        <p:sp>
          <p:nvSpPr>
            <p:cNvPr name="Freeform 3" id="3"/>
            <p:cNvSpPr/>
            <p:nvPr/>
          </p:nvSpPr>
          <p:spPr>
            <a:xfrm flipH="false" flipV="false" rot="0">
              <a:off x="0" y="0"/>
              <a:ext cx="10033000" cy="13880719"/>
            </a:xfrm>
            <a:custGeom>
              <a:avLst/>
              <a:gdLst/>
              <a:ahLst/>
              <a:cxnLst/>
              <a:rect r="r" b="b" t="t" l="l"/>
              <a:pathLst>
                <a:path h="13880719" w="10033000">
                  <a:moveTo>
                    <a:pt x="0" y="0"/>
                  </a:moveTo>
                  <a:lnTo>
                    <a:pt x="10033000" y="0"/>
                  </a:lnTo>
                  <a:lnTo>
                    <a:pt x="10033000" y="13880719"/>
                  </a:lnTo>
                  <a:lnTo>
                    <a:pt x="0" y="13880719"/>
                  </a:lnTo>
                  <a:lnTo>
                    <a:pt x="0" y="0"/>
                  </a:lnTo>
                  <a:close/>
                </a:path>
              </a:pathLst>
            </a:custGeom>
            <a:blipFill>
              <a:blip r:embed="rId3">
                <a:alphaModFix amt="82000"/>
              </a:blip>
              <a:stretch>
                <a:fillRect l="-1881" t="0" r="-1881" b="0"/>
              </a:stretch>
            </a:blipFill>
          </p:spPr>
        </p:sp>
      </p:grpSp>
      <p:sp>
        <p:nvSpPr>
          <p:cNvPr name="Freeform 4" id="4"/>
          <p:cNvSpPr/>
          <p:nvPr/>
        </p:nvSpPr>
        <p:spPr>
          <a:xfrm flipH="false" flipV="false" rot="0">
            <a:off x="12570971" y="2726836"/>
            <a:ext cx="3909298" cy="4765053"/>
          </a:xfrm>
          <a:custGeom>
            <a:avLst/>
            <a:gdLst/>
            <a:ahLst/>
            <a:cxnLst/>
            <a:rect r="r" b="b" t="t" l="l"/>
            <a:pathLst>
              <a:path h="4765053" w="3909298">
                <a:moveTo>
                  <a:pt x="0" y="0"/>
                </a:moveTo>
                <a:lnTo>
                  <a:pt x="3909298" y="0"/>
                </a:lnTo>
                <a:lnTo>
                  <a:pt x="3909298" y="4765053"/>
                </a:lnTo>
                <a:lnTo>
                  <a:pt x="0" y="47650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4766862"/>
            <a:ext cx="1136523" cy="1136523"/>
          </a:xfrm>
          <a:custGeom>
            <a:avLst/>
            <a:gdLst/>
            <a:ahLst/>
            <a:cxnLst/>
            <a:rect r="r" b="b" t="t" l="l"/>
            <a:pathLst>
              <a:path h="1136523" w="1136523">
                <a:moveTo>
                  <a:pt x="0" y="0"/>
                </a:moveTo>
                <a:lnTo>
                  <a:pt x="1136523" y="0"/>
                </a:lnTo>
                <a:lnTo>
                  <a:pt x="1136523" y="1136523"/>
                </a:lnTo>
                <a:lnTo>
                  <a:pt x="0" y="11365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264387" y="4972536"/>
            <a:ext cx="665150" cy="668798"/>
            <a:chOff x="0" y="0"/>
            <a:chExt cx="886866" cy="891730"/>
          </a:xfrm>
        </p:grpSpPr>
        <p:sp>
          <p:nvSpPr>
            <p:cNvPr name="Freeform 7" id="7"/>
            <p:cNvSpPr/>
            <p:nvPr/>
          </p:nvSpPr>
          <p:spPr>
            <a:xfrm flipH="false" flipV="false" rot="0">
              <a:off x="0" y="0"/>
              <a:ext cx="886841" cy="891794"/>
            </a:xfrm>
            <a:custGeom>
              <a:avLst/>
              <a:gdLst/>
              <a:ahLst/>
              <a:cxnLst/>
              <a:rect r="r" b="b" t="t" l="l"/>
              <a:pathLst>
                <a:path h="891794" w="886841">
                  <a:moveTo>
                    <a:pt x="0" y="0"/>
                  </a:moveTo>
                  <a:lnTo>
                    <a:pt x="886841" y="0"/>
                  </a:lnTo>
                  <a:lnTo>
                    <a:pt x="886841" y="891794"/>
                  </a:lnTo>
                  <a:lnTo>
                    <a:pt x="0" y="891794"/>
                  </a:lnTo>
                  <a:lnTo>
                    <a:pt x="0" y="0"/>
                  </a:lnTo>
                  <a:close/>
                </a:path>
              </a:pathLst>
            </a:custGeom>
            <a:blipFill>
              <a:blip r:embed="rId8"/>
              <a:stretch>
                <a:fillRect l="-11" t="0" r="-14" b="7"/>
              </a:stretch>
            </a:blipFill>
          </p:spPr>
        </p:sp>
      </p:grpSp>
      <p:sp>
        <p:nvSpPr>
          <p:cNvPr name="Freeform 8" id="8"/>
          <p:cNvSpPr/>
          <p:nvPr/>
        </p:nvSpPr>
        <p:spPr>
          <a:xfrm flipH="false" flipV="false" rot="0">
            <a:off x="1028700" y="7087629"/>
            <a:ext cx="1136523" cy="1136523"/>
          </a:xfrm>
          <a:custGeom>
            <a:avLst/>
            <a:gdLst/>
            <a:ahLst/>
            <a:cxnLst/>
            <a:rect r="r" b="b" t="t" l="l"/>
            <a:pathLst>
              <a:path h="1136523" w="1136523">
                <a:moveTo>
                  <a:pt x="0" y="0"/>
                </a:moveTo>
                <a:lnTo>
                  <a:pt x="1136523" y="0"/>
                </a:lnTo>
                <a:lnTo>
                  <a:pt x="1136523" y="1136523"/>
                </a:lnTo>
                <a:lnTo>
                  <a:pt x="0" y="113652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9" id="9"/>
          <p:cNvGrpSpPr/>
          <p:nvPr/>
        </p:nvGrpSpPr>
        <p:grpSpPr>
          <a:xfrm rot="0">
            <a:off x="1264387" y="7392248"/>
            <a:ext cx="665150" cy="527285"/>
            <a:chOff x="0" y="0"/>
            <a:chExt cx="886866" cy="703047"/>
          </a:xfrm>
        </p:grpSpPr>
        <p:sp>
          <p:nvSpPr>
            <p:cNvPr name="Freeform 10" id="10"/>
            <p:cNvSpPr/>
            <p:nvPr/>
          </p:nvSpPr>
          <p:spPr>
            <a:xfrm flipH="false" flipV="false" rot="0">
              <a:off x="0" y="0"/>
              <a:ext cx="886841" cy="703072"/>
            </a:xfrm>
            <a:custGeom>
              <a:avLst/>
              <a:gdLst/>
              <a:ahLst/>
              <a:cxnLst/>
              <a:rect r="r" b="b" t="t" l="l"/>
              <a:pathLst>
                <a:path h="703072" w="886841">
                  <a:moveTo>
                    <a:pt x="0" y="0"/>
                  </a:moveTo>
                  <a:lnTo>
                    <a:pt x="886841" y="0"/>
                  </a:lnTo>
                  <a:lnTo>
                    <a:pt x="886841" y="703072"/>
                  </a:lnTo>
                  <a:lnTo>
                    <a:pt x="0" y="703072"/>
                  </a:lnTo>
                  <a:lnTo>
                    <a:pt x="0" y="0"/>
                  </a:lnTo>
                  <a:close/>
                </a:path>
              </a:pathLst>
            </a:custGeom>
            <a:blipFill>
              <a:blip r:embed="rId11"/>
              <a:stretch>
                <a:fillRect l="0" t="-108" r="-2" b="-104"/>
              </a:stretch>
            </a:blipFill>
          </p:spPr>
        </p:sp>
      </p:grpSp>
      <p:sp>
        <p:nvSpPr>
          <p:cNvPr name="Freeform 11" id="11"/>
          <p:cNvSpPr/>
          <p:nvPr/>
        </p:nvSpPr>
        <p:spPr>
          <a:xfrm flipH="false" flipV="false" rot="0">
            <a:off x="1028700" y="3151489"/>
            <a:ext cx="1136523" cy="1136523"/>
          </a:xfrm>
          <a:custGeom>
            <a:avLst/>
            <a:gdLst/>
            <a:ahLst/>
            <a:cxnLst/>
            <a:rect r="r" b="b" t="t" l="l"/>
            <a:pathLst>
              <a:path h="1136523" w="1136523">
                <a:moveTo>
                  <a:pt x="0" y="0"/>
                </a:moveTo>
                <a:lnTo>
                  <a:pt x="1136523" y="0"/>
                </a:lnTo>
                <a:lnTo>
                  <a:pt x="1136523" y="1136523"/>
                </a:lnTo>
                <a:lnTo>
                  <a:pt x="0" y="11365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2" id="12"/>
          <p:cNvGrpSpPr/>
          <p:nvPr/>
        </p:nvGrpSpPr>
        <p:grpSpPr>
          <a:xfrm rot="0">
            <a:off x="1264387" y="3387776"/>
            <a:ext cx="665150" cy="663940"/>
            <a:chOff x="0" y="0"/>
            <a:chExt cx="886866" cy="885254"/>
          </a:xfrm>
        </p:grpSpPr>
        <p:sp>
          <p:nvSpPr>
            <p:cNvPr name="Freeform 13" id="13"/>
            <p:cNvSpPr/>
            <p:nvPr/>
          </p:nvSpPr>
          <p:spPr>
            <a:xfrm flipH="false" flipV="false" rot="0">
              <a:off x="0" y="0"/>
              <a:ext cx="886841" cy="885317"/>
            </a:xfrm>
            <a:custGeom>
              <a:avLst/>
              <a:gdLst/>
              <a:ahLst/>
              <a:cxnLst/>
              <a:rect r="r" b="b" t="t" l="l"/>
              <a:pathLst>
                <a:path h="885317" w="886841">
                  <a:moveTo>
                    <a:pt x="0" y="0"/>
                  </a:moveTo>
                  <a:lnTo>
                    <a:pt x="886841" y="0"/>
                  </a:lnTo>
                  <a:lnTo>
                    <a:pt x="886841" y="885317"/>
                  </a:lnTo>
                  <a:lnTo>
                    <a:pt x="0" y="885317"/>
                  </a:lnTo>
                  <a:lnTo>
                    <a:pt x="0" y="0"/>
                  </a:lnTo>
                  <a:close/>
                </a:path>
              </a:pathLst>
            </a:custGeom>
            <a:blipFill>
              <a:blip r:embed="rId14"/>
              <a:stretch>
                <a:fillRect l="-12" t="0" r="-15" b="7"/>
              </a:stretch>
            </a:blipFill>
          </p:spPr>
        </p:sp>
      </p:grpSp>
      <p:sp>
        <p:nvSpPr>
          <p:cNvPr name="TextBox 14" id="14"/>
          <p:cNvSpPr txBox="true"/>
          <p:nvPr/>
        </p:nvSpPr>
        <p:spPr>
          <a:xfrm rot="0">
            <a:off x="1028700" y="876300"/>
            <a:ext cx="7609161" cy="1670047"/>
          </a:xfrm>
          <a:prstGeom prst="rect">
            <a:avLst/>
          </a:prstGeom>
        </p:spPr>
        <p:txBody>
          <a:bodyPr anchor="t" rtlCol="false" tIns="0" lIns="0" bIns="0" rIns="0">
            <a:spAutoFit/>
          </a:bodyPr>
          <a:lstStyle/>
          <a:p>
            <a:pPr algn="l">
              <a:lnSpc>
                <a:spcPts val="7259"/>
              </a:lnSpc>
            </a:pPr>
            <a:r>
              <a:rPr lang="en-US" sz="4999">
                <a:solidFill>
                  <a:srgbClr val="FFFFFF"/>
                </a:solidFill>
                <a:latin typeface="Arial"/>
                <a:ea typeface="Arial"/>
                <a:cs typeface="Arial"/>
                <a:sym typeface="Arial"/>
              </a:rPr>
              <a:t>TRADUCCIÓN BINARIA</a:t>
            </a:r>
          </a:p>
        </p:txBody>
      </p:sp>
      <p:sp>
        <p:nvSpPr>
          <p:cNvPr name="TextBox 15" id="15"/>
          <p:cNvSpPr txBox="true"/>
          <p:nvPr/>
        </p:nvSpPr>
        <p:spPr>
          <a:xfrm rot="0">
            <a:off x="2479862" y="3404092"/>
            <a:ext cx="7618505" cy="1159507"/>
          </a:xfrm>
          <a:prstGeom prst="rect">
            <a:avLst/>
          </a:prstGeom>
        </p:spPr>
        <p:txBody>
          <a:bodyPr anchor="t" rtlCol="false" tIns="0" lIns="0" bIns="0" rIns="0">
            <a:spAutoFit/>
          </a:bodyPr>
          <a:lstStyle/>
          <a:p>
            <a:pPr algn="l">
              <a:lnSpc>
                <a:spcPts val="2652"/>
              </a:lnSpc>
            </a:pPr>
            <a:r>
              <a:rPr lang="en-US" sz="1700">
                <a:solidFill>
                  <a:srgbClr val="FFFFFF"/>
                </a:solidFill>
                <a:latin typeface="Montserrat"/>
                <a:ea typeface="Montserrat"/>
                <a:cs typeface="Montserrat"/>
                <a:sym typeface="Montserrat"/>
              </a:rPr>
              <a:t>Hipervisores como </a:t>
            </a:r>
            <a:r>
              <a:rPr lang="en-US" b="true" sz="1700">
                <a:solidFill>
                  <a:srgbClr val="FFFFFF"/>
                </a:solidFill>
                <a:latin typeface="Montserrat Bold"/>
                <a:ea typeface="Montserrat Bold"/>
                <a:cs typeface="Montserrat Bold"/>
                <a:sym typeface="Montserrat Bold"/>
              </a:rPr>
              <a:t>VMware </a:t>
            </a:r>
            <a:r>
              <a:rPr lang="en-US" sz="1700">
                <a:solidFill>
                  <a:srgbClr val="FFFFFF"/>
                </a:solidFill>
                <a:latin typeface="Montserrat"/>
                <a:ea typeface="Montserrat"/>
                <a:cs typeface="Montserrat"/>
                <a:sym typeface="Montserrat"/>
              </a:rPr>
              <a:t>y </a:t>
            </a:r>
            <a:r>
              <a:rPr lang="en-US" b="true" sz="1700">
                <a:solidFill>
                  <a:srgbClr val="FFFFFF"/>
                </a:solidFill>
                <a:latin typeface="Montserrat Bold"/>
                <a:ea typeface="Montserrat Bold"/>
                <a:cs typeface="Montserrat Bold"/>
                <a:sym typeface="Montserrat Bold"/>
              </a:rPr>
              <a:t>QEMU </a:t>
            </a:r>
            <a:r>
              <a:rPr lang="en-US" sz="1700">
                <a:solidFill>
                  <a:srgbClr val="FFFFFF"/>
                </a:solidFill>
                <a:latin typeface="Montserrat"/>
                <a:ea typeface="Montserrat"/>
                <a:cs typeface="Montserrat"/>
                <a:sym typeface="Montserrat"/>
              </a:rPr>
              <a:t>implementan traducción binaria para ofrecer soporte a una amplia gama de sistemas operativos, permitiendo a los usuarios ejecutar diversas plataformas en la misma infraestructura de hardware.</a:t>
            </a:r>
          </a:p>
        </p:txBody>
      </p:sp>
      <p:sp>
        <p:nvSpPr>
          <p:cNvPr name="TextBox 16" id="16"/>
          <p:cNvSpPr txBox="true"/>
          <p:nvPr/>
        </p:nvSpPr>
        <p:spPr>
          <a:xfrm rot="0">
            <a:off x="2479862" y="2916422"/>
            <a:ext cx="6057700" cy="384419"/>
          </a:xfrm>
          <a:prstGeom prst="rect">
            <a:avLst/>
          </a:prstGeom>
        </p:spPr>
        <p:txBody>
          <a:bodyPr anchor="t" rtlCol="false" tIns="0" lIns="0" bIns="0" rIns="0">
            <a:spAutoFit/>
          </a:bodyPr>
          <a:lstStyle/>
          <a:p>
            <a:pPr algn="l">
              <a:lnSpc>
                <a:spcPts val="3089"/>
              </a:lnSpc>
            </a:pPr>
            <a:r>
              <a:rPr lang="en-US" b="true" sz="1979">
                <a:solidFill>
                  <a:srgbClr val="FFFFFF"/>
                </a:solidFill>
                <a:latin typeface="Montserrat Bold"/>
                <a:ea typeface="Montserrat Bold"/>
                <a:cs typeface="Montserrat Bold"/>
                <a:sym typeface="Montserrat Bold"/>
              </a:rPr>
              <a:t>IMPLEMENTACIONES PRÁCTICAS</a:t>
            </a:r>
          </a:p>
        </p:txBody>
      </p:sp>
      <p:sp>
        <p:nvSpPr>
          <p:cNvPr name="TextBox 17" id="17"/>
          <p:cNvSpPr txBox="true"/>
          <p:nvPr/>
        </p:nvSpPr>
        <p:spPr>
          <a:xfrm rot="0">
            <a:off x="2479862" y="6874507"/>
            <a:ext cx="6057700" cy="384419"/>
          </a:xfrm>
          <a:prstGeom prst="rect">
            <a:avLst/>
          </a:prstGeom>
        </p:spPr>
        <p:txBody>
          <a:bodyPr anchor="t" rtlCol="false" tIns="0" lIns="0" bIns="0" rIns="0">
            <a:spAutoFit/>
          </a:bodyPr>
          <a:lstStyle/>
          <a:p>
            <a:pPr algn="l">
              <a:lnSpc>
                <a:spcPts val="3089"/>
              </a:lnSpc>
            </a:pPr>
            <a:r>
              <a:rPr lang="en-US" b="true" sz="1979">
                <a:solidFill>
                  <a:srgbClr val="FFFFFF"/>
                </a:solidFill>
                <a:latin typeface="Montserrat Bold"/>
                <a:ea typeface="Montserrat Bold"/>
                <a:cs typeface="Montserrat Bold"/>
                <a:sym typeface="Montserrat Bold"/>
              </a:rPr>
              <a:t>USO EN ENTORNOS DIVERSOS</a:t>
            </a:r>
          </a:p>
        </p:txBody>
      </p:sp>
      <p:sp>
        <p:nvSpPr>
          <p:cNvPr name="TextBox 18" id="18"/>
          <p:cNvSpPr txBox="true"/>
          <p:nvPr/>
        </p:nvSpPr>
        <p:spPr>
          <a:xfrm rot="0">
            <a:off x="2479862" y="4700016"/>
            <a:ext cx="6057700" cy="384419"/>
          </a:xfrm>
          <a:prstGeom prst="rect">
            <a:avLst/>
          </a:prstGeom>
        </p:spPr>
        <p:txBody>
          <a:bodyPr anchor="t" rtlCol="false" tIns="0" lIns="0" bIns="0" rIns="0">
            <a:spAutoFit/>
          </a:bodyPr>
          <a:lstStyle/>
          <a:p>
            <a:pPr algn="l">
              <a:lnSpc>
                <a:spcPts val="3089"/>
              </a:lnSpc>
            </a:pPr>
            <a:r>
              <a:rPr lang="en-US" b="true" sz="1979">
                <a:solidFill>
                  <a:srgbClr val="FFFFFF"/>
                </a:solidFill>
                <a:latin typeface="Montserrat Bold"/>
                <a:ea typeface="Montserrat Bold"/>
                <a:cs typeface="Montserrat Bold"/>
                <a:sym typeface="Montserrat Bold"/>
              </a:rPr>
              <a:t>EFICIENCIA Y RENDIMIENTO</a:t>
            </a:r>
          </a:p>
        </p:txBody>
      </p:sp>
      <p:sp>
        <p:nvSpPr>
          <p:cNvPr name="TextBox 19" id="19"/>
          <p:cNvSpPr txBox="true"/>
          <p:nvPr/>
        </p:nvSpPr>
        <p:spPr>
          <a:xfrm rot="0">
            <a:off x="12969859" y="3797379"/>
            <a:ext cx="3111513" cy="3093082"/>
          </a:xfrm>
          <a:prstGeom prst="rect">
            <a:avLst/>
          </a:prstGeom>
        </p:spPr>
        <p:txBody>
          <a:bodyPr anchor="t" rtlCol="false" tIns="0" lIns="0" bIns="0" rIns="0">
            <a:spAutoFit/>
          </a:bodyPr>
          <a:lstStyle/>
          <a:p>
            <a:pPr algn="ctr">
              <a:lnSpc>
                <a:spcPts val="2652"/>
              </a:lnSpc>
            </a:pPr>
            <a:r>
              <a:rPr lang="en-US" sz="1700">
                <a:solidFill>
                  <a:srgbClr val="FFFFFF"/>
                </a:solidFill>
                <a:latin typeface="Montserrat"/>
                <a:ea typeface="Montserrat"/>
                <a:cs typeface="Montserrat"/>
                <a:sym typeface="Montserrat"/>
              </a:rPr>
              <a:t>Aunque permite ejecutar sistemas operativos no diseñados para entornos virtualizados, este método puede llevar a una</a:t>
            </a:r>
            <a:r>
              <a:rPr lang="en-US" sz="1700">
                <a:solidFill>
                  <a:srgbClr val="ACFDDB"/>
                </a:solidFill>
                <a:latin typeface="Montserrat"/>
                <a:ea typeface="Montserrat"/>
                <a:cs typeface="Montserrat"/>
                <a:sym typeface="Montserrat"/>
              </a:rPr>
              <a:t> pérdida de compatibilidad</a:t>
            </a:r>
            <a:r>
              <a:rPr lang="en-US" sz="1700">
                <a:solidFill>
                  <a:srgbClr val="FFFFFF"/>
                </a:solidFill>
                <a:latin typeface="Montserrat"/>
                <a:ea typeface="Montserrat"/>
                <a:cs typeface="Montserrat"/>
                <a:sym typeface="Montserrat"/>
              </a:rPr>
              <a:t> con ciertas aplicaciones que dependen de instrucciones de hardware específicas</a:t>
            </a:r>
          </a:p>
        </p:txBody>
      </p:sp>
      <p:sp>
        <p:nvSpPr>
          <p:cNvPr name="TextBox 20" id="20"/>
          <p:cNvSpPr txBox="true"/>
          <p:nvPr/>
        </p:nvSpPr>
        <p:spPr>
          <a:xfrm rot="0">
            <a:off x="12969707" y="3295098"/>
            <a:ext cx="3111817" cy="384172"/>
          </a:xfrm>
          <a:prstGeom prst="rect">
            <a:avLst/>
          </a:prstGeom>
        </p:spPr>
        <p:txBody>
          <a:bodyPr anchor="t" rtlCol="false" tIns="0" lIns="0" bIns="0" rIns="0">
            <a:spAutoFit/>
          </a:bodyPr>
          <a:lstStyle/>
          <a:p>
            <a:pPr algn="ctr">
              <a:lnSpc>
                <a:spcPts val="3120"/>
              </a:lnSpc>
            </a:pPr>
            <a:r>
              <a:rPr lang="en-US" b="true" sz="2000">
                <a:solidFill>
                  <a:srgbClr val="FFFFFF"/>
                </a:solidFill>
                <a:latin typeface="Montserrat Bold"/>
                <a:ea typeface="Montserrat Bold"/>
                <a:cs typeface="Montserrat Bold"/>
                <a:sym typeface="Montserrat Bold"/>
              </a:rPr>
              <a:t>¿Sabías qué?</a:t>
            </a:r>
          </a:p>
        </p:txBody>
      </p:sp>
      <p:sp>
        <p:nvSpPr>
          <p:cNvPr name="TextBox 21" id="21"/>
          <p:cNvSpPr txBox="true"/>
          <p:nvPr/>
        </p:nvSpPr>
        <p:spPr>
          <a:xfrm rot="0">
            <a:off x="2479862" y="5067300"/>
            <a:ext cx="7618505" cy="1711957"/>
          </a:xfrm>
          <a:prstGeom prst="rect">
            <a:avLst/>
          </a:prstGeom>
        </p:spPr>
        <p:txBody>
          <a:bodyPr anchor="t" rtlCol="false" tIns="0" lIns="0" bIns="0" rIns="0">
            <a:spAutoFit/>
          </a:bodyPr>
          <a:lstStyle/>
          <a:p>
            <a:pPr algn="l">
              <a:lnSpc>
                <a:spcPts val="2652"/>
              </a:lnSpc>
            </a:pPr>
            <a:r>
              <a:rPr lang="en-US" sz="1700">
                <a:solidFill>
                  <a:srgbClr val="FFFFFF"/>
                </a:solidFill>
                <a:latin typeface="Montserrat"/>
                <a:ea typeface="Montserrat"/>
                <a:cs typeface="Montserrat"/>
                <a:sym typeface="Montserrat"/>
              </a:rPr>
              <a:t>Aunque la traducción binaria permite ejecutar sistemas operativos sin modificaciones, introduce una sobrecarga en el rendimiento al requerir que cada instrucción del sistema huésped sea interceptada y traducida en tiempo real, lo que puede ralentizar operaciones, especialmente en aplicaciones de alto rendimiento.</a:t>
            </a:r>
          </a:p>
        </p:txBody>
      </p:sp>
      <p:sp>
        <p:nvSpPr>
          <p:cNvPr name="TextBox 22" id="22"/>
          <p:cNvSpPr txBox="true"/>
          <p:nvPr/>
        </p:nvSpPr>
        <p:spPr>
          <a:xfrm rot="0">
            <a:off x="2479862" y="7182726"/>
            <a:ext cx="6429346" cy="1435732"/>
          </a:xfrm>
          <a:prstGeom prst="rect">
            <a:avLst/>
          </a:prstGeom>
        </p:spPr>
        <p:txBody>
          <a:bodyPr anchor="t" rtlCol="false" tIns="0" lIns="0" bIns="0" rIns="0">
            <a:spAutoFit/>
          </a:bodyPr>
          <a:lstStyle/>
          <a:p>
            <a:pPr algn="l">
              <a:lnSpc>
                <a:spcPts val="2652"/>
              </a:lnSpc>
            </a:pPr>
            <a:r>
              <a:rPr lang="en-US" sz="1700">
                <a:solidFill>
                  <a:srgbClr val="FFFFFF"/>
                </a:solidFill>
                <a:latin typeface="Montserrat"/>
                <a:ea typeface="Montserrat"/>
                <a:cs typeface="Montserrat"/>
                <a:sym typeface="Montserrat"/>
              </a:rPr>
              <a:t>Este método es común en hipervisores que necesitan soportar múltiples sistemas operativos y configuraciones, siendo útil en la virtualización de escritorios y servidores con diferentes tipos de software.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AutoShape 2" id="2"/>
          <p:cNvSpPr/>
          <p:nvPr/>
        </p:nvSpPr>
        <p:spPr>
          <a:xfrm rot="4260">
            <a:off x="1023938" y="5376882"/>
            <a:ext cx="7730519" cy="0"/>
          </a:xfrm>
          <a:prstGeom prst="line">
            <a:avLst/>
          </a:prstGeom>
          <a:ln cap="rnd" w="9525">
            <a:solidFill>
              <a:srgbClr val="FFFFFF"/>
            </a:solidFill>
            <a:prstDash val="solid"/>
            <a:headEnd type="none" len="sm" w="sm"/>
            <a:tailEnd type="none" len="sm" w="sm"/>
          </a:ln>
        </p:spPr>
      </p:sp>
      <p:sp>
        <p:nvSpPr>
          <p:cNvPr name="AutoShape 3" id="3"/>
          <p:cNvSpPr/>
          <p:nvPr/>
        </p:nvSpPr>
        <p:spPr>
          <a:xfrm rot="4260">
            <a:off x="1023938" y="7558983"/>
            <a:ext cx="7730519" cy="0"/>
          </a:xfrm>
          <a:prstGeom prst="line">
            <a:avLst/>
          </a:prstGeom>
          <a:ln cap="rnd" w="9525">
            <a:solidFill>
              <a:srgbClr val="FFFFFF"/>
            </a:solidFill>
            <a:prstDash val="solid"/>
            <a:headEnd type="none" len="sm" w="sm"/>
            <a:tailEnd type="none" len="sm" w="sm"/>
          </a:ln>
        </p:spPr>
      </p:sp>
      <p:sp>
        <p:nvSpPr>
          <p:cNvPr name="AutoShape 4" id="4"/>
          <p:cNvSpPr/>
          <p:nvPr/>
        </p:nvSpPr>
        <p:spPr>
          <a:xfrm rot="4260">
            <a:off x="1023938" y="9464859"/>
            <a:ext cx="7730519" cy="0"/>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9705289" y="2572522"/>
            <a:ext cx="7960890" cy="5970670"/>
            <a:chOff x="0" y="0"/>
            <a:chExt cx="10614520" cy="7960893"/>
          </a:xfrm>
        </p:grpSpPr>
        <p:sp>
          <p:nvSpPr>
            <p:cNvPr name="Freeform 6" id="6"/>
            <p:cNvSpPr/>
            <p:nvPr/>
          </p:nvSpPr>
          <p:spPr>
            <a:xfrm flipH="false" flipV="false" rot="0">
              <a:off x="0" y="0"/>
              <a:ext cx="10614533" cy="7960868"/>
            </a:xfrm>
            <a:custGeom>
              <a:avLst/>
              <a:gdLst/>
              <a:ahLst/>
              <a:cxnLst/>
              <a:rect r="r" b="b" t="t" l="l"/>
              <a:pathLst>
                <a:path h="7960868" w="10614533">
                  <a:moveTo>
                    <a:pt x="0" y="0"/>
                  </a:moveTo>
                  <a:lnTo>
                    <a:pt x="10614533" y="0"/>
                  </a:lnTo>
                  <a:lnTo>
                    <a:pt x="10614533" y="7960868"/>
                  </a:lnTo>
                  <a:lnTo>
                    <a:pt x="0" y="7960868"/>
                  </a:lnTo>
                  <a:lnTo>
                    <a:pt x="0" y="0"/>
                  </a:lnTo>
                  <a:close/>
                </a:path>
              </a:pathLst>
            </a:custGeom>
            <a:blipFill>
              <a:blip r:embed="rId3"/>
              <a:stretch>
                <a:fillRect l="-52" t="0" r="-52" b="0"/>
              </a:stretch>
            </a:blipFill>
          </p:spPr>
        </p:sp>
      </p:grpSp>
      <p:sp>
        <p:nvSpPr>
          <p:cNvPr name="TextBox 7" id="7"/>
          <p:cNvSpPr txBox="true"/>
          <p:nvPr/>
        </p:nvSpPr>
        <p:spPr>
          <a:xfrm rot="0">
            <a:off x="1028700" y="1328099"/>
            <a:ext cx="8115300" cy="908047"/>
          </a:xfrm>
          <a:prstGeom prst="rect">
            <a:avLst/>
          </a:prstGeom>
        </p:spPr>
        <p:txBody>
          <a:bodyPr anchor="t" rtlCol="false" tIns="0" lIns="0" bIns="0" rIns="0">
            <a:spAutoFit/>
          </a:bodyPr>
          <a:lstStyle/>
          <a:p>
            <a:pPr algn="l">
              <a:lnSpc>
                <a:spcPts val="7259"/>
              </a:lnSpc>
            </a:pPr>
            <a:r>
              <a:rPr lang="en-US" sz="4999">
                <a:solidFill>
                  <a:srgbClr val="FFFFFF"/>
                </a:solidFill>
                <a:latin typeface="Arial"/>
                <a:ea typeface="Arial"/>
                <a:cs typeface="Arial"/>
                <a:sym typeface="Arial"/>
              </a:rPr>
              <a:t>PARAVIRTUALIZACIÓN</a:t>
            </a:r>
          </a:p>
        </p:txBody>
      </p:sp>
      <p:sp>
        <p:nvSpPr>
          <p:cNvPr name="TextBox 8" id="8"/>
          <p:cNvSpPr txBox="true"/>
          <p:nvPr/>
        </p:nvSpPr>
        <p:spPr>
          <a:xfrm rot="0">
            <a:off x="1028700" y="3218564"/>
            <a:ext cx="7720994" cy="1988182"/>
          </a:xfrm>
          <a:prstGeom prst="rect">
            <a:avLst/>
          </a:prstGeom>
        </p:spPr>
        <p:txBody>
          <a:bodyPr anchor="t" rtlCol="false" tIns="0" lIns="0" bIns="0" rIns="0">
            <a:spAutoFit/>
          </a:bodyPr>
          <a:lstStyle/>
          <a:p>
            <a:pPr algn="l">
              <a:lnSpc>
                <a:spcPts val="2652"/>
              </a:lnSpc>
            </a:pPr>
            <a:r>
              <a:rPr lang="en-US" sz="1700">
                <a:solidFill>
                  <a:srgbClr val="FFFFFF"/>
                </a:solidFill>
                <a:latin typeface="Montserrat"/>
                <a:ea typeface="Montserrat"/>
                <a:cs typeface="Montserrat"/>
                <a:sym typeface="Montserrat"/>
              </a:rPr>
              <a:t>La paravirtualización mejora el rendimiento al permitir que el sistema operativo huésped se comunique directamente con el hipervisor. Esto reduce la necesidad de traducir instrucciones en tiempo real, lo que disminuye la latencia y mejora la eficiencia general del sistema. Los procesos pueden ejecutarse más rápidamente, lo que es crucial para aplicaciones que requieren un rendimiento intenso.</a:t>
            </a:r>
          </a:p>
        </p:txBody>
      </p:sp>
      <p:sp>
        <p:nvSpPr>
          <p:cNvPr name="TextBox 9" id="9"/>
          <p:cNvSpPr txBox="true"/>
          <p:nvPr/>
        </p:nvSpPr>
        <p:spPr>
          <a:xfrm rot="0">
            <a:off x="1028700" y="2740228"/>
            <a:ext cx="7720994" cy="384419"/>
          </a:xfrm>
          <a:prstGeom prst="rect">
            <a:avLst/>
          </a:prstGeom>
        </p:spPr>
        <p:txBody>
          <a:bodyPr anchor="t" rtlCol="false" tIns="0" lIns="0" bIns="0" rIns="0">
            <a:spAutoFit/>
          </a:bodyPr>
          <a:lstStyle/>
          <a:p>
            <a:pPr algn="l">
              <a:lnSpc>
                <a:spcPts val="3089"/>
              </a:lnSpc>
            </a:pPr>
            <a:r>
              <a:rPr lang="en-US" b="true" sz="1979">
                <a:solidFill>
                  <a:srgbClr val="FFFFFF"/>
                </a:solidFill>
                <a:latin typeface="Montserrat Bold"/>
                <a:ea typeface="Montserrat Bold"/>
                <a:cs typeface="Montserrat Bold"/>
                <a:sym typeface="Montserrat Bold"/>
              </a:rPr>
              <a:t>EFICIENCIA AUMENTADA</a:t>
            </a:r>
          </a:p>
        </p:txBody>
      </p:sp>
      <p:sp>
        <p:nvSpPr>
          <p:cNvPr name="TextBox 10" id="10"/>
          <p:cNvSpPr txBox="true"/>
          <p:nvPr/>
        </p:nvSpPr>
        <p:spPr>
          <a:xfrm rot="0">
            <a:off x="1028700" y="5472132"/>
            <a:ext cx="7720994" cy="384419"/>
          </a:xfrm>
          <a:prstGeom prst="rect">
            <a:avLst/>
          </a:prstGeom>
        </p:spPr>
        <p:txBody>
          <a:bodyPr anchor="t" rtlCol="false" tIns="0" lIns="0" bIns="0" rIns="0">
            <a:spAutoFit/>
          </a:bodyPr>
          <a:lstStyle/>
          <a:p>
            <a:pPr algn="l">
              <a:lnSpc>
                <a:spcPts val="3089"/>
              </a:lnSpc>
            </a:pPr>
            <a:r>
              <a:rPr lang="en-US" b="true" sz="1979">
                <a:solidFill>
                  <a:srgbClr val="FFFFFF"/>
                </a:solidFill>
                <a:latin typeface="Montserrat Bold"/>
                <a:ea typeface="Montserrat Bold"/>
                <a:cs typeface="Montserrat Bold"/>
                <a:sym typeface="Montserrat Bold"/>
              </a:rPr>
              <a:t>MODIFICACIONES NECESARIAS</a:t>
            </a:r>
          </a:p>
        </p:txBody>
      </p:sp>
      <p:sp>
        <p:nvSpPr>
          <p:cNvPr name="TextBox 11" id="11"/>
          <p:cNvSpPr txBox="true"/>
          <p:nvPr/>
        </p:nvSpPr>
        <p:spPr>
          <a:xfrm rot="0">
            <a:off x="1028700" y="5951792"/>
            <a:ext cx="7720994" cy="1435732"/>
          </a:xfrm>
          <a:prstGeom prst="rect">
            <a:avLst/>
          </a:prstGeom>
        </p:spPr>
        <p:txBody>
          <a:bodyPr anchor="t" rtlCol="false" tIns="0" lIns="0" bIns="0" rIns="0">
            <a:spAutoFit/>
          </a:bodyPr>
          <a:lstStyle/>
          <a:p>
            <a:pPr algn="l">
              <a:lnSpc>
                <a:spcPts val="2652"/>
              </a:lnSpc>
            </a:pPr>
            <a:r>
              <a:rPr lang="en-US" sz="1700">
                <a:solidFill>
                  <a:srgbClr val="FFFFFF"/>
                </a:solidFill>
                <a:latin typeface="Montserrat"/>
                <a:ea typeface="Montserrat"/>
                <a:cs typeface="Montserrat"/>
                <a:sym typeface="Montserrat"/>
              </a:rPr>
              <a:t>Requiere que el sistema operativo huésped sea adaptado o modificado, lo que significa que no todos los sistemas operativos son compatibles. Esto puede ser un obstáculo en entornos donde se utilizan sistemas operativos propietarios o donde no se tiene acceso al código fuente para realizar modificaciones.</a:t>
            </a:r>
          </a:p>
        </p:txBody>
      </p:sp>
      <p:sp>
        <p:nvSpPr>
          <p:cNvPr name="TextBox 12" id="12"/>
          <p:cNvSpPr txBox="true"/>
          <p:nvPr/>
        </p:nvSpPr>
        <p:spPr>
          <a:xfrm rot="0">
            <a:off x="1028700" y="7654233"/>
            <a:ext cx="7720994" cy="384419"/>
          </a:xfrm>
          <a:prstGeom prst="rect">
            <a:avLst/>
          </a:prstGeom>
        </p:spPr>
        <p:txBody>
          <a:bodyPr anchor="t" rtlCol="false" tIns="0" lIns="0" bIns="0" rIns="0">
            <a:spAutoFit/>
          </a:bodyPr>
          <a:lstStyle/>
          <a:p>
            <a:pPr algn="l">
              <a:lnSpc>
                <a:spcPts val="3089"/>
              </a:lnSpc>
            </a:pPr>
            <a:r>
              <a:rPr lang="en-US" b="true" sz="1979">
                <a:solidFill>
                  <a:srgbClr val="FFFFFF"/>
                </a:solidFill>
                <a:latin typeface="Montserrat Bold"/>
                <a:ea typeface="Montserrat Bold"/>
                <a:cs typeface="Montserrat Bold"/>
                <a:sym typeface="Montserrat Bold"/>
              </a:rPr>
              <a:t>IDEAL PARA ENTORNOS CONTROLADOS</a:t>
            </a:r>
          </a:p>
        </p:txBody>
      </p:sp>
      <p:sp>
        <p:nvSpPr>
          <p:cNvPr name="TextBox 13" id="13"/>
          <p:cNvSpPr txBox="true"/>
          <p:nvPr/>
        </p:nvSpPr>
        <p:spPr>
          <a:xfrm rot="0">
            <a:off x="1028700" y="8133893"/>
            <a:ext cx="7720994" cy="1159507"/>
          </a:xfrm>
          <a:prstGeom prst="rect">
            <a:avLst/>
          </a:prstGeom>
        </p:spPr>
        <p:txBody>
          <a:bodyPr anchor="t" rtlCol="false" tIns="0" lIns="0" bIns="0" rIns="0">
            <a:spAutoFit/>
          </a:bodyPr>
          <a:lstStyle/>
          <a:p>
            <a:pPr algn="l">
              <a:lnSpc>
                <a:spcPts val="2652"/>
              </a:lnSpc>
            </a:pPr>
            <a:r>
              <a:rPr lang="en-US" sz="1700">
                <a:solidFill>
                  <a:srgbClr val="FFFFFF"/>
                </a:solidFill>
                <a:latin typeface="Montserrat"/>
                <a:ea typeface="Montserrat"/>
                <a:cs typeface="Montserrat"/>
                <a:sym typeface="Montserrat"/>
              </a:rPr>
              <a:t>Es más adecuada para entornos empresariales donde se pueden implementar y gestionar cambios en el software. Esto permite a las organizaciones maximizar el rendimiento y la eficiencia de sus aplicaciones críticas.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TextBox 2" id="2"/>
          <p:cNvSpPr txBox="true"/>
          <p:nvPr/>
        </p:nvSpPr>
        <p:spPr>
          <a:xfrm rot="0">
            <a:off x="4572000" y="3365097"/>
            <a:ext cx="12533100" cy="3309147"/>
          </a:xfrm>
          <a:prstGeom prst="rect">
            <a:avLst/>
          </a:prstGeom>
        </p:spPr>
        <p:txBody>
          <a:bodyPr anchor="t" rtlCol="false" tIns="0" lIns="0" bIns="0" rIns="0">
            <a:spAutoFit/>
          </a:bodyPr>
          <a:lstStyle/>
          <a:p>
            <a:pPr algn="ctr">
              <a:lnSpc>
                <a:spcPts val="13068"/>
              </a:lnSpc>
            </a:pPr>
            <a:r>
              <a:rPr lang="en-US" b="true" sz="9000">
                <a:solidFill>
                  <a:srgbClr val="FFFFFF"/>
                </a:solidFill>
                <a:latin typeface="Arial Bold"/>
                <a:ea typeface="Arial Bold"/>
                <a:cs typeface="Arial Bold"/>
                <a:sym typeface="Arial Bold"/>
              </a:rPr>
              <a:t>Kahoot: Virtualización</a:t>
            </a:r>
            <a:r>
              <a:rPr lang="en-US" sz="9000">
                <a:solidFill>
                  <a:srgbClr val="FFFFFF"/>
                </a:solidFill>
                <a:latin typeface="Arial"/>
                <a:ea typeface="Arial"/>
                <a:cs typeface="Arial"/>
                <a:sym typeface="Arial"/>
              </a:rPr>
              <a:t> </a:t>
            </a:r>
          </a:p>
          <a:p>
            <a:pPr algn="ctr">
              <a:lnSpc>
                <a:spcPts val="13068"/>
              </a:lnSpc>
            </a:pPr>
            <a:r>
              <a:rPr lang="en-US" sz="9000">
                <a:solidFill>
                  <a:srgbClr val="FFFFFF"/>
                </a:solidFill>
                <a:latin typeface="Arial"/>
                <a:ea typeface="Arial"/>
                <a:cs typeface="Arial"/>
                <a:sym typeface="Arial"/>
              </a:rPr>
              <a:t>PIN: </a:t>
            </a:r>
          </a:p>
        </p:txBody>
      </p:sp>
      <p:grpSp>
        <p:nvGrpSpPr>
          <p:cNvPr name="Group 3" id="3"/>
          <p:cNvGrpSpPr/>
          <p:nvPr/>
        </p:nvGrpSpPr>
        <p:grpSpPr>
          <a:xfrm rot="0">
            <a:off x="1782823" y="3924300"/>
            <a:ext cx="2438400" cy="2438400"/>
            <a:chOff x="0" y="0"/>
            <a:chExt cx="3251200" cy="3251200"/>
          </a:xfrm>
        </p:grpSpPr>
        <p:sp>
          <p:nvSpPr>
            <p:cNvPr name="Freeform 4" id="4"/>
            <p:cNvSpPr/>
            <p:nvPr/>
          </p:nvSpPr>
          <p:spPr>
            <a:xfrm flipH="false" flipV="false" rot="0">
              <a:off x="0" y="0"/>
              <a:ext cx="3251200" cy="3251200"/>
            </a:xfrm>
            <a:custGeom>
              <a:avLst/>
              <a:gdLst/>
              <a:ahLst/>
              <a:cxnLst/>
              <a:rect r="r" b="b" t="t" l="l"/>
              <a:pathLst>
                <a:path h="3251200" w="3251200">
                  <a:moveTo>
                    <a:pt x="0" y="0"/>
                  </a:moveTo>
                  <a:lnTo>
                    <a:pt x="3251200" y="0"/>
                  </a:lnTo>
                  <a:lnTo>
                    <a:pt x="3251200" y="3251200"/>
                  </a:lnTo>
                  <a:lnTo>
                    <a:pt x="0" y="3251200"/>
                  </a:lnTo>
                  <a:lnTo>
                    <a:pt x="0" y="0"/>
                  </a:lnTo>
                  <a:close/>
                </a:path>
              </a:pathLst>
            </a:custGeom>
            <a:blipFill>
              <a:blip r:embed="rId3"/>
              <a:stretch>
                <a:fillRect l="0" t="0" r="0" b="0"/>
              </a:stretch>
            </a:blipFill>
          </p:spPr>
        </p:sp>
      </p:grpSp>
      <p:grpSp>
        <p:nvGrpSpPr>
          <p:cNvPr name="Group 5" id="5"/>
          <p:cNvGrpSpPr/>
          <p:nvPr/>
        </p:nvGrpSpPr>
        <p:grpSpPr>
          <a:xfrm rot="0">
            <a:off x="19015643" y="-4"/>
            <a:ext cx="4626464" cy="4576000"/>
            <a:chOff x="0" y="0"/>
            <a:chExt cx="6168619" cy="6101334"/>
          </a:xfrm>
        </p:grpSpPr>
        <p:sp>
          <p:nvSpPr>
            <p:cNvPr name="Freeform 6" id="6"/>
            <p:cNvSpPr/>
            <p:nvPr/>
          </p:nvSpPr>
          <p:spPr>
            <a:xfrm flipH="false" flipV="false" rot="0">
              <a:off x="0" y="0"/>
              <a:ext cx="6168644" cy="6101334"/>
            </a:xfrm>
            <a:custGeom>
              <a:avLst/>
              <a:gdLst/>
              <a:ahLst/>
              <a:cxnLst/>
              <a:rect r="r" b="b" t="t" l="l"/>
              <a:pathLst>
                <a:path h="6101334" w="6168644">
                  <a:moveTo>
                    <a:pt x="0" y="0"/>
                  </a:moveTo>
                  <a:lnTo>
                    <a:pt x="6168644" y="0"/>
                  </a:lnTo>
                  <a:lnTo>
                    <a:pt x="6168644" y="6101334"/>
                  </a:lnTo>
                  <a:lnTo>
                    <a:pt x="0" y="6101334"/>
                  </a:lnTo>
                  <a:lnTo>
                    <a:pt x="0" y="0"/>
                  </a:lnTo>
                  <a:close/>
                </a:path>
              </a:pathLst>
            </a:custGeom>
            <a:blipFill>
              <a:blip r:embed="rId4"/>
              <a:stretch>
                <a:fillRect l="0" t="-22" r="0" b="-22"/>
              </a:stretch>
            </a:blipFill>
          </p:spPr>
        </p:sp>
      </p:grpSp>
      <p:sp>
        <p:nvSpPr>
          <p:cNvPr name="TextBox 7" id="7"/>
          <p:cNvSpPr txBox="true"/>
          <p:nvPr/>
        </p:nvSpPr>
        <p:spPr>
          <a:xfrm rot="0">
            <a:off x="19709759" y="1013174"/>
            <a:ext cx="3238205" cy="3009748"/>
          </a:xfrm>
          <a:prstGeom prst="rect">
            <a:avLst/>
          </a:prstGeom>
        </p:spPr>
        <p:txBody>
          <a:bodyPr anchor="t" rtlCol="false" tIns="0" lIns="0" bIns="0" rIns="0">
            <a:spAutoFit/>
          </a:bodyPr>
          <a:lstStyle/>
          <a:p>
            <a:pPr algn="l">
              <a:lnSpc>
                <a:spcPts val="3383"/>
              </a:lnSpc>
            </a:pPr>
            <a:r>
              <a:rPr lang="en-US" sz="2014">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p>
        </p:txBody>
      </p:sp>
      <p:sp>
        <p:nvSpPr>
          <p:cNvPr name="TextBox 8" id="8"/>
          <p:cNvSpPr txBox="true"/>
          <p:nvPr/>
        </p:nvSpPr>
        <p:spPr>
          <a:xfrm rot="0">
            <a:off x="4549121" y="10778471"/>
            <a:ext cx="7170449" cy="236401"/>
          </a:xfrm>
          <a:prstGeom prst="rect">
            <a:avLst/>
          </a:prstGeom>
        </p:spPr>
        <p:txBody>
          <a:bodyPr anchor="t" rtlCol="false" tIns="0" lIns="0" bIns="0" rIns="0">
            <a:spAutoFit/>
          </a:bodyPr>
          <a:lstStyle/>
          <a:p>
            <a:pPr algn="l">
              <a:lnSpc>
                <a:spcPts val="1679"/>
              </a:lnSpc>
            </a:pPr>
            <a:r>
              <a:rPr lang="en-US" sz="1399">
                <a:solidFill>
                  <a:srgbClr val="000000"/>
                </a:solidFill>
                <a:latin typeface="Arial"/>
                <a:ea typeface="Arial"/>
                <a:cs typeface="Arial"/>
                <a:sym typeface="Arial"/>
              </a:rPr>
              <a:t>https://create.kahoot.it/details/virtualizacion/c6dbd8f2-ee00-4631-90de-5eb1966b5c82</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1489796" y="0"/>
            <a:ext cx="20496609" cy="10583704"/>
            <a:chOff x="0" y="0"/>
            <a:chExt cx="27328812" cy="14111605"/>
          </a:xfrm>
        </p:grpSpPr>
        <p:sp>
          <p:nvSpPr>
            <p:cNvPr name="Freeform 3" id="3"/>
            <p:cNvSpPr/>
            <p:nvPr/>
          </p:nvSpPr>
          <p:spPr>
            <a:xfrm flipH="false" flipV="false" rot="0">
              <a:off x="0" y="0"/>
              <a:ext cx="27328750" cy="14111605"/>
            </a:xfrm>
            <a:custGeom>
              <a:avLst/>
              <a:gdLst/>
              <a:ahLst/>
              <a:cxnLst/>
              <a:rect r="r" b="b" t="t" l="l"/>
              <a:pathLst>
                <a:path h="14111605" w="27328750">
                  <a:moveTo>
                    <a:pt x="0" y="0"/>
                  </a:moveTo>
                  <a:lnTo>
                    <a:pt x="27328750" y="0"/>
                  </a:lnTo>
                  <a:lnTo>
                    <a:pt x="27328750" y="14111605"/>
                  </a:lnTo>
                  <a:lnTo>
                    <a:pt x="0" y="14111605"/>
                  </a:lnTo>
                  <a:lnTo>
                    <a:pt x="0" y="0"/>
                  </a:lnTo>
                  <a:close/>
                </a:path>
              </a:pathLst>
            </a:custGeom>
            <a:blipFill>
              <a:blip r:embed="rId3">
                <a:alphaModFix amt="19999"/>
              </a:blip>
              <a:stretch>
                <a:fillRect l="0" t="-158" r="0" b="-158"/>
              </a:stretch>
            </a:blipFill>
          </p:spPr>
        </p:sp>
      </p:grpSp>
      <p:sp>
        <p:nvSpPr>
          <p:cNvPr name="TextBox 4" id="4"/>
          <p:cNvSpPr txBox="true"/>
          <p:nvPr/>
        </p:nvSpPr>
        <p:spPr>
          <a:xfrm rot="0">
            <a:off x="2293039" y="863546"/>
            <a:ext cx="13701903" cy="897074"/>
          </a:xfrm>
          <a:prstGeom prst="rect">
            <a:avLst/>
          </a:prstGeom>
        </p:spPr>
        <p:txBody>
          <a:bodyPr anchor="t" rtlCol="false" tIns="0" lIns="0" bIns="0" rIns="0">
            <a:spAutoFit/>
          </a:bodyPr>
          <a:lstStyle/>
          <a:p>
            <a:pPr algn="ctr">
              <a:lnSpc>
                <a:spcPts val="7114"/>
              </a:lnSpc>
            </a:pPr>
            <a:r>
              <a:rPr lang="en-US" sz="4900">
                <a:solidFill>
                  <a:srgbClr val="FFFFFF"/>
                </a:solidFill>
                <a:latin typeface="Arial"/>
                <a:ea typeface="Arial"/>
                <a:cs typeface="Arial"/>
                <a:sym typeface="Arial"/>
              </a:rPr>
              <a:t>CONCEPTOS CLAVE APRENDIDOS</a:t>
            </a:r>
          </a:p>
        </p:txBody>
      </p:sp>
      <p:sp>
        <p:nvSpPr>
          <p:cNvPr name="Freeform 5" id="5"/>
          <p:cNvSpPr/>
          <p:nvPr/>
        </p:nvSpPr>
        <p:spPr>
          <a:xfrm flipH="false" flipV="false" rot="0">
            <a:off x="2695527" y="2304374"/>
            <a:ext cx="12896945" cy="6505842"/>
          </a:xfrm>
          <a:custGeom>
            <a:avLst/>
            <a:gdLst/>
            <a:ahLst/>
            <a:cxnLst/>
            <a:rect r="r" b="b" t="t" l="l"/>
            <a:pathLst>
              <a:path h="6505842" w="12896945">
                <a:moveTo>
                  <a:pt x="0" y="0"/>
                </a:moveTo>
                <a:lnTo>
                  <a:pt x="12896946" y="0"/>
                </a:lnTo>
                <a:lnTo>
                  <a:pt x="12896946" y="6505841"/>
                </a:lnTo>
                <a:lnTo>
                  <a:pt x="0" y="65058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917803" y="2542280"/>
            <a:ext cx="12370346" cy="6024001"/>
          </a:xfrm>
          <a:prstGeom prst="rect">
            <a:avLst/>
          </a:prstGeom>
        </p:spPr>
        <p:txBody>
          <a:bodyPr anchor="t" rtlCol="false" tIns="0" lIns="0" bIns="0" rIns="0">
            <a:spAutoFit/>
          </a:bodyPr>
          <a:lstStyle/>
          <a:p>
            <a:pPr algn="l" marL="377190" indent="-188595" lvl="1">
              <a:lnSpc>
                <a:spcPts val="3120"/>
              </a:lnSpc>
              <a:buFont typeface="Arial"/>
              <a:buChar char="•"/>
            </a:pPr>
            <a:r>
              <a:rPr lang="en-US" b="true" sz="2600">
                <a:solidFill>
                  <a:srgbClr val="FFFFFF"/>
                </a:solidFill>
                <a:latin typeface="Arial Bold"/>
                <a:ea typeface="Arial Bold"/>
                <a:cs typeface="Arial Bold"/>
                <a:sym typeface="Arial Bold"/>
              </a:rPr>
              <a:t>Virtualización: </a:t>
            </a:r>
            <a:r>
              <a:rPr lang="en-US" sz="2600">
                <a:solidFill>
                  <a:srgbClr val="FFFFFF"/>
                </a:solidFill>
                <a:latin typeface="Arial"/>
                <a:ea typeface="Arial"/>
                <a:cs typeface="Arial"/>
                <a:sym typeface="Arial"/>
              </a:rPr>
              <a:t>La virtualización permite ejecutar múltiples sistemas operativos y aplicaciones simultáneamente en una sola máquina física mediante la creación de entornos virtuales que simulan hardware.</a:t>
            </a:r>
          </a:p>
          <a:p>
            <a:pPr algn="l" marL="377190" indent="-188595" lvl="1">
              <a:lnSpc>
                <a:spcPts val="3120"/>
              </a:lnSpc>
              <a:buFont typeface="Arial"/>
              <a:buChar char="•"/>
            </a:pPr>
            <a:r>
              <a:rPr lang="en-US" b="true" sz="2600">
                <a:solidFill>
                  <a:srgbClr val="FFFFFF"/>
                </a:solidFill>
                <a:latin typeface="Arial Bold"/>
                <a:ea typeface="Arial Bold"/>
                <a:cs typeface="Arial Bold"/>
                <a:sym typeface="Arial Bold"/>
              </a:rPr>
              <a:t>Hipervisores y Máquinas Virtuales (VMs): </a:t>
            </a:r>
            <a:r>
              <a:rPr lang="en-US" sz="2600">
                <a:solidFill>
                  <a:srgbClr val="FFFFFF"/>
                </a:solidFill>
                <a:latin typeface="Arial"/>
                <a:ea typeface="Arial"/>
                <a:cs typeface="Arial"/>
                <a:sym typeface="Arial"/>
              </a:rPr>
              <a:t>Los hipervisores son software que crean y gestionan máquinas virtuales, distribuyendo recursos físicos entre ellas. Existen dos tipos:</a:t>
            </a:r>
          </a:p>
          <a:p>
            <a:pPr algn="l" marL="377190" indent="-188595" lvl="1">
              <a:lnSpc>
                <a:spcPts val="3120"/>
              </a:lnSpc>
            </a:pPr>
            <a:r>
              <a:rPr lang="en-US" sz="2600">
                <a:solidFill>
                  <a:srgbClr val="FFFFFF"/>
                </a:solidFill>
                <a:latin typeface="Arial"/>
                <a:ea typeface="Arial"/>
                <a:cs typeface="Arial"/>
                <a:sym typeface="Arial"/>
              </a:rPr>
              <a:t>Tipo 1 (Bare-metal): Corre directamente sobre el hardware (ej. VMware ESXi, Microsoft Hyper-V).</a:t>
            </a:r>
          </a:p>
          <a:p>
            <a:pPr algn="l" marL="377190" indent="-188595" lvl="1">
              <a:lnSpc>
                <a:spcPts val="3120"/>
              </a:lnSpc>
            </a:pPr>
            <a:r>
              <a:rPr lang="en-US" sz="2600">
                <a:solidFill>
                  <a:srgbClr val="FFFFFF"/>
                </a:solidFill>
                <a:latin typeface="Arial"/>
                <a:ea typeface="Arial"/>
                <a:cs typeface="Arial"/>
                <a:sym typeface="Arial"/>
              </a:rPr>
              <a:t>Tipo 2 (Hosted): Corre sobre un sistema operativo anfitrión (ej. VirtualBox, VMware Workstation).</a:t>
            </a:r>
          </a:p>
          <a:p>
            <a:pPr algn="l" marL="377190" indent="-188595" lvl="1">
              <a:lnSpc>
                <a:spcPts val="3120"/>
              </a:lnSpc>
            </a:pPr>
            <a:r>
              <a:rPr lang="en-US" sz="2600">
                <a:solidFill>
                  <a:srgbClr val="FFFFFF"/>
                </a:solidFill>
                <a:latin typeface="Arial"/>
                <a:ea typeface="Arial"/>
                <a:cs typeface="Arial"/>
                <a:sym typeface="Arial"/>
              </a:rPr>
              <a:t>Las VMs ofrecen aislamiento, eficiencia y flexibilidad para múltiples sistemas operativos.</a:t>
            </a:r>
          </a:p>
          <a:p>
            <a:pPr algn="l" marL="377190" indent="-188595" lvl="1">
              <a:lnSpc>
                <a:spcPts val="3120"/>
              </a:lnSpc>
              <a:buFont typeface="Arial"/>
              <a:buChar char="•"/>
            </a:pPr>
            <a:r>
              <a:rPr lang="en-US" b="true" sz="2600">
                <a:solidFill>
                  <a:srgbClr val="FFFFFF"/>
                </a:solidFill>
                <a:latin typeface="Arial Bold"/>
                <a:ea typeface="Arial Bold"/>
                <a:cs typeface="Arial Bold"/>
                <a:sym typeface="Arial Bold"/>
              </a:rPr>
              <a:t>Contenedores vs. Máquinas Virtuales: </a:t>
            </a:r>
            <a:r>
              <a:rPr lang="en-US" sz="2600">
                <a:solidFill>
                  <a:srgbClr val="FFFFFF"/>
                </a:solidFill>
                <a:latin typeface="Arial"/>
                <a:ea typeface="Arial"/>
                <a:cs typeface="Arial"/>
                <a:sym typeface="Arial"/>
              </a:rPr>
              <a:t>Las VMs virtualizan hardware completo, cada una con su propio sistema operativo, lo que ofrece fuerte aislamiento pero con mayor consumo de recursos.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1489796" y="0"/>
            <a:ext cx="20496609" cy="10583704"/>
            <a:chOff x="0" y="0"/>
            <a:chExt cx="27328812" cy="14111605"/>
          </a:xfrm>
        </p:grpSpPr>
        <p:sp>
          <p:nvSpPr>
            <p:cNvPr name="Freeform 3" id="3"/>
            <p:cNvSpPr/>
            <p:nvPr/>
          </p:nvSpPr>
          <p:spPr>
            <a:xfrm flipH="false" flipV="false" rot="0">
              <a:off x="0" y="0"/>
              <a:ext cx="27328750" cy="14111605"/>
            </a:xfrm>
            <a:custGeom>
              <a:avLst/>
              <a:gdLst/>
              <a:ahLst/>
              <a:cxnLst/>
              <a:rect r="r" b="b" t="t" l="l"/>
              <a:pathLst>
                <a:path h="14111605" w="27328750">
                  <a:moveTo>
                    <a:pt x="0" y="0"/>
                  </a:moveTo>
                  <a:lnTo>
                    <a:pt x="27328750" y="0"/>
                  </a:lnTo>
                  <a:lnTo>
                    <a:pt x="27328750" y="14111605"/>
                  </a:lnTo>
                  <a:lnTo>
                    <a:pt x="0" y="14111605"/>
                  </a:lnTo>
                  <a:lnTo>
                    <a:pt x="0" y="0"/>
                  </a:lnTo>
                  <a:close/>
                </a:path>
              </a:pathLst>
            </a:custGeom>
            <a:blipFill>
              <a:blip r:embed="rId3">
                <a:alphaModFix amt="19999"/>
              </a:blip>
              <a:stretch>
                <a:fillRect l="0" t="-158" r="0" b="-158"/>
              </a:stretch>
            </a:blipFill>
          </p:spPr>
        </p:sp>
      </p:grpSp>
      <p:sp>
        <p:nvSpPr>
          <p:cNvPr name="TextBox 4" id="4"/>
          <p:cNvSpPr txBox="true"/>
          <p:nvPr/>
        </p:nvSpPr>
        <p:spPr>
          <a:xfrm rot="0">
            <a:off x="2293010" y="952700"/>
            <a:ext cx="13701903" cy="897074"/>
          </a:xfrm>
          <a:prstGeom prst="rect">
            <a:avLst/>
          </a:prstGeom>
        </p:spPr>
        <p:txBody>
          <a:bodyPr anchor="t" rtlCol="false" tIns="0" lIns="0" bIns="0" rIns="0">
            <a:spAutoFit/>
          </a:bodyPr>
          <a:lstStyle/>
          <a:p>
            <a:pPr algn="ctr">
              <a:lnSpc>
                <a:spcPts val="7114"/>
              </a:lnSpc>
            </a:pPr>
            <a:r>
              <a:rPr lang="en-US" sz="4900">
                <a:solidFill>
                  <a:srgbClr val="FFFFFF"/>
                </a:solidFill>
                <a:latin typeface="Arial"/>
                <a:ea typeface="Arial"/>
                <a:cs typeface="Arial"/>
                <a:sym typeface="Arial"/>
              </a:rPr>
              <a:t>VALOR DE LA SEMANA</a:t>
            </a:r>
          </a:p>
        </p:txBody>
      </p:sp>
      <p:sp>
        <p:nvSpPr>
          <p:cNvPr name="Freeform 5" id="5"/>
          <p:cNvSpPr/>
          <p:nvPr/>
        </p:nvSpPr>
        <p:spPr>
          <a:xfrm flipH="false" flipV="false" rot="0">
            <a:off x="2293077" y="3299174"/>
            <a:ext cx="13701817" cy="4860103"/>
          </a:xfrm>
          <a:custGeom>
            <a:avLst/>
            <a:gdLst/>
            <a:ahLst/>
            <a:cxnLst/>
            <a:rect r="r" b="b" t="t" l="l"/>
            <a:pathLst>
              <a:path h="4860103" w="13701817">
                <a:moveTo>
                  <a:pt x="0" y="0"/>
                </a:moveTo>
                <a:lnTo>
                  <a:pt x="13701817" y="0"/>
                </a:lnTo>
                <a:lnTo>
                  <a:pt x="13701817" y="4860103"/>
                </a:lnTo>
                <a:lnTo>
                  <a:pt x="0" y="48601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878103" y="4468320"/>
            <a:ext cx="12531747" cy="2493226"/>
          </a:xfrm>
          <a:prstGeom prst="rect">
            <a:avLst/>
          </a:prstGeom>
        </p:spPr>
        <p:txBody>
          <a:bodyPr anchor="t" rtlCol="false" tIns="0" lIns="0" bIns="0" rIns="0">
            <a:spAutoFit/>
          </a:bodyPr>
          <a:lstStyle/>
          <a:p>
            <a:pPr algn="l" marL="411480" indent="-205740" lvl="1">
              <a:lnSpc>
                <a:spcPts val="3840"/>
              </a:lnSpc>
              <a:buFont typeface="Arial"/>
              <a:buChar char="•"/>
            </a:pPr>
            <a:r>
              <a:rPr lang="en-US" b="true" sz="3200">
                <a:solidFill>
                  <a:srgbClr val="FFFFFF"/>
                </a:solidFill>
                <a:latin typeface="Arial Bold"/>
                <a:ea typeface="Arial Bold"/>
                <a:cs typeface="Arial Bold"/>
                <a:sym typeface="Arial Bold"/>
              </a:rPr>
              <a:t>Etica: </a:t>
            </a:r>
            <a:r>
              <a:rPr lang="en-US" sz="3200">
                <a:solidFill>
                  <a:srgbClr val="FFFFFF"/>
                </a:solidFill>
                <a:latin typeface="Arial"/>
                <a:ea typeface="Arial"/>
                <a:cs typeface="Arial"/>
                <a:sym typeface="Arial"/>
              </a:rPr>
              <a:t>Los mecanismos de control de acceso, privilegio y seguridad deben programarse de manera responsable, siendo que somos personas que potencialmente estarán detrás de sistemas que requieren seguridad importante, es esencial mantener una ética intachable.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grpSp>
        <p:nvGrpSpPr>
          <p:cNvPr name="Group 2" id="2"/>
          <p:cNvGrpSpPr/>
          <p:nvPr/>
        </p:nvGrpSpPr>
        <p:grpSpPr>
          <a:xfrm rot="0">
            <a:off x="-1489796" y="0"/>
            <a:ext cx="20496609" cy="10583704"/>
            <a:chOff x="0" y="0"/>
            <a:chExt cx="27328812" cy="14111605"/>
          </a:xfrm>
        </p:grpSpPr>
        <p:sp>
          <p:nvSpPr>
            <p:cNvPr name="Freeform 3" id="3"/>
            <p:cNvSpPr/>
            <p:nvPr/>
          </p:nvSpPr>
          <p:spPr>
            <a:xfrm flipH="false" flipV="false" rot="0">
              <a:off x="0" y="0"/>
              <a:ext cx="27328750" cy="14111605"/>
            </a:xfrm>
            <a:custGeom>
              <a:avLst/>
              <a:gdLst/>
              <a:ahLst/>
              <a:cxnLst/>
              <a:rect r="r" b="b" t="t" l="l"/>
              <a:pathLst>
                <a:path h="14111605" w="27328750">
                  <a:moveTo>
                    <a:pt x="0" y="0"/>
                  </a:moveTo>
                  <a:lnTo>
                    <a:pt x="27328750" y="0"/>
                  </a:lnTo>
                  <a:lnTo>
                    <a:pt x="27328750" y="14111605"/>
                  </a:lnTo>
                  <a:lnTo>
                    <a:pt x="0" y="14111605"/>
                  </a:lnTo>
                  <a:lnTo>
                    <a:pt x="0" y="0"/>
                  </a:lnTo>
                  <a:close/>
                </a:path>
              </a:pathLst>
            </a:custGeom>
            <a:blipFill>
              <a:blip r:embed="rId3">
                <a:alphaModFix amt="19999"/>
              </a:blip>
              <a:stretch>
                <a:fillRect l="0" t="-158" r="0" b="-158"/>
              </a:stretch>
            </a:blipFill>
          </p:spPr>
        </p:sp>
      </p:grpSp>
      <p:sp>
        <p:nvSpPr>
          <p:cNvPr name="TextBox 4" id="4"/>
          <p:cNvSpPr txBox="true"/>
          <p:nvPr/>
        </p:nvSpPr>
        <p:spPr>
          <a:xfrm rot="0">
            <a:off x="2293039" y="863546"/>
            <a:ext cx="13701903" cy="897074"/>
          </a:xfrm>
          <a:prstGeom prst="rect">
            <a:avLst/>
          </a:prstGeom>
        </p:spPr>
        <p:txBody>
          <a:bodyPr anchor="t" rtlCol="false" tIns="0" lIns="0" bIns="0" rIns="0">
            <a:spAutoFit/>
          </a:bodyPr>
          <a:lstStyle/>
          <a:p>
            <a:pPr algn="ctr">
              <a:lnSpc>
                <a:spcPts val="7114"/>
              </a:lnSpc>
            </a:pPr>
            <a:r>
              <a:rPr lang="en-US" sz="4900">
                <a:solidFill>
                  <a:srgbClr val="FFFFFF"/>
                </a:solidFill>
                <a:latin typeface="Arial"/>
                <a:ea typeface="Arial"/>
                <a:cs typeface="Arial"/>
                <a:sym typeface="Arial"/>
              </a:rPr>
              <a:t>REFERENCIAS</a:t>
            </a:r>
          </a:p>
        </p:txBody>
      </p:sp>
      <p:sp>
        <p:nvSpPr>
          <p:cNvPr name="Freeform 5" id="5"/>
          <p:cNvSpPr/>
          <p:nvPr/>
        </p:nvSpPr>
        <p:spPr>
          <a:xfrm flipH="false" flipV="false" rot="0">
            <a:off x="2695527" y="2304374"/>
            <a:ext cx="12896945" cy="5576268"/>
          </a:xfrm>
          <a:custGeom>
            <a:avLst/>
            <a:gdLst/>
            <a:ahLst/>
            <a:cxnLst/>
            <a:rect r="r" b="b" t="t" l="l"/>
            <a:pathLst>
              <a:path h="5576268" w="12896945">
                <a:moveTo>
                  <a:pt x="0" y="0"/>
                </a:moveTo>
                <a:lnTo>
                  <a:pt x="12896946" y="0"/>
                </a:lnTo>
                <a:lnTo>
                  <a:pt x="12896946" y="5576268"/>
                </a:lnTo>
                <a:lnTo>
                  <a:pt x="0" y="55762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124276" y="3364401"/>
            <a:ext cx="12039448" cy="3222603"/>
          </a:xfrm>
          <a:prstGeom prst="rect">
            <a:avLst/>
          </a:prstGeom>
        </p:spPr>
        <p:txBody>
          <a:bodyPr anchor="t" rtlCol="false" tIns="0" lIns="0" bIns="0" rIns="0">
            <a:spAutoFit/>
          </a:bodyPr>
          <a:lstStyle/>
          <a:p>
            <a:pPr algn="l">
              <a:lnSpc>
                <a:spcPts val="3120"/>
              </a:lnSpc>
            </a:pPr>
            <a:r>
              <a:rPr lang="en-US" b="true" sz="2600">
                <a:solidFill>
                  <a:srgbClr val="FFFFFF"/>
                </a:solidFill>
                <a:latin typeface="Arial Bold"/>
                <a:ea typeface="Arial Bold"/>
                <a:cs typeface="Arial Bold"/>
                <a:sym typeface="Arial Bold"/>
              </a:rPr>
              <a:t>Containers</a:t>
            </a:r>
          </a:p>
          <a:p>
            <a:pPr algn="l">
              <a:lnSpc>
                <a:spcPts val="3120"/>
              </a:lnSpc>
            </a:pPr>
            <a:r>
              <a:rPr lang="en-US" b="true" sz="2600" u="sng">
                <a:solidFill>
                  <a:srgbClr val="0000FF"/>
                </a:solidFill>
                <a:latin typeface="Arial Bold"/>
                <a:ea typeface="Arial Bold"/>
                <a:cs typeface="Arial Bold"/>
                <a:sym typeface="Arial Bold"/>
                <a:hlinkClick r:id="rId6" tooltip="https://www.docker.com/resources/what-container/"/>
              </a:rPr>
              <a:t>https://www.docker.com/resources/what-container/</a:t>
            </a:r>
          </a:p>
          <a:p>
            <a:pPr algn="l">
              <a:lnSpc>
                <a:spcPts val="3120"/>
              </a:lnSpc>
            </a:pPr>
            <a:r>
              <a:rPr lang="en-US" b="true" sz="2600">
                <a:solidFill>
                  <a:srgbClr val="FFFFFF"/>
                </a:solidFill>
                <a:latin typeface="Arial Bold"/>
                <a:ea typeface="Arial Bold"/>
                <a:cs typeface="Arial Bold"/>
                <a:sym typeface="Arial Bold"/>
              </a:rPr>
              <a:t>	</a:t>
            </a:r>
          </a:p>
          <a:p>
            <a:pPr algn="l">
              <a:lnSpc>
                <a:spcPts val="3120"/>
              </a:lnSpc>
            </a:pPr>
            <a:r>
              <a:rPr lang="en-US" b="true" sz="2600">
                <a:solidFill>
                  <a:srgbClr val="FFFFFF"/>
                </a:solidFill>
                <a:latin typeface="Arial Bold"/>
                <a:ea typeface="Arial Bold"/>
                <a:cs typeface="Arial Bold"/>
                <a:sym typeface="Arial Bold"/>
              </a:rPr>
              <a:t>	What is virtualization?</a:t>
            </a:r>
          </a:p>
          <a:p>
            <a:pPr algn="l">
              <a:lnSpc>
                <a:spcPts val="3120"/>
              </a:lnSpc>
            </a:pPr>
            <a:r>
              <a:rPr lang="en-US" b="true" sz="2600" u="sng">
                <a:solidFill>
                  <a:srgbClr val="0000FF"/>
                </a:solidFill>
                <a:latin typeface="Arial Bold"/>
                <a:ea typeface="Arial Bold"/>
                <a:cs typeface="Arial Bold"/>
                <a:sym typeface="Arial Bold"/>
                <a:hlinkClick r:id="rId7" tooltip="https://www.vmware.com/solutions/cloud-infrastructure/virtualization"/>
              </a:rPr>
              <a:t>https://www.vmware.com/solutions/cloud-infrastructure/virtualization</a:t>
            </a:r>
          </a:p>
          <a:p>
            <a:pPr algn="l">
              <a:lnSpc>
                <a:spcPts val="1679"/>
              </a:lnSpc>
            </a:pPr>
          </a:p>
          <a:p>
            <a:pPr algn="l">
              <a:lnSpc>
                <a:spcPts val="3120"/>
              </a:lnSpc>
            </a:pPr>
            <a:r>
              <a:rPr lang="en-US" b="true" sz="2600">
                <a:solidFill>
                  <a:srgbClr val="FFFFFF"/>
                </a:solidFill>
                <a:latin typeface="Arial Bold"/>
                <a:ea typeface="Arial Bold"/>
                <a:cs typeface="Arial Bold"/>
                <a:sym typeface="Arial Bold"/>
              </a:rPr>
              <a:t>What is a Hypervisor</a:t>
            </a:r>
          </a:p>
          <a:p>
            <a:pPr algn="l">
              <a:lnSpc>
                <a:spcPts val="3120"/>
              </a:lnSpc>
            </a:pPr>
            <a:r>
              <a:rPr lang="en-US" b="true" sz="2600" u="sng">
                <a:solidFill>
                  <a:srgbClr val="0000FF"/>
                </a:solidFill>
                <a:latin typeface="Arial Bold"/>
                <a:ea typeface="Arial Bold"/>
                <a:cs typeface="Arial Bold"/>
                <a:sym typeface="Arial Bold"/>
                <a:hlinkClick r:id="rId8" tooltip="https://www.redhat.com/en/topics/virtualization/what-is-a-hypervisor"/>
              </a:rPr>
              <a:t>https://www.redhat.com/en/topics/virtualization/what-is-a-hypervisor</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5170FF"/>
        </a:solidFill>
      </p:bgPr>
    </p:bg>
    <p:spTree>
      <p:nvGrpSpPr>
        <p:cNvPr id="1" name=""/>
        <p:cNvGrpSpPr/>
        <p:nvPr/>
      </p:nvGrpSpPr>
      <p:grpSpPr>
        <a:xfrm>
          <a:off x="0" y="0"/>
          <a:ext cx="0" cy="0"/>
          <a:chOff x="0" y="0"/>
          <a:chExt cx="0" cy="0"/>
        </a:xfrm>
      </p:grpSpPr>
      <p:sp>
        <p:nvSpPr>
          <p:cNvPr name="Freeform 2" id="2"/>
          <p:cNvSpPr/>
          <p:nvPr/>
        </p:nvSpPr>
        <p:spPr>
          <a:xfrm flipH="false" flipV="false" rot="0">
            <a:off x="6725936" y="6354794"/>
            <a:ext cx="4836128" cy="1241012"/>
          </a:xfrm>
          <a:custGeom>
            <a:avLst/>
            <a:gdLst/>
            <a:ahLst/>
            <a:cxnLst/>
            <a:rect r="r" b="b" t="t" l="l"/>
            <a:pathLst>
              <a:path h="1241012" w="4836128">
                <a:moveTo>
                  <a:pt x="0" y="0"/>
                </a:moveTo>
                <a:lnTo>
                  <a:pt x="4836128" y="0"/>
                </a:lnTo>
                <a:lnTo>
                  <a:pt x="4836128" y="1241012"/>
                </a:lnTo>
                <a:lnTo>
                  <a:pt x="0" y="12410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3937273" y="2278418"/>
            <a:ext cx="10413463" cy="3501390"/>
          </a:xfrm>
          <a:prstGeom prst="rect">
            <a:avLst/>
          </a:prstGeom>
        </p:spPr>
        <p:txBody>
          <a:bodyPr anchor="t" rtlCol="false" tIns="0" lIns="0" bIns="0" rIns="0">
            <a:spAutoFit/>
          </a:bodyPr>
          <a:lstStyle/>
          <a:p>
            <a:pPr algn="ctr">
              <a:lnSpc>
                <a:spcPts val="15246"/>
              </a:lnSpc>
            </a:pPr>
            <a:r>
              <a:rPr lang="en-US" sz="10500">
                <a:solidFill>
                  <a:srgbClr val="FFFFFF"/>
                </a:solidFill>
                <a:latin typeface="Arial"/>
                <a:ea typeface="Arial"/>
                <a:cs typeface="Arial"/>
                <a:sym typeface="Arial"/>
              </a:rPr>
              <a:t>¡GRACIAS POR LA ATENCIÓN!</a:t>
            </a:r>
          </a:p>
        </p:txBody>
      </p:sp>
      <p:sp>
        <p:nvSpPr>
          <p:cNvPr name="TextBox 4" id="4"/>
          <p:cNvSpPr txBox="true"/>
          <p:nvPr/>
        </p:nvSpPr>
        <p:spPr>
          <a:xfrm rot="0">
            <a:off x="7689504" y="6263116"/>
            <a:ext cx="2908992" cy="1144267"/>
          </a:xfrm>
          <a:prstGeom prst="rect">
            <a:avLst/>
          </a:prstGeom>
        </p:spPr>
        <p:txBody>
          <a:bodyPr anchor="t" rtlCol="false" tIns="0" lIns="0" bIns="0" rIns="0">
            <a:spAutoFit/>
          </a:bodyPr>
          <a:lstStyle/>
          <a:p>
            <a:pPr algn="ctr">
              <a:lnSpc>
                <a:spcPts val="8734"/>
              </a:lnSpc>
            </a:pPr>
            <a:r>
              <a:rPr lang="en-US" sz="5198">
                <a:solidFill>
                  <a:srgbClr val="FFFFFF"/>
                </a:solidFill>
                <a:latin typeface="Arial"/>
                <a:ea typeface="Arial"/>
                <a:cs typeface="Arial"/>
                <a:sym typeface="Arial"/>
              </a:rPr>
              <a:t>¿Dudas?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DAHJUy1emeM</dc:identifier>
  <dcterms:modified xsi:type="dcterms:W3CDTF">2011-08-01T06:04:30Z</dcterms:modified>
  <cp:revision>1</cp:revision>
  <dc:title>2S2026_Semana_10.pptx</dc:title>
</cp:coreProperties>
</file>