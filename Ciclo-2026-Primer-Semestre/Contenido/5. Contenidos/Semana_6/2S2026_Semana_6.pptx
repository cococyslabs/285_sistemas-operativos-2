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Arial Bold" charset="1" panose="020B0704020202020204"/>
      <p:regular r:id="rId38"/>
    </p:embeddedFont>
    <p:embeddedFont>
      <p:font typeface="Arial" charset="1" panose="020B0604020202020204"/>
      <p:regular r:id="rId39"/>
    </p:embeddedFont>
    <p:embeddedFont>
      <p:font typeface="Archivo Narrow Bold" charset="1" panose="020B0806020202020B04"/>
      <p:regular r:id="rId41"/>
    </p:embeddedFont>
    <p:embeddedFont>
      <p:font typeface="Arimo Bold" charset="1" panose="020B0704020202020204"/>
      <p:regular r:id="rId42"/>
    </p:embeddedFont>
    <p:embeddedFont>
      <p:font typeface="Noto Sans Bold" charset="1" panose="020B0802040504020204"/>
      <p:regular r:id="rId44"/>
    </p:embeddedFont>
    <p:embeddedFont>
      <p:font typeface="Open Sans Italics" charset="1" panose="020B0606030504020204"/>
      <p:regular r:id="rId47"/>
    </p:embeddedFont>
    <p:embeddedFont>
      <p:font typeface="Open Sans Bold" charset="1" panose="020B0806030504020204"/>
      <p:regular r:id="rId49"/>
    </p:embeddedFont>
    <p:embeddedFont>
      <p:font typeface="Archivo Black" charset="1" panose="020B0A03020202020B04"/>
      <p:regular r:id="rId51"/>
    </p:embeddedFont>
    <p:embeddedFont>
      <p:font typeface="Archivo Narrow" charset="1" panose="020B0506020202020B04"/>
      <p:regular r:id="rId53"/>
    </p:embeddedFont>
    <p:embeddedFont>
      <p:font typeface="Archivo Narrow Italics" charset="1" panose="020B0506020202090B04"/>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notesMasters/notesMaster1.xml" Type="http://schemas.openxmlformats.org/officeDocument/2006/relationships/notesMaster"/><Relationship Id="rId36" Target="theme/theme2.xml" Type="http://schemas.openxmlformats.org/officeDocument/2006/relationships/theme"/><Relationship Id="rId37" Target="notesSlides/notesSlide1.xml" Type="http://schemas.openxmlformats.org/officeDocument/2006/relationships/note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Slides/notesSlide2.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notesSlides/notesSlide3.xml" Type="http://schemas.openxmlformats.org/officeDocument/2006/relationships/notesSlide"/><Relationship Id="rId44" Target="fonts/font44.fntdata" Type="http://schemas.openxmlformats.org/officeDocument/2006/relationships/font"/><Relationship Id="rId45" Target="notesSlides/notesSlide4.xml" Type="http://schemas.openxmlformats.org/officeDocument/2006/relationships/notesSlide"/><Relationship Id="rId46" Target="notesSlides/notesSlide5.xml" Type="http://schemas.openxmlformats.org/officeDocument/2006/relationships/notesSlide"/><Relationship Id="rId47" Target="fonts/font47.fntdata" Type="http://schemas.openxmlformats.org/officeDocument/2006/relationships/font"/><Relationship Id="rId48" Target="notesSlides/notesSlide6.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7.xml" Type="http://schemas.openxmlformats.org/officeDocument/2006/relationships/notesSlide"/><Relationship Id="rId51" Target="fonts/font51.fntdata" Type="http://schemas.openxmlformats.org/officeDocument/2006/relationships/font"/><Relationship Id="rId52" Target="notesSlides/notesSlide8.xml" Type="http://schemas.openxmlformats.org/officeDocument/2006/relationships/notesSlide"/><Relationship Id="rId53" Target="fonts/font53.fntdata" Type="http://schemas.openxmlformats.org/officeDocument/2006/relationships/font"/><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fonts/font65.fntdata" Type="http://schemas.openxmlformats.org/officeDocument/2006/relationships/font"/><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slides/slide2.xml" Type="http://schemas.openxmlformats.org/officeDocument/2006/relationships/slide"/><Relationship Id="rId70" Target="notesSlides/notesSlide24.xml" Type="http://schemas.openxmlformats.org/officeDocument/2006/relationships/notesSlide"/><Relationship Id="rId71" Target="notesSlides/notesSlide25.xml" Type="http://schemas.openxmlformats.org/officeDocument/2006/relationships/notesSlide"/><Relationship Id="rId72" Target="notesSlides/notesSlide26.xml" Type="http://schemas.openxmlformats.org/officeDocument/2006/relationships/notesSlide"/><Relationship Id="rId73" Target="notesSlides/notesSlide27.xml" Type="http://schemas.openxmlformats.org/officeDocument/2006/relationships/notesSlide"/><Relationship Id="rId74" Target="notesSlides/notesSlide28.xml" Type="http://schemas.openxmlformats.org/officeDocument/2006/relationships/notesSlide"/><Relationship Id="rId75" Target="notesSlides/notesSlide29.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8.png" Type="http://schemas.openxmlformats.org/officeDocument/2006/relationships/image"/><Relationship Id="rId19" Target="../media/image19.svg" Type="http://schemas.openxmlformats.org/officeDocument/2006/relationships/image"/><Relationship Id="rId2" Target="../notesSlides/notesSlide2.xml" Type="http://schemas.openxmlformats.org/officeDocument/2006/relationships/notesSlid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 Id="rId4"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 Id="rId4"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jpe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 Id="rId4" Target="../media/image24.jpeg" Type="http://schemas.openxmlformats.org/officeDocument/2006/relationships/image"/><Relationship Id="rId5"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6.png" Type="http://schemas.openxmlformats.org/officeDocument/2006/relationships/image"/><Relationship Id="rId4" Target="../media/image3.jpeg" Type="http://schemas.openxmlformats.org/officeDocument/2006/relationships/image"/><Relationship Id="rId5"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jpeg" Type="http://schemas.openxmlformats.org/officeDocument/2006/relationships/image"/><Relationship Id="rId4"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jpeg" Type="http://schemas.openxmlformats.org/officeDocument/2006/relationships/image"/><Relationship Id="rId4"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jpe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jpeg" Type="http://schemas.openxmlformats.org/officeDocument/2006/relationships/image"/><Relationship Id="rId4" Target="../media/image3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jpe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jpeg" Type="http://schemas.openxmlformats.org/officeDocument/2006/relationships/image"/><Relationship Id="rId4"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jpe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jpeg" Type="http://schemas.openxmlformats.org/officeDocument/2006/relationships/image"/><Relationship Id="rId4"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jpe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7.png" Type="http://schemas.openxmlformats.org/officeDocument/2006/relationships/image"/><Relationship Id="rId4" Target="../media/image4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4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jpe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3.jpeg" Type="http://schemas.openxmlformats.org/officeDocument/2006/relationships/image"/><Relationship Id="rId4" Target="../media/image5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3.jpe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3.jpeg" Type="http://schemas.openxmlformats.org/officeDocument/2006/relationships/image"/><Relationship Id="rId4" Target="../media/image5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6.png" Type="http://schemas.openxmlformats.org/officeDocument/2006/relationships/image"/><Relationship Id="rId4" Target="../media/image3.jpe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6.png" Type="http://schemas.openxmlformats.org/officeDocument/2006/relationships/image"/><Relationship Id="rId4" Target="../media/image3.jpeg" Type="http://schemas.openxmlformats.org/officeDocument/2006/relationships/image"/><Relationship Id="rId5" Target="../media/image5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26.pn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306050"/>
            <a:chOff x="0" y="0"/>
            <a:chExt cx="24384000" cy="13741400"/>
          </a:xfrm>
        </p:grpSpPr>
        <p:sp>
          <p:nvSpPr>
            <p:cNvPr name="Freeform 3" id="3"/>
            <p:cNvSpPr/>
            <p:nvPr/>
          </p:nvSpPr>
          <p:spPr>
            <a:xfrm flipH="false" flipV="false" rot="0">
              <a:off x="0" y="0"/>
              <a:ext cx="24384000" cy="13741400"/>
            </a:xfrm>
            <a:custGeom>
              <a:avLst/>
              <a:gdLst/>
              <a:ahLst/>
              <a:cxnLst/>
              <a:rect r="r" b="b" t="t" l="l"/>
              <a:pathLst>
                <a:path h="13741400" w="24384000">
                  <a:moveTo>
                    <a:pt x="0" y="0"/>
                  </a:moveTo>
                  <a:lnTo>
                    <a:pt x="24384000" y="0"/>
                  </a:lnTo>
                  <a:lnTo>
                    <a:pt x="24384000" y="13741400"/>
                  </a:lnTo>
                  <a:lnTo>
                    <a:pt x="0" y="13741400"/>
                  </a:lnTo>
                  <a:lnTo>
                    <a:pt x="0" y="0"/>
                  </a:lnTo>
                  <a:close/>
                </a:path>
              </a:pathLst>
            </a:custGeom>
            <a:blipFill>
              <a:blip r:embed="rId3">
                <a:alphaModFix amt="62000"/>
              </a:blip>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37" r="0" b="-37"/>
              </a:stretch>
            </a:blipFill>
          </p:spPr>
        </p:sp>
      </p:grpSp>
      <p:graphicFrame>
        <p:nvGraphicFramePr>
          <p:cNvPr name="Table 6" id="6"/>
          <p:cNvGraphicFramePr>
            <a:graphicFrameLocks noGrp="true"/>
          </p:cNvGraphicFramePr>
          <p:nvPr/>
        </p:nvGraphicFramePr>
        <p:xfrm>
          <a:off x="11392650" y="1805800"/>
          <a:ext cx="6172200" cy="1879600"/>
        </p:xfrm>
        <a:graphic>
          <a:graphicData uri="http://schemas.openxmlformats.org/drawingml/2006/table">
            <a:tbl>
              <a:tblPr/>
              <a:tblGrid>
                <a:gridCol w="3071983"/>
                <a:gridCol w="3100217"/>
              </a:tblGrid>
              <a:tr h="939800">
                <a:tc>
                  <a:txBody>
                    <a:bodyPr anchor="t" rtlCol="false"/>
                    <a:lstStyle/>
                    <a:p>
                      <a:pPr algn="l">
                        <a:lnSpc>
                          <a:spcPts val="2640"/>
                        </a:lnSpc>
                        <a:defRPr/>
                      </a:pPr>
                      <a:r>
                        <a:rPr lang="en-US" b="true" sz="2200">
                          <a:solidFill>
                            <a:srgbClr val="000000"/>
                          </a:solidFill>
                          <a:latin typeface="Arial Bold"/>
                          <a:ea typeface="Arial Bold"/>
                          <a:cs typeface="Arial Bold"/>
                          <a:sym typeface="Arial Bold"/>
                        </a:rPr>
                        <a:t>Día, Fecha:</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Arial"/>
                          <a:ea typeface="Arial"/>
                          <a:cs typeface="Arial"/>
                          <a:sym typeface="Arial"/>
                        </a:rPr>
                        <a:t>DIA, DD/MM/2026</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939800">
                <a:tc>
                  <a:txBody>
                    <a:bodyPr anchor="t" rtlCol="false"/>
                    <a:lstStyle/>
                    <a:p>
                      <a:pPr algn="l">
                        <a:lnSpc>
                          <a:spcPts val="2640"/>
                        </a:lnSpc>
                        <a:defRPr/>
                      </a:pPr>
                      <a:r>
                        <a:rPr lang="en-US" b="true" sz="2200">
                          <a:solidFill>
                            <a:srgbClr val="000000"/>
                          </a:solidFill>
                          <a:latin typeface="Arial Bold"/>
                          <a:ea typeface="Arial Bold"/>
                          <a:cs typeface="Arial Bold"/>
                          <a:sym typeface="Arial Bold"/>
                        </a:rPr>
                        <a:t>Hora de inicio:</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Arial"/>
                          <a:ea typeface="Arial"/>
                          <a:cs typeface="Arial"/>
                          <a:sym typeface="Arial"/>
                        </a:rPr>
                        <a:t>00:00</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2334054" y="4450499"/>
            <a:ext cx="9703498" cy="1273197"/>
          </a:xfrm>
          <a:prstGeom prst="rect">
            <a:avLst/>
          </a:prstGeom>
        </p:spPr>
        <p:txBody>
          <a:bodyPr anchor="t" rtlCol="false" tIns="0" lIns="0" bIns="0" rIns="0">
            <a:spAutoFit/>
          </a:bodyPr>
          <a:lstStyle/>
          <a:p>
            <a:pPr algn="l">
              <a:lnSpc>
                <a:spcPts val="6719"/>
              </a:lnSpc>
            </a:pPr>
            <a:r>
              <a:rPr lang="en-US" b="true" sz="5599">
                <a:solidFill>
                  <a:srgbClr val="000000"/>
                </a:solidFill>
                <a:latin typeface="Arial Bold"/>
                <a:ea typeface="Arial Bold"/>
                <a:cs typeface="Arial Bold"/>
                <a:sym typeface="Arial Bold"/>
              </a:rPr>
              <a:t>Sistemas Operativos 2 [A]</a:t>
            </a:r>
          </a:p>
        </p:txBody>
      </p:sp>
      <p:sp>
        <p:nvSpPr>
          <p:cNvPr name="TextBox 8" id="8"/>
          <p:cNvSpPr txBox="true"/>
          <p:nvPr/>
        </p:nvSpPr>
        <p:spPr>
          <a:xfrm rot="0">
            <a:off x="2334054" y="6070349"/>
            <a:ext cx="10633500" cy="1192349"/>
          </a:xfrm>
          <a:prstGeom prst="rect">
            <a:avLst/>
          </a:prstGeom>
        </p:spPr>
        <p:txBody>
          <a:bodyPr anchor="t" rtlCol="false" tIns="0" lIns="0" bIns="0" rIns="0">
            <a:spAutoFit/>
          </a:bodyPr>
          <a:lstStyle/>
          <a:p>
            <a:pPr algn="l">
              <a:lnSpc>
                <a:spcPts val="6240"/>
              </a:lnSpc>
            </a:pPr>
            <a:r>
              <a:rPr lang="en-US" sz="5200">
                <a:solidFill>
                  <a:srgbClr val="000000"/>
                </a:solidFill>
                <a:latin typeface="Arial"/>
                <a:ea typeface="Arial"/>
                <a:cs typeface="Arial"/>
                <a:sym typeface="Arial"/>
              </a:rPr>
              <a:t>NOMBRE_ESTUDIANTE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sp>
        <p:nvSpPr>
          <p:cNvPr name="TextBox 2" id="2"/>
          <p:cNvSpPr txBox="true"/>
          <p:nvPr/>
        </p:nvSpPr>
        <p:spPr>
          <a:xfrm rot="0">
            <a:off x="1294124" y="7744577"/>
            <a:ext cx="8274749" cy="1110301"/>
          </a:xfrm>
          <a:prstGeom prst="rect">
            <a:avLst/>
          </a:prstGeom>
        </p:spPr>
        <p:txBody>
          <a:bodyPr anchor="t" rtlCol="false" tIns="0" lIns="0" bIns="0" rIns="0">
            <a:spAutoFit/>
          </a:bodyPr>
          <a:lstStyle/>
          <a:p>
            <a:pPr algn="l">
              <a:lnSpc>
                <a:spcPts val="2376"/>
              </a:lnSpc>
            </a:pPr>
            <a:r>
              <a:rPr lang="en-US" b="true" sz="2200">
                <a:solidFill>
                  <a:srgbClr val="FFFFFF"/>
                </a:solidFill>
                <a:latin typeface="Archivo Narrow Bold"/>
                <a:ea typeface="Archivo Narrow Bold"/>
                <a:cs typeface="Archivo Narrow Bold"/>
                <a:sym typeface="Archivo Narrow Bold"/>
              </a:rPr>
              <a:t>Escuela de Ingeniería de Ciencias Y Sistemas</a:t>
            </a:r>
          </a:p>
          <a:p>
            <a:pPr algn="l">
              <a:lnSpc>
                <a:spcPts val="2376"/>
              </a:lnSpc>
            </a:pPr>
            <a:r>
              <a:rPr lang="en-US" b="true" sz="2200">
                <a:solidFill>
                  <a:srgbClr val="FFFFFF"/>
                </a:solidFill>
                <a:latin typeface="Archivo Narrow Bold"/>
                <a:ea typeface="Archivo Narrow Bold"/>
                <a:cs typeface="Archivo Narrow Bold"/>
                <a:sym typeface="Archivo Narrow Bold"/>
              </a:rPr>
              <a:t>Facultad de Ingeniería</a:t>
            </a:r>
          </a:p>
          <a:p>
            <a:pPr algn="l">
              <a:lnSpc>
                <a:spcPts val="2376"/>
              </a:lnSpc>
            </a:pPr>
            <a:r>
              <a:rPr lang="en-US" b="true" sz="2200">
                <a:solidFill>
                  <a:srgbClr val="FFFFFF"/>
                </a:solidFill>
                <a:latin typeface="Archivo Narrow Bold"/>
                <a:ea typeface="Archivo Narrow Bold"/>
                <a:cs typeface="Archivo Narrow Bold"/>
                <a:sym typeface="Archivo Narrow Bold"/>
              </a:rPr>
              <a:t>Universidad de San Carlos de Guatemala</a:t>
            </a:r>
          </a:p>
        </p:txBody>
      </p:sp>
      <p:grpSp>
        <p:nvGrpSpPr>
          <p:cNvPr name="Group 3" id="3"/>
          <p:cNvGrpSpPr/>
          <p:nvPr/>
        </p:nvGrpSpPr>
        <p:grpSpPr>
          <a:xfrm rot="0">
            <a:off x="1132151" y="2328348"/>
            <a:ext cx="10850404" cy="4456805"/>
            <a:chOff x="0" y="0"/>
            <a:chExt cx="14467205" cy="5942406"/>
          </a:xfrm>
        </p:grpSpPr>
        <p:sp>
          <p:nvSpPr>
            <p:cNvPr name="Freeform 4" id="4"/>
            <p:cNvSpPr/>
            <p:nvPr/>
          </p:nvSpPr>
          <p:spPr>
            <a:xfrm flipH="false" flipV="false" rot="0">
              <a:off x="0" y="0"/>
              <a:ext cx="14467201" cy="5942400"/>
            </a:xfrm>
            <a:custGeom>
              <a:avLst/>
              <a:gdLst/>
              <a:ahLst/>
              <a:cxnLst/>
              <a:rect r="r" b="b" t="t" l="l"/>
              <a:pathLst>
                <a:path h="5942400" w="14467201">
                  <a:moveTo>
                    <a:pt x="0" y="0"/>
                  </a:moveTo>
                  <a:lnTo>
                    <a:pt x="14467201" y="0"/>
                  </a:lnTo>
                  <a:lnTo>
                    <a:pt x="14467201" y="5942400"/>
                  </a:lnTo>
                  <a:lnTo>
                    <a:pt x="0" y="5942400"/>
                  </a:lnTo>
                  <a:close/>
                </a:path>
              </a:pathLst>
            </a:custGeom>
            <a:blipFill>
              <a:blip r:embed="rId3">
                <a:alphaModFix amt="0"/>
              </a:blip>
              <a:stretch>
                <a:fillRect l="-2700" t="0" r="-2700" b="0"/>
              </a:stretch>
            </a:blipFill>
          </p:spPr>
        </p:sp>
        <p:sp>
          <p:nvSpPr>
            <p:cNvPr name="TextBox 5" id="5"/>
            <p:cNvSpPr txBox="true"/>
            <p:nvPr/>
          </p:nvSpPr>
          <p:spPr>
            <a:xfrm>
              <a:off x="0" y="-38100"/>
              <a:ext cx="14467205" cy="5980506"/>
            </a:xfrm>
            <a:prstGeom prst="rect">
              <a:avLst/>
            </a:prstGeom>
          </p:spPr>
          <p:txBody>
            <a:bodyPr anchor="b" rtlCol="false" tIns="0" lIns="0" bIns="0" rIns="0"/>
            <a:lstStyle/>
            <a:p>
              <a:pPr algn="l">
                <a:lnSpc>
                  <a:spcPts val="10800"/>
                </a:lnSpc>
              </a:pPr>
              <a:r>
                <a:rPr lang="en-US" b="true" sz="9000">
                  <a:solidFill>
                    <a:srgbClr val="FFFFFF"/>
                  </a:solidFill>
                  <a:latin typeface="Arimo Bold"/>
                  <a:ea typeface="Arimo Bold"/>
                  <a:cs typeface="Arimo Bold"/>
                  <a:sym typeface="Arimo Bold"/>
                </a:rPr>
                <a:t>SISTEMAS OPERATIVOS 2</a:t>
              </a:r>
            </a:p>
          </p:txBody>
        </p:sp>
      </p:grpSp>
      <p:grpSp>
        <p:nvGrpSpPr>
          <p:cNvPr name="Group 6" id="6"/>
          <p:cNvGrpSpPr/>
          <p:nvPr/>
        </p:nvGrpSpPr>
        <p:grpSpPr>
          <a:xfrm rot="0">
            <a:off x="10161356" y="1359360"/>
            <a:ext cx="1718615" cy="1856937"/>
            <a:chOff x="0" y="0"/>
            <a:chExt cx="2291486" cy="2475916"/>
          </a:xfrm>
        </p:grpSpPr>
        <p:sp>
          <p:nvSpPr>
            <p:cNvPr name="Freeform 7" id="7"/>
            <p:cNvSpPr/>
            <p:nvPr/>
          </p:nvSpPr>
          <p:spPr>
            <a:xfrm flipH="false" flipV="false" rot="0">
              <a:off x="0" y="0"/>
              <a:ext cx="2291461" cy="2475865"/>
            </a:xfrm>
            <a:custGeom>
              <a:avLst/>
              <a:gdLst/>
              <a:ahLst/>
              <a:cxnLst/>
              <a:rect r="r" b="b" t="t" l="l"/>
              <a:pathLst>
                <a:path h="2475865" w="2291461">
                  <a:moveTo>
                    <a:pt x="176911" y="0"/>
                  </a:moveTo>
                  <a:cubicBezTo>
                    <a:pt x="81026" y="0"/>
                    <a:pt x="0" y="78613"/>
                    <a:pt x="0" y="176911"/>
                  </a:cubicBezTo>
                  <a:lnTo>
                    <a:pt x="0" y="2301494"/>
                  </a:lnTo>
                  <a:cubicBezTo>
                    <a:pt x="0" y="2397252"/>
                    <a:pt x="76073" y="2475865"/>
                    <a:pt x="176911" y="2475865"/>
                  </a:cubicBezTo>
                  <a:lnTo>
                    <a:pt x="2112137" y="2475865"/>
                  </a:lnTo>
                  <a:cubicBezTo>
                    <a:pt x="2210435" y="2475865"/>
                    <a:pt x="2291461" y="2397252"/>
                    <a:pt x="2291461" y="2301494"/>
                  </a:cubicBezTo>
                  <a:lnTo>
                    <a:pt x="2291461" y="176911"/>
                  </a:lnTo>
                  <a:cubicBezTo>
                    <a:pt x="2291461" y="81026"/>
                    <a:pt x="2215261" y="0"/>
                    <a:pt x="2117090" y="0"/>
                  </a:cubicBezTo>
                  <a:close/>
                </a:path>
              </a:pathLst>
            </a:custGeom>
            <a:solidFill>
              <a:srgbClr val="EDDEFF"/>
            </a:solidFill>
          </p:spPr>
        </p:sp>
      </p:grpSp>
      <p:grpSp>
        <p:nvGrpSpPr>
          <p:cNvPr name="Group 8" id="8"/>
          <p:cNvGrpSpPr/>
          <p:nvPr/>
        </p:nvGrpSpPr>
        <p:grpSpPr>
          <a:xfrm rot="0">
            <a:off x="10249195" y="1282322"/>
            <a:ext cx="1717253" cy="1856937"/>
            <a:chOff x="0" y="0"/>
            <a:chExt cx="2289670" cy="2475916"/>
          </a:xfrm>
        </p:grpSpPr>
        <p:sp>
          <p:nvSpPr>
            <p:cNvPr name="Freeform 9" id="9"/>
            <p:cNvSpPr/>
            <p:nvPr/>
          </p:nvSpPr>
          <p:spPr>
            <a:xfrm flipH="false" flipV="false" rot="0">
              <a:off x="0" y="0"/>
              <a:ext cx="2289556" cy="2475865"/>
            </a:xfrm>
            <a:custGeom>
              <a:avLst/>
              <a:gdLst/>
              <a:ahLst/>
              <a:cxnLst/>
              <a:rect r="r" b="b" t="t" l="l"/>
              <a:pathLst>
                <a:path h="2475865" w="2289556">
                  <a:moveTo>
                    <a:pt x="174498" y="0"/>
                  </a:moveTo>
                  <a:cubicBezTo>
                    <a:pt x="78613" y="0"/>
                    <a:pt x="0" y="76200"/>
                    <a:pt x="0" y="174498"/>
                  </a:cubicBezTo>
                  <a:lnTo>
                    <a:pt x="0" y="2299081"/>
                  </a:lnTo>
                  <a:cubicBezTo>
                    <a:pt x="0" y="2394839"/>
                    <a:pt x="76200" y="2475865"/>
                    <a:pt x="174498" y="2475865"/>
                  </a:cubicBezTo>
                  <a:lnTo>
                    <a:pt x="2115185" y="2475865"/>
                  </a:lnTo>
                  <a:cubicBezTo>
                    <a:pt x="2210943" y="2475865"/>
                    <a:pt x="2289556" y="2394839"/>
                    <a:pt x="2289556" y="2299081"/>
                  </a:cubicBezTo>
                  <a:lnTo>
                    <a:pt x="2289556" y="174498"/>
                  </a:lnTo>
                  <a:cubicBezTo>
                    <a:pt x="2289556" y="78740"/>
                    <a:pt x="2213356" y="0"/>
                    <a:pt x="2115185" y="0"/>
                  </a:cubicBezTo>
                  <a:close/>
                </a:path>
              </a:pathLst>
            </a:custGeom>
            <a:solidFill>
              <a:srgbClr val="A6ABFF"/>
            </a:solidFill>
          </p:spPr>
        </p:sp>
      </p:grpSp>
      <p:grpSp>
        <p:nvGrpSpPr>
          <p:cNvPr name="Group 10" id="10"/>
          <p:cNvGrpSpPr/>
          <p:nvPr/>
        </p:nvGrpSpPr>
        <p:grpSpPr>
          <a:xfrm rot="0">
            <a:off x="10391756" y="1464478"/>
            <a:ext cx="635060" cy="1490358"/>
            <a:chOff x="0" y="0"/>
            <a:chExt cx="846747" cy="1987144"/>
          </a:xfrm>
        </p:grpSpPr>
        <p:sp>
          <p:nvSpPr>
            <p:cNvPr name="Freeform 11" id="11"/>
            <p:cNvSpPr/>
            <p:nvPr/>
          </p:nvSpPr>
          <p:spPr>
            <a:xfrm flipH="false" flipV="false" rot="0">
              <a:off x="127" y="127"/>
              <a:ext cx="846582" cy="1987042"/>
            </a:xfrm>
            <a:custGeom>
              <a:avLst/>
              <a:gdLst/>
              <a:ahLst/>
              <a:cxnLst/>
              <a:rect r="r" b="b" t="t" l="l"/>
              <a:pathLst>
                <a:path h="1987042" w="846582">
                  <a:moveTo>
                    <a:pt x="156972" y="0"/>
                  </a:moveTo>
                  <a:cubicBezTo>
                    <a:pt x="71120" y="0"/>
                    <a:pt x="0" y="71120"/>
                    <a:pt x="0" y="154686"/>
                  </a:cubicBezTo>
                  <a:lnTo>
                    <a:pt x="0" y="1829816"/>
                  </a:lnTo>
                  <a:cubicBezTo>
                    <a:pt x="0" y="1915795"/>
                    <a:pt x="71120" y="1987042"/>
                    <a:pt x="157099" y="1987042"/>
                  </a:cubicBezTo>
                  <a:lnTo>
                    <a:pt x="692023" y="1987042"/>
                  </a:lnTo>
                  <a:cubicBezTo>
                    <a:pt x="777875" y="1987042"/>
                    <a:pt x="844169" y="1915795"/>
                    <a:pt x="846582" y="1829816"/>
                  </a:cubicBezTo>
                  <a:lnTo>
                    <a:pt x="846582" y="154686"/>
                  </a:lnTo>
                  <a:cubicBezTo>
                    <a:pt x="846582" y="68707"/>
                    <a:pt x="777875" y="0"/>
                    <a:pt x="692023" y="0"/>
                  </a:cubicBezTo>
                  <a:close/>
                </a:path>
              </a:pathLst>
            </a:custGeom>
            <a:solidFill>
              <a:srgbClr val="3F3FD8"/>
            </a:solidFill>
          </p:spPr>
        </p:sp>
      </p:grpSp>
      <p:grpSp>
        <p:nvGrpSpPr>
          <p:cNvPr name="Group 12" id="12"/>
          <p:cNvGrpSpPr/>
          <p:nvPr/>
        </p:nvGrpSpPr>
        <p:grpSpPr>
          <a:xfrm rot="0">
            <a:off x="11172958" y="1556642"/>
            <a:ext cx="650148" cy="26641"/>
            <a:chOff x="0" y="0"/>
            <a:chExt cx="866864" cy="35522"/>
          </a:xfrm>
        </p:grpSpPr>
        <p:sp>
          <p:nvSpPr>
            <p:cNvPr name="Freeform 13" id="13"/>
            <p:cNvSpPr/>
            <p:nvPr/>
          </p:nvSpPr>
          <p:spPr>
            <a:xfrm flipH="false" flipV="false" rot="0">
              <a:off x="0" y="127"/>
              <a:ext cx="866775" cy="35433"/>
            </a:xfrm>
            <a:custGeom>
              <a:avLst/>
              <a:gdLst/>
              <a:ahLst/>
              <a:cxnLst/>
              <a:rect r="r" b="b" t="t" l="l"/>
              <a:pathLst>
                <a:path h="35433" w="866775">
                  <a:moveTo>
                    <a:pt x="19685" y="0"/>
                  </a:moveTo>
                  <a:cubicBezTo>
                    <a:pt x="9906" y="0"/>
                    <a:pt x="0" y="9398"/>
                    <a:pt x="0" y="16510"/>
                  </a:cubicBezTo>
                  <a:cubicBezTo>
                    <a:pt x="0" y="25908"/>
                    <a:pt x="9906" y="35433"/>
                    <a:pt x="19685" y="35433"/>
                  </a:cubicBezTo>
                  <a:lnTo>
                    <a:pt x="847090" y="35433"/>
                  </a:lnTo>
                  <a:cubicBezTo>
                    <a:pt x="856996" y="35433"/>
                    <a:pt x="866775" y="28321"/>
                    <a:pt x="866775" y="16510"/>
                  </a:cubicBezTo>
                  <a:cubicBezTo>
                    <a:pt x="866775" y="7112"/>
                    <a:pt x="856996" y="0"/>
                    <a:pt x="847090" y="0"/>
                  </a:cubicBezTo>
                  <a:close/>
                </a:path>
              </a:pathLst>
            </a:custGeom>
            <a:solidFill>
              <a:srgbClr val="3F3FD8"/>
            </a:solidFill>
          </p:spPr>
        </p:sp>
      </p:grpSp>
      <p:grpSp>
        <p:nvGrpSpPr>
          <p:cNvPr name="Group 14" id="14"/>
          <p:cNvGrpSpPr/>
          <p:nvPr/>
        </p:nvGrpSpPr>
        <p:grpSpPr>
          <a:xfrm rot="0">
            <a:off x="11172958" y="1735922"/>
            <a:ext cx="650148" cy="26641"/>
            <a:chOff x="0" y="0"/>
            <a:chExt cx="866864" cy="35522"/>
          </a:xfrm>
        </p:grpSpPr>
        <p:sp>
          <p:nvSpPr>
            <p:cNvPr name="Freeform 15" id="15"/>
            <p:cNvSpPr/>
            <p:nvPr/>
          </p:nvSpPr>
          <p:spPr>
            <a:xfrm flipH="false" flipV="false" rot="0">
              <a:off x="0" y="0"/>
              <a:ext cx="866775" cy="35560"/>
            </a:xfrm>
            <a:custGeom>
              <a:avLst/>
              <a:gdLst/>
              <a:ahLst/>
              <a:cxnLst/>
              <a:rect r="r" b="b" t="t" l="l"/>
              <a:pathLst>
                <a:path h="35560" w="866775">
                  <a:moveTo>
                    <a:pt x="19685" y="0"/>
                  </a:moveTo>
                  <a:cubicBezTo>
                    <a:pt x="9906" y="0"/>
                    <a:pt x="0" y="9525"/>
                    <a:pt x="0" y="18923"/>
                  </a:cubicBezTo>
                  <a:cubicBezTo>
                    <a:pt x="0" y="28321"/>
                    <a:pt x="9906" y="35560"/>
                    <a:pt x="19685" y="35560"/>
                  </a:cubicBezTo>
                  <a:lnTo>
                    <a:pt x="847090" y="35560"/>
                  </a:lnTo>
                  <a:cubicBezTo>
                    <a:pt x="856996" y="35560"/>
                    <a:pt x="866775" y="30861"/>
                    <a:pt x="866775" y="18923"/>
                  </a:cubicBezTo>
                  <a:cubicBezTo>
                    <a:pt x="866775" y="9525"/>
                    <a:pt x="856996" y="0"/>
                    <a:pt x="847090" y="0"/>
                  </a:cubicBezTo>
                  <a:close/>
                </a:path>
              </a:pathLst>
            </a:custGeom>
            <a:solidFill>
              <a:srgbClr val="3F3FD8"/>
            </a:solidFill>
          </p:spPr>
        </p:sp>
      </p:grpSp>
      <p:grpSp>
        <p:nvGrpSpPr>
          <p:cNvPr name="Group 16" id="16"/>
          <p:cNvGrpSpPr/>
          <p:nvPr/>
        </p:nvGrpSpPr>
        <p:grpSpPr>
          <a:xfrm rot="0">
            <a:off x="11172958" y="1915916"/>
            <a:ext cx="650148" cy="26641"/>
            <a:chOff x="0" y="0"/>
            <a:chExt cx="866864" cy="35522"/>
          </a:xfrm>
        </p:grpSpPr>
        <p:sp>
          <p:nvSpPr>
            <p:cNvPr name="Freeform 17" id="17"/>
            <p:cNvSpPr/>
            <p:nvPr/>
          </p:nvSpPr>
          <p:spPr>
            <a:xfrm flipH="false" flipV="false" rot="0">
              <a:off x="0" y="0"/>
              <a:ext cx="866775" cy="35560"/>
            </a:xfrm>
            <a:custGeom>
              <a:avLst/>
              <a:gdLst/>
              <a:ahLst/>
              <a:cxnLst/>
              <a:rect r="r" b="b" t="t" l="l"/>
              <a:pathLst>
                <a:path h="35560" w="866775">
                  <a:moveTo>
                    <a:pt x="19685" y="0"/>
                  </a:moveTo>
                  <a:cubicBezTo>
                    <a:pt x="9906" y="0"/>
                    <a:pt x="0" y="9525"/>
                    <a:pt x="0" y="16637"/>
                  </a:cubicBezTo>
                  <a:cubicBezTo>
                    <a:pt x="0" y="26035"/>
                    <a:pt x="9906" y="35560"/>
                    <a:pt x="19685" y="35560"/>
                  </a:cubicBezTo>
                  <a:lnTo>
                    <a:pt x="847090" y="35560"/>
                  </a:lnTo>
                  <a:cubicBezTo>
                    <a:pt x="856996" y="35560"/>
                    <a:pt x="866775" y="28448"/>
                    <a:pt x="866775" y="16637"/>
                  </a:cubicBezTo>
                  <a:cubicBezTo>
                    <a:pt x="866775" y="7112"/>
                    <a:pt x="856996" y="0"/>
                    <a:pt x="847090" y="0"/>
                  </a:cubicBezTo>
                  <a:close/>
                </a:path>
              </a:pathLst>
            </a:custGeom>
            <a:solidFill>
              <a:srgbClr val="3F3FD8"/>
            </a:solidFill>
          </p:spPr>
        </p:sp>
      </p:grpSp>
      <p:grpSp>
        <p:nvGrpSpPr>
          <p:cNvPr name="Group 18" id="18"/>
          <p:cNvGrpSpPr/>
          <p:nvPr/>
        </p:nvGrpSpPr>
        <p:grpSpPr>
          <a:xfrm rot="0">
            <a:off x="14882403" y="3191037"/>
            <a:ext cx="1543622" cy="1822256"/>
            <a:chOff x="0" y="0"/>
            <a:chExt cx="2058162" cy="2429675"/>
          </a:xfrm>
        </p:grpSpPr>
        <p:sp>
          <p:nvSpPr>
            <p:cNvPr name="Freeform 19" id="19"/>
            <p:cNvSpPr/>
            <p:nvPr/>
          </p:nvSpPr>
          <p:spPr>
            <a:xfrm flipH="false" flipV="false" rot="0">
              <a:off x="0" y="0"/>
              <a:ext cx="2058162" cy="2429510"/>
            </a:xfrm>
            <a:custGeom>
              <a:avLst/>
              <a:gdLst/>
              <a:ahLst/>
              <a:cxnLst/>
              <a:rect r="r" b="b" t="t" l="l"/>
              <a:pathLst>
                <a:path h="2429510" w="2058162">
                  <a:moveTo>
                    <a:pt x="167005" y="0"/>
                  </a:moveTo>
                  <a:cubicBezTo>
                    <a:pt x="76073" y="0"/>
                    <a:pt x="0" y="76200"/>
                    <a:pt x="0" y="169545"/>
                  </a:cubicBezTo>
                  <a:lnTo>
                    <a:pt x="0" y="2260092"/>
                  </a:lnTo>
                  <a:cubicBezTo>
                    <a:pt x="0" y="2353437"/>
                    <a:pt x="76073" y="2429510"/>
                    <a:pt x="167005" y="2429510"/>
                  </a:cubicBezTo>
                  <a:lnTo>
                    <a:pt x="1891157" y="2429510"/>
                  </a:lnTo>
                  <a:cubicBezTo>
                    <a:pt x="1981962" y="2429510"/>
                    <a:pt x="2058162" y="2353310"/>
                    <a:pt x="2058162" y="2260092"/>
                  </a:cubicBezTo>
                  <a:lnTo>
                    <a:pt x="2058162" y="169545"/>
                  </a:lnTo>
                  <a:cubicBezTo>
                    <a:pt x="2058035" y="76200"/>
                    <a:pt x="1981962" y="0"/>
                    <a:pt x="1891157" y="0"/>
                  </a:cubicBezTo>
                  <a:close/>
                </a:path>
              </a:pathLst>
            </a:custGeom>
            <a:solidFill>
              <a:srgbClr val="92F7FF"/>
            </a:solidFill>
          </p:spPr>
        </p:sp>
      </p:grpSp>
      <p:grpSp>
        <p:nvGrpSpPr>
          <p:cNvPr name="Group 20" id="20"/>
          <p:cNvGrpSpPr/>
          <p:nvPr/>
        </p:nvGrpSpPr>
        <p:grpSpPr>
          <a:xfrm rot="0">
            <a:off x="15070322" y="3447364"/>
            <a:ext cx="480231" cy="878395"/>
            <a:chOff x="0" y="0"/>
            <a:chExt cx="640309" cy="1171194"/>
          </a:xfrm>
        </p:grpSpPr>
        <p:sp>
          <p:nvSpPr>
            <p:cNvPr name="Freeform 21" id="21"/>
            <p:cNvSpPr/>
            <p:nvPr/>
          </p:nvSpPr>
          <p:spPr>
            <a:xfrm flipH="false" flipV="false" rot="0">
              <a:off x="127" y="0"/>
              <a:ext cx="640207" cy="1171194"/>
            </a:xfrm>
            <a:custGeom>
              <a:avLst/>
              <a:gdLst/>
              <a:ahLst/>
              <a:cxnLst/>
              <a:rect r="r" b="b" t="t" l="l"/>
              <a:pathLst>
                <a:path h="1171194" w="640207">
                  <a:moveTo>
                    <a:pt x="122555" y="127"/>
                  </a:moveTo>
                  <a:cubicBezTo>
                    <a:pt x="56388" y="127"/>
                    <a:pt x="0" y="54102"/>
                    <a:pt x="0" y="122809"/>
                  </a:cubicBezTo>
                  <a:lnTo>
                    <a:pt x="0" y="1048385"/>
                  </a:lnTo>
                  <a:cubicBezTo>
                    <a:pt x="0" y="1117092"/>
                    <a:pt x="56388" y="1171194"/>
                    <a:pt x="122555" y="1171194"/>
                  </a:cubicBezTo>
                  <a:lnTo>
                    <a:pt x="517525" y="1171194"/>
                  </a:lnTo>
                  <a:cubicBezTo>
                    <a:pt x="586232" y="1171194"/>
                    <a:pt x="640207" y="1117219"/>
                    <a:pt x="640207" y="1048385"/>
                  </a:cubicBezTo>
                  <a:lnTo>
                    <a:pt x="640207" y="122809"/>
                  </a:lnTo>
                  <a:cubicBezTo>
                    <a:pt x="640207" y="54102"/>
                    <a:pt x="586232" y="0"/>
                    <a:pt x="517525" y="0"/>
                  </a:cubicBezTo>
                  <a:close/>
                </a:path>
              </a:pathLst>
            </a:custGeom>
            <a:solidFill>
              <a:srgbClr val="92F7FF"/>
            </a:solidFill>
          </p:spPr>
        </p:sp>
      </p:grpSp>
      <p:grpSp>
        <p:nvGrpSpPr>
          <p:cNvPr name="Group 22" id="22"/>
          <p:cNvGrpSpPr/>
          <p:nvPr/>
        </p:nvGrpSpPr>
        <p:grpSpPr>
          <a:xfrm rot="0">
            <a:off x="15757198" y="3447364"/>
            <a:ext cx="480231" cy="878395"/>
            <a:chOff x="0" y="0"/>
            <a:chExt cx="640309" cy="1171194"/>
          </a:xfrm>
        </p:grpSpPr>
        <p:sp>
          <p:nvSpPr>
            <p:cNvPr name="Freeform 23" id="23"/>
            <p:cNvSpPr/>
            <p:nvPr/>
          </p:nvSpPr>
          <p:spPr>
            <a:xfrm flipH="false" flipV="false" rot="0">
              <a:off x="127" y="0"/>
              <a:ext cx="640334" cy="1171194"/>
            </a:xfrm>
            <a:custGeom>
              <a:avLst/>
              <a:gdLst/>
              <a:ahLst/>
              <a:cxnLst/>
              <a:rect r="r" b="b" t="t" l="l"/>
              <a:pathLst>
                <a:path h="1171194" w="640334">
                  <a:moveTo>
                    <a:pt x="122555" y="127"/>
                  </a:moveTo>
                  <a:cubicBezTo>
                    <a:pt x="53975" y="127"/>
                    <a:pt x="0" y="54102"/>
                    <a:pt x="0" y="122809"/>
                  </a:cubicBezTo>
                  <a:lnTo>
                    <a:pt x="0" y="1048385"/>
                  </a:lnTo>
                  <a:cubicBezTo>
                    <a:pt x="0" y="1117092"/>
                    <a:pt x="53975" y="1171194"/>
                    <a:pt x="122682" y="1171194"/>
                  </a:cubicBezTo>
                  <a:lnTo>
                    <a:pt x="517652" y="1171194"/>
                  </a:lnTo>
                  <a:cubicBezTo>
                    <a:pt x="583946" y="1171194"/>
                    <a:pt x="640334" y="1117219"/>
                    <a:pt x="640334" y="1048385"/>
                  </a:cubicBezTo>
                  <a:lnTo>
                    <a:pt x="640334" y="122809"/>
                  </a:lnTo>
                  <a:cubicBezTo>
                    <a:pt x="640334" y="54102"/>
                    <a:pt x="583946" y="0"/>
                    <a:pt x="517652" y="0"/>
                  </a:cubicBezTo>
                  <a:close/>
                </a:path>
              </a:pathLst>
            </a:custGeom>
            <a:solidFill>
              <a:srgbClr val="35CFDB"/>
            </a:solidFill>
          </p:spPr>
        </p:sp>
      </p:grpSp>
      <p:grpSp>
        <p:nvGrpSpPr>
          <p:cNvPr name="Group 24" id="24"/>
          <p:cNvGrpSpPr/>
          <p:nvPr/>
        </p:nvGrpSpPr>
        <p:grpSpPr>
          <a:xfrm rot="0">
            <a:off x="15153122" y="4451756"/>
            <a:ext cx="1002259" cy="54721"/>
            <a:chOff x="0" y="0"/>
            <a:chExt cx="1336345" cy="72962"/>
          </a:xfrm>
        </p:grpSpPr>
        <p:sp>
          <p:nvSpPr>
            <p:cNvPr name="Freeform 25" id="25"/>
            <p:cNvSpPr/>
            <p:nvPr/>
          </p:nvSpPr>
          <p:spPr>
            <a:xfrm flipH="false" flipV="false" rot="0">
              <a:off x="127" y="0"/>
              <a:ext cx="1334082" cy="72898"/>
            </a:xfrm>
            <a:custGeom>
              <a:avLst/>
              <a:gdLst/>
              <a:ahLst/>
              <a:cxnLst/>
              <a:rect r="r" b="b" t="t" l="l"/>
              <a:pathLst>
                <a:path h="72898" w="1334082">
                  <a:moveTo>
                    <a:pt x="36830" y="0"/>
                  </a:moveTo>
                  <a:cubicBezTo>
                    <a:pt x="14732" y="0"/>
                    <a:pt x="0" y="14605"/>
                    <a:pt x="0" y="36449"/>
                  </a:cubicBezTo>
                  <a:cubicBezTo>
                    <a:pt x="0" y="58293"/>
                    <a:pt x="14732" y="72898"/>
                    <a:pt x="36830" y="72898"/>
                  </a:cubicBezTo>
                  <a:lnTo>
                    <a:pt x="1296924" y="72898"/>
                  </a:lnTo>
                  <a:cubicBezTo>
                    <a:pt x="1316609" y="72898"/>
                    <a:pt x="1336294" y="53467"/>
                    <a:pt x="1333881" y="36449"/>
                  </a:cubicBezTo>
                  <a:cubicBezTo>
                    <a:pt x="1333881" y="14605"/>
                    <a:pt x="1316609" y="0"/>
                    <a:pt x="1296924" y="0"/>
                  </a:cubicBezTo>
                  <a:close/>
                </a:path>
              </a:pathLst>
            </a:custGeom>
            <a:solidFill>
              <a:srgbClr val="92F7FF"/>
            </a:solidFill>
          </p:spPr>
        </p:sp>
      </p:grpSp>
      <p:grpSp>
        <p:nvGrpSpPr>
          <p:cNvPr name="Group 26" id="26"/>
          <p:cNvGrpSpPr/>
          <p:nvPr/>
        </p:nvGrpSpPr>
        <p:grpSpPr>
          <a:xfrm rot="0">
            <a:off x="15176878" y="4590002"/>
            <a:ext cx="957586" cy="54721"/>
            <a:chOff x="0" y="0"/>
            <a:chExt cx="1276782" cy="72962"/>
          </a:xfrm>
        </p:grpSpPr>
        <p:sp>
          <p:nvSpPr>
            <p:cNvPr name="Freeform 27" id="27"/>
            <p:cNvSpPr/>
            <p:nvPr/>
          </p:nvSpPr>
          <p:spPr>
            <a:xfrm flipH="false" flipV="false" rot="0">
              <a:off x="0" y="-127"/>
              <a:ext cx="1276858" cy="73025"/>
            </a:xfrm>
            <a:custGeom>
              <a:avLst/>
              <a:gdLst/>
              <a:ahLst/>
              <a:cxnLst/>
              <a:rect r="r" b="b" t="t" l="l"/>
              <a:pathLst>
                <a:path h="73025" w="1276858">
                  <a:moveTo>
                    <a:pt x="36830" y="127"/>
                  </a:moveTo>
                  <a:cubicBezTo>
                    <a:pt x="14732" y="127"/>
                    <a:pt x="0" y="14732"/>
                    <a:pt x="0" y="36703"/>
                  </a:cubicBezTo>
                  <a:cubicBezTo>
                    <a:pt x="0" y="58674"/>
                    <a:pt x="14732" y="73025"/>
                    <a:pt x="36830" y="73025"/>
                  </a:cubicBezTo>
                  <a:lnTo>
                    <a:pt x="1235075" y="73025"/>
                  </a:lnTo>
                  <a:cubicBezTo>
                    <a:pt x="1257173" y="73025"/>
                    <a:pt x="1271905" y="53594"/>
                    <a:pt x="1276858" y="36576"/>
                  </a:cubicBezTo>
                  <a:cubicBezTo>
                    <a:pt x="1276858" y="14605"/>
                    <a:pt x="1259586" y="0"/>
                    <a:pt x="1240028" y="0"/>
                  </a:cubicBezTo>
                  <a:close/>
                </a:path>
              </a:pathLst>
            </a:custGeom>
            <a:solidFill>
              <a:srgbClr val="92F7FF"/>
            </a:solidFill>
          </p:spPr>
        </p:sp>
      </p:grpSp>
      <p:grpSp>
        <p:nvGrpSpPr>
          <p:cNvPr name="Group 28" id="28"/>
          <p:cNvGrpSpPr/>
          <p:nvPr/>
        </p:nvGrpSpPr>
        <p:grpSpPr>
          <a:xfrm rot="0">
            <a:off x="10580399" y="9678962"/>
            <a:ext cx="7680874" cy="563023"/>
            <a:chOff x="0" y="0"/>
            <a:chExt cx="10241166" cy="750697"/>
          </a:xfrm>
        </p:grpSpPr>
        <p:sp>
          <p:nvSpPr>
            <p:cNvPr name="Freeform 29" id="29"/>
            <p:cNvSpPr/>
            <p:nvPr/>
          </p:nvSpPr>
          <p:spPr>
            <a:xfrm flipH="false" flipV="false" rot="0">
              <a:off x="0" y="0"/>
              <a:ext cx="10241153" cy="750570"/>
            </a:xfrm>
            <a:custGeom>
              <a:avLst/>
              <a:gdLst/>
              <a:ahLst/>
              <a:cxnLst/>
              <a:rect r="r" b="b" t="t" l="l"/>
              <a:pathLst>
                <a:path h="750570" w="10241153">
                  <a:moveTo>
                    <a:pt x="0" y="0"/>
                  </a:moveTo>
                  <a:lnTo>
                    <a:pt x="0" y="750570"/>
                  </a:lnTo>
                  <a:lnTo>
                    <a:pt x="10241153" y="750570"/>
                  </a:lnTo>
                  <a:lnTo>
                    <a:pt x="10241153" y="0"/>
                  </a:lnTo>
                  <a:close/>
                </a:path>
              </a:pathLst>
            </a:custGeom>
            <a:solidFill>
              <a:srgbClr val="09066A"/>
            </a:solidFill>
          </p:spPr>
        </p:sp>
      </p:grpSp>
      <p:grpSp>
        <p:nvGrpSpPr>
          <p:cNvPr name="Group 30" id="30"/>
          <p:cNvGrpSpPr/>
          <p:nvPr/>
        </p:nvGrpSpPr>
        <p:grpSpPr>
          <a:xfrm rot="0">
            <a:off x="10580399" y="9341996"/>
            <a:ext cx="7680874" cy="336956"/>
            <a:chOff x="0" y="0"/>
            <a:chExt cx="10241166" cy="449275"/>
          </a:xfrm>
        </p:grpSpPr>
        <p:sp>
          <p:nvSpPr>
            <p:cNvPr name="Freeform 31" id="31"/>
            <p:cNvSpPr/>
            <p:nvPr/>
          </p:nvSpPr>
          <p:spPr>
            <a:xfrm flipH="false" flipV="false" rot="0">
              <a:off x="0" y="127"/>
              <a:ext cx="10241153" cy="449072"/>
            </a:xfrm>
            <a:custGeom>
              <a:avLst/>
              <a:gdLst/>
              <a:ahLst/>
              <a:cxnLst/>
              <a:rect r="r" b="b" t="t" l="l"/>
              <a:pathLst>
                <a:path h="449072" w="10241153">
                  <a:moveTo>
                    <a:pt x="447167" y="0"/>
                  </a:moveTo>
                  <a:cubicBezTo>
                    <a:pt x="199009" y="0"/>
                    <a:pt x="0" y="203581"/>
                    <a:pt x="0" y="449072"/>
                  </a:cubicBezTo>
                  <a:lnTo>
                    <a:pt x="10241153" y="449072"/>
                  </a:lnTo>
                  <a:cubicBezTo>
                    <a:pt x="10241153" y="203581"/>
                    <a:pt x="10039731" y="2413"/>
                    <a:pt x="9796399" y="0"/>
                  </a:cubicBezTo>
                  <a:close/>
                </a:path>
              </a:pathLst>
            </a:custGeom>
            <a:solidFill>
              <a:srgbClr val="3333B8"/>
            </a:solidFill>
          </p:spPr>
        </p:sp>
      </p:grpSp>
      <p:grpSp>
        <p:nvGrpSpPr>
          <p:cNvPr name="Group 32" id="32"/>
          <p:cNvGrpSpPr/>
          <p:nvPr/>
        </p:nvGrpSpPr>
        <p:grpSpPr>
          <a:xfrm rot="0">
            <a:off x="10833840" y="2238480"/>
            <a:ext cx="2356599" cy="1786966"/>
            <a:chOff x="0" y="0"/>
            <a:chExt cx="3142132" cy="2382622"/>
          </a:xfrm>
        </p:grpSpPr>
        <p:sp>
          <p:nvSpPr>
            <p:cNvPr name="Freeform 33" id="33"/>
            <p:cNvSpPr/>
            <p:nvPr/>
          </p:nvSpPr>
          <p:spPr>
            <a:xfrm flipH="false" flipV="false" rot="0">
              <a:off x="127" y="127"/>
              <a:ext cx="3141980" cy="2382393"/>
            </a:xfrm>
            <a:custGeom>
              <a:avLst/>
              <a:gdLst/>
              <a:ahLst/>
              <a:cxnLst/>
              <a:rect r="r" b="b" t="t" l="l"/>
              <a:pathLst>
                <a:path h="2382393" w="3141980">
                  <a:moveTo>
                    <a:pt x="292227" y="0"/>
                  </a:moveTo>
                  <a:cubicBezTo>
                    <a:pt x="130048" y="0"/>
                    <a:pt x="0" y="130175"/>
                    <a:pt x="0" y="292227"/>
                  </a:cubicBezTo>
                  <a:lnTo>
                    <a:pt x="0" y="2090166"/>
                  </a:lnTo>
                  <a:cubicBezTo>
                    <a:pt x="0" y="2252218"/>
                    <a:pt x="132588" y="2382393"/>
                    <a:pt x="292354" y="2382393"/>
                  </a:cubicBezTo>
                  <a:lnTo>
                    <a:pt x="2849626" y="2382393"/>
                  </a:lnTo>
                  <a:cubicBezTo>
                    <a:pt x="3009265" y="2382393"/>
                    <a:pt x="3141980" y="2252218"/>
                    <a:pt x="3141980" y="2090166"/>
                  </a:cubicBezTo>
                  <a:lnTo>
                    <a:pt x="3141980" y="292227"/>
                  </a:lnTo>
                  <a:cubicBezTo>
                    <a:pt x="3141980" y="127635"/>
                    <a:pt x="3009392" y="0"/>
                    <a:pt x="2849626" y="0"/>
                  </a:cubicBezTo>
                  <a:close/>
                </a:path>
              </a:pathLst>
            </a:custGeom>
            <a:solidFill>
              <a:srgbClr val="EDDEFF"/>
            </a:solidFill>
          </p:spPr>
        </p:sp>
      </p:grpSp>
      <p:grpSp>
        <p:nvGrpSpPr>
          <p:cNvPr name="Group 34" id="34"/>
          <p:cNvGrpSpPr/>
          <p:nvPr/>
        </p:nvGrpSpPr>
        <p:grpSpPr>
          <a:xfrm rot="0">
            <a:off x="10935357" y="2122561"/>
            <a:ext cx="2356542" cy="1787080"/>
            <a:chOff x="0" y="0"/>
            <a:chExt cx="3142056" cy="2382774"/>
          </a:xfrm>
        </p:grpSpPr>
        <p:sp>
          <p:nvSpPr>
            <p:cNvPr name="Freeform 35" id="35"/>
            <p:cNvSpPr/>
            <p:nvPr/>
          </p:nvSpPr>
          <p:spPr>
            <a:xfrm flipH="false" flipV="false" rot="0">
              <a:off x="0" y="0"/>
              <a:ext cx="3141980" cy="2382774"/>
            </a:xfrm>
            <a:custGeom>
              <a:avLst/>
              <a:gdLst/>
              <a:ahLst/>
              <a:cxnLst/>
              <a:rect r="r" b="b" t="t" l="l"/>
              <a:pathLst>
                <a:path h="2382774" w="3141980">
                  <a:moveTo>
                    <a:pt x="292354" y="0"/>
                  </a:moveTo>
                  <a:cubicBezTo>
                    <a:pt x="130175" y="0"/>
                    <a:pt x="0" y="132588"/>
                    <a:pt x="0" y="292354"/>
                  </a:cubicBezTo>
                  <a:lnTo>
                    <a:pt x="0" y="2092960"/>
                  </a:lnTo>
                  <a:cubicBezTo>
                    <a:pt x="0" y="2255012"/>
                    <a:pt x="132588" y="2382774"/>
                    <a:pt x="292354" y="2382774"/>
                  </a:cubicBezTo>
                  <a:lnTo>
                    <a:pt x="2847213" y="2382774"/>
                  </a:lnTo>
                  <a:cubicBezTo>
                    <a:pt x="3009392" y="2382774"/>
                    <a:pt x="3139567" y="2255012"/>
                    <a:pt x="3141980" y="2092960"/>
                  </a:cubicBezTo>
                  <a:lnTo>
                    <a:pt x="3141980" y="292354"/>
                  </a:lnTo>
                  <a:cubicBezTo>
                    <a:pt x="3142107" y="130175"/>
                    <a:pt x="3009392" y="0"/>
                    <a:pt x="2849626" y="0"/>
                  </a:cubicBezTo>
                  <a:close/>
                </a:path>
              </a:pathLst>
            </a:custGeom>
            <a:solidFill>
              <a:srgbClr val="35CFDB"/>
            </a:solidFill>
          </p:spPr>
        </p:sp>
      </p:grpSp>
      <p:grpSp>
        <p:nvGrpSpPr>
          <p:cNvPr name="Group 36" id="36"/>
          <p:cNvGrpSpPr/>
          <p:nvPr/>
        </p:nvGrpSpPr>
        <p:grpSpPr>
          <a:xfrm rot="0">
            <a:off x="10935357" y="2126161"/>
            <a:ext cx="2354294" cy="257042"/>
            <a:chOff x="0" y="0"/>
            <a:chExt cx="3139059" cy="342722"/>
          </a:xfrm>
        </p:grpSpPr>
        <p:sp>
          <p:nvSpPr>
            <p:cNvPr name="Freeform 37" id="37"/>
            <p:cNvSpPr/>
            <p:nvPr/>
          </p:nvSpPr>
          <p:spPr>
            <a:xfrm flipH="false" flipV="false" rot="0">
              <a:off x="0" y="127"/>
              <a:ext cx="3139059" cy="342646"/>
            </a:xfrm>
            <a:custGeom>
              <a:avLst/>
              <a:gdLst/>
              <a:ahLst/>
              <a:cxnLst/>
              <a:rect r="r" b="b" t="t" l="l"/>
              <a:pathLst>
                <a:path h="342646" w="3139059">
                  <a:moveTo>
                    <a:pt x="292354" y="0"/>
                  </a:moveTo>
                  <a:cubicBezTo>
                    <a:pt x="132588" y="0"/>
                    <a:pt x="0" y="127127"/>
                    <a:pt x="0" y="288798"/>
                  </a:cubicBezTo>
                  <a:lnTo>
                    <a:pt x="0" y="342646"/>
                  </a:lnTo>
                  <a:lnTo>
                    <a:pt x="3139059" y="342646"/>
                  </a:lnTo>
                  <a:lnTo>
                    <a:pt x="3139059" y="288798"/>
                  </a:lnTo>
                  <a:cubicBezTo>
                    <a:pt x="3139059" y="127254"/>
                    <a:pt x="3008884" y="0"/>
                    <a:pt x="2846705" y="0"/>
                  </a:cubicBezTo>
                  <a:close/>
                </a:path>
              </a:pathLst>
            </a:custGeom>
            <a:solidFill>
              <a:srgbClr val="0F89A5"/>
            </a:solidFill>
          </p:spPr>
        </p:sp>
      </p:grpSp>
      <p:grpSp>
        <p:nvGrpSpPr>
          <p:cNvPr name="Group 38" id="38"/>
          <p:cNvGrpSpPr/>
          <p:nvPr/>
        </p:nvGrpSpPr>
        <p:grpSpPr>
          <a:xfrm rot="0">
            <a:off x="11144879" y="2192398"/>
            <a:ext cx="124558" cy="123130"/>
            <a:chOff x="0" y="0"/>
            <a:chExt cx="166078" cy="164173"/>
          </a:xfrm>
        </p:grpSpPr>
        <p:sp>
          <p:nvSpPr>
            <p:cNvPr name="Freeform 39" id="39"/>
            <p:cNvSpPr/>
            <p:nvPr/>
          </p:nvSpPr>
          <p:spPr>
            <a:xfrm flipH="false" flipV="false" rot="0">
              <a:off x="127" y="127"/>
              <a:ext cx="165862" cy="164084"/>
            </a:xfrm>
            <a:custGeom>
              <a:avLst/>
              <a:gdLst/>
              <a:ahLst/>
              <a:cxnLst/>
              <a:rect r="r" b="b" t="t" l="l"/>
              <a:pathLst>
                <a:path h="164084" w="165862">
                  <a:moveTo>
                    <a:pt x="82931" y="0"/>
                  </a:moveTo>
                  <a:cubicBezTo>
                    <a:pt x="36576" y="0"/>
                    <a:pt x="0" y="36703"/>
                    <a:pt x="0" y="83185"/>
                  </a:cubicBezTo>
                  <a:cubicBezTo>
                    <a:pt x="0" y="127254"/>
                    <a:pt x="36576" y="164084"/>
                    <a:pt x="82931" y="164084"/>
                  </a:cubicBezTo>
                  <a:cubicBezTo>
                    <a:pt x="129286" y="164084"/>
                    <a:pt x="165862" y="127254"/>
                    <a:pt x="165862" y="83185"/>
                  </a:cubicBezTo>
                  <a:cubicBezTo>
                    <a:pt x="165862" y="36703"/>
                    <a:pt x="129286" y="0"/>
                    <a:pt x="82931" y="0"/>
                  </a:cubicBezTo>
                  <a:close/>
                </a:path>
              </a:pathLst>
            </a:custGeom>
            <a:solidFill>
              <a:srgbClr val="92F7FF"/>
            </a:solidFill>
          </p:spPr>
        </p:sp>
      </p:grpSp>
      <p:grpSp>
        <p:nvGrpSpPr>
          <p:cNvPr name="Group 40" id="40"/>
          <p:cNvGrpSpPr/>
          <p:nvPr/>
        </p:nvGrpSpPr>
        <p:grpSpPr>
          <a:xfrm rot="0">
            <a:off x="11393996" y="2192398"/>
            <a:ext cx="124558" cy="123130"/>
            <a:chOff x="0" y="0"/>
            <a:chExt cx="166078" cy="164173"/>
          </a:xfrm>
        </p:grpSpPr>
        <p:sp>
          <p:nvSpPr>
            <p:cNvPr name="Freeform 41" id="41"/>
            <p:cNvSpPr/>
            <p:nvPr/>
          </p:nvSpPr>
          <p:spPr>
            <a:xfrm flipH="false" flipV="false" rot="0">
              <a:off x="0" y="127"/>
              <a:ext cx="166116" cy="164084"/>
            </a:xfrm>
            <a:custGeom>
              <a:avLst/>
              <a:gdLst/>
              <a:ahLst/>
              <a:cxnLst/>
              <a:rect r="r" b="b" t="t" l="l"/>
              <a:pathLst>
                <a:path h="164084" w="166116">
                  <a:moveTo>
                    <a:pt x="83058"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3058" y="0"/>
                  </a:cubicBezTo>
                  <a:close/>
                </a:path>
              </a:pathLst>
            </a:custGeom>
            <a:solidFill>
              <a:srgbClr val="92F7FF"/>
            </a:solidFill>
          </p:spPr>
        </p:sp>
      </p:grpSp>
      <p:grpSp>
        <p:nvGrpSpPr>
          <p:cNvPr name="Group 42" id="42"/>
          <p:cNvGrpSpPr/>
          <p:nvPr/>
        </p:nvGrpSpPr>
        <p:grpSpPr>
          <a:xfrm rot="0">
            <a:off x="11644560" y="2192398"/>
            <a:ext cx="124558" cy="123130"/>
            <a:chOff x="0" y="0"/>
            <a:chExt cx="166078" cy="164173"/>
          </a:xfrm>
        </p:grpSpPr>
        <p:sp>
          <p:nvSpPr>
            <p:cNvPr name="Freeform 43" id="43"/>
            <p:cNvSpPr/>
            <p:nvPr/>
          </p:nvSpPr>
          <p:spPr>
            <a:xfrm flipH="false" flipV="false" rot="0">
              <a:off x="127" y="127"/>
              <a:ext cx="166116" cy="164084"/>
            </a:xfrm>
            <a:custGeom>
              <a:avLst/>
              <a:gdLst/>
              <a:ahLst/>
              <a:cxnLst/>
              <a:rect r="r" b="b" t="t" l="l"/>
              <a:pathLst>
                <a:path h="164084" w="166116">
                  <a:moveTo>
                    <a:pt x="82931"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2931" y="0"/>
                  </a:cubicBezTo>
                  <a:close/>
                </a:path>
              </a:pathLst>
            </a:custGeom>
            <a:solidFill>
              <a:srgbClr val="92F7FF"/>
            </a:solidFill>
          </p:spPr>
        </p:sp>
      </p:grpSp>
      <p:grpSp>
        <p:nvGrpSpPr>
          <p:cNvPr name="Group 44" id="44"/>
          <p:cNvGrpSpPr/>
          <p:nvPr/>
        </p:nvGrpSpPr>
        <p:grpSpPr>
          <a:xfrm rot="0">
            <a:off x="15317276" y="2361600"/>
            <a:ext cx="1997297" cy="1914563"/>
            <a:chOff x="0" y="0"/>
            <a:chExt cx="2663063" cy="2552751"/>
          </a:xfrm>
        </p:grpSpPr>
        <p:sp>
          <p:nvSpPr>
            <p:cNvPr name="Freeform 45" id="45"/>
            <p:cNvSpPr/>
            <p:nvPr/>
          </p:nvSpPr>
          <p:spPr>
            <a:xfrm flipH="false" flipV="false" rot="0">
              <a:off x="0" y="0"/>
              <a:ext cx="2663063" cy="2552700"/>
            </a:xfrm>
            <a:custGeom>
              <a:avLst/>
              <a:gdLst/>
              <a:ahLst/>
              <a:cxnLst/>
              <a:rect r="r" b="b" t="t" l="l"/>
              <a:pathLst>
                <a:path h="2552700" w="2663063">
                  <a:moveTo>
                    <a:pt x="294767" y="0"/>
                  </a:moveTo>
                  <a:cubicBezTo>
                    <a:pt x="132715" y="0"/>
                    <a:pt x="0" y="132715"/>
                    <a:pt x="0" y="294894"/>
                  </a:cubicBezTo>
                  <a:lnTo>
                    <a:pt x="0" y="2257933"/>
                  </a:lnTo>
                  <a:cubicBezTo>
                    <a:pt x="0" y="2419985"/>
                    <a:pt x="132715" y="2552700"/>
                    <a:pt x="294767" y="2552700"/>
                  </a:cubicBezTo>
                  <a:lnTo>
                    <a:pt x="2368296" y="2552700"/>
                  </a:lnTo>
                  <a:cubicBezTo>
                    <a:pt x="2530348" y="2552700"/>
                    <a:pt x="2663063" y="2419985"/>
                    <a:pt x="2663063" y="2257806"/>
                  </a:cubicBezTo>
                  <a:lnTo>
                    <a:pt x="2663063" y="294894"/>
                  </a:lnTo>
                  <a:cubicBezTo>
                    <a:pt x="2663063" y="132715"/>
                    <a:pt x="2530348" y="0"/>
                    <a:pt x="2368296" y="0"/>
                  </a:cubicBezTo>
                  <a:close/>
                </a:path>
              </a:pathLst>
            </a:custGeom>
            <a:solidFill>
              <a:srgbClr val="EDDEFF"/>
            </a:solidFill>
          </p:spPr>
        </p:sp>
      </p:grpSp>
      <p:grpSp>
        <p:nvGrpSpPr>
          <p:cNvPr name="Group 46" id="46"/>
          <p:cNvGrpSpPr/>
          <p:nvPr/>
        </p:nvGrpSpPr>
        <p:grpSpPr>
          <a:xfrm rot="0">
            <a:off x="15427442" y="2258644"/>
            <a:ext cx="1998631" cy="1914563"/>
            <a:chOff x="0" y="0"/>
            <a:chExt cx="2664841" cy="2552751"/>
          </a:xfrm>
        </p:grpSpPr>
        <p:sp>
          <p:nvSpPr>
            <p:cNvPr name="Freeform 47" id="47"/>
            <p:cNvSpPr/>
            <p:nvPr/>
          </p:nvSpPr>
          <p:spPr>
            <a:xfrm flipH="false" flipV="false" rot="0">
              <a:off x="127" y="0"/>
              <a:ext cx="2662333" cy="2552700"/>
            </a:xfrm>
            <a:custGeom>
              <a:avLst/>
              <a:gdLst/>
              <a:ahLst/>
              <a:cxnLst/>
              <a:rect r="r" b="b" t="t" l="l"/>
              <a:pathLst>
                <a:path h="2552700" w="2662333">
                  <a:moveTo>
                    <a:pt x="294640" y="0"/>
                  </a:moveTo>
                  <a:cubicBezTo>
                    <a:pt x="132588" y="0"/>
                    <a:pt x="0" y="132715"/>
                    <a:pt x="0" y="294894"/>
                  </a:cubicBezTo>
                  <a:lnTo>
                    <a:pt x="0" y="2257933"/>
                  </a:lnTo>
                  <a:cubicBezTo>
                    <a:pt x="0" y="2419985"/>
                    <a:pt x="132588" y="2552700"/>
                    <a:pt x="294640" y="2552700"/>
                  </a:cubicBezTo>
                  <a:lnTo>
                    <a:pt x="2367534" y="2552700"/>
                  </a:lnTo>
                  <a:cubicBezTo>
                    <a:pt x="2532126" y="2552700"/>
                    <a:pt x="2664714" y="2419985"/>
                    <a:pt x="2662301" y="2257806"/>
                  </a:cubicBezTo>
                  <a:lnTo>
                    <a:pt x="2662301" y="294894"/>
                  </a:lnTo>
                  <a:cubicBezTo>
                    <a:pt x="2662174" y="130175"/>
                    <a:pt x="2529586" y="0"/>
                    <a:pt x="2367534" y="0"/>
                  </a:cubicBezTo>
                  <a:close/>
                </a:path>
              </a:pathLst>
            </a:custGeom>
            <a:solidFill>
              <a:srgbClr val="3F3FD8"/>
            </a:solidFill>
          </p:spPr>
        </p:sp>
      </p:grpSp>
      <p:sp>
        <p:nvSpPr>
          <p:cNvPr name="Freeform 48" id="48"/>
          <p:cNvSpPr/>
          <p:nvPr/>
        </p:nvSpPr>
        <p:spPr>
          <a:xfrm flipH="false" flipV="false" rot="0">
            <a:off x="15587996" y="2378164"/>
            <a:ext cx="1676105" cy="1676105"/>
          </a:xfrm>
          <a:custGeom>
            <a:avLst/>
            <a:gdLst/>
            <a:ahLst/>
            <a:cxnLst/>
            <a:rect r="r" b="b" t="t" l="l"/>
            <a:pathLst>
              <a:path h="1676105" w="1676105">
                <a:moveTo>
                  <a:pt x="0" y="0"/>
                </a:moveTo>
                <a:lnTo>
                  <a:pt x="1676105" y="0"/>
                </a:lnTo>
                <a:lnTo>
                  <a:pt x="1676105" y="1676105"/>
                </a:lnTo>
                <a:lnTo>
                  <a:pt x="0" y="1676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0">
            <a:off x="16986799" y="3043276"/>
            <a:ext cx="20488" cy="24089"/>
          </a:xfrm>
          <a:custGeom>
            <a:avLst/>
            <a:gdLst/>
            <a:ahLst/>
            <a:cxnLst/>
            <a:rect r="r" b="b" t="t" l="l"/>
            <a:pathLst>
              <a:path h="24089" w="20488">
                <a:moveTo>
                  <a:pt x="0" y="0"/>
                </a:moveTo>
                <a:lnTo>
                  <a:pt x="20489" y="0"/>
                </a:lnTo>
                <a:lnTo>
                  <a:pt x="20489" y="24088"/>
                </a:lnTo>
                <a:lnTo>
                  <a:pt x="0" y="24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0" id="50"/>
          <p:cNvGrpSpPr/>
          <p:nvPr/>
        </p:nvGrpSpPr>
        <p:grpSpPr>
          <a:xfrm rot="0">
            <a:off x="16977436" y="3013758"/>
            <a:ext cx="20488" cy="25527"/>
            <a:chOff x="0" y="0"/>
            <a:chExt cx="27318" cy="34036"/>
          </a:xfrm>
        </p:grpSpPr>
        <p:sp>
          <p:nvSpPr>
            <p:cNvPr name="Freeform 51" id="51"/>
            <p:cNvSpPr/>
            <p:nvPr/>
          </p:nvSpPr>
          <p:spPr>
            <a:xfrm flipH="false" flipV="false" rot="0">
              <a:off x="0" y="143"/>
              <a:ext cx="27305" cy="33893"/>
            </a:xfrm>
            <a:custGeom>
              <a:avLst/>
              <a:gdLst/>
              <a:ahLst/>
              <a:cxnLst/>
              <a:rect r="r" b="b" t="t" l="l"/>
              <a:pathLst>
                <a:path h="33893" w="27305">
                  <a:moveTo>
                    <a:pt x="1905" y="21193"/>
                  </a:moveTo>
                  <a:cubicBezTo>
                    <a:pt x="1905" y="20939"/>
                    <a:pt x="1905" y="20939"/>
                    <a:pt x="1524" y="19669"/>
                  </a:cubicBezTo>
                  <a:cubicBezTo>
                    <a:pt x="1397" y="19288"/>
                    <a:pt x="1143" y="18780"/>
                    <a:pt x="1016" y="18145"/>
                  </a:cubicBezTo>
                  <a:cubicBezTo>
                    <a:pt x="635" y="17002"/>
                    <a:pt x="0" y="14970"/>
                    <a:pt x="0" y="12684"/>
                  </a:cubicBezTo>
                  <a:cubicBezTo>
                    <a:pt x="0" y="6588"/>
                    <a:pt x="4318" y="1381"/>
                    <a:pt x="10160" y="238"/>
                  </a:cubicBezTo>
                  <a:cubicBezTo>
                    <a:pt x="16002" y="-905"/>
                    <a:pt x="21971" y="2143"/>
                    <a:pt x="24384" y="7731"/>
                  </a:cubicBezTo>
                  <a:cubicBezTo>
                    <a:pt x="27178" y="14335"/>
                    <a:pt x="27178" y="20812"/>
                    <a:pt x="27178" y="21193"/>
                  </a:cubicBezTo>
                  <a:lnTo>
                    <a:pt x="14478" y="21193"/>
                  </a:lnTo>
                  <a:lnTo>
                    <a:pt x="1778" y="21193"/>
                  </a:lnTo>
                  <a:moveTo>
                    <a:pt x="27178" y="21193"/>
                  </a:moveTo>
                  <a:cubicBezTo>
                    <a:pt x="27178" y="28178"/>
                    <a:pt x="21463" y="33893"/>
                    <a:pt x="14478" y="33893"/>
                  </a:cubicBezTo>
                  <a:cubicBezTo>
                    <a:pt x="7493" y="33893"/>
                    <a:pt x="1778" y="28178"/>
                    <a:pt x="1778" y="21193"/>
                  </a:cubicBezTo>
                  <a:cubicBezTo>
                    <a:pt x="1778" y="22082"/>
                    <a:pt x="2159" y="20304"/>
                    <a:pt x="1016" y="17637"/>
                  </a:cubicBezTo>
                  <a:lnTo>
                    <a:pt x="12700" y="12684"/>
                  </a:lnTo>
                  <a:lnTo>
                    <a:pt x="25400" y="12684"/>
                  </a:lnTo>
                  <a:cubicBezTo>
                    <a:pt x="25400" y="11922"/>
                    <a:pt x="25273" y="10652"/>
                    <a:pt x="25146" y="10525"/>
                  </a:cubicBezTo>
                  <a:cubicBezTo>
                    <a:pt x="25146" y="10525"/>
                    <a:pt x="25146" y="10652"/>
                    <a:pt x="25400" y="11160"/>
                  </a:cubicBezTo>
                  <a:cubicBezTo>
                    <a:pt x="26035" y="12811"/>
                    <a:pt x="27305" y="16367"/>
                    <a:pt x="27305" y="21193"/>
                  </a:cubicBezTo>
                  <a:close/>
                </a:path>
              </a:pathLst>
            </a:custGeom>
            <a:solidFill>
              <a:srgbClr val="000000"/>
            </a:solidFill>
          </p:spPr>
        </p:sp>
      </p:grpSp>
      <p:sp>
        <p:nvSpPr>
          <p:cNvPr name="Freeform 52" id="52"/>
          <p:cNvSpPr/>
          <p:nvPr/>
        </p:nvSpPr>
        <p:spPr>
          <a:xfrm flipH="false" flipV="false" rot="0">
            <a:off x="16159677" y="2962799"/>
            <a:ext cx="1105224" cy="1090051"/>
          </a:xfrm>
          <a:custGeom>
            <a:avLst/>
            <a:gdLst/>
            <a:ahLst/>
            <a:cxnLst/>
            <a:rect r="r" b="b" t="t" l="l"/>
            <a:pathLst>
              <a:path h="1090051" w="1105224">
                <a:moveTo>
                  <a:pt x="0" y="0"/>
                </a:moveTo>
                <a:lnTo>
                  <a:pt x="1105224" y="0"/>
                </a:lnTo>
                <a:lnTo>
                  <a:pt x="1105224" y="1090050"/>
                </a:lnTo>
                <a:lnTo>
                  <a:pt x="0" y="10900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3" id="53"/>
          <p:cNvSpPr/>
          <p:nvPr/>
        </p:nvSpPr>
        <p:spPr>
          <a:xfrm flipH="false" flipV="false" rot="0">
            <a:off x="16968073" y="2987831"/>
            <a:ext cx="20488" cy="25527"/>
          </a:xfrm>
          <a:custGeom>
            <a:avLst/>
            <a:gdLst/>
            <a:ahLst/>
            <a:cxnLst/>
            <a:rect r="r" b="b" t="t" l="l"/>
            <a:pathLst>
              <a:path h="25527" w="20488">
                <a:moveTo>
                  <a:pt x="0" y="0"/>
                </a:moveTo>
                <a:lnTo>
                  <a:pt x="20488" y="0"/>
                </a:lnTo>
                <a:lnTo>
                  <a:pt x="20488" y="25527"/>
                </a:lnTo>
                <a:lnTo>
                  <a:pt x="0" y="255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54" id="54"/>
          <p:cNvGrpSpPr/>
          <p:nvPr/>
        </p:nvGrpSpPr>
        <p:grpSpPr>
          <a:xfrm rot="0">
            <a:off x="17004792" y="3131839"/>
            <a:ext cx="19774" cy="19774"/>
            <a:chOff x="0" y="0"/>
            <a:chExt cx="26365" cy="26365"/>
          </a:xfrm>
        </p:grpSpPr>
        <p:sp>
          <p:nvSpPr>
            <p:cNvPr name="Freeform 55" id="55"/>
            <p:cNvSpPr/>
            <p:nvPr/>
          </p:nvSpPr>
          <p:spPr>
            <a:xfrm flipH="false" flipV="false" rot="0">
              <a:off x="12700" y="0"/>
              <a:ext cx="0" cy="12700"/>
            </a:xfrm>
            <a:custGeom>
              <a:avLst/>
              <a:gdLst/>
              <a:ahLst/>
              <a:cxnLst/>
              <a:rect r="r" b="b" t="t" l="l"/>
              <a:pathLst>
                <a:path h="12700" w="0">
                  <a:moveTo>
                    <a:pt x="0" y="0"/>
                  </a:moveTo>
                  <a:lnTo>
                    <a:pt x="0" y="12700"/>
                  </a:lnTo>
                  <a:lnTo>
                    <a:pt x="0" y="0"/>
                  </a:lnTo>
                </a:path>
              </a:pathLst>
            </a:custGeom>
            <a:solidFill>
              <a:srgbClr val="000000"/>
            </a:solidFill>
          </p:spPr>
        </p:sp>
      </p:grpSp>
      <p:grpSp>
        <p:nvGrpSpPr>
          <p:cNvPr name="Group 56" id="56"/>
          <p:cNvGrpSpPr/>
          <p:nvPr/>
        </p:nvGrpSpPr>
        <p:grpSpPr>
          <a:xfrm rot="0">
            <a:off x="16993991" y="3072794"/>
            <a:ext cx="20488" cy="21927"/>
            <a:chOff x="0" y="0"/>
            <a:chExt cx="27318" cy="29235"/>
          </a:xfrm>
        </p:grpSpPr>
        <p:sp>
          <p:nvSpPr>
            <p:cNvPr name="Freeform 57" id="57"/>
            <p:cNvSpPr/>
            <p:nvPr/>
          </p:nvSpPr>
          <p:spPr>
            <a:xfrm flipH="false" flipV="false" rot="0">
              <a:off x="508" y="0"/>
              <a:ext cx="26797" cy="29260"/>
            </a:xfrm>
            <a:custGeom>
              <a:avLst/>
              <a:gdLst/>
              <a:ahLst/>
              <a:cxnLst/>
              <a:rect r="r" b="b" t="t" l="l"/>
              <a:pathLst>
                <a:path h="29260" w="26797">
                  <a:moveTo>
                    <a:pt x="1397" y="16510"/>
                  </a:moveTo>
                  <a:lnTo>
                    <a:pt x="1397" y="12700"/>
                  </a:lnTo>
                  <a:lnTo>
                    <a:pt x="14097" y="12700"/>
                  </a:lnTo>
                  <a:lnTo>
                    <a:pt x="14097" y="25400"/>
                  </a:lnTo>
                  <a:cubicBezTo>
                    <a:pt x="13970" y="25400"/>
                    <a:pt x="13843" y="25400"/>
                    <a:pt x="13843" y="25400"/>
                  </a:cubicBezTo>
                  <a:cubicBezTo>
                    <a:pt x="14478" y="25400"/>
                    <a:pt x="19939" y="24257"/>
                    <a:pt x="22733" y="20701"/>
                  </a:cubicBezTo>
                  <a:cubicBezTo>
                    <a:pt x="24892" y="17907"/>
                    <a:pt x="25273" y="15113"/>
                    <a:pt x="25273" y="13208"/>
                  </a:cubicBezTo>
                  <a:cubicBezTo>
                    <a:pt x="25273" y="11049"/>
                    <a:pt x="24511" y="9271"/>
                    <a:pt x="25400" y="10922"/>
                  </a:cubicBezTo>
                  <a:lnTo>
                    <a:pt x="14097" y="16637"/>
                  </a:lnTo>
                  <a:lnTo>
                    <a:pt x="1397" y="16637"/>
                  </a:lnTo>
                  <a:moveTo>
                    <a:pt x="26797" y="16637"/>
                  </a:moveTo>
                  <a:cubicBezTo>
                    <a:pt x="26797" y="22479"/>
                    <a:pt x="22733" y="27686"/>
                    <a:pt x="17018" y="28956"/>
                  </a:cubicBezTo>
                  <a:cubicBezTo>
                    <a:pt x="11303" y="30226"/>
                    <a:pt x="5334" y="27432"/>
                    <a:pt x="2794" y="22225"/>
                  </a:cubicBezTo>
                  <a:cubicBezTo>
                    <a:pt x="1651" y="20066"/>
                    <a:pt x="0" y="16383"/>
                    <a:pt x="0" y="13208"/>
                  </a:cubicBezTo>
                  <a:cubicBezTo>
                    <a:pt x="0" y="11049"/>
                    <a:pt x="508" y="8001"/>
                    <a:pt x="2667" y="5207"/>
                  </a:cubicBezTo>
                  <a:cubicBezTo>
                    <a:pt x="5715" y="1143"/>
                    <a:pt x="11938" y="0"/>
                    <a:pt x="13589" y="0"/>
                  </a:cubicBezTo>
                  <a:cubicBezTo>
                    <a:pt x="13843" y="0"/>
                    <a:pt x="14097" y="0"/>
                    <a:pt x="14097" y="0"/>
                  </a:cubicBezTo>
                  <a:cubicBezTo>
                    <a:pt x="21082" y="0"/>
                    <a:pt x="26797" y="5715"/>
                    <a:pt x="26797" y="12700"/>
                  </a:cubicBezTo>
                  <a:lnTo>
                    <a:pt x="26797" y="16510"/>
                  </a:lnTo>
                  <a:close/>
                </a:path>
              </a:pathLst>
            </a:custGeom>
            <a:solidFill>
              <a:srgbClr val="000000"/>
            </a:solidFill>
          </p:spPr>
        </p:sp>
      </p:grpSp>
      <p:grpSp>
        <p:nvGrpSpPr>
          <p:cNvPr name="Group 58" id="58"/>
          <p:cNvGrpSpPr/>
          <p:nvPr/>
        </p:nvGrpSpPr>
        <p:grpSpPr>
          <a:xfrm rot="0">
            <a:off x="17001192" y="3100159"/>
            <a:ext cx="19774" cy="21927"/>
            <a:chOff x="0" y="0"/>
            <a:chExt cx="26365" cy="29235"/>
          </a:xfrm>
        </p:grpSpPr>
        <p:sp>
          <p:nvSpPr>
            <p:cNvPr name="Freeform 59" id="59"/>
            <p:cNvSpPr/>
            <p:nvPr/>
          </p:nvSpPr>
          <p:spPr>
            <a:xfrm flipH="false" flipV="false" rot="0">
              <a:off x="1016" y="14859"/>
              <a:ext cx="25400" cy="14351"/>
            </a:xfrm>
            <a:custGeom>
              <a:avLst/>
              <a:gdLst/>
              <a:ahLst/>
              <a:cxnLst/>
              <a:rect r="r" b="b" t="t" l="l"/>
              <a:pathLst>
                <a:path h="14351" w="25400">
                  <a:moveTo>
                    <a:pt x="0" y="1651"/>
                  </a:moveTo>
                  <a:lnTo>
                    <a:pt x="0" y="0"/>
                  </a:lnTo>
                  <a:lnTo>
                    <a:pt x="25400" y="0"/>
                  </a:lnTo>
                  <a:lnTo>
                    <a:pt x="25400" y="1651"/>
                  </a:lnTo>
                  <a:lnTo>
                    <a:pt x="12700" y="1651"/>
                  </a:lnTo>
                  <a:lnTo>
                    <a:pt x="0" y="1651"/>
                  </a:lnTo>
                  <a:lnTo>
                    <a:pt x="0" y="0"/>
                  </a:lnTo>
                  <a:lnTo>
                    <a:pt x="25400" y="0"/>
                  </a:lnTo>
                  <a:lnTo>
                    <a:pt x="25400" y="1651"/>
                  </a:lnTo>
                  <a:lnTo>
                    <a:pt x="12700" y="1651"/>
                  </a:lnTo>
                  <a:lnTo>
                    <a:pt x="0" y="1651"/>
                  </a:lnTo>
                  <a:moveTo>
                    <a:pt x="25400" y="1651"/>
                  </a:moveTo>
                  <a:cubicBezTo>
                    <a:pt x="25400" y="8636"/>
                    <a:pt x="19685" y="14351"/>
                    <a:pt x="12700" y="14351"/>
                  </a:cubicBezTo>
                  <a:cubicBezTo>
                    <a:pt x="5715" y="14351"/>
                    <a:pt x="0" y="8636"/>
                    <a:pt x="0" y="1651"/>
                  </a:cubicBezTo>
                  <a:lnTo>
                    <a:pt x="0" y="0"/>
                  </a:lnTo>
                  <a:lnTo>
                    <a:pt x="25400" y="0"/>
                  </a:lnTo>
                  <a:lnTo>
                    <a:pt x="25400" y="1651"/>
                  </a:lnTo>
                  <a:cubicBezTo>
                    <a:pt x="25400" y="8636"/>
                    <a:pt x="19685" y="14351"/>
                    <a:pt x="12700" y="14351"/>
                  </a:cubicBezTo>
                  <a:cubicBezTo>
                    <a:pt x="5715" y="14351"/>
                    <a:pt x="0" y="8636"/>
                    <a:pt x="0" y="1651"/>
                  </a:cubicBezTo>
                  <a:lnTo>
                    <a:pt x="0" y="0"/>
                  </a:lnTo>
                  <a:lnTo>
                    <a:pt x="25400" y="0"/>
                  </a:lnTo>
                  <a:lnTo>
                    <a:pt x="25400" y="1651"/>
                  </a:lnTo>
                  <a:close/>
                </a:path>
              </a:pathLst>
            </a:custGeom>
            <a:solidFill>
              <a:srgbClr val="000000"/>
            </a:solidFill>
          </p:spPr>
        </p:sp>
      </p:grpSp>
      <p:grpSp>
        <p:nvGrpSpPr>
          <p:cNvPr name="Group 60" id="60"/>
          <p:cNvGrpSpPr/>
          <p:nvPr/>
        </p:nvGrpSpPr>
        <p:grpSpPr>
          <a:xfrm rot="0">
            <a:off x="16469277" y="2378164"/>
            <a:ext cx="788432" cy="821484"/>
            <a:chOff x="0" y="0"/>
            <a:chExt cx="1051242" cy="1095312"/>
          </a:xfrm>
        </p:grpSpPr>
        <p:sp>
          <p:nvSpPr>
            <p:cNvPr name="Freeform 61" id="61"/>
            <p:cNvSpPr/>
            <p:nvPr/>
          </p:nvSpPr>
          <p:spPr>
            <a:xfrm flipH="false" flipV="false" rot="0">
              <a:off x="127" y="127"/>
              <a:ext cx="1051179" cy="1095121"/>
            </a:xfrm>
            <a:custGeom>
              <a:avLst/>
              <a:gdLst/>
              <a:ahLst/>
              <a:cxnLst/>
              <a:rect r="r" b="b" t="t" l="l"/>
              <a:pathLst>
                <a:path h="1095121" w="1051179">
                  <a:moveTo>
                    <a:pt x="0" y="0"/>
                  </a:moveTo>
                  <a:lnTo>
                    <a:pt x="0" y="328930"/>
                  </a:lnTo>
                  <a:cubicBezTo>
                    <a:pt x="402717" y="355981"/>
                    <a:pt x="721995" y="687578"/>
                    <a:pt x="731901" y="1095121"/>
                  </a:cubicBezTo>
                  <a:lnTo>
                    <a:pt x="1051179" y="984631"/>
                  </a:lnTo>
                  <a:cubicBezTo>
                    <a:pt x="987171" y="446913"/>
                    <a:pt x="545211" y="26924"/>
                    <a:pt x="0" y="0"/>
                  </a:cubicBezTo>
                  <a:close/>
                </a:path>
              </a:pathLst>
            </a:custGeom>
            <a:solidFill>
              <a:srgbClr val="92F7FF"/>
            </a:solidFill>
          </p:spPr>
        </p:sp>
      </p:grpSp>
      <p:grpSp>
        <p:nvGrpSpPr>
          <p:cNvPr name="Group 62" id="62"/>
          <p:cNvGrpSpPr/>
          <p:nvPr/>
        </p:nvGrpSpPr>
        <p:grpSpPr>
          <a:xfrm rot="0">
            <a:off x="15689523" y="2378164"/>
            <a:ext cx="779069" cy="620611"/>
            <a:chOff x="0" y="0"/>
            <a:chExt cx="1038758" cy="827481"/>
          </a:xfrm>
        </p:grpSpPr>
        <p:sp>
          <p:nvSpPr>
            <p:cNvPr name="Freeform 63" id="63"/>
            <p:cNvSpPr/>
            <p:nvPr/>
          </p:nvSpPr>
          <p:spPr>
            <a:xfrm flipH="false" flipV="false" rot="0">
              <a:off x="127" y="127"/>
              <a:ext cx="1038606" cy="827405"/>
            </a:xfrm>
            <a:custGeom>
              <a:avLst/>
              <a:gdLst/>
              <a:ahLst/>
              <a:cxnLst/>
              <a:rect r="r" b="b" t="t" l="l"/>
              <a:pathLst>
                <a:path h="827405" w="1038606">
                  <a:moveTo>
                    <a:pt x="982091" y="0"/>
                  </a:moveTo>
                  <a:cubicBezTo>
                    <a:pt x="559816" y="0"/>
                    <a:pt x="191389" y="235585"/>
                    <a:pt x="0" y="581787"/>
                  </a:cubicBezTo>
                  <a:lnTo>
                    <a:pt x="245491" y="827405"/>
                  </a:lnTo>
                  <a:cubicBezTo>
                    <a:pt x="358521" y="532765"/>
                    <a:pt x="648208" y="324104"/>
                    <a:pt x="982091" y="324104"/>
                  </a:cubicBezTo>
                  <a:cubicBezTo>
                    <a:pt x="1001776" y="324104"/>
                    <a:pt x="1018921" y="324104"/>
                    <a:pt x="1038606" y="328930"/>
                  </a:cubicBezTo>
                  <a:lnTo>
                    <a:pt x="1038606" y="2413"/>
                  </a:lnTo>
                  <a:cubicBezTo>
                    <a:pt x="1018921" y="2413"/>
                    <a:pt x="1001776" y="0"/>
                    <a:pt x="982091" y="0"/>
                  </a:cubicBezTo>
                  <a:close/>
                </a:path>
              </a:pathLst>
            </a:custGeom>
            <a:solidFill>
              <a:srgbClr val="A6ABFF"/>
            </a:solidFill>
          </p:spPr>
        </p:sp>
      </p:grpSp>
      <p:grpSp>
        <p:nvGrpSpPr>
          <p:cNvPr name="Group 64" id="64"/>
          <p:cNvGrpSpPr/>
          <p:nvPr/>
        </p:nvGrpSpPr>
        <p:grpSpPr>
          <a:xfrm rot="0">
            <a:off x="11466004" y="3304080"/>
            <a:ext cx="277920" cy="252717"/>
            <a:chOff x="0" y="0"/>
            <a:chExt cx="370561" cy="336956"/>
          </a:xfrm>
        </p:grpSpPr>
        <p:sp>
          <p:nvSpPr>
            <p:cNvPr name="Freeform 65" id="65"/>
            <p:cNvSpPr/>
            <p:nvPr/>
          </p:nvSpPr>
          <p:spPr>
            <a:xfrm flipH="false" flipV="false" rot="0">
              <a:off x="17438" y="127"/>
              <a:ext cx="335711" cy="336804"/>
            </a:xfrm>
            <a:custGeom>
              <a:avLst/>
              <a:gdLst/>
              <a:ahLst/>
              <a:cxnLst/>
              <a:rect r="r" b="b" t="t" l="l"/>
              <a:pathLst>
                <a:path h="336804" w="335711">
                  <a:moveTo>
                    <a:pt x="168617" y="0"/>
                  </a:moveTo>
                  <a:cubicBezTo>
                    <a:pt x="155790" y="0"/>
                    <a:pt x="142836" y="1524"/>
                    <a:pt x="129755" y="4826"/>
                  </a:cubicBezTo>
                  <a:cubicBezTo>
                    <a:pt x="41490" y="26797"/>
                    <a:pt x="-17438" y="114935"/>
                    <a:pt x="4660" y="205486"/>
                  </a:cubicBezTo>
                  <a:cubicBezTo>
                    <a:pt x="21678" y="283972"/>
                    <a:pt x="92036" y="336804"/>
                    <a:pt x="169633" y="336804"/>
                  </a:cubicBezTo>
                  <a:cubicBezTo>
                    <a:pt x="181571" y="336804"/>
                    <a:pt x="193763" y="335534"/>
                    <a:pt x="205955" y="332867"/>
                  </a:cubicBezTo>
                  <a:cubicBezTo>
                    <a:pt x="294220" y="310896"/>
                    <a:pt x="353148" y="222631"/>
                    <a:pt x="331050" y="129540"/>
                  </a:cubicBezTo>
                  <a:cubicBezTo>
                    <a:pt x="312254" y="52324"/>
                    <a:pt x="243293" y="0"/>
                    <a:pt x="168617" y="0"/>
                  </a:cubicBezTo>
                  <a:close/>
                </a:path>
              </a:pathLst>
            </a:custGeom>
            <a:solidFill>
              <a:srgbClr val="3F3FD8"/>
            </a:solidFill>
          </p:spPr>
        </p:sp>
      </p:grpSp>
      <p:grpSp>
        <p:nvGrpSpPr>
          <p:cNvPr name="Group 66" id="66"/>
          <p:cNvGrpSpPr/>
          <p:nvPr/>
        </p:nvGrpSpPr>
        <p:grpSpPr>
          <a:xfrm rot="0">
            <a:off x="10420560" y="2424960"/>
            <a:ext cx="91440" cy="78486"/>
            <a:chOff x="0" y="0"/>
            <a:chExt cx="121920" cy="104648"/>
          </a:xfrm>
        </p:grpSpPr>
        <p:sp>
          <p:nvSpPr>
            <p:cNvPr name="Freeform 67" id="67"/>
            <p:cNvSpPr/>
            <p:nvPr/>
          </p:nvSpPr>
          <p:spPr>
            <a:xfrm flipH="false" flipV="false" rot="0">
              <a:off x="3675" y="0"/>
              <a:ext cx="115916" cy="104521"/>
            </a:xfrm>
            <a:custGeom>
              <a:avLst/>
              <a:gdLst/>
              <a:ahLst/>
              <a:cxnLst/>
              <a:rect r="r" b="b" t="t" l="l"/>
              <a:pathLst>
                <a:path h="104521" w="115916">
                  <a:moveTo>
                    <a:pt x="19566" y="0"/>
                  </a:moveTo>
                  <a:cubicBezTo>
                    <a:pt x="14105" y="0"/>
                    <a:pt x="8390" y="2667"/>
                    <a:pt x="3691" y="7366"/>
                  </a:cubicBezTo>
                  <a:cubicBezTo>
                    <a:pt x="-3548" y="12319"/>
                    <a:pt x="1278" y="24384"/>
                    <a:pt x="6104" y="31623"/>
                  </a:cubicBezTo>
                  <a:lnTo>
                    <a:pt x="88908" y="99695"/>
                  </a:lnTo>
                  <a:cubicBezTo>
                    <a:pt x="91321" y="104521"/>
                    <a:pt x="98687" y="104521"/>
                    <a:pt x="101100" y="104521"/>
                  </a:cubicBezTo>
                  <a:cubicBezTo>
                    <a:pt x="108466" y="104521"/>
                    <a:pt x="110752" y="99695"/>
                    <a:pt x="113292" y="97282"/>
                  </a:cubicBezTo>
                  <a:cubicBezTo>
                    <a:pt x="118118" y="92456"/>
                    <a:pt x="115705" y="80264"/>
                    <a:pt x="110752" y="72898"/>
                  </a:cubicBezTo>
                  <a:lnTo>
                    <a:pt x="28075" y="2540"/>
                  </a:lnTo>
                  <a:cubicBezTo>
                    <a:pt x="25408" y="762"/>
                    <a:pt x="22487" y="0"/>
                    <a:pt x="19566" y="0"/>
                  </a:cubicBezTo>
                  <a:close/>
                </a:path>
              </a:pathLst>
            </a:custGeom>
            <a:solidFill>
              <a:srgbClr val="F5FDFF"/>
            </a:solidFill>
          </p:spPr>
        </p:sp>
      </p:grpSp>
      <p:sp>
        <p:nvSpPr>
          <p:cNvPr name="Freeform 68" id="68"/>
          <p:cNvSpPr/>
          <p:nvPr/>
        </p:nvSpPr>
        <p:spPr>
          <a:xfrm flipH="false" flipV="false" rot="0">
            <a:off x="10609202" y="2583361"/>
            <a:ext cx="663131" cy="564461"/>
          </a:xfrm>
          <a:custGeom>
            <a:avLst/>
            <a:gdLst/>
            <a:ahLst/>
            <a:cxnLst/>
            <a:rect r="r" b="b" t="t" l="l"/>
            <a:pathLst>
              <a:path h="564461" w="663131">
                <a:moveTo>
                  <a:pt x="0" y="0"/>
                </a:moveTo>
                <a:lnTo>
                  <a:pt x="663131" y="0"/>
                </a:lnTo>
                <a:lnTo>
                  <a:pt x="663131" y="564461"/>
                </a:lnTo>
                <a:lnTo>
                  <a:pt x="0" y="5644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69" id="69"/>
          <p:cNvGrpSpPr/>
          <p:nvPr/>
        </p:nvGrpSpPr>
        <p:grpSpPr>
          <a:xfrm rot="0">
            <a:off x="11366640" y="3231356"/>
            <a:ext cx="91440" cy="77762"/>
            <a:chOff x="0" y="0"/>
            <a:chExt cx="121920" cy="103683"/>
          </a:xfrm>
        </p:grpSpPr>
        <p:sp>
          <p:nvSpPr>
            <p:cNvPr name="Freeform 70" id="70"/>
            <p:cNvSpPr/>
            <p:nvPr/>
          </p:nvSpPr>
          <p:spPr>
            <a:xfrm flipH="false" flipV="false" rot="0">
              <a:off x="2995" y="127"/>
              <a:ext cx="116533" cy="103505"/>
            </a:xfrm>
            <a:custGeom>
              <a:avLst/>
              <a:gdLst/>
              <a:ahLst/>
              <a:cxnLst/>
              <a:rect r="r" b="b" t="t" l="l"/>
              <a:pathLst>
                <a:path h="103505" w="116533">
                  <a:moveTo>
                    <a:pt x="19230" y="0"/>
                  </a:moveTo>
                  <a:cubicBezTo>
                    <a:pt x="13388" y="0"/>
                    <a:pt x="7419" y="3048"/>
                    <a:pt x="4371" y="6096"/>
                  </a:cubicBezTo>
                  <a:cubicBezTo>
                    <a:pt x="-2868" y="13335"/>
                    <a:pt x="-455" y="25527"/>
                    <a:pt x="6784" y="30353"/>
                  </a:cubicBezTo>
                  <a:lnTo>
                    <a:pt x="87175" y="101092"/>
                  </a:lnTo>
                  <a:cubicBezTo>
                    <a:pt x="92128" y="103505"/>
                    <a:pt x="96827" y="103505"/>
                    <a:pt x="101780" y="103505"/>
                  </a:cubicBezTo>
                  <a:cubicBezTo>
                    <a:pt x="106733" y="103505"/>
                    <a:pt x="113972" y="101092"/>
                    <a:pt x="113972" y="96266"/>
                  </a:cubicBezTo>
                  <a:cubicBezTo>
                    <a:pt x="118925" y="91313"/>
                    <a:pt x="116385" y="79248"/>
                    <a:pt x="109019" y="74422"/>
                  </a:cubicBezTo>
                  <a:lnTo>
                    <a:pt x="28755" y="3683"/>
                  </a:lnTo>
                  <a:cubicBezTo>
                    <a:pt x="26088" y="1016"/>
                    <a:pt x="22659" y="0"/>
                    <a:pt x="19230" y="0"/>
                  </a:cubicBezTo>
                  <a:close/>
                </a:path>
              </a:pathLst>
            </a:custGeom>
            <a:solidFill>
              <a:srgbClr val="F5FDFF"/>
            </a:solidFill>
          </p:spPr>
        </p:sp>
      </p:grpSp>
      <p:grpSp>
        <p:nvGrpSpPr>
          <p:cNvPr name="Group 71" id="71"/>
          <p:cNvGrpSpPr/>
          <p:nvPr/>
        </p:nvGrpSpPr>
        <p:grpSpPr>
          <a:xfrm rot="0">
            <a:off x="10127523" y="2150640"/>
            <a:ext cx="298085" cy="272882"/>
            <a:chOff x="0" y="0"/>
            <a:chExt cx="397446" cy="363842"/>
          </a:xfrm>
        </p:grpSpPr>
        <p:sp>
          <p:nvSpPr>
            <p:cNvPr name="Freeform 72" id="72"/>
            <p:cNvSpPr/>
            <p:nvPr/>
          </p:nvSpPr>
          <p:spPr>
            <a:xfrm flipH="false" flipV="false" rot="0">
              <a:off x="16051" y="0"/>
              <a:ext cx="363865" cy="363855"/>
            </a:xfrm>
            <a:custGeom>
              <a:avLst/>
              <a:gdLst/>
              <a:ahLst/>
              <a:cxnLst/>
              <a:rect r="r" b="b" t="t" l="l"/>
              <a:pathLst>
                <a:path h="363855" w="363865">
                  <a:moveTo>
                    <a:pt x="183466" y="0"/>
                  </a:moveTo>
                  <a:cubicBezTo>
                    <a:pt x="170258" y="0"/>
                    <a:pt x="156923" y="1524"/>
                    <a:pt x="143334" y="4445"/>
                  </a:cubicBezTo>
                  <a:cubicBezTo>
                    <a:pt x="45290" y="24130"/>
                    <a:pt x="-15924" y="122174"/>
                    <a:pt x="3634" y="220345"/>
                  </a:cubicBezTo>
                  <a:cubicBezTo>
                    <a:pt x="22938" y="306070"/>
                    <a:pt x="100281" y="363855"/>
                    <a:pt x="185117" y="363855"/>
                  </a:cubicBezTo>
                  <a:cubicBezTo>
                    <a:pt x="197309" y="363855"/>
                    <a:pt x="209628" y="362712"/>
                    <a:pt x="221947" y="360172"/>
                  </a:cubicBezTo>
                  <a:cubicBezTo>
                    <a:pt x="320118" y="338074"/>
                    <a:pt x="381459" y="240030"/>
                    <a:pt x="359361" y="141859"/>
                  </a:cubicBezTo>
                  <a:cubicBezTo>
                    <a:pt x="338152" y="57277"/>
                    <a:pt x="265889" y="0"/>
                    <a:pt x="183466" y="0"/>
                  </a:cubicBezTo>
                  <a:close/>
                </a:path>
              </a:pathLst>
            </a:custGeom>
            <a:solidFill>
              <a:srgbClr val="35CFDB"/>
            </a:solidFill>
          </p:spPr>
        </p:sp>
      </p:grpSp>
      <p:grpSp>
        <p:nvGrpSpPr>
          <p:cNvPr name="Group 73" id="73"/>
          <p:cNvGrpSpPr/>
          <p:nvPr/>
        </p:nvGrpSpPr>
        <p:grpSpPr>
          <a:xfrm rot="0">
            <a:off x="10284476" y="383762"/>
            <a:ext cx="742312" cy="690467"/>
            <a:chOff x="0" y="0"/>
            <a:chExt cx="989749" cy="920623"/>
          </a:xfrm>
        </p:grpSpPr>
        <p:sp>
          <p:nvSpPr>
            <p:cNvPr name="Freeform 74" id="74"/>
            <p:cNvSpPr/>
            <p:nvPr/>
          </p:nvSpPr>
          <p:spPr>
            <a:xfrm flipH="false" flipV="false" rot="0">
              <a:off x="35525" y="0"/>
              <a:ext cx="920493" cy="920496"/>
            </a:xfrm>
            <a:custGeom>
              <a:avLst/>
              <a:gdLst/>
              <a:ahLst/>
              <a:cxnLst/>
              <a:rect r="r" b="b" t="t" l="l"/>
              <a:pathLst>
                <a:path h="920496" w="920493">
                  <a:moveTo>
                    <a:pt x="462061" y="0"/>
                  </a:moveTo>
                  <a:cubicBezTo>
                    <a:pt x="437296" y="0"/>
                    <a:pt x="412150" y="2032"/>
                    <a:pt x="386877" y="6223"/>
                  </a:cubicBezTo>
                  <a:cubicBezTo>
                    <a:pt x="136433" y="45593"/>
                    <a:pt x="-35525" y="283591"/>
                    <a:pt x="6258" y="533908"/>
                  </a:cubicBezTo>
                  <a:cubicBezTo>
                    <a:pt x="41564" y="758952"/>
                    <a:pt x="235747" y="920496"/>
                    <a:pt x="458378" y="920496"/>
                  </a:cubicBezTo>
                  <a:cubicBezTo>
                    <a:pt x="483397" y="920496"/>
                    <a:pt x="508797" y="918464"/>
                    <a:pt x="534324" y="914273"/>
                  </a:cubicBezTo>
                  <a:cubicBezTo>
                    <a:pt x="784641" y="875030"/>
                    <a:pt x="954186" y="637032"/>
                    <a:pt x="914816" y="386588"/>
                  </a:cubicBezTo>
                  <a:cubicBezTo>
                    <a:pt x="877351" y="161544"/>
                    <a:pt x="682914" y="0"/>
                    <a:pt x="462061" y="0"/>
                  </a:cubicBezTo>
                  <a:close/>
                </a:path>
              </a:pathLst>
            </a:custGeom>
            <a:solidFill>
              <a:srgbClr val="A6ABFF"/>
            </a:solidFill>
          </p:spPr>
        </p:sp>
      </p:grpSp>
      <p:grpSp>
        <p:nvGrpSpPr>
          <p:cNvPr name="Group 75" id="75"/>
          <p:cNvGrpSpPr/>
          <p:nvPr/>
        </p:nvGrpSpPr>
        <p:grpSpPr>
          <a:xfrm rot="0">
            <a:off x="10374478" y="447123"/>
            <a:ext cx="563023" cy="563023"/>
            <a:chOff x="0" y="0"/>
            <a:chExt cx="750697" cy="750697"/>
          </a:xfrm>
        </p:grpSpPr>
        <p:sp>
          <p:nvSpPr>
            <p:cNvPr name="Freeform 76" id="76"/>
            <p:cNvSpPr/>
            <p:nvPr/>
          </p:nvSpPr>
          <p:spPr>
            <a:xfrm flipH="false" flipV="false" rot="0">
              <a:off x="127" y="0"/>
              <a:ext cx="750570" cy="750697"/>
            </a:xfrm>
            <a:custGeom>
              <a:avLst/>
              <a:gdLst/>
              <a:ahLst/>
              <a:cxnLst/>
              <a:rect r="r" b="b" t="t" l="l"/>
              <a:pathLst>
                <a:path h="750697" w="750570">
                  <a:moveTo>
                    <a:pt x="375158" y="0"/>
                  </a:moveTo>
                  <a:cubicBezTo>
                    <a:pt x="169164" y="0"/>
                    <a:pt x="0" y="169291"/>
                    <a:pt x="0" y="375285"/>
                  </a:cubicBezTo>
                  <a:cubicBezTo>
                    <a:pt x="0" y="581279"/>
                    <a:pt x="169164" y="750697"/>
                    <a:pt x="375158" y="750697"/>
                  </a:cubicBezTo>
                  <a:cubicBezTo>
                    <a:pt x="581152" y="750697"/>
                    <a:pt x="750570" y="581406"/>
                    <a:pt x="750570" y="375285"/>
                  </a:cubicBezTo>
                  <a:cubicBezTo>
                    <a:pt x="750570" y="166878"/>
                    <a:pt x="581279" y="2540"/>
                    <a:pt x="375158" y="0"/>
                  </a:cubicBezTo>
                  <a:close/>
                </a:path>
              </a:pathLst>
            </a:custGeom>
            <a:solidFill>
              <a:srgbClr val="7789F2"/>
            </a:solidFill>
          </p:spPr>
        </p:sp>
      </p:grpSp>
      <p:grpSp>
        <p:nvGrpSpPr>
          <p:cNvPr name="Group 77" id="77"/>
          <p:cNvGrpSpPr/>
          <p:nvPr/>
        </p:nvGrpSpPr>
        <p:grpSpPr>
          <a:xfrm rot="0">
            <a:off x="16054559" y="1136161"/>
            <a:ext cx="137512" cy="137512"/>
            <a:chOff x="0" y="0"/>
            <a:chExt cx="183350" cy="183350"/>
          </a:xfrm>
        </p:grpSpPr>
        <p:sp>
          <p:nvSpPr>
            <p:cNvPr name="Freeform 78" id="78"/>
            <p:cNvSpPr/>
            <p:nvPr/>
          </p:nvSpPr>
          <p:spPr>
            <a:xfrm flipH="false" flipV="false" rot="0">
              <a:off x="0" y="0"/>
              <a:ext cx="183261" cy="183261"/>
            </a:xfrm>
            <a:custGeom>
              <a:avLst/>
              <a:gdLst/>
              <a:ahLst/>
              <a:cxnLst/>
              <a:rect r="r" b="b" t="t" l="l"/>
              <a:pathLst>
                <a:path h="183261" w="183261">
                  <a:moveTo>
                    <a:pt x="90424" y="127"/>
                  </a:moveTo>
                  <a:cubicBezTo>
                    <a:pt x="39116" y="127"/>
                    <a:pt x="0" y="39243"/>
                    <a:pt x="0" y="92837"/>
                  </a:cubicBezTo>
                  <a:cubicBezTo>
                    <a:pt x="0" y="144145"/>
                    <a:pt x="39116" y="183261"/>
                    <a:pt x="90424" y="183261"/>
                  </a:cubicBezTo>
                  <a:cubicBezTo>
                    <a:pt x="144145" y="183261"/>
                    <a:pt x="183261" y="144145"/>
                    <a:pt x="183261" y="92837"/>
                  </a:cubicBezTo>
                  <a:cubicBezTo>
                    <a:pt x="183261" y="43942"/>
                    <a:pt x="139319" y="0"/>
                    <a:pt x="90424" y="0"/>
                  </a:cubicBezTo>
                  <a:close/>
                </a:path>
              </a:pathLst>
            </a:custGeom>
            <a:solidFill>
              <a:srgbClr val="B6F2FC"/>
            </a:solidFill>
          </p:spPr>
        </p:sp>
      </p:grpSp>
      <p:grpSp>
        <p:nvGrpSpPr>
          <p:cNvPr name="Group 79" id="79"/>
          <p:cNvGrpSpPr/>
          <p:nvPr/>
        </p:nvGrpSpPr>
        <p:grpSpPr>
          <a:xfrm rot="0">
            <a:off x="16038004" y="1119597"/>
            <a:ext cx="170631" cy="170631"/>
            <a:chOff x="0" y="0"/>
            <a:chExt cx="227508" cy="227508"/>
          </a:xfrm>
        </p:grpSpPr>
        <p:sp>
          <p:nvSpPr>
            <p:cNvPr name="Freeform 80" id="80"/>
            <p:cNvSpPr/>
            <p:nvPr/>
          </p:nvSpPr>
          <p:spPr>
            <a:xfrm flipH="false" flipV="false" rot="0">
              <a:off x="0" y="0"/>
              <a:ext cx="227457" cy="227457"/>
            </a:xfrm>
            <a:custGeom>
              <a:avLst/>
              <a:gdLst/>
              <a:ahLst/>
              <a:cxnLst/>
              <a:rect r="r" b="b" t="t" l="l"/>
              <a:pathLst>
                <a:path h="227457" w="227457">
                  <a:moveTo>
                    <a:pt x="112522" y="44069"/>
                  </a:moveTo>
                  <a:cubicBezTo>
                    <a:pt x="149225" y="44069"/>
                    <a:pt x="183515" y="73406"/>
                    <a:pt x="183515" y="114935"/>
                  </a:cubicBezTo>
                  <a:cubicBezTo>
                    <a:pt x="183515" y="154051"/>
                    <a:pt x="154178" y="183388"/>
                    <a:pt x="112522" y="183388"/>
                  </a:cubicBezTo>
                  <a:cubicBezTo>
                    <a:pt x="73406" y="183388"/>
                    <a:pt x="44069" y="154051"/>
                    <a:pt x="44069" y="114935"/>
                  </a:cubicBezTo>
                  <a:cubicBezTo>
                    <a:pt x="44069" y="73406"/>
                    <a:pt x="73533" y="44069"/>
                    <a:pt x="112522" y="44069"/>
                  </a:cubicBezTo>
                  <a:close/>
                  <a:moveTo>
                    <a:pt x="112522" y="127"/>
                  </a:moveTo>
                  <a:cubicBezTo>
                    <a:pt x="51435" y="127"/>
                    <a:pt x="0" y="53848"/>
                    <a:pt x="0" y="114935"/>
                  </a:cubicBezTo>
                  <a:cubicBezTo>
                    <a:pt x="0" y="176022"/>
                    <a:pt x="51435" y="227457"/>
                    <a:pt x="112522" y="227457"/>
                  </a:cubicBezTo>
                  <a:cubicBezTo>
                    <a:pt x="173609" y="227457"/>
                    <a:pt x="222631" y="178562"/>
                    <a:pt x="227457" y="114935"/>
                  </a:cubicBezTo>
                  <a:cubicBezTo>
                    <a:pt x="227457" y="53848"/>
                    <a:pt x="173609" y="0"/>
                    <a:pt x="112522" y="0"/>
                  </a:cubicBezTo>
                  <a:close/>
                </a:path>
              </a:pathLst>
            </a:custGeom>
            <a:solidFill>
              <a:srgbClr val="92F7FF"/>
            </a:solidFill>
          </p:spPr>
        </p:sp>
      </p:grpSp>
      <p:grpSp>
        <p:nvGrpSpPr>
          <p:cNvPr name="Group 81" id="81"/>
          <p:cNvGrpSpPr/>
          <p:nvPr/>
        </p:nvGrpSpPr>
        <p:grpSpPr>
          <a:xfrm rot="0">
            <a:off x="15720479" y="1477442"/>
            <a:ext cx="169202" cy="170640"/>
            <a:chOff x="0" y="0"/>
            <a:chExt cx="225603" cy="227520"/>
          </a:xfrm>
        </p:grpSpPr>
        <p:sp>
          <p:nvSpPr>
            <p:cNvPr name="Freeform 82" id="82"/>
            <p:cNvSpPr/>
            <p:nvPr/>
          </p:nvSpPr>
          <p:spPr>
            <a:xfrm flipH="false" flipV="false" rot="0">
              <a:off x="127" y="127"/>
              <a:ext cx="225552" cy="227330"/>
            </a:xfrm>
            <a:custGeom>
              <a:avLst/>
              <a:gdLst/>
              <a:ahLst/>
              <a:cxnLst/>
              <a:rect r="r" b="b" t="t" l="l"/>
              <a:pathLst>
                <a:path h="227330" w="225552">
                  <a:moveTo>
                    <a:pt x="112649" y="43942"/>
                  </a:moveTo>
                  <a:cubicBezTo>
                    <a:pt x="151892" y="43942"/>
                    <a:pt x="186182" y="75692"/>
                    <a:pt x="183769" y="112395"/>
                  </a:cubicBezTo>
                  <a:cubicBezTo>
                    <a:pt x="183769" y="151511"/>
                    <a:pt x="151892" y="183388"/>
                    <a:pt x="112649" y="183388"/>
                  </a:cubicBezTo>
                  <a:cubicBezTo>
                    <a:pt x="73406" y="183388"/>
                    <a:pt x="41529" y="151638"/>
                    <a:pt x="41529" y="112395"/>
                  </a:cubicBezTo>
                  <a:cubicBezTo>
                    <a:pt x="41529" y="73152"/>
                    <a:pt x="73406" y="43942"/>
                    <a:pt x="112649" y="43942"/>
                  </a:cubicBezTo>
                  <a:close/>
                  <a:moveTo>
                    <a:pt x="112649" y="0"/>
                  </a:moveTo>
                  <a:cubicBezTo>
                    <a:pt x="51435" y="0"/>
                    <a:pt x="0" y="51308"/>
                    <a:pt x="0" y="112395"/>
                  </a:cubicBezTo>
                  <a:cubicBezTo>
                    <a:pt x="0" y="173482"/>
                    <a:pt x="51435" y="227330"/>
                    <a:pt x="112776" y="227330"/>
                  </a:cubicBezTo>
                  <a:cubicBezTo>
                    <a:pt x="176530" y="227330"/>
                    <a:pt x="225552" y="173482"/>
                    <a:pt x="225552" y="112395"/>
                  </a:cubicBezTo>
                  <a:cubicBezTo>
                    <a:pt x="225552" y="51308"/>
                    <a:pt x="173990" y="0"/>
                    <a:pt x="112649" y="0"/>
                  </a:cubicBezTo>
                  <a:close/>
                </a:path>
              </a:pathLst>
            </a:custGeom>
            <a:solidFill>
              <a:srgbClr val="92F7FF"/>
            </a:solidFill>
          </p:spPr>
        </p:sp>
      </p:grpSp>
      <p:grpSp>
        <p:nvGrpSpPr>
          <p:cNvPr name="Group 83" id="83"/>
          <p:cNvGrpSpPr/>
          <p:nvPr/>
        </p:nvGrpSpPr>
        <p:grpSpPr>
          <a:xfrm rot="0">
            <a:off x="15676559" y="992162"/>
            <a:ext cx="30956" cy="426977"/>
            <a:chOff x="0" y="0"/>
            <a:chExt cx="41275" cy="569303"/>
          </a:xfrm>
        </p:grpSpPr>
        <p:sp>
          <p:nvSpPr>
            <p:cNvPr name="Freeform 84" id="84"/>
            <p:cNvSpPr/>
            <p:nvPr/>
          </p:nvSpPr>
          <p:spPr>
            <a:xfrm flipH="false" flipV="false" rot="0">
              <a:off x="0" y="127"/>
              <a:ext cx="41275" cy="569214"/>
            </a:xfrm>
            <a:custGeom>
              <a:avLst/>
              <a:gdLst/>
              <a:ahLst/>
              <a:cxnLst/>
              <a:rect r="r" b="b" t="t" l="l"/>
              <a:pathLst>
                <a:path h="569214" w="41275">
                  <a:moveTo>
                    <a:pt x="21844" y="0"/>
                  </a:moveTo>
                  <a:cubicBezTo>
                    <a:pt x="9652" y="0"/>
                    <a:pt x="0" y="9779"/>
                    <a:pt x="0" y="21971"/>
                  </a:cubicBezTo>
                  <a:lnTo>
                    <a:pt x="0" y="547116"/>
                  </a:lnTo>
                  <a:cubicBezTo>
                    <a:pt x="0" y="559308"/>
                    <a:pt x="9652" y="569214"/>
                    <a:pt x="21844" y="569214"/>
                  </a:cubicBezTo>
                  <a:cubicBezTo>
                    <a:pt x="29083" y="569214"/>
                    <a:pt x="38862" y="559308"/>
                    <a:pt x="41275" y="547116"/>
                  </a:cubicBezTo>
                  <a:lnTo>
                    <a:pt x="41275" y="21971"/>
                  </a:lnTo>
                  <a:cubicBezTo>
                    <a:pt x="41148" y="9779"/>
                    <a:pt x="33909" y="0"/>
                    <a:pt x="21844" y="0"/>
                  </a:cubicBezTo>
                  <a:close/>
                </a:path>
              </a:pathLst>
            </a:custGeom>
            <a:solidFill>
              <a:srgbClr val="B6F2FC"/>
            </a:solidFill>
          </p:spPr>
        </p:sp>
      </p:grpSp>
      <p:grpSp>
        <p:nvGrpSpPr>
          <p:cNvPr name="Group 85" id="85"/>
          <p:cNvGrpSpPr/>
          <p:nvPr/>
        </p:nvGrpSpPr>
        <p:grpSpPr>
          <a:xfrm rot="0">
            <a:off x="15477115" y="1189444"/>
            <a:ext cx="426977" cy="30956"/>
            <a:chOff x="0" y="0"/>
            <a:chExt cx="569303" cy="41275"/>
          </a:xfrm>
        </p:grpSpPr>
        <p:sp>
          <p:nvSpPr>
            <p:cNvPr name="Freeform 86" id="86"/>
            <p:cNvSpPr/>
            <p:nvPr/>
          </p:nvSpPr>
          <p:spPr>
            <a:xfrm flipH="false" flipV="false" rot="0">
              <a:off x="0" y="0"/>
              <a:ext cx="569214" cy="41148"/>
            </a:xfrm>
            <a:custGeom>
              <a:avLst/>
              <a:gdLst/>
              <a:ahLst/>
              <a:cxnLst/>
              <a:rect r="r" b="b" t="t" l="l"/>
              <a:pathLst>
                <a:path h="41148" w="569214">
                  <a:moveTo>
                    <a:pt x="22098" y="0"/>
                  </a:moveTo>
                  <a:cubicBezTo>
                    <a:pt x="9906" y="0"/>
                    <a:pt x="0" y="9779"/>
                    <a:pt x="0" y="21844"/>
                  </a:cubicBezTo>
                  <a:cubicBezTo>
                    <a:pt x="0" y="33909"/>
                    <a:pt x="9906" y="41148"/>
                    <a:pt x="22098" y="41148"/>
                  </a:cubicBezTo>
                  <a:lnTo>
                    <a:pt x="547116" y="41148"/>
                  </a:lnTo>
                  <a:cubicBezTo>
                    <a:pt x="559435" y="41148"/>
                    <a:pt x="569214" y="33909"/>
                    <a:pt x="569214" y="21717"/>
                  </a:cubicBezTo>
                  <a:cubicBezTo>
                    <a:pt x="569214" y="7239"/>
                    <a:pt x="559435" y="0"/>
                    <a:pt x="547116" y="0"/>
                  </a:cubicBezTo>
                  <a:close/>
                </a:path>
              </a:pathLst>
            </a:custGeom>
            <a:solidFill>
              <a:srgbClr val="92F7FF"/>
            </a:solidFill>
          </p:spPr>
        </p:sp>
      </p:grpSp>
      <p:sp>
        <p:nvSpPr>
          <p:cNvPr name="Freeform 87" id="87"/>
          <p:cNvSpPr/>
          <p:nvPr/>
        </p:nvSpPr>
        <p:spPr>
          <a:xfrm flipH="false" flipV="false" rot="0">
            <a:off x="16822798" y="1414796"/>
            <a:ext cx="1095804" cy="1095861"/>
          </a:xfrm>
          <a:custGeom>
            <a:avLst/>
            <a:gdLst/>
            <a:ahLst/>
            <a:cxnLst/>
            <a:rect r="r" b="b" t="t" l="l"/>
            <a:pathLst>
              <a:path h="1095861" w="1095804">
                <a:moveTo>
                  <a:pt x="0" y="0"/>
                </a:moveTo>
                <a:lnTo>
                  <a:pt x="1095803" y="0"/>
                </a:lnTo>
                <a:lnTo>
                  <a:pt x="1095803" y="1095861"/>
                </a:lnTo>
                <a:lnTo>
                  <a:pt x="0" y="109586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88" id="88"/>
          <p:cNvGrpSpPr/>
          <p:nvPr/>
        </p:nvGrpSpPr>
        <p:grpSpPr>
          <a:xfrm rot="0">
            <a:off x="13252323" y="3972963"/>
            <a:ext cx="169202" cy="170631"/>
            <a:chOff x="0" y="0"/>
            <a:chExt cx="225603" cy="227508"/>
          </a:xfrm>
        </p:grpSpPr>
        <p:sp>
          <p:nvSpPr>
            <p:cNvPr name="Freeform 89" id="89"/>
            <p:cNvSpPr/>
            <p:nvPr/>
          </p:nvSpPr>
          <p:spPr>
            <a:xfrm flipH="false" flipV="false" rot="0">
              <a:off x="0" y="0"/>
              <a:ext cx="225552" cy="227457"/>
            </a:xfrm>
            <a:custGeom>
              <a:avLst/>
              <a:gdLst/>
              <a:ahLst/>
              <a:cxnLst/>
              <a:rect r="r" b="b" t="t" l="l"/>
              <a:pathLst>
                <a:path h="227457" w="225552">
                  <a:moveTo>
                    <a:pt x="112776" y="44069"/>
                  </a:moveTo>
                  <a:cubicBezTo>
                    <a:pt x="151892" y="44069"/>
                    <a:pt x="183896" y="75819"/>
                    <a:pt x="183896" y="114935"/>
                  </a:cubicBezTo>
                  <a:cubicBezTo>
                    <a:pt x="183896" y="154051"/>
                    <a:pt x="152019" y="185801"/>
                    <a:pt x="112776" y="185801"/>
                  </a:cubicBezTo>
                  <a:cubicBezTo>
                    <a:pt x="73533" y="185801"/>
                    <a:pt x="41656" y="154051"/>
                    <a:pt x="41656" y="114935"/>
                  </a:cubicBezTo>
                  <a:cubicBezTo>
                    <a:pt x="41656" y="75819"/>
                    <a:pt x="73533" y="44069"/>
                    <a:pt x="112776" y="44069"/>
                  </a:cubicBezTo>
                  <a:close/>
                  <a:moveTo>
                    <a:pt x="112776" y="0"/>
                  </a:moveTo>
                  <a:cubicBezTo>
                    <a:pt x="51562" y="0"/>
                    <a:pt x="0" y="53848"/>
                    <a:pt x="0" y="114935"/>
                  </a:cubicBezTo>
                  <a:cubicBezTo>
                    <a:pt x="0" y="176022"/>
                    <a:pt x="51562" y="227457"/>
                    <a:pt x="112776" y="227457"/>
                  </a:cubicBezTo>
                  <a:cubicBezTo>
                    <a:pt x="173990" y="227457"/>
                    <a:pt x="225552" y="176149"/>
                    <a:pt x="225552" y="114935"/>
                  </a:cubicBezTo>
                  <a:cubicBezTo>
                    <a:pt x="225552" y="53721"/>
                    <a:pt x="174117" y="0"/>
                    <a:pt x="112776" y="0"/>
                  </a:cubicBezTo>
                  <a:close/>
                </a:path>
              </a:pathLst>
            </a:custGeom>
            <a:solidFill>
              <a:srgbClr val="EDDEFF"/>
            </a:solidFill>
          </p:spPr>
        </p:sp>
      </p:grpSp>
      <p:grpSp>
        <p:nvGrpSpPr>
          <p:cNvPr name="Group 90" id="90"/>
          <p:cNvGrpSpPr/>
          <p:nvPr/>
        </p:nvGrpSpPr>
        <p:grpSpPr>
          <a:xfrm rot="0">
            <a:off x="11106722" y="583921"/>
            <a:ext cx="897103" cy="898569"/>
            <a:chOff x="0" y="0"/>
            <a:chExt cx="1196137" cy="1198093"/>
          </a:xfrm>
        </p:grpSpPr>
        <p:sp>
          <p:nvSpPr>
            <p:cNvPr name="Freeform 91" id="91"/>
            <p:cNvSpPr/>
            <p:nvPr/>
          </p:nvSpPr>
          <p:spPr>
            <a:xfrm flipH="false" flipV="false" rot="0">
              <a:off x="0" y="127"/>
              <a:ext cx="1195959" cy="1197864"/>
            </a:xfrm>
            <a:custGeom>
              <a:avLst/>
              <a:gdLst/>
              <a:ahLst/>
              <a:cxnLst/>
              <a:rect r="r" b="b" t="t" l="l"/>
              <a:pathLst>
                <a:path h="1197864" w="1195959">
                  <a:moveTo>
                    <a:pt x="596773" y="0"/>
                  </a:moveTo>
                  <a:cubicBezTo>
                    <a:pt x="267716" y="0"/>
                    <a:pt x="0" y="267589"/>
                    <a:pt x="0" y="598932"/>
                  </a:cubicBezTo>
                  <a:cubicBezTo>
                    <a:pt x="0" y="930275"/>
                    <a:pt x="267716" y="1197864"/>
                    <a:pt x="596773" y="1197864"/>
                  </a:cubicBezTo>
                  <a:cubicBezTo>
                    <a:pt x="928370" y="1197864"/>
                    <a:pt x="1195959" y="930275"/>
                    <a:pt x="1195959" y="598932"/>
                  </a:cubicBezTo>
                  <a:cubicBezTo>
                    <a:pt x="1195959" y="267589"/>
                    <a:pt x="928370" y="0"/>
                    <a:pt x="596773" y="0"/>
                  </a:cubicBezTo>
                  <a:close/>
                </a:path>
              </a:pathLst>
            </a:custGeom>
            <a:solidFill>
              <a:srgbClr val="92F7FF"/>
            </a:solidFill>
          </p:spPr>
        </p:sp>
      </p:grpSp>
      <p:grpSp>
        <p:nvGrpSpPr>
          <p:cNvPr name="Group 92" id="92"/>
          <p:cNvGrpSpPr/>
          <p:nvPr/>
        </p:nvGrpSpPr>
        <p:grpSpPr>
          <a:xfrm rot="0">
            <a:off x="11190961" y="668160"/>
            <a:ext cx="727177" cy="729386"/>
            <a:chOff x="0" y="0"/>
            <a:chExt cx="969569" cy="972515"/>
          </a:xfrm>
        </p:grpSpPr>
        <p:sp>
          <p:nvSpPr>
            <p:cNvPr name="Freeform 93" id="93"/>
            <p:cNvSpPr/>
            <p:nvPr/>
          </p:nvSpPr>
          <p:spPr>
            <a:xfrm flipH="false" flipV="false" rot="0">
              <a:off x="127" y="0"/>
              <a:ext cx="969518" cy="972566"/>
            </a:xfrm>
            <a:custGeom>
              <a:avLst/>
              <a:gdLst/>
              <a:ahLst/>
              <a:cxnLst/>
              <a:rect r="r" b="b" t="t" l="l"/>
              <a:pathLst>
                <a:path h="972566" w="969518">
                  <a:moveTo>
                    <a:pt x="483489" y="0"/>
                  </a:moveTo>
                  <a:cubicBezTo>
                    <a:pt x="215900" y="0"/>
                    <a:pt x="0" y="218567"/>
                    <a:pt x="0" y="486283"/>
                  </a:cubicBezTo>
                  <a:cubicBezTo>
                    <a:pt x="0" y="753999"/>
                    <a:pt x="215900" y="972566"/>
                    <a:pt x="483489" y="972566"/>
                  </a:cubicBezTo>
                  <a:cubicBezTo>
                    <a:pt x="753491" y="972566"/>
                    <a:pt x="969518" y="753999"/>
                    <a:pt x="969518" y="486283"/>
                  </a:cubicBezTo>
                  <a:cubicBezTo>
                    <a:pt x="969518" y="218567"/>
                    <a:pt x="753364" y="0"/>
                    <a:pt x="483489" y="0"/>
                  </a:cubicBezTo>
                  <a:close/>
                </a:path>
              </a:pathLst>
            </a:custGeom>
            <a:solidFill>
              <a:srgbClr val="35CFDB"/>
            </a:solidFill>
          </p:spPr>
        </p:sp>
      </p:grpSp>
      <p:grpSp>
        <p:nvGrpSpPr>
          <p:cNvPr name="Group 94" id="94"/>
          <p:cNvGrpSpPr/>
          <p:nvPr/>
        </p:nvGrpSpPr>
        <p:grpSpPr>
          <a:xfrm rot="0">
            <a:off x="16168316" y="9378725"/>
            <a:ext cx="760352" cy="216732"/>
            <a:chOff x="0" y="0"/>
            <a:chExt cx="1013803" cy="288976"/>
          </a:xfrm>
        </p:grpSpPr>
        <p:sp>
          <p:nvSpPr>
            <p:cNvPr name="Freeform 95" id="95"/>
            <p:cNvSpPr/>
            <p:nvPr/>
          </p:nvSpPr>
          <p:spPr>
            <a:xfrm flipH="false" flipV="false" rot="0">
              <a:off x="0" y="127"/>
              <a:ext cx="1013841" cy="288798"/>
            </a:xfrm>
            <a:custGeom>
              <a:avLst/>
              <a:gdLst/>
              <a:ahLst/>
              <a:cxnLst/>
              <a:rect r="r" b="b" t="t" l="l"/>
              <a:pathLst>
                <a:path h="288798" w="1013841">
                  <a:moveTo>
                    <a:pt x="505714" y="0"/>
                  </a:moveTo>
                  <a:cubicBezTo>
                    <a:pt x="225806" y="0"/>
                    <a:pt x="0" y="63627"/>
                    <a:pt x="0" y="144399"/>
                  </a:cubicBezTo>
                  <a:cubicBezTo>
                    <a:pt x="0" y="222758"/>
                    <a:pt x="225806" y="288798"/>
                    <a:pt x="505714" y="288798"/>
                  </a:cubicBezTo>
                  <a:cubicBezTo>
                    <a:pt x="785622" y="288798"/>
                    <a:pt x="1013841" y="222631"/>
                    <a:pt x="1013841" y="144399"/>
                  </a:cubicBezTo>
                  <a:cubicBezTo>
                    <a:pt x="1013841" y="63627"/>
                    <a:pt x="785495" y="0"/>
                    <a:pt x="505714" y="0"/>
                  </a:cubicBezTo>
                  <a:close/>
                </a:path>
              </a:pathLst>
            </a:custGeom>
            <a:solidFill>
              <a:srgbClr val="3737B7"/>
            </a:solidFill>
          </p:spPr>
        </p:sp>
      </p:grpSp>
      <p:grpSp>
        <p:nvGrpSpPr>
          <p:cNvPr name="Group 96" id="96"/>
          <p:cNvGrpSpPr/>
          <p:nvPr/>
        </p:nvGrpSpPr>
        <p:grpSpPr>
          <a:xfrm rot="0">
            <a:off x="12409922" y="9417596"/>
            <a:ext cx="1621479" cy="261376"/>
            <a:chOff x="0" y="0"/>
            <a:chExt cx="2161972" cy="348501"/>
          </a:xfrm>
        </p:grpSpPr>
        <p:sp>
          <p:nvSpPr>
            <p:cNvPr name="Freeform 97" id="97"/>
            <p:cNvSpPr/>
            <p:nvPr/>
          </p:nvSpPr>
          <p:spPr>
            <a:xfrm flipH="false" flipV="false" rot="0">
              <a:off x="127" y="0"/>
              <a:ext cx="2161794" cy="348361"/>
            </a:xfrm>
            <a:custGeom>
              <a:avLst/>
              <a:gdLst/>
              <a:ahLst/>
              <a:cxnLst/>
              <a:rect r="r" b="b" t="t" l="l"/>
              <a:pathLst>
                <a:path h="348361" w="2161794">
                  <a:moveTo>
                    <a:pt x="0" y="0"/>
                  </a:moveTo>
                  <a:lnTo>
                    <a:pt x="0" y="348361"/>
                  </a:lnTo>
                  <a:lnTo>
                    <a:pt x="1989836" y="348361"/>
                  </a:lnTo>
                  <a:cubicBezTo>
                    <a:pt x="2085594" y="348361"/>
                    <a:pt x="2161794" y="269875"/>
                    <a:pt x="2161794" y="171704"/>
                  </a:cubicBezTo>
                  <a:cubicBezTo>
                    <a:pt x="2161794" y="78486"/>
                    <a:pt x="2085594" y="0"/>
                    <a:pt x="1989836" y="0"/>
                  </a:cubicBezTo>
                  <a:close/>
                </a:path>
              </a:pathLst>
            </a:custGeom>
            <a:solidFill>
              <a:srgbClr val="09066A"/>
            </a:solidFill>
          </p:spPr>
        </p:sp>
      </p:grpSp>
      <p:grpSp>
        <p:nvGrpSpPr>
          <p:cNvPr name="Group 98" id="98"/>
          <p:cNvGrpSpPr/>
          <p:nvPr/>
        </p:nvGrpSpPr>
        <p:grpSpPr>
          <a:xfrm rot="0">
            <a:off x="10865520" y="8033042"/>
            <a:ext cx="2311937" cy="1645244"/>
            <a:chOff x="0" y="0"/>
            <a:chExt cx="3082582" cy="2193658"/>
          </a:xfrm>
        </p:grpSpPr>
        <p:sp>
          <p:nvSpPr>
            <p:cNvPr name="Freeform 99" id="99"/>
            <p:cNvSpPr/>
            <p:nvPr/>
          </p:nvSpPr>
          <p:spPr>
            <a:xfrm flipH="false" flipV="false" rot="0">
              <a:off x="26684" y="0"/>
              <a:ext cx="3025811" cy="2193671"/>
            </a:xfrm>
            <a:custGeom>
              <a:avLst/>
              <a:gdLst/>
              <a:ahLst/>
              <a:cxnLst/>
              <a:rect r="r" b="b" t="t" l="l"/>
              <a:pathLst>
                <a:path h="2193671" w="3025811">
                  <a:moveTo>
                    <a:pt x="245985" y="0"/>
                  </a:moveTo>
                  <a:cubicBezTo>
                    <a:pt x="88759" y="0"/>
                    <a:pt x="-26557" y="147447"/>
                    <a:pt x="5320" y="302133"/>
                  </a:cubicBezTo>
                  <a:lnTo>
                    <a:pt x="390892" y="2002028"/>
                  </a:lnTo>
                  <a:cubicBezTo>
                    <a:pt x="415530" y="2112518"/>
                    <a:pt x="516241" y="2193671"/>
                    <a:pt x="629144" y="2193671"/>
                  </a:cubicBezTo>
                  <a:lnTo>
                    <a:pt x="2778365" y="2193671"/>
                  </a:lnTo>
                  <a:cubicBezTo>
                    <a:pt x="2938004" y="2193671"/>
                    <a:pt x="3055860" y="2048764"/>
                    <a:pt x="3019030" y="1891538"/>
                  </a:cubicBezTo>
                  <a:lnTo>
                    <a:pt x="2633331" y="191643"/>
                  </a:lnTo>
                  <a:cubicBezTo>
                    <a:pt x="2608820" y="81026"/>
                    <a:pt x="2508109" y="0"/>
                    <a:pt x="2395206" y="0"/>
                  </a:cubicBezTo>
                  <a:close/>
                </a:path>
              </a:pathLst>
            </a:custGeom>
            <a:solidFill>
              <a:srgbClr val="3F3FD8"/>
            </a:solidFill>
          </p:spPr>
        </p:sp>
      </p:grpSp>
      <p:grpSp>
        <p:nvGrpSpPr>
          <p:cNvPr name="Group 100" id="100"/>
          <p:cNvGrpSpPr/>
          <p:nvPr/>
        </p:nvGrpSpPr>
        <p:grpSpPr>
          <a:xfrm rot="0">
            <a:off x="12684957" y="8035204"/>
            <a:ext cx="677513" cy="1645244"/>
            <a:chOff x="0" y="0"/>
            <a:chExt cx="903351" cy="2193658"/>
          </a:xfrm>
        </p:grpSpPr>
        <p:sp>
          <p:nvSpPr>
            <p:cNvPr name="Freeform 101" id="101"/>
            <p:cNvSpPr/>
            <p:nvPr/>
          </p:nvSpPr>
          <p:spPr>
            <a:xfrm flipH="false" flipV="false" rot="0">
              <a:off x="0" y="127"/>
              <a:ext cx="874938" cy="2193544"/>
            </a:xfrm>
            <a:custGeom>
              <a:avLst/>
              <a:gdLst/>
              <a:ahLst/>
              <a:cxnLst/>
              <a:rect r="r" b="b" t="t" l="l"/>
              <a:pathLst>
                <a:path h="2193544" w="874938">
                  <a:moveTo>
                    <a:pt x="0" y="0"/>
                  </a:moveTo>
                  <a:cubicBezTo>
                    <a:pt x="112903" y="0"/>
                    <a:pt x="216027" y="81026"/>
                    <a:pt x="240538" y="191516"/>
                  </a:cubicBezTo>
                  <a:lnTo>
                    <a:pt x="623443" y="1891411"/>
                  </a:lnTo>
                  <a:cubicBezTo>
                    <a:pt x="657860" y="2046097"/>
                    <a:pt x="540004" y="2193544"/>
                    <a:pt x="382905" y="2193544"/>
                  </a:cubicBezTo>
                  <a:lnTo>
                    <a:pt x="628396" y="2193544"/>
                  </a:lnTo>
                  <a:cubicBezTo>
                    <a:pt x="785368" y="2191131"/>
                    <a:pt x="903351" y="2046224"/>
                    <a:pt x="868934" y="1891411"/>
                  </a:cubicBezTo>
                  <a:lnTo>
                    <a:pt x="486029" y="191516"/>
                  </a:lnTo>
                  <a:cubicBezTo>
                    <a:pt x="461518" y="78486"/>
                    <a:pt x="358394" y="0"/>
                    <a:pt x="245491" y="0"/>
                  </a:cubicBezTo>
                  <a:close/>
                </a:path>
              </a:pathLst>
            </a:custGeom>
            <a:solidFill>
              <a:srgbClr val="09066A"/>
            </a:solidFill>
          </p:spPr>
        </p:sp>
      </p:grpSp>
      <p:grpSp>
        <p:nvGrpSpPr>
          <p:cNvPr name="Group 102" id="102"/>
          <p:cNvGrpSpPr/>
          <p:nvPr/>
        </p:nvGrpSpPr>
        <p:grpSpPr>
          <a:xfrm rot="0">
            <a:off x="10858319" y="8035204"/>
            <a:ext cx="2265883" cy="1645244"/>
            <a:chOff x="0" y="0"/>
            <a:chExt cx="3021178" cy="2193658"/>
          </a:xfrm>
        </p:grpSpPr>
        <p:sp>
          <p:nvSpPr>
            <p:cNvPr name="Freeform 103" id="103"/>
            <p:cNvSpPr/>
            <p:nvPr/>
          </p:nvSpPr>
          <p:spPr>
            <a:xfrm flipH="false" flipV="false" rot="0">
              <a:off x="36463" y="127"/>
              <a:ext cx="2984740" cy="2193417"/>
            </a:xfrm>
            <a:custGeom>
              <a:avLst/>
              <a:gdLst/>
              <a:ahLst/>
              <a:cxnLst/>
              <a:rect r="r" b="b" t="t" l="l"/>
              <a:pathLst>
                <a:path h="2193417" w="2984740">
                  <a:moveTo>
                    <a:pt x="245985" y="0"/>
                  </a:moveTo>
                  <a:cubicBezTo>
                    <a:pt x="88759" y="0"/>
                    <a:pt x="-26557" y="147320"/>
                    <a:pt x="5320" y="302006"/>
                  </a:cubicBezTo>
                  <a:lnTo>
                    <a:pt x="390892" y="2001901"/>
                  </a:lnTo>
                  <a:cubicBezTo>
                    <a:pt x="415530" y="2117344"/>
                    <a:pt x="516241" y="2193417"/>
                    <a:pt x="629144" y="2193417"/>
                  </a:cubicBezTo>
                  <a:lnTo>
                    <a:pt x="2778365" y="2193417"/>
                  </a:lnTo>
                  <a:cubicBezTo>
                    <a:pt x="2864344" y="2191004"/>
                    <a:pt x="2938004" y="2146808"/>
                    <a:pt x="2984740" y="2082927"/>
                  </a:cubicBezTo>
                  <a:cubicBezTo>
                    <a:pt x="-36463" y="2082927"/>
                    <a:pt x="710297" y="157099"/>
                    <a:pt x="828153" y="0"/>
                  </a:cubicBezTo>
                  <a:close/>
                </a:path>
              </a:pathLst>
            </a:custGeom>
            <a:solidFill>
              <a:srgbClr val="FFFFFF">
                <a:alpha val="9412"/>
              </a:srgbClr>
            </a:solidFill>
          </p:spPr>
        </p:sp>
      </p:grpSp>
      <p:sp>
        <p:nvSpPr>
          <p:cNvPr name="Freeform 104" id="104"/>
          <p:cNvSpPr/>
          <p:nvPr/>
        </p:nvSpPr>
        <p:spPr>
          <a:xfrm flipH="false" flipV="false" rot="0">
            <a:off x="11606403" y="8547116"/>
            <a:ext cx="635070" cy="607695"/>
          </a:xfrm>
          <a:custGeom>
            <a:avLst/>
            <a:gdLst/>
            <a:ahLst/>
            <a:cxnLst/>
            <a:rect r="r" b="b" t="t" l="l"/>
            <a:pathLst>
              <a:path h="607695" w="635070">
                <a:moveTo>
                  <a:pt x="0" y="0"/>
                </a:moveTo>
                <a:lnTo>
                  <a:pt x="635070" y="0"/>
                </a:lnTo>
                <a:lnTo>
                  <a:pt x="635070" y="607695"/>
                </a:lnTo>
                <a:lnTo>
                  <a:pt x="0" y="60769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5" id="105"/>
          <p:cNvSpPr/>
          <p:nvPr/>
        </p:nvSpPr>
        <p:spPr>
          <a:xfrm flipH="false" flipV="false" rot="0">
            <a:off x="11859120" y="8521922"/>
            <a:ext cx="408261" cy="373666"/>
          </a:xfrm>
          <a:custGeom>
            <a:avLst/>
            <a:gdLst/>
            <a:ahLst/>
            <a:cxnLst/>
            <a:rect r="r" b="b" t="t" l="l"/>
            <a:pathLst>
              <a:path h="373666" w="408261">
                <a:moveTo>
                  <a:pt x="0" y="0"/>
                </a:moveTo>
                <a:lnTo>
                  <a:pt x="408261" y="0"/>
                </a:lnTo>
                <a:lnTo>
                  <a:pt x="408261" y="373666"/>
                </a:lnTo>
                <a:lnTo>
                  <a:pt x="0" y="37366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15810481" cy="1618564"/>
            <a:chOff x="0" y="0"/>
            <a:chExt cx="21080641" cy="2158086"/>
          </a:xfrm>
        </p:grpSpPr>
        <p:sp>
          <p:nvSpPr>
            <p:cNvPr name="Freeform 3" id="3"/>
            <p:cNvSpPr/>
            <p:nvPr/>
          </p:nvSpPr>
          <p:spPr>
            <a:xfrm flipH="false" flipV="false" rot="0">
              <a:off x="0" y="0"/>
              <a:ext cx="21080640" cy="2158080"/>
            </a:xfrm>
            <a:custGeom>
              <a:avLst/>
              <a:gdLst/>
              <a:ahLst/>
              <a:cxnLst/>
              <a:rect r="r" b="b" t="t" l="l"/>
              <a:pathLst>
                <a:path h="2158080" w="21080640">
                  <a:moveTo>
                    <a:pt x="0" y="0"/>
                  </a:moveTo>
                  <a:lnTo>
                    <a:pt x="21080640" y="0"/>
                  </a:lnTo>
                  <a:lnTo>
                    <a:pt x="21080640" y="2158080"/>
                  </a:lnTo>
                  <a:lnTo>
                    <a:pt x="0" y="2158080"/>
                  </a:lnTo>
                  <a:close/>
                </a:path>
              </a:pathLst>
            </a:custGeom>
            <a:blipFill>
              <a:blip r:embed="rId3">
                <a:alphaModFix amt="0"/>
              </a:blip>
              <a:stretch>
                <a:fillRect l="0" t="-140334" r="0" b="-140334"/>
              </a:stretch>
            </a:blipFill>
          </p:spPr>
        </p:sp>
        <p:sp>
          <p:nvSpPr>
            <p:cNvPr name="TextBox 4" id="4"/>
            <p:cNvSpPr txBox="true"/>
            <p:nvPr/>
          </p:nvSpPr>
          <p:spPr>
            <a:xfrm>
              <a:off x="0" y="-28575"/>
              <a:ext cx="21080641" cy="2186661"/>
            </a:xfrm>
            <a:prstGeom prst="rect">
              <a:avLst/>
            </a:prstGeom>
          </p:spPr>
          <p:txBody>
            <a:bodyPr anchor="ctr" rtlCol="false" tIns="0" lIns="0" bIns="0" rIns="0"/>
            <a:lstStyle/>
            <a:p>
              <a:pPr algn="l">
                <a:lnSpc>
                  <a:spcPts val="7680"/>
                </a:lnSpc>
              </a:pPr>
              <a:r>
                <a:rPr lang="en-US" b="true" sz="6400">
                  <a:solidFill>
                    <a:srgbClr val="FFFFFF"/>
                  </a:solidFill>
                  <a:latin typeface="Arimo Bold"/>
                  <a:ea typeface="Arimo Bold"/>
                  <a:cs typeface="Arimo Bold"/>
                  <a:sym typeface="Arimo Bold"/>
                </a:rPr>
                <a:t>Anuncios Importantes</a:t>
              </a:r>
            </a:p>
          </p:txBody>
        </p:sp>
      </p:grpSp>
      <p:sp>
        <p:nvSpPr>
          <p:cNvPr name="TextBox 5" id="5"/>
          <p:cNvSpPr txBox="true"/>
          <p:nvPr/>
        </p:nvSpPr>
        <p:spPr>
          <a:xfrm rot="0">
            <a:off x="8262871" y="3246472"/>
            <a:ext cx="7774953" cy="4839624"/>
          </a:xfrm>
          <a:prstGeom prst="rect">
            <a:avLst/>
          </a:prstGeom>
        </p:spPr>
        <p:txBody>
          <a:bodyPr anchor="t" rtlCol="false" tIns="0" lIns="0" bIns="0" rIns="0">
            <a:spAutoFit/>
          </a:bodyPr>
          <a:lstStyle/>
          <a:p>
            <a:pPr algn="l" marL="1097280" indent="-548640" lvl="1">
              <a:lnSpc>
                <a:spcPts val="6480"/>
              </a:lnSpc>
              <a:buFont typeface="Arial"/>
              <a:buChar char="•"/>
            </a:pPr>
            <a:r>
              <a:rPr lang="en-US" b="true" sz="3600">
                <a:solidFill>
                  <a:srgbClr val="FFFFFF"/>
                </a:solidFill>
                <a:latin typeface="Noto Sans Bold"/>
                <a:ea typeface="Noto Sans Bold"/>
                <a:cs typeface="Noto Sans Bold"/>
                <a:sym typeface="Noto Sans Bold"/>
              </a:rPr>
              <a:t>Anuncio 1</a:t>
            </a:r>
          </a:p>
          <a:p>
            <a:pPr algn="l" marL="1097280" indent="-548640" lvl="1">
              <a:lnSpc>
                <a:spcPts val="6480"/>
              </a:lnSpc>
              <a:buFont typeface="Arial"/>
              <a:buChar char="•"/>
            </a:pPr>
            <a:r>
              <a:rPr lang="en-US" b="true" sz="3600">
                <a:solidFill>
                  <a:srgbClr val="FFFFFF"/>
                </a:solidFill>
                <a:latin typeface="Noto Sans Bold"/>
                <a:ea typeface="Noto Sans Bold"/>
                <a:cs typeface="Noto Sans Bold"/>
                <a:sym typeface="Noto Sans Bold"/>
              </a:rPr>
              <a:t>Anuncio 2</a:t>
            </a:r>
          </a:p>
          <a:p>
            <a:pPr algn="l" marL="1097280" indent="-548640" lvl="1">
              <a:lnSpc>
                <a:spcPts val="6480"/>
              </a:lnSpc>
              <a:buFont typeface="Arial"/>
              <a:buChar char="•"/>
            </a:pPr>
            <a:r>
              <a:rPr lang="en-US" b="true" sz="3600">
                <a:solidFill>
                  <a:srgbClr val="FFFFFF"/>
                </a:solidFill>
                <a:latin typeface="Noto Sans Bold"/>
                <a:ea typeface="Noto Sans Bold"/>
                <a:cs typeface="Noto Sans Bold"/>
                <a:sym typeface="Noto Sans Bold"/>
              </a:rPr>
              <a:t>Anuncio 3</a:t>
            </a:r>
          </a:p>
        </p:txBody>
      </p:sp>
      <p:grpSp>
        <p:nvGrpSpPr>
          <p:cNvPr name="Group 6" id="6"/>
          <p:cNvGrpSpPr/>
          <p:nvPr/>
        </p:nvGrpSpPr>
        <p:grpSpPr>
          <a:xfrm rot="0">
            <a:off x="1870300" y="3255007"/>
            <a:ext cx="4876800" cy="4876800"/>
            <a:chOff x="0" y="0"/>
            <a:chExt cx="6502400" cy="6502400"/>
          </a:xfrm>
        </p:grpSpPr>
        <p:sp>
          <p:nvSpPr>
            <p:cNvPr name="Freeform 7" id="7"/>
            <p:cNvSpPr/>
            <p:nvPr/>
          </p:nvSpPr>
          <p:spPr>
            <a:xfrm flipH="false" flipV="false" rot="0">
              <a:off x="0" y="0"/>
              <a:ext cx="6502400" cy="6502400"/>
            </a:xfrm>
            <a:custGeom>
              <a:avLst/>
              <a:gdLst/>
              <a:ahLst/>
              <a:cxnLst/>
              <a:rect r="r" b="b" t="t" l="l"/>
              <a:pathLst>
                <a:path h="6502400" w="6502400">
                  <a:moveTo>
                    <a:pt x="0" y="0"/>
                  </a:moveTo>
                  <a:lnTo>
                    <a:pt x="6502400" y="0"/>
                  </a:lnTo>
                  <a:lnTo>
                    <a:pt x="6502400" y="6502400"/>
                  </a:lnTo>
                  <a:lnTo>
                    <a:pt x="0" y="6502400"/>
                  </a:lnTo>
                  <a:lnTo>
                    <a:pt x="0" y="0"/>
                  </a:lnTo>
                  <a:close/>
                </a:path>
              </a:pathLst>
            </a:custGeom>
            <a:blipFill>
              <a:blip r:embed="rId4"/>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15810605" cy="1618802"/>
            <a:chOff x="0" y="0"/>
            <a:chExt cx="21080806" cy="2158403"/>
          </a:xfrm>
        </p:grpSpPr>
        <p:sp>
          <p:nvSpPr>
            <p:cNvPr name="Freeform 3" id="3"/>
            <p:cNvSpPr/>
            <p:nvPr/>
          </p:nvSpPr>
          <p:spPr>
            <a:xfrm flipH="false" flipV="false" rot="0">
              <a:off x="0" y="0"/>
              <a:ext cx="21080800" cy="2158400"/>
            </a:xfrm>
            <a:custGeom>
              <a:avLst/>
              <a:gdLst/>
              <a:ahLst/>
              <a:cxnLst/>
              <a:rect r="r" b="b" t="t" l="l"/>
              <a:pathLst>
                <a:path h="2158400" w="21080800">
                  <a:moveTo>
                    <a:pt x="0" y="0"/>
                  </a:moveTo>
                  <a:lnTo>
                    <a:pt x="21080800" y="0"/>
                  </a:lnTo>
                  <a:lnTo>
                    <a:pt x="21080800" y="2158400"/>
                  </a:lnTo>
                  <a:lnTo>
                    <a:pt x="0" y="2158400"/>
                  </a:lnTo>
                  <a:close/>
                </a:path>
              </a:pathLst>
            </a:custGeom>
            <a:blipFill>
              <a:blip r:embed="rId3">
                <a:alphaModFix amt="0"/>
              </a:blip>
              <a:stretch>
                <a:fillRect l="0" t="-140307" r="0" b="-140307"/>
              </a:stretch>
            </a:blipFill>
          </p:spPr>
        </p:sp>
        <p:sp>
          <p:nvSpPr>
            <p:cNvPr name="TextBox 4" id="4"/>
            <p:cNvSpPr txBox="true"/>
            <p:nvPr/>
          </p:nvSpPr>
          <p:spPr>
            <a:xfrm>
              <a:off x="0" y="-28575"/>
              <a:ext cx="21080806" cy="2186978"/>
            </a:xfrm>
            <a:prstGeom prst="rect">
              <a:avLst/>
            </a:prstGeom>
          </p:spPr>
          <p:txBody>
            <a:bodyPr anchor="ctr" rtlCol="false" tIns="0" lIns="0" bIns="0" rIns="0"/>
            <a:lstStyle/>
            <a:p>
              <a:pPr algn="l">
                <a:lnSpc>
                  <a:spcPts val="7680"/>
                </a:lnSpc>
              </a:pPr>
              <a:r>
                <a:rPr lang="en-US" b="true" sz="6400">
                  <a:solidFill>
                    <a:srgbClr val="FFFFFF"/>
                  </a:solidFill>
                  <a:latin typeface="Arimo Bold"/>
                  <a:ea typeface="Arimo Bold"/>
                  <a:cs typeface="Arimo Bold"/>
                  <a:sym typeface="Arimo Bold"/>
                </a:rPr>
                <a:t>Anuncios Importantes</a:t>
              </a:r>
            </a:p>
          </p:txBody>
        </p:sp>
      </p:grpSp>
      <p:sp>
        <p:nvSpPr>
          <p:cNvPr name="TextBox 5" id="5"/>
          <p:cNvSpPr txBox="true"/>
          <p:nvPr/>
        </p:nvSpPr>
        <p:spPr>
          <a:xfrm rot="0">
            <a:off x="8488470" y="3246472"/>
            <a:ext cx="7549353" cy="4839624"/>
          </a:xfrm>
          <a:prstGeom prst="rect">
            <a:avLst/>
          </a:prstGeom>
        </p:spPr>
        <p:txBody>
          <a:bodyPr anchor="t" rtlCol="false" tIns="0" lIns="0" bIns="0" rIns="0">
            <a:spAutoFit/>
          </a:bodyPr>
          <a:lstStyle/>
          <a:p>
            <a:pPr algn="l" marL="1097280" indent="-548640" lvl="1">
              <a:lnSpc>
                <a:spcPts val="6480"/>
              </a:lnSpc>
              <a:buAutoNum type="arabicPeriod" startAt="1"/>
            </a:pPr>
            <a:r>
              <a:rPr lang="en-US" b="true" sz="3600">
                <a:solidFill>
                  <a:srgbClr val="FFFFFF"/>
                </a:solidFill>
                <a:latin typeface="Noto Sans Bold"/>
                <a:ea typeface="Noto Sans Bold"/>
                <a:cs typeface="Noto Sans Bold"/>
                <a:sym typeface="Noto Sans Bold"/>
              </a:rPr>
              <a:t>Actividad</a:t>
            </a:r>
          </a:p>
          <a:p>
            <a:pPr algn="l" marL="1097280" indent="-548640" lvl="1">
              <a:lnSpc>
                <a:spcPts val="6480"/>
              </a:lnSpc>
              <a:buAutoNum type="arabicPeriod" startAt="1"/>
            </a:pPr>
            <a:r>
              <a:rPr lang="en-US" b="true" sz="3600">
                <a:solidFill>
                  <a:srgbClr val="FFFFFF"/>
                </a:solidFill>
                <a:latin typeface="Noto Sans Bold"/>
                <a:ea typeface="Noto Sans Bold"/>
                <a:cs typeface="Noto Sans Bold"/>
                <a:sym typeface="Noto Sans Bold"/>
              </a:rPr>
              <a:t>Actividad</a:t>
            </a:r>
          </a:p>
          <a:p>
            <a:pPr algn="l" marL="1097280" indent="-548640" lvl="1">
              <a:lnSpc>
                <a:spcPts val="6480"/>
              </a:lnSpc>
              <a:buAutoNum type="arabicPeriod" startAt="1"/>
            </a:pPr>
            <a:r>
              <a:rPr lang="en-US" b="true" sz="3600">
                <a:solidFill>
                  <a:srgbClr val="FFFFFF"/>
                </a:solidFill>
                <a:latin typeface="Noto Sans Bold"/>
                <a:ea typeface="Noto Sans Bold"/>
                <a:cs typeface="Noto Sans Bold"/>
                <a:sym typeface="Noto Sans Bold"/>
              </a:rPr>
              <a:t>Actividad</a:t>
            </a:r>
          </a:p>
        </p:txBody>
      </p:sp>
      <p:grpSp>
        <p:nvGrpSpPr>
          <p:cNvPr name="Group 6" id="6"/>
          <p:cNvGrpSpPr/>
          <p:nvPr/>
        </p:nvGrpSpPr>
        <p:grpSpPr>
          <a:xfrm rot="0">
            <a:off x="1625098" y="3327902"/>
            <a:ext cx="4876800" cy="4876800"/>
            <a:chOff x="0" y="0"/>
            <a:chExt cx="6502400" cy="6502400"/>
          </a:xfrm>
        </p:grpSpPr>
        <p:sp>
          <p:nvSpPr>
            <p:cNvPr name="Freeform 7" id="7"/>
            <p:cNvSpPr/>
            <p:nvPr/>
          </p:nvSpPr>
          <p:spPr>
            <a:xfrm flipH="false" flipV="false" rot="0">
              <a:off x="0" y="0"/>
              <a:ext cx="6502400" cy="6502400"/>
            </a:xfrm>
            <a:custGeom>
              <a:avLst/>
              <a:gdLst/>
              <a:ahLst/>
              <a:cxnLst/>
              <a:rect r="r" b="b" t="t" l="l"/>
              <a:pathLst>
                <a:path h="6502400" w="6502400">
                  <a:moveTo>
                    <a:pt x="0" y="0"/>
                  </a:moveTo>
                  <a:lnTo>
                    <a:pt x="6502400" y="0"/>
                  </a:lnTo>
                  <a:lnTo>
                    <a:pt x="6502400" y="6502400"/>
                  </a:lnTo>
                  <a:lnTo>
                    <a:pt x="0" y="6502400"/>
                  </a:lnTo>
                  <a:lnTo>
                    <a:pt x="0" y="0"/>
                  </a:lnTo>
                  <a:close/>
                </a:path>
              </a:pathLst>
            </a:custGeom>
            <a:blipFill>
              <a:blip r:embed="rId4"/>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7482002" cy="1618802"/>
            <a:chOff x="0" y="0"/>
            <a:chExt cx="9976002" cy="2158403"/>
          </a:xfrm>
        </p:grpSpPr>
        <p:sp>
          <p:nvSpPr>
            <p:cNvPr name="Freeform 3" id="3"/>
            <p:cNvSpPr/>
            <p:nvPr/>
          </p:nvSpPr>
          <p:spPr>
            <a:xfrm flipH="false" flipV="false" rot="0">
              <a:off x="0" y="0"/>
              <a:ext cx="9976000" cy="2158400"/>
            </a:xfrm>
            <a:custGeom>
              <a:avLst/>
              <a:gdLst/>
              <a:ahLst/>
              <a:cxnLst/>
              <a:rect r="r" b="b" t="t" l="l"/>
              <a:pathLst>
                <a:path h="2158400" w="9976000">
                  <a:moveTo>
                    <a:pt x="0" y="0"/>
                  </a:moveTo>
                  <a:lnTo>
                    <a:pt x="9976000" y="0"/>
                  </a:lnTo>
                  <a:lnTo>
                    <a:pt x="9976000" y="2158400"/>
                  </a:lnTo>
                  <a:lnTo>
                    <a:pt x="0" y="2158400"/>
                  </a:lnTo>
                  <a:close/>
                </a:path>
              </a:pathLst>
            </a:custGeom>
            <a:blipFill>
              <a:blip r:embed="rId3">
                <a:alphaModFix amt="0"/>
              </a:blip>
              <a:stretch>
                <a:fillRect l="0" t="-40058" r="0" b="-40058"/>
              </a:stretch>
            </a:blipFill>
          </p:spPr>
        </p:sp>
        <p:sp>
          <p:nvSpPr>
            <p:cNvPr name="TextBox 4" id="4"/>
            <p:cNvSpPr txBox="true"/>
            <p:nvPr/>
          </p:nvSpPr>
          <p:spPr>
            <a:xfrm>
              <a:off x="0" y="28575"/>
              <a:ext cx="9976002" cy="2129828"/>
            </a:xfrm>
            <a:prstGeom prst="rect">
              <a:avLst/>
            </a:prstGeom>
          </p:spPr>
          <p:txBody>
            <a:bodyPr anchor="ctr" rtlCol="false" tIns="0" lIns="0" bIns="0" rIns="0"/>
            <a:lstStyle/>
            <a:p>
              <a:pPr algn="l">
                <a:lnSpc>
                  <a:spcPts val="5400"/>
                </a:lnSpc>
              </a:pPr>
              <a:r>
                <a:rPr lang="en-US" b="true" sz="4999">
                  <a:solidFill>
                    <a:srgbClr val="FFFFFF"/>
                  </a:solidFill>
                  <a:latin typeface="Arimo Bold"/>
                  <a:ea typeface="Arimo Bold"/>
                  <a:cs typeface="Arimo Bold"/>
                  <a:sym typeface="Arimo Bold"/>
                </a:rPr>
                <a:t>Competencia(s) que desarrollaremos</a:t>
              </a:r>
            </a:p>
          </p:txBody>
        </p:sp>
      </p:grpSp>
      <p:grpSp>
        <p:nvGrpSpPr>
          <p:cNvPr name="Group 5" id="5"/>
          <p:cNvGrpSpPr/>
          <p:nvPr/>
        </p:nvGrpSpPr>
        <p:grpSpPr>
          <a:xfrm rot="0">
            <a:off x="10540994" y="514102"/>
            <a:ext cx="7289397" cy="9258005"/>
            <a:chOff x="0" y="0"/>
            <a:chExt cx="9719196" cy="12344006"/>
          </a:xfrm>
        </p:grpSpPr>
        <p:sp>
          <p:nvSpPr>
            <p:cNvPr name="Freeform 6" id="6" descr="image69fbd2aa5b56c"/>
            <p:cNvSpPr/>
            <p:nvPr/>
          </p:nvSpPr>
          <p:spPr>
            <a:xfrm flipH="false" flipV="false" rot="0">
              <a:off x="0" y="0"/>
              <a:ext cx="9719183" cy="12344019"/>
            </a:xfrm>
            <a:custGeom>
              <a:avLst/>
              <a:gdLst/>
              <a:ahLst/>
              <a:cxnLst/>
              <a:rect r="r" b="b" t="t" l="l"/>
              <a:pathLst>
                <a:path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a:blip r:embed="rId4"/>
              <a:stretch>
                <a:fillRect l="-6447" t="0" r="-6447" b="0"/>
              </a:stretch>
            </a:blipFill>
          </p:spPr>
        </p:sp>
      </p:grpSp>
      <p:grpSp>
        <p:nvGrpSpPr>
          <p:cNvPr name="Group 7" id="7"/>
          <p:cNvGrpSpPr/>
          <p:nvPr/>
        </p:nvGrpSpPr>
        <p:grpSpPr>
          <a:xfrm rot="0">
            <a:off x="428549" y="4423400"/>
            <a:ext cx="3294297" cy="3294297"/>
            <a:chOff x="0" y="0"/>
            <a:chExt cx="4392397" cy="4392397"/>
          </a:xfrm>
        </p:grpSpPr>
        <p:sp>
          <p:nvSpPr>
            <p:cNvPr name="Freeform 8" id="8"/>
            <p:cNvSpPr/>
            <p:nvPr/>
          </p:nvSpPr>
          <p:spPr>
            <a:xfrm flipH="false" flipV="false" rot="0">
              <a:off x="0" y="0"/>
              <a:ext cx="4392422" cy="4392422"/>
            </a:xfrm>
            <a:custGeom>
              <a:avLst/>
              <a:gdLst/>
              <a:ahLst/>
              <a:cxnLst/>
              <a:rect r="r" b="b" t="t" l="l"/>
              <a:pathLst>
                <a:path h="4392422" w="4392422">
                  <a:moveTo>
                    <a:pt x="0" y="0"/>
                  </a:moveTo>
                  <a:lnTo>
                    <a:pt x="4392422" y="0"/>
                  </a:lnTo>
                  <a:lnTo>
                    <a:pt x="4392422" y="4392422"/>
                  </a:lnTo>
                  <a:lnTo>
                    <a:pt x="0" y="4392422"/>
                  </a:lnTo>
                  <a:lnTo>
                    <a:pt x="0" y="0"/>
                  </a:lnTo>
                  <a:close/>
                </a:path>
              </a:pathLst>
            </a:custGeom>
            <a:blipFill>
              <a:blip r:embed="rId5"/>
              <a:stretch>
                <a:fillRect l="0" t="0" r="0" b="0"/>
              </a:stretch>
            </a:blipFill>
          </p:spPr>
        </p:sp>
      </p:grpSp>
      <p:sp>
        <p:nvSpPr>
          <p:cNvPr name="TextBox 9" id="9"/>
          <p:cNvSpPr txBox="true"/>
          <p:nvPr/>
        </p:nvSpPr>
        <p:spPr>
          <a:xfrm rot="0">
            <a:off x="3722846" y="4174500"/>
            <a:ext cx="4997558" cy="3980918"/>
          </a:xfrm>
          <a:prstGeom prst="rect">
            <a:avLst/>
          </a:prstGeom>
        </p:spPr>
        <p:txBody>
          <a:bodyPr anchor="t" rtlCol="false" tIns="0" lIns="0" bIns="0" rIns="0">
            <a:spAutoFit/>
          </a:bodyPr>
          <a:lstStyle/>
          <a:p>
            <a:pPr algn="ctr">
              <a:lnSpc>
                <a:spcPts val="3179"/>
              </a:lnSpc>
            </a:pPr>
            <a:r>
              <a:rPr lang="en-US" sz="2270" i="true">
                <a:solidFill>
                  <a:srgbClr val="FFFFFF"/>
                </a:solidFill>
                <a:latin typeface="Open Sans Italics"/>
                <a:ea typeface="Open Sans Italics"/>
                <a:cs typeface="Open Sans Italics"/>
                <a:sym typeface="Open Sans Italics"/>
              </a:rPr>
              <a:t>El estudiante desarrolla aplicaciones multihilo que gestionan de forma segura el acceso a recursos compartidos mediante la implementación de la API de PThreads y el uso de primitivas de sincronización como mutexes y semáforos para evitar condiciones de carrera, asegurar la consistencia de datos y prevenir interbloqueos (deadlocks).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7482002" cy="1618802"/>
            <a:chOff x="0" y="0"/>
            <a:chExt cx="9976002" cy="2158403"/>
          </a:xfrm>
        </p:grpSpPr>
        <p:sp>
          <p:nvSpPr>
            <p:cNvPr name="Freeform 3" id="3"/>
            <p:cNvSpPr/>
            <p:nvPr/>
          </p:nvSpPr>
          <p:spPr>
            <a:xfrm flipH="false" flipV="false" rot="0">
              <a:off x="0" y="0"/>
              <a:ext cx="9976000" cy="2158400"/>
            </a:xfrm>
            <a:custGeom>
              <a:avLst/>
              <a:gdLst/>
              <a:ahLst/>
              <a:cxnLst/>
              <a:rect r="r" b="b" t="t" l="l"/>
              <a:pathLst>
                <a:path h="2158400" w="9976000">
                  <a:moveTo>
                    <a:pt x="0" y="0"/>
                  </a:moveTo>
                  <a:lnTo>
                    <a:pt x="9976000" y="0"/>
                  </a:lnTo>
                  <a:lnTo>
                    <a:pt x="9976000" y="2158400"/>
                  </a:lnTo>
                  <a:lnTo>
                    <a:pt x="0" y="2158400"/>
                  </a:lnTo>
                  <a:close/>
                </a:path>
              </a:pathLst>
            </a:custGeom>
            <a:blipFill>
              <a:blip r:embed="rId3">
                <a:alphaModFix amt="0"/>
              </a:blip>
              <a:stretch>
                <a:fillRect l="0" t="-40058" r="0" b="-40058"/>
              </a:stretch>
            </a:blipFill>
          </p:spPr>
        </p:sp>
        <p:sp>
          <p:nvSpPr>
            <p:cNvPr name="TextBox 4" id="4"/>
            <p:cNvSpPr txBox="true"/>
            <p:nvPr/>
          </p:nvSpPr>
          <p:spPr>
            <a:xfrm>
              <a:off x="0" y="28575"/>
              <a:ext cx="9976002" cy="2129828"/>
            </a:xfrm>
            <a:prstGeom prst="rect">
              <a:avLst/>
            </a:prstGeom>
          </p:spPr>
          <p:txBody>
            <a:bodyPr anchor="ctr" rtlCol="false" tIns="0" lIns="0" bIns="0" rIns="0"/>
            <a:lstStyle/>
            <a:p>
              <a:pPr algn="l">
                <a:lnSpc>
                  <a:spcPts val="5400"/>
                </a:lnSpc>
              </a:pPr>
              <a:r>
                <a:rPr lang="en-US" b="true" sz="4999">
                  <a:solidFill>
                    <a:srgbClr val="FFFFFF"/>
                  </a:solidFill>
                  <a:latin typeface="Arimo Bold"/>
                  <a:ea typeface="Arimo Bold"/>
                  <a:cs typeface="Arimo Bold"/>
                  <a:sym typeface="Arimo Bold"/>
                </a:rPr>
                <a:t>Valor(es) de la Semana</a:t>
              </a:r>
            </a:p>
          </p:txBody>
        </p:sp>
      </p:grpSp>
      <p:grpSp>
        <p:nvGrpSpPr>
          <p:cNvPr name="Group 5" id="5"/>
          <p:cNvGrpSpPr/>
          <p:nvPr/>
        </p:nvGrpSpPr>
        <p:grpSpPr>
          <a:xfrm rot="0">
            <a:off x="10540994" y="514102"/>
            <a:ext cx="7289397" cy="9258005"/>
            <a:chOff x="0" y="0"/>
            <a:chExt cx="9719196" cy="12344006"/>
          </a:xfrm>
        </p:grpSpPr>
        <p:sp>
          <p:nvSpPr>
            <p:cNvPr name="Freeform 6" id="6"/>
            <p:cNvSpPr/>
            <p:nvPr/>
          </p:nvSpPr>
          <p:spPr>
            <a:xfrm flipH="false" flipV="false" rot="0">
              <a:off x="0" y="0"/>
              <a:ext cx="9719183" cy="12344019"/>
            </a:xfrm>
            <a:custGeom>
              <a:avLst/>
              <a:gdLst/>
              <a:ahLst/>
              <a:cxnLst/>
              <a:rect r="r" b="b" t="t" l="l"/>
              <a:pathLst>
                <a:path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a:blip r:embed="rId4"/>
              <a:stretch>
                <a:fillRect l="-45136" t="0" r="-45136" b="0"/>
              </a:stretch>
            </a:blipFill>
          </p:spPr>
        </p:sp>
      </p:grpSp>
      <p:sp>
        <p:nvSpPr>
          <p:cNvPr name="Freeform 7" id="7"/>
          <p:cNvSpPr/>
          <p:nvPr/>
        </p:nvSpPr>
        <p:spPr>
          <a:xfrm flipH="false" flipV="false" rot="0">
            <a:off x="3458731" y="5711542"/>
            <a:ext cx="3041345" cy="3546758"/>
          </a:xfrm>
          <a:custGeom>
            <a:avLst/>
            <a:gdLst/>
            <a:ahLst/>
            <a:cxnLst/>
            <a:rect r="r" b="b" t="t" l="l"/>
            <a:pathLst>
              <a:path h="3546758" w="3041345">
                <a:moveTo>
                  <a:pt x="0" y="0"/>
                </a:moveTo>
                <a:lnTo>
                  <a:pt x="3041345" y="0"/>
                </a:lnTo>
                <a:lnTo>
                  <a:pt x="3041345" y="3546758"/>
                </a:lnTo>
                <a:lnTo>
                  <a:pt x="0" y="3546758"/>
                </a:lnTo>
                <a:lnTo>
                  <a:pt x="0" y="0"/>
                </a:lnTo>
                <a:close/>
              </a:path>
            </a:pathLst>
          </a:custGeom>
          <a:blipFill>
            <a:blip r:embed="rId5"/>
            <a:stretch>
              <a:fillRect l="0" t="0" r="0" b="0"/>
            </a:stretch>
          </a:blipFill>
        </p:spPr>
      </p:sp>
      <p:sp>
        <p:nvSpPr>
          <p:cNvPr name="TextBox 8" id="8"/>
          <p:cNvSpPr txBox="true"/>
          <p:nvPr/>
        </p:nvSpPr>
        <p:spPr>
          <a:xfrm rot="0">
            <a:off x="1238402" y="3114986"/>
            <a:ext cx="7482002" cy="2693774"/>
          </a:xfrm>
          <a:prstGeom prst="rect">
            <a:avLst/>
          </a:prstGeom>
        </p:spPr>
        <p:txBody>
          <a:bodyPr anchor="t" rtlCol="false" tIns="0" lIns="0" bIns="0" rIns="0">
            <a:spAutoFit/>
          </a:bodyPr>
          <a:lstStyle/>
          <a:p>
            <a:pPr algn="ctr">
              <a:lnSpc>
                <a:spcPts val="4299"/>
              </a:lnSpc>
            </a:pPr>
            <a:r>
              <a:rPr lang="en-US" b="true" sz="3070">
                <a:solidFill>
                  <a:srgbClr val="FFFFFF"/>
                </a:solidFill>
                <a:latin typeface="Open Sans Bold"/>
                <a:ea typeface="Open Sans Bold"/>
                <a:cs typeface="Open Sans Bold"/>
                <a:sym typeface="Open Sans Bold"/>
              </a:rPr>
              <a:t>CRITERIO Y TOMA DE DECISIONES</a:t>
            </a:r>
          </a:p>
          <a:p>
            <a:pPr algn="ctr">
              <a:lnSpc>
                <a:spcPts val="4299"/>
              </a:lnSpc>
            </a:pPr>
          </a:p>
          <a:p>
            <a:pPr algn="ctr">
              <a:lnSpc>
                <a:spcPts val="4299"/>
              </a:lnSpc>
            </a:pPr>
            <a:r>
              <a:rPr lang="en-US" sz="3070" i="true">
                <a:solidFill>
                  <a:srgbClr val="FFFFFF"/>
                </a:solidFill>
                <a:latin typeface="Open Sans Italics"/>
                <a:ea typeface="Open Sans Italics"/>
                <a:cs typeface="Open Sans Italics"/>
                <a:sym typeface="Open Sans Italics"/>
              </a:rPr>
              <a:t>Evaluación responsable de alternativas técnicas.</a:t>
            </a:r>
          </a:p>
          <a:p>
            <a:pPr algn="ctr">
              <a:lnSpc>
                <a:spcPts val="42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1238345" y="3577380"/>
            <a:ext cx="6952202" cy="2857200"/>
            <a:chOff x="0" y="0"/>
            <a:chExt cx="9269603" cy="3809600"/>
          </a:xfrm>
        </p:grpSpPr>
        <p:sp>
          <p:nvSpPr>
            <p:cNvPr name="Freeform 5" id="5"/>
            <p:cNvSpPr/>
            <p:nvPr/>
          </p:nvSpPr>
          <p:spPr>
            <a:xfrm flipH="false" flipV="false" rot="0">
              <a:off x="0" y="0"/>
              <a:ext cx="9269600" cy="3809594"/>
            </a:xfrm>
            <a:custGeom>
              <a:avLst/>
              <a:gdLst/>
              <a:ahLst/>
              <a:cxnLst/>
              <a:rect r="r" b="b" t="t" l="l"/>
              <a:pathLst>
                <a:path h="3809594" w="9269600">
                  <a:moveTo>
                    <a:pt x="0" y="0"/>
                  </a:moveTo>
                  <a:lnTo>
                    <a:pt x="9269600" y="0"/>
                  </a:lnTo>
                  <a:lnTo>
                    <a:pt x="9269600" y="3809594"/>
                  </a:lnTo>
                  <a:lnTo>
                    <a:pt x="0" y="3809594"/>
                  </a:lnTo>
                  <a:close/>
                </a:path>
              </a:pathLst>
            </a:custGeom>
            <a:blipFill>
              <a:blip r:embed="rId4">
                <a:alphaModFix amt="0"/>
              </a:blip>
              <a:stretch>
                <a:fillRect l="-2729" t="0" r="-2730" b="0"/>
              </a:stretch>
            </a:blipFill>
          </p:spPr>
        </p:sp>
        <p:sp>
          <p:nvSpPr>
            <p:cNvPr name="TextBox 6" id="6"/>
            <p:cNvSpPr txBox="true"/>
            <p:nvPr/>
          </p:nvSpPr>
          <p:spPr>
            <a:xfrm>
              <a:off x="0" y="0"/>
              <a:ext cx="9269603" cy="3809600"/>
            </a:xfrm>
            <a:prstGeom prst="rect">
              <a:avLst/>
            </a:prstGeom>
          </p:spPr>
          <p:txBody>
            <a:bodyPr anchor="ctr" rtlCol="false" tIns="0" lIns="0" bIns="0" rIns="0"/>
            <a:lstStyle/>
            <a:p>
              <a:pPr algn="l">
                <a:lnSpc>
                  <a:spcPts val="7560"/>
                </a:lnSpc>
              </a:pPr>
              <a:r>
                <a:rPr lang="en-US" sz="6300">
                  <a:solidFill>
                    <a:srgbClr val="FFFFFF"/>
                  </a:solidFill>
                  <a:latin typeface="Archivo Black"/>
                  <a:ea typeface="Archivo Black"/>
                  <a:cs typeface="Archivo Black"/>
                  <a:sym typeface="Archivo Black"/>
                </a:rPr>
                <a:t>Sincronización de Procesos</a:t>
              </a:r>
            </a:p>
          </p:txBody>
        </p:sp>
      </p:grpSp>
      <p:grpSp>
        <p:nvGrpSpPr>
          <p:cNvPr name="Group 7" id="7"/>
          <p:cNvGrpSpPr/>
          <p:nvPr/>
        </p:nvGrpSpPr>
        <p:grpSpPr>
          <a:xfrm rot="0">
            <a:off x="9601200" y="514083"/>
            <a:ext cx="8229000" cy="9258005"/>
            <a:chOff x="0" y="0"/>
            <a:chExt cx="10972000" cy="12344006"/>
          </a:xfrm>
        </p:grpSpPr>
        <p:sp>
          <p:nvSpPr>
            <p:cNvPr name="Freeform 8" id="8"/>
            <p:cNvSpPr/>
            <p:nvPr/>
          </p:nvSpPr>
          <p:spPr>
            <a:xfrm flipH="false" flipV="false" rot="0">
              <a:off x="0" y="0"/>
              <a:ext cx="10971911" cy="12344019"/>
            </a:xfrm>
            <a:custGeom>
              <a:avLst/>
              <a:gdLst/>
              <a:ahLst/>
              <a:cxnLst/>
              <a:rect r="r" b="b" t="t" l="l"/>
              <a:pathLst>
                <a:path h="12344019" w="10971911">
                  <a:moveTo>
                    <a:pt x="0" y="1828673"/>
                  </a:moveTo>
                  <a:cubicBezTo>
                    <a:pt x="0" y="818769"/>
                    <a:pt x="818769" y="0"/>
                    <a:pt x="1828673" y="0"/>
                  </a:cubicBezTo>
                  <a:lnTo>
                    <a:pt x="9143238" y="0"/>
                  </a:lnTo>
                  <a:cubicBezTo>
                    <a:pt x="10153142" y="0"/>
                    <a:pt x="10971911" y="818769"/>
                    <a:pt x="10971911" y="1828673"/>
                  </a:cubicBezTo>
                  <a:lnTo>
                    <a:pt x="10971911" y="10515346"/>
                  </a:lnTo>
                  <a:cubicBezTo>
                    <a:pt x="10971911" y="11525250"/>
                    <a:pt x="10153142" y="12344019"/>
                    <a:pt x="9143238" y="12344019"/>
                  </a:cubicBezTo>
                  <a:lnTo>
                    <a:pt x="1828673" y="12344019"/>
                  </a:lnTo>
                  <a:cubicBezTo>
                    <a:pt x="818769" y="12344019"/>
                    <a:pt x="0" y="11525250"/>
                    <a:pt x="0" y="10515346"/>
                  </a:cubicBezTo>
                  <a:close/>
                </a:path>
              </a:pathLst>
            </a:custGeom>
            <a:blipFill>
              <a:blip r:embed="rId5"/>
              <a:stretch>
                <a:fillRect l="-48527" t="0" r="-22910" b="0"/>
              </a:stretch>
            </a:blipFill>
          </p:spPr>
        </p:sp>
      </p:grpSp>
      <p:sp>
        <p:nvSpPr>
          <p:cNvPr name="TextBox 9" id="9"/>
          <p:cNvSpPr txBox="true"/>
          <p:nvPr/>
        </p:nvSpPr>
        <p:spPr>
          <a:xfrm rot="0">
            <a:off x="1329823" y="1274578"/>
            <a:ext cx="6986141" cy="1524000"/>
          </a:xfrm>
          <a:prstGeom prst="rect">
            <a:avLst/>
          </a:prstGeom>
        </p:spPr>
        <p:txBody>
          <a:bodyPr anchor="t" rtlCol="false" tIns="0" lIns="0" bIns="0" rIns="0">
            <a:spAutoFit/>
          </a:bodyPr>
          <a:lstStyle/>
          <a:p>
            <a:pPr algn="l">
              <a:lnSpc>
                <a:spcPts val="11999"/>
              </a:lnSpc>
            </a:pPr>
            <a:r>
              <a:rPr lang="en-US" sz="9999">
                <a:solidFill>
                  <a:srgbClr val="FFFFFF"/>
                </a:solidFill>
                <a:latin typeface="Archivo Black"/>
                <a:ea typeface="Archivo Black"/>
                <a:cs typeface="Archivo Black"/>
                <a:sym typeface="Archivo Black"/>
              </a:rPr>
              <a:t>Unidad 05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9861970" y="831786"/>
            <a:ext cx="7186914" cy="2225142"/>
            <a:chOff x="0" y="0"/>
            <a:chExt cx="9582551" cy="2966855"/>
          </a:xfrm>
        </p:grpSpPr>
        <p:sp>
          <p:nvSpPr>
            <p:cNvPr name="Freeform 3" id="3"/>
            <p:cNvSpPr/>
            <p:nvPr/>
          </p:nvSpPr>
          <p:spPr>
            <a:xfrm flipH="false" flipV="false" rot="0">
              <a:off x="0" y="0"/>
              <a:ext cx="9582551" cy="2966848"/>
            </a:xfrm>
            <a:custGeom>
              <a:avLst/>
              <a:gdLst/>
              <a:ahLst/>
              <a:cxnLst/>
              <a:rect r="r" b="b" t="t" l="l"/>
              <a:pathLst>
                <a:path h="2966848" w="9582551">
                  <a:moveTo>
                    <a:pt x="0" y="0"/>
                  </a:moveTo>
                  <a:lnTo>
                    <a:pt x="9582551" y="0"/>
                  </a:lnTo>
                  <a:lnTo>
                    <a:pt x="9582551" y="2966848"/>
                  </a:lnTo>
                  <a:lnTo>
                    <a:pt x="0" y="2966848"/>
                  </a:lnTo>
                  <a:close/>
                </a:path>
              </a:pathLst>
            </a:custGeom>
            <a:blipFill>
              <a:blip r:embed="rId3">
                <a:alphaModFix amt="0"/>
              </a:blip>
              <a:stretch>
                <a:fillRect l="0" t="-102078" r="-119989" b="-74818"/>
              </a:stretch>
            </a:blipFill>
          </p:spPr>
        </p:sp>
        <p:sp>
          <p:nvSpPr>
            <p:cNvPr name="TextBox 4" id="4"/>
            <p:cNvSpPr txBox="true"/>
            <p:nvPr/>
          </p:nvSpPr>
          <p:spPr>
            <a:xfrm>
              <a:off x="0" y="0"/>
              <a:ext cx="9582551" cy="2966855"/>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Cooperación entre Procesos</a:t>
              </a:r>
            </a:p>
          </p:txBody>
        </p:sp>
      </p:grpSp>
      <p:sp>
        <p:nvSpPr>
          <p:cNvPr name="Freeform 5" id="5"/>
          <p:cNvSpPr/>
          <p:nvPr/>
        </p:nvSpPr>
        <p:spPr>
          <a:xfrm flipH="false" flipV="false" rot="0">
            <a:off x="0" y="0"/>
            <a:ext cx="9234846" cy="10287000"/>
          </a:xfrm>
          <a:custGeom>
            <a:avLst/>
            <a:gdLst/>
            <a:ahLst/>
            <a:cxnLst/>
            <a:rect r="r" b="b" t="t" l="l"/>
            <a:pathLst>
              <a:path h="10287000" w="9234846">
                <a:moveTo>
                  <a:pt x="0" y="0"/>
                </a:moveTo>
                <a:lnTo>
                  <a:pt x="9234846" y="0"/>
                </a:lnTo>
                <a:lnTo>
                  <a:pt x="9234846" y="10287000"/>
                </a:lnTo>
                <a:lnTo>
                  <a:pt x="0" y="10287000"/>
                </a:lnTo>
                <a:lnTo>
                  <a:pt x="0" y="0"/>
                </a:lnTo>
                <a:close/>
              </a:path>
            </a:pathLst>
          </a:custGeom>
          <a:blipFill>
            <a:blip r:embed="rId4"/>
            <a:stretch>
              <a:fillRect l="-11139" t="0" r="-86893" b="0"/>
            </a:stretch>
          </a:blipFill>
        </p:spPr>
      </p:sp>
      <p:sp>
        <p:nvSpPr>
          <p:cNvPr name="TextBox 6" id="6"/>
          <p:cNvSpPr txBox="true"/>
          <p:nvPr/>
        </p:nvSpPr>
        <p:spPr>
          <a:xfrm rot="0">
            <a:off x="9861970" y="4620093"/>
            <a:ext cx="7095483" cy="1295401"/>
          </a:xfrm>
          <a:prstGeom prst="rect">
            <a:avLst/>
          </a:prstGeom>
        </p:spPr>
        <p:txBody>
          <a:bodyPr anchor="t" rtlCol="false" tIns="0" lIns="0" bIns="0" rIns="0">
            <a:spAutoFit/>
          </a:bodyPr>
          <a:lstStyle/>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Procesos cooperativos</a:t>
            </a:r>
          </a:p>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Condiciones de carrera (Race Conditions)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Procesos Cooperativos</a:t>
              </a:r>
            </a:p>
          </p:txBody>
        </p:sp>
      </p:grpSp>
      <p:grpSp>
        <p:nvGrpSpPr>
          <p:cNvPr name="Group 5" id="5"/>
          <p:cNvGrpSpPr/>
          <p:nvPr/>
        </p:nvGrpSpPr>
        <p:grpSpPr>
          <a:xfrm rot="0">
            <a:off x="11021736" y="2842259"/>
            <a:ext cx="6431028" cy="4908020"/>
            <a:chOff x="0" y="0"/>
            <a:chExt cx="8574704" cy="6544027"/>
          </a:xfrm>
        </p:grpSpPr>
        <p:grpSp>
          <p:nvGrpSpPr>
            <p:cNvPr name="Group 6" id="6"/>
            <p:cNvGrpSpPr/>
            <p:nvPr/>
          </p:nvGrpSpPr>
          <p:grpSpPr>
            <a:xfrm rot="0">
              <a:off x="0" y="0"/>
              <a:ext cx="8574704" cy="6544027"/>
              <a:chOff x="0" y="0"/>
              <a:chExt cx="1693769" cy="1292647"/>
            </a:xfrm>
          </p:grpSpPr>
          <p:sp>
            <p:nvSpPr>
              <p:cNvPr name="Freeform 7" id="7"/>
              <p:cNvSpPr/>
              <p:nvPr/>
            </p:nvSpPr>
            <p:spPr>
              <a:xfrm flipH="false" flipV="false" rot="0">
                <a:off x="0" y="0"/>
                <a:ext cx="1693769" cy="1292647"/>
              </a:xfrm>
              <a:custGeom>
                <a:avLst/>
                <a:gdLst/>
                <a:ahLst/>
                <a:cxnLst/>
                <a:rect r="r" b="b" t="t" l="l"/>
                <a:pathLst>
                  <a:path h="1292647" w="1693769">
                    <a:moveTo>
                      <a:pt x="0" y="0"/>
                    </a:moveTo>
                    <a:lnTo>
                      <a:pt x="1693769" y="0"/>
                    </a:lnTo>
                    <a:lnTo>
                      <a:pt x="1693769" y="1292647"/>
                    </a:lnTo>
                    <a:lnTo>
                      <a:pt x="0" y="1292647"/>
                    </a:lnTo>
                    <a:close/>
                  </a:path>
                </a:pathLst>
              </a:custGeom>
              <a:solidFill>
                <a:srgbClr val="FFFFFF"/>
              </a:solidFill>
            </p:spPr>
          </p:sp>
          <p:sp>
            <p:nvSpPr>
              <p:cNvPr name="TextBox 8" id="8"/>
              <p:cNvSpPr txBox="true"/>
              <p:nvPr/>
            </p:nvSpPr>
            <p:spPr>
              <a:xfrm>
                <a:off x="0" y="-38100"/>
                <a:ext cx="1693769" cy="1330747"/>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44810" y="562320"/>
              <a:ext cx="8265632" cy="5981707"/>
            </a:xfrm>
            <a:custGeom>
              <a:avLst/>
              <a:gdLst/>
              <a:ahLst/>
              <a:cxnLst/>
              <a:rect r="r" b="b" t="t" l="l"/>
              <a:pathLst>
                <a:path h="5981707" w="8265632">
                  <a:moveTo>
                    <a:pt x="0" y="0"/>
                  </a:moveTo>
                  <a:lnTo>
                    <a:pt x="8265631" y="0"/>
                  </a:lnTo>
                  <a:lnTo>
                    <a:pt x="8265631" y="5981707"/>
                  </a:lnTo>
                  <a:lnTo>
                    <a:pt x="0" y="5981707"/>
                  </a:lnTo>
                  <a:lnTo>
                    <a:pt x="0" y="0"/>
                  </a:lnTo>
                  <a:close/>
                </a:path>
              </a:pathLst>
            </a:custGeom>
            <a:blipFill>
              <a:blip r:embed="rId4"/>
              <a:stretch>
                <a:fillRect l="0" t="0" r="0" b="0"/>
              </a:stretch>
            </a:blipFill>
          </p:spPr>
        </p:sp>
      </p:grpSp>
      <p:sp>
        <p:nvSpPr>
          <p:cNvPr name="TextBox 10" id="10"/>
          <p:cNvSpPr txBox="true"/>
          <p:nvPr/>
        </p:nvSpPr>
        <p:spPr>
          <a:xfrm rot="0">
            <a:off x="1351927" y="2670809"/>
            <a:ext cx="9154873" cy="6978016"/>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Un proceso cooperativo es aquel que puede afectar o ser afectado por otros procesos que se ejecutan en el sistema. Los procesos que cooperan pueden compartir dir</a:t>
            </a:r>
            <a:r>
              <a:rPr lang="en-US" sz="2799">
                <a:solidFill>
                  <a:srgbClr val="FFFFFF"/>
                </a:solidFill>
                <a:latin typeface="Archivo Narrow"/>
                <a:ea typeface="Archivo Narrow"/>
                <a:cs typeface="Archivo Narrow"/>
                <a:sym typeface="Archivo Narrow"/>
              </a:rPr>
              <a:t>ectam</a:t>
            </a:r>
            <a:r>
              <a:rPr lang="en-US" sz="2799">
                <a:solidFill>
                  <a:srgbClr val="FFFFFF"/>
                </a:solidFill>
                <a:latin typeface="Archivo Narrow"/>
                <a:ea typeface="Archivo Narrow"/>
                <a:cs typeface="Archivo Narrow"/>
                <a:sym typeface="Archivo Narrow"/>
              </a:rPr>
              <a:t>ent</a:t>
            </a:r>
            <a:r>
              <a:rPr lang="en-US" sz="2799">
                <a:solidFill>
                  <a:srgbClr val="FFFFFF"/>
                </a:solidFill>
                <a:latin typeface="Archivo Narrow"/>
                <a:ea typeface="Archivo Narrow"/>
                <a:cs typeface="Archivo Narrow"/>
                <a:sym typeface="Archivo Narrow"/>
              </a:rPr>
              <a:t>e un</a:t>
            </a:r>
            <a:r>
              <a:rPr lang="en-US" sz="2799">
                <a:solidFill>
                  <a:srgbClr val="FFFFFF"/>
                </a:solidFill>
                <a:latin typeface="Archivo Narrow"/>
                <a:ea typeface="Archivo Narrow"/>
                <a:cs typeface="Archivo Narrow"/>
                <a:sym typeface="Archivo Narrow"/>
              </a:rPr>
              <a:t> espacio de direcciones lógicas (es decir, código y datos) o se les puede permitir compartir datos solo a través de archivos o mensajes.</a:t>
            </a:r>
          </a:p>
          <a:p>
            <a:pPr algn="just">
              <a:lnSpc>
                <a:spcPts val="5039"/>
              </a:lnSpc>
            </a:pPr>
          </a:p>
          <a:p>
            <a:pPr algn="just">
              <a:lnSpc>
                <a:spcPts val="5039"/>
              </a:lnSpc>
            </a:pPr>
            <a:r>
              <a:rPr lang="en-US" sz="2799">
                <a:solidFill>
                  <a:srgbClr val="FFFFFF"/>
                </a:solidFill>
                <a:latin typeface="Archivo Narrow"/>
                <a:ea typeface="Archivo Narrow"/>
                <a:cs typeface="Archivo Narrow"/>
                <a:sym typeface="Archivo Narrow"/>
              </a:rPr>
              <a:t>El acceso concurrente a datos compartidos puede provocar inconsistencia en los datos. Por lo que se necesita de mecanismos para garantizar la ejecución ordenada de procesos cooperativos que comparten un espacio de direcciones lógicas, d</a:t>
            </a:r>
            <a:r>
              <a:rPr lang="en-US" sz="2799">
                <a:solidFill>
                  <a:srgbClr val="FFFFFF"/>
                </a:solidFill>
                <a:latin typeface="Archivo Narrow"/>
                <a:ea typeface="Archivo Narrow"/>
                <a:cs typeface="Archivo Narrow"/>
                <a:sym typeface="Archivo Narrow"/>
              </a:rPr>
              <a:t>e modo que se mantenga la coherencia de los datos.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2225142"/>
            <a:chOff x="0" y="0"/>
            <a:chExt cx="20638498" cy="2966855"/>
          </a:xfrm>
        </p:grpSpPr>
        <p:sp>
          <p:nvSpPr>
            <p:cNvPr name="Freeform 3" id="3"/>
            <p:cNvSpPr/>
            <p:nvPr/>
          </p:nvSpPr>
          <p:spPr>
            <a:xfrm flipH="false" flipV="false" rot="0">
              <a:off x="0" y="0"/>
              <a:ext cx="20638497" cy="2966848"/>
            </a:xfrm>
            <a:custGeom>
              <a:avLst/>
              <a:gdLst/>
              <a:ahLst/>
              <a:cxnLst/>
              <a:rect r="r" b="b" t="t" l="l"/>
              <a:pathLst>
                <a:path h="2966848" w="20638497">
                  <a:moveTo>
                    <a:pt x="0" y="0"/>
                  </a:moveTo>
                  <a:lnTo>
                    <a:pt x="20638497" y="0"/>
                  </a:lnTo>
                  <a:lnTo>
                    <a:pt x="20638497" y="2966848"/>
                  </a:lnTo>
                  <a:lnTo>
                    <a:pt x="0" y="2966848"/>
                  </a:lnTo>
                  <a:close/>
                </a:path>
              </a:pathLst>
            </a:custGeom>
            <a:blipFill>
              <a:blip r:embed="rId3">
                <a:alphaModFix amt="0"/>
              </a:blip>
              <a:stretch>
                <a:fillRect l="0" t="-102078" r="-2142" b="-74819"/>
              </a:stretch>
            </a:blipFill>
          </p:spPr>
        </p:sp>
        <p:sp>
          <p:nvSpPr>
            <p:cNvPr name="TextBox 4" id="4"/>
            <p:cNvSpPr txBox="true"/>
            <p:nvPr/>
          </p:nvSpPr>
          <p:spPr>
            <a:xfrm>
              <a:off x="0" y="0"/>
              <a:ext cx="20638498" cy="2966855"/>
            </a:xfrm>
            <a:prstGeom prst="rect">
              <a:avLst/>
            </a:prstGeom>
          </p:spPr>
          <p:txBody>
            <a:bodyPr anchor="ctr" rtlCol="false" tIns="0" lIns="0" bIns="0" rIns="0"/>
            <a:lstStyle/>
            <a:p>
              <a:pPr algn="l">
                <a:lnSpc>
                  <a:spcPts val="7679"/>
                </a:lnSpc>
              </a:pPr>
              <a:r>
                <a:rPr lang="en-US" sz="6399">
                  <a:solidFill>
                    <a:srgbClr val="FFFFFF"/>
                  </a:solidFill>
                  <a:latin typeface="Archivo Black"/>
                  <a:ea typeface="Archivo Black"/>
                  <a:cs typeface="Archivo Black"/>
                  <a:sym typeface="Archivo Black"/>
                </a:rPr>
                <a:t>Con</a:t>
              </a:r>
              <a:r>
                <a:rPr lang="en-US" sz="6399">
                  <a:solidFill>
                    <a:srgbClr val="FFFFFF"/>
                  </a:solidFill>
                  <a:latin typeface="Archivo Black"/>
                  <a:ea typeface="Archivo Black"/>
                  <a:cs typeface="Archivo Black"/>
                  <a:sym typeface="Archivo Black"/>
                </a:rPr>
                <a:t>diciones de carrera</a:t>
              </a:r>
            </a:p>
            <a:p>
              <a:pPr algn="l">
                <a:lnSpc>
                  <a:spcPts val="7680"/>
                </a:lnSpc>
              </a:pPr>
              <a:r>
                <a:rPr lang="en-US" sz="6400">
                  <a:solidFill>
                    <a:srgbClr val="FFFFFF"/>
                  </a:solidFill>
                  <a:latin typeface="Archivo Black"/>
                  <a:ea typeface="Archivo Black"/>
                  <a:cs typeface="Archivo Black"/>
                  <a:sym typeface="Archivo Black"/>
                </a:rPr>
                <a:t>(Race Conditions)</a:t>
              </a:r>
            </a:p>
          </p:txBody>
        </p:sp>
      </p:grpSp>
      <p:sp>
        <p:nvSpPr>
          <p:cNvPr name="Freeform 5" id="5"/>
          <p:cNvSpPr/>
          <p:nvPr/>
        </p:nvSpPr>
        <p:spPr>
          <a:xfrm flipH="false" flipV="false" rot="0">
            <a:off x="11499502" y="3226856"/>
            <a:ext cx="5675478" cy="5095631"/>
          </a:xfrm>
          <a:custGeom>
            <a:avLst/>
            <a:gdLst/>
            <a:ahLst/>
            <a:cxnLst/>
            <a:rect r="r" b="b" t="t" l="l"/>
            <a:pathLst>
              <a:path h="5095631" w="5675478">
                <a:moveTo>
                  <a:pt x="0" y="0"/>
                </a:moveTo>
                <a:lnTo>
                  <a:pt x="5675478" y="0"/>
                </a:lnTo>
                <a:lnTo>
                  <a:pt x="5675478" y="5095631"/>
                </a:lnTo>
                <a:lnTo>
                  <a:pt x="0" y="5095631"/>
                </a:lnTo>
                <a:lnTo>
                  <a:pt x="0" y="0"/>
                </a:lnTo>
                <a:close/>
              </a:path>
            </a:pathLst>
          </a:custGeom>
          <a:blipFill>
            <a:blip r:embed="rId4"/>
            <a:stretch>
              <a:fillRect l="0" t="0" r="0" b="0"/>
            </a:stretch>
          </a:blipFill>
        </p:spPr>
      </p:sp>
      <p:sp>
        <p:nvSpPr>
          <p:cNvPr name="Freeform 6" id="6"/>
          <p:cNvSpPr/>
          <p:nvPr/>
        </p:nvSpPr>
        <p:spPr>
          <a:xfrm flipH="false" flipV="false" rot="0">
            <a:off x="11499502" y="8847208"/>
            <a:ext cx="5675478" cy="849552"/>
          </a:xfrm>
          <a:custGeom>
            <a:avLst/>
            <a:gdLst/>
            <a:ahLst/>
            <a:cxnLst/>
            <a:rect r="r" b="b" t="t" l="l"/>
            <a:pathLst>
              <a:path h="849552" w="5675478">
                <a:moveTo>
                  <a:pt x="0" y="0"/>
                </a:moveTo>
                <a:lnTo>
                  <a:pt x="5675478" y="0"/>
                </a:lnTo>
                <a:lnTo>
                  <a:pt x="5675478" y="849552"/>
                </a:lnTo>
                <a:lnTo>
                  <a:pt x="0" y="849552"/>
                </a:lnTo>
                <a:lnTo>
                  <a:pt x="0" y="0"/>
                </a:lnTo>
                <a:close/>
              </a:path>
            </a:pathLst>
          </a:custGeom>
          <a:blipFill>
            <a:blip r:embed="rId5"/>
            <a:stretch>
              <a:fillRect l="0" t="0" r="0" b="0"/>
            </a:stretch>
          </a:blipFill>
        </p:spPr>
      </p:sp>
      <p:sp>
        <p:nvSpPr>
          <p:cNvPr name="TextBox 7" id="7"/>
          <p:cNvSpPr txBox="true"/>
          <p:nvPr/>
        </p:nvSpPr>
        <p:spPr>
          <a:xfrm rot="0">
            <a:off x="1351927" y="3064931"/>
            <a:ext cx="9594477" cy="5869305"/>
          </a:xfrm>
          <a:prstGeom prst="rect">
            <a:avLst/>
          </a:prstGeom>
        </p:spPr>
        <p:txBody>
          <a:bodyPr anchor="t" rtlCol="false" tIns="0" lIns="0" bIns="0" rIns="0">
            <a:spAutoFit/>
          </a:bodyPr>
          <a:lstStyle/>
          <a:p>
            <a:pPr algn="just">
              <a:lnSpc>
                <a:spcPts val="4679"/>
              </a:lnSpc>
            </a:pPr>
            <a:r>
              <a:rPr lang="en-US" sz="2599">
                <a:solidFill>
                  <a:srgbClr val="FFFFFF"/>
                </a:solidFill>
                <a:latin typeface="Archivo Narrow"/>
                <a:ea typeface="Archivo Narrow"/>
                <a:cs typeface="Archivo Narrow"/>
                <a:sym typeface="Archivo Narrow"/>
              </a:rPr>
              <a:t>La condición de carrera ocurre cuando más de un proceso intenta acceder y modificar los mismos datos o recursos compartidos. Debido a que muchos procesos intentan modificar los datos o recursos compartidos, existen grandes posibilidades de que un proceso obtenga resultados o datos incorrectos. </a:t>
            </a:r>
          </a:p>
          <a:p>
            <a:pPr algn="just">
              <a:lnSpc>
                <a:spcPts val="4679"/>
              </a:lnSpc>
            </a:pPr>
          </a:p>
          <a:p>
            <a:pPr algn="just">
              <a:lnSpc>
                <a:spcPts val="4679"/>
              </a:lnSpc>
            </a:pPr>
            <a:r>
              <a:rPr lang="en-US" sz="2599">
                <a:solidFill>
                  <a:srgbClr val="FFFFFF"/>
                </a:solidFill>
                <a:latin typeface="Archivo Narrow"/>
                <a:ea typeface="Archivo Narrow"/>
                <a:cs typeface="Archivo Narrow"/>
                <a:sym typeface="Archivo Narrow"/>
              </a:rPr>
              <a:t>Por lo tanto, cada proceso corre para d</a:t>
            </a:r>
            <a:r>
              <a:rPr lang="en-US" sz="2599">
                <a:solidFill>
                  <a:srgbClr val="FFFFFF"/>
                </a:solidFill>
                <a:latin typeface="Archivo Narrow"/>
                <a:ea typeface="Archivo Narrow"/>
                <a:cs typeface="Archivo Narrow"/>
                <a:sym typeface="Archivo Narrow"/>
              </a:rPr>
              <a:t>ecir que tiene datos o recursos correctos y esto se denomina condición de carrera.</a:t>
            </a:r>
          </a:p>
          <a:p>
            <a:pPr algn="just">
              <a:lnSpc>
                <a:spcPts val="4679"/>
              </a:lnSpc>
            </a:pPr>
          </a:p>
          <a:p>
            <a:pPr algn="just">
              <a:lnSpc>
                <a:spcPts val="4679"/>
              </a:lnSpc>
            </a:pPr>
            <a:r>
              <a:rPr lang="en-US" sz="2599">
                <a:solidFill>
                  <a:srgbClr val="FFFFFF"/>
                </a:solidFill>
                <a:latin typeface="Archivo Narrow"/>
                <a:ea typeface="Archivo Narrow"/>
                <a:cs typeface="Archivo Narrow"/>
                <a:sym typeface="Archivo Narrow"/>
              </a:rPr>
              <a:t>El resultado final depende del orden exacto en que se realizaron los accesos, lo que genera inconsistencia de datos.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9861970" y="831786"/>
            <a:ext cx="7186914" cy="2225142"/>
            <a:chOff x="0" y="0"/>
            <a:chExt cx="9582551" cy="2966855"/>
          </a:xfrm>
        </p:grpSpPr>
        <p:sp>
          <p:nvSpPr>
            <p:cNvPr name="Freeform 3" id="3"/>
            <p:cNvSpPr/>
            <p:nvPr/>
          </p:nvSpPr>
          <p:spPr>
            <a:xfrm flipH="false" flipV="false" rot="0">
              <a:off x="0" y="0"/>
              <a:ext cx="9582551" cy="2966848"/>
            </a:xfrm>
            <a:custGeom>
              <a:avLst/>
              <a:gdLst/>
              <a:ahLst/>
              <a:cxnLst/>
              <a:rect r="r" b="b" t="t" l="l"/>
              <a:pathLst>
                <a:path h="2966848" w="9582551">
                  <a:moveTo>
                    <a:pt x="0" y="0"/>
                  </a:moveTo>
                  <a:lnTo>
                    <a:pt x="9582551" y="0"/>
                  </a:lnTo>
                  <a:lnTo>
                    <a:pt x="9582551" y="2966848"/>
                  </a:lnTo>
                  <a:lnTo>
                    <a:pt x="0" y="2966848"/>
                  </a:lnTo>
                  <a:close/>
                </a:path>
              </a:pathLst>
            </a:custGeom>
            <a:blipFill>
              <a:blip r:embed="rId3">
                <a:alphaModFix amt="0"/>
              </a:blip>
              <a:stretch>
                <a:fillRect l="0" t="-102078" r="-119989" b="-74818"/>
              </a:stretch>
            </a:blipFill>
          </p:spPr>
        </p:sp>
        <p:sp>
          <p:nvSpPr>
            <p:cNvPr name="TextBox 4" id="4"/>
            <p:cNvSpPr txBox="true"/>
            <p:nvPr/>
          </p:nvSpPr>
          <p:spPr>
            <a:xfrm>
              <a:off x="0" y="0"/>
              <a:ext cx="9582551" cy="2966855"/>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La Sección Crítica</a:t>
              </a:r>
            </a:p>
          </p:txBody>
        </p:sp>
      </p:grpSp>
      <p:sp>
        <p:nvSpPr>
          <p:cNvPr name="Freeform 5" id="5"/>
          <p:cNvSpPr/>
          <p:nvPr/>
        </p:nvSpPr>
        <p:spPr>
          <a:xfrm flipH="false" flipV="false" rot="0">
            <a:off x="0" y="0"/>
            <a:ext cx="8453673" cy="10287000"/>
          </a:xfrm>
          <a:custGeom>
            <a:avLst/>
            <a:gdLst/>
            <a:ahLst/>
            <a:cxnLst/>
            <a:rect r="r" b="b" t="t" l="l"/>
            <a:pathLst>
              <a:path h="10287000" w="8453673">
                <a:moveTo>
                  <a:pt x="0" y="0"/>
                </a:moveTo>
                <a:lnTo>
                  <a:pt x="8453673" y="0"/>
                </a:lnTo>
                <a:lnTo>
                  <a:pt x="8453673" y="10287000"/>
                </a:lnTo>
                <a:lnTo>
                  <a:pt x="0" y="10287000"/>
                </a:lnTo>
                <a:lnTo>
                  <a:pt x="0" y="0"/>
                </a:lnTo>
                <a:close/>
              </a:path>
            </a:pathLst>
          </a:custGeom>
          <a:blipFill>
            <a:blip r:embed="rId4"/>
            <a:stretch>
              <a:fillRect l="0" t="0" r="0" b="0"/>
            </a:stretch>
          </a:blipFill>
        </p:spPr>
      </p:sp>
      <p:sp>
        <p:nvSpPr>
          <p:cNvPr name="TextBox 6" id="6"/>
          <p:cNvSpPr txBox="true"/>
          <p:nvPr/>
        </p:nvSpPr>
        <p:spPr>
          <a:xfrm rot="0">
            <a:off x="9861970" y="4620093"/>
            <a:ext cx="7095483" cy="3324226"/>
          </a:xfrm>
          <a:prstGeom prst="rect">
            <a:avLst/>
          </a:prstGeom>
        </p:spPr>
        <p:txBody>
          <a:bodyPr anchor="t" rtlCol="false" tIns="0" lIns="0" bIns="0" rIns="0">
            <a:spAutoFit/>
          </a:bodyPr>
          <a:lstStyle/>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Identificación de segmentos de código sensibles</a:t>
            </a:r>
          </a:p>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Sección Crítica</a:t>
            </a:r>
          </a:p>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Requisitos para la solución de exclusión mutua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S</a:t>
              </a:r>
              <a:r>
                <a:rPr lang="en-US" sz="6400">
                  <a:solidFill>
                    <a:srgbClr val="FFFFFF"/>
                  </a:solidFill>
                  <a:latin typeface="Archivo Black"/>
                  <a:ea typeface="Archivo Black"/>
                  <a:cs typeface="Archivo Black"/>
                  <a:sym typeface="Archivo Black"/>
                </a:rPr>
                <a:t>egmentos de código sensibles</a:t>
              </a:r>
            </a:p>
          </p:txBody>
        </p:sp>
      </p:grpSp>
      <p:sp>
        <p:nvSpPr>
          <p:cNvPr name="Freeform 5" id="5"/>
          <p:cNvSpPr/>
          <p:nvPr/>
        </p:nvSpPr>
        <p:spPr>
          <a:xfrm flipH="false" flipV="false" rot="0">
            <a:off x="12074189" y="3094538"/>
            <a:ext cx="4491954" cy="4097923"/>
          </a:xfrm>
          <a:custGeom>
            <a:avLst/>
            <a:gdLst/>
            <a:ahLst/>
            <a:cxnLst/>
            <a:rect r="r" b="b" t="t" l="l"/>
            <a:pathLst>
              <a:path h="4097923" w="4491954">
                <a:moveTo>
                  <a:pt x="0" y="0"/>
                </a:moveTo>
                <a:lnTo>
                  <a:pt x="4491954" y="0"/>
                </a:lnTo>
                <a:lnTo>
                  <a:pt x="4491954" y="4097924"/>
                </a:lnTo>
                <a:lnTo>
                  <a:pt x="0" y="4097924"/>
                </a:lnTo>
                <a:lnTo>
                  <a:pt x="0" y="0"/>
                </a:lnTo>
                <a:close/>
              </a:path>
            </a:pathLst>
          </a:custGeom>
          <a:blipFill>
            <a:blip r:embed="rId4"/>
            <a:stretch>
              <a:fillRect l="0" t="0" r="0" b="0"/>
            </a:stretch>
          </a:blipFill>
        </p:spPr>
      </p:sp>
      <p:sp>
        <p:nvSpPr>
          <p:cNvPr name="Freeform 6" id="6"/>
          <p:cNvSpPr/>
          <p:nvPr/>
        </p:nvSpPr>
        <p:spPr>
          <a:xfrm flipH="false" flipV="false" rot="0">
            <a:off x="12074189" y="7549441"/>
            <a:ext cx="4491954" cy="1588618"/>
          </a:xfrm>
          <a:custGeom>
            <a:avLst/>
            <a:gdLst/>
            <a:ahLst/>
            <a:cxnLst/>
            <a:rect r="r" b="b" t="t" l="l"/>
            <a:pathLst>
              <a:path h="1588618" w="4491954">
                <a:moveTo>
                  <a:pt x="0" y="0"/>
                </a:moveTo>
                <a:lnTo>
                  <a:pt x="4491954" y="0"/>
                </a:lnTo>
                <a:lnTo>
                  <a:pt x="4491954" y="1588618"/>
                </a:lnTo>
                <a:lnTo>
                  <a:pt x="0" y="1588618"/>
                </a:lnTo>
                <a:lnTo>
                  <a:pt x="0" y="0"/>
                </a:lnTo>
                <a:close/>
              </a:path>
            </a:pathLst>
          </a:custGeom>
          <a:blipFill>
            <a:blip r:embed="rId5"/>
            <a:stretch>
              <a:fillRect l="0" t="0" r="0" b="0"/>
            </a:stretch>
          </a:blipFill>
        </p:spPr>
      </p:sp>
      <p:sp>
        <p:nvSpPr>
          <p:cNvPr name="TextBox 7" id="7"/>
          <p:cNvSpPr txBox="true"/>
          <p:nvPr/>
        </p:nvSpPr>
        <p:spPr>
          <a:xfrm rot="0">
            <a:off x="1351927" y="2932613"/>
            <a:ext cx="10068339" cy="6459855"/>
          </a:xfrm>
          <a:prstGeom prst="rect">
            <a:avLst/>
          </a:prstGeom>
        </p:spPr>
        <p:txBody>
          <a:bodyPr anchor="t" rtlCol="false" tIns="0" lIns="0" bIns="0" rIns="0">
            <a:spAutoFit/>
          </a:bodyPr>
          <a:lstStyle/>
          <a:p>
            <a:pPr algn="just">
              <a:lnSpc>
                <a:spcPts val="4679"/>
              </a:lnSpc>
            </a:pPr>
            <a:r>
              <a:rPr lang="en-US" sz="2599">
                <a:solidFill>
                  <a:srgbClr val="FFFFFF"/>
                </a:solidFill>
                <a:latin typeface="Archivo Narrow"/>
                <a:ea typeface="Archivo Narrow"/>
                <a:cs typeface="Archivo Narrow"/>
                <a:sym typeface="Archivo Narrow"/>
              </a:rPr>
              <a:t>Es un segmento de código dentro de un proceso donde se modifican variables, tablas o archivos compartidos.</a:t>
            </a:r>
          </a:p>
          <a:p>
            <a:pPr algn="just">
              <a:lnSpc>
                <a:spcPts val="4679"/>
              </a:lnSpc>
            </a:pPr>
          </a:p>
          <a:p>
            <a:pPr algn="just">
              <a:lnSpc>
                <a:spcPts val="4679"/>
              </a:lnSpc>
            </a:pPr>
            <a:r>
              <a:rPr lang="en-US" sz="2599">
                <a:solidFill>
                  <a:srgbClr val="FFFFFF"/>
                </a:solidFill>
                <a:latin typeface="Archivo Narrow"/>
                <a:ea typeface="Archivo Narrow"/>
                <a:cs typeface="Archivo Narrow"/>
                <a:sym typeface="Archivo Narrow"/>
              </a:rPr>
              <a:t>Considere un sistema que consta d</a:t>
            </a:r>
            <a:r>
              <a:rPr lang="en-US" sz="2599">
                <a:solidFill>
                  <a:srgbClr val="FFFFFF"/>
                </a:solidFill>
                <a:latin typeface="Archivo Narrow"/>
                <a:ea typeface="Archivo Narrow"/>
                <a:cs typeface="Archivo Narrow"/>
                <a:sym typeface="Archivo Narrow"/>
              </a:rPr>
              <a:t>e n</a:t>
            </a:r>
            <a:r>
              <a:rPr lang="en-US" sz="2599">
                <a:solidFill>
                  <a:srgbClr val="FFFFFF"/>
                </a:solidFill>
                <a:latin typeface="Archivo Narrow"/>
                <a:ea typeface="Archivo Narrow"/>
                <a:cs typeface="Archivo Narrow"/>
                <a:sym typeface="Archivo Narrow"/>
              </a:rPr>
              <a:t> procesos {Po, P1, ..., Pn-1}. Cada proceso tiene un segmento de código, llamado sección crítica, en el que el proceso puede estar cambiando variables comunes, actualizando una tabla, escribiendo un archivo, etc.</a:t>
            </a:r>
          </a:p>
          <a:p>
            <a:pPr algn="just">
              <a:lnSpc>
                <a:spcPts val="4679"/>
              </a:lnSpc>
            </a:pPr>
          </a:p>
          <a:p>
            <a:pPr algn="just">
              <a:lnSpc>
                <a:spcPts val="4679"/>
              </a:lnSpc>
            </a:pPr>
            <a:r>
              <a:rPr lang="en-US" sz="2599">
                <a:solidFill>
                  <a:srgbClr val="FFFFFF"/>
                </a:solidFill>
                <a:latin typeface="Archivo Narrow"/>
                <a:ea typeface="Archivo Narrow"/>
                <a:cs typeface="Archivo Narrow"/>
                <a:sym typeface="Archivo Narrow"/>
              </a:rPr>
              <a:t>La característica importante del sistema es que, cuando un proceso s</a:t>
            </a:r>
            <a:r>
              <a:rPr lang="en-US" sz="2599">
                <a:solidFill>
                  <a:srgbClr val="FFFFFF"/>
                </a:solidFill>
                <a:latin typeface="Archivo Narrow"/>
                <a:ea typeface="Archivo Narrow"/>
                <a:cs typeface="Archivo Narrow"/>
                <a:sym typeface="Archivo Narrow"/>
              </a:rPr>
              <a:t>e ejecuta en su sección crítica, no se permite que ningún otro proceso se ejecute en su sección crítica.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S</a:t>
              </a:r>
              <a:r>
                <a:rPr lang="en-US" sz="6400">
                  <a:solidFill>
                    <a:srgbClr val="FFFFFF"/>
                  </a:solidFill>
                  <a:latin typeface="Archivo Black"/>
                  <a:ea typeface="Archivo Black"/>
                  <a:cs typeface="Archivo Black"/>
                  <a:sym typeface="Archivo Black"/>
                </a:rPr>
                <a:t>ección Crítica</a:t>
              </a:r>
            </a:p>
          </p:txBody>
        </p:sp>
      </p:grpSp>
      <p:sp>
        <p:nvSpPr>
          <p:cNvPr name="TextBox 5" id="5"/>
          <p:cNvSpPr txBox="true"/>
          <p:nvPr/>
        </p:nvSpPr>
        <p:spPr>
          <a:xfrm rot="0">
            <a:off x="1351927" y="2932613"/>
            <a:ext cx="10068339" cy="5278755"/>
          </a:xfrm>
          <a:prstGeom prst="rect">
            <a:avLst/>
          </a:prstGeom>
        </p:spPr>
        <p:txBody>
          <a:bodyPr anchor="t" rtlCol="false" tIns="0" lIns="0" bIns="0" rIns="0">
            <a:spAutoFit/>
          </a:bodyPr>
          <a:lstStyle/>
          <a:p>
            <a:pPr algn="just">
              <a:lnSpc>
                <a:spcPts val="4679"/>
              </a:lnSpc>
            </a:pPr>
            <a:r>
              <a:rPr lang="en-US" sz="2599">
                <a:solidFill>
                  <a:srgbClr val="FFFFFF"/>
                </a:solidFill>
                <a:latin typeface="Archivo Narrow"/>
                <a:ea typeface="Archivo Narrow"/>
                <a:cs typeface="Archivo Narrow"/>
                <a:sym typeface="Archivo Narrow"/>
              </a:rPr>
              <a:t>El uso de la sección crítica es un permite que los procesos puedan cooperar sin modificar los datos de otro proceso mientras este se esta </a:t>
            </a:r>
            <a:r>
              <a:rPr lang="en-US" sz="2599">
                <a:solidFill>
                  <a:srgbClr val="FFFFFF"/>
                </a:solidFill>
                <a:latin typeface="Archivo Narrow"/>
                <a:ea typeface="Archivo Narrow"/>
                <a:cs typeface="Archivo Narrow"/>
                <a:sym typeface="Archivo Narrow"/>
              </a:rPr>
              <a:t>ejecutand</a:t>
            </a:r>
            <a:r>
              <a:rPr lang="en-US" sz="2599">
                <a:solidFill>
                  <a:srgbClr val="FFFFFF"/>
                </a:solidFill>
                <a:latin typeface="Archivo Narrow"/>
                <a:ea typeface="Archivo Narrow"/>
                <a:cs typeface="Archivo Narrow"/>
                <a:sym typeface="Archivo Narrow"/>
              </a:rPr>
              <a:t>o. </a:t>
            </a:r>
          </a:p>
          <a:p>
            <a:pPr algn="just">
              <a:lnSpc>
                <a:spcPts val="4679"/>
              </a:lnSpc>
            </a:pPr>
          </a:p>
          <a:p>
            <a:pPr algn="just">
              <a:lnSpc>
                <a:spcPts val="4679"/>
              </a:lnSpc>
            </a:pPr>
            <a:r>
              <a:rPr lang="en-US" sz="2599">
                <a:solidFill>
                  <a:srgbClr val="FFFFFF"/>
                </a:solidFill>
                <a:latin typeface="Archivo Narrow"/>
                <a:ea typeface="Archivo Narrow"/>
                <a:cs typeface="Archivo Narrow"/>
                <a:sym typeface="Archivo Narrow"/>
              </a:rPr>
              <a:t>Cada proceso debe solicitar permiso para ingresar a su sección crítica. </a:t>
            </a:r>
          </a:p>
          <a:p>
            <a:pPr algn="just">
              <a:lnSpc>
                <a:spcPts val="4679"/>
              </a:lnSpc>
            </a:pPr>
          </a:p>
          <a:p>
            <a:pPr algn="just">
              <a:lnSpc>
                <a:spcPts val="4679"/>
              </a:lnSpc>
            </a:pPr>
            <a:r>
              <a:rPr lang="en-US" sz="2599">
                <a:solidFill>
                  <a:srgbClr val="FFFFFF"/>
                </a:solidFill>
                <a:latin typeface="Archivo Narrow"/>
                <a:ea typeface="Archivo Narrow"/>
                <a:cs typeface="Archivo Narrow"/>
                <a:sym typeface="Archivo Narrow"/>
              </a:rPr>
              <a:t>La sección de código que implementa esta solicitud es la sección de entrada. La sección crítica puede ir seguida de un</a:t>
            </a:r>
            <a:r>
              <a:rPr lang="en-US" sz="2599">
                <a:solidFill>
                  <a:srgbClr val="FFFFFF"/>
                </a:solidFill>
                <a:latin typeface="Archivo Narrow"/>
                <a:ea typeface="Archivo Narrow"/>
                <a:cs typeface="Archivo Narrow"/>
                <a:sym typeface="Archivo Narrow"/>
              </a:rPr>
              <a:t>a sección de salida. El código restante es la sección restante.</a:t>
            </a:r>
          </a:p>
          <a:p>
            <a:pPr algn="just">
              <a:lnSpc>
                <a:spcPts val="4679"/>
              </a:lnSpc>
            </a:pPr>
          </a:p>
        </p:txBody>
      </p:sp>
      <p:sp>
        <p:nvSpPr>
          <p:cNvPr name="Freeform 6" id="6"/>
          <p:cNvSpPr/>
          <p:nvPr/>
        </p:nvSpPr>
        <p:spPr>
          <a:xfrm flipH="false" flipV="false" rot="0">
            <a:off x="12198007" y="3094538"/>
            <a:ext cx="4156320" cy="4645299"/>
          </a:xfrm>
          <a:custGeom>
            <a:avLst/>
            <a:gdLst/>
            <a:ahLst/>
            <a:cxnLst/>
            <a:rect r="r" b="b" t="t" l="l"/>
            <a:pathLst>
              <a:path h="4645299" w="4156320">
                <a:moveTo>
                  <a:pt x="0" y="0"/>
                </a:moveTo>
                <a:lnTo>
                  <a:pt x="4156320" y="0"/>
                </a:lnTo>
                <a:lnTo>
                  <a:pt x="4156320" y="4645299"/>
                </a:lnTo>
                <a:lnTo>
                  <a:pt x="0" y="4645299"/>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Requisitos de una solución</a:t>
              </a:r>
            </a:p>
          </p:txBody>
        </p:sp>
      </p:grpSp>
      <p:sp>
        <p:nvSpPr>
          <p:cNvPr name="Freeform 5" id="5"/>
          <p:cNvSpPr/>
          <p:nvPr/>
        </p:nvSpPr>
        <p:spPr>
          <a:xfrm flipH="false" flipV="false" rot="0">
            <a:off x="1351927" y="3139943"/>
            <a:ext cx="4776430" cy="5524873"/>
          </a:xfrm>
          <a:custGeom>
            <a:avLst/>
            <a:gdLst/>
            <a:ahLst/>
            <a:cxnLst/>
            <a:rect r="r" b="b" t="t" l="l"/>
            <a:pathLst>
              <a:path h="5524873" w="4776430">
                <a:moveTo>
                  <a:pt x="0" y="0"/>
                </a:moveTo>
                <a:lnTo>
                  <a:pt x="4776430" y="0"/>
                </a:lnTo>
                <a:lnTo>
                  <a:pt x="4776430" y="5524874"/>
                </a:lnTo>
                <a:lnTo>
                  <a:pt x="0" y="5524874"/>
                </a:lnTo>
                <a:lnTo>
                  <a:pt x="0" y="0"/>
                </a:lnTo>
                <a:close/>
              </a:path>
            </a:pathLst>
          </a:custGeom>
          <a:blipFill>
            <a:blip r:embed="rId4"/>
            <a:stretch>
              <a:fillRect l="0" t="0" r="0" b="0"/>
            </a:stretch>
          </a:blipFill>
        </p:spPr>
      </p:sp>
      <p:sp>
        <p:nvSpPr>
          <p:cNvPr name="Freeform 6" id="6"/>
          <p:cNvSpPr/>
          <p:nvPr/>
        </p:nvSpPr>
        <p:spPr>
          <a:xfrm flipH="false" flipV="false" rot="0">
            <a:off x="6714041" y="3119964"/>
            <a:ext cx="4754644" cy="5544853"/>
          </a:xfrm>
          <a:custGeom>
            <a:avLst/>
            <a:gdLst/>
            <a:ahLst/>
            <a:cxnLst/>
            <a:rect r="r" b="b" t="t" l="l"/>
            <a:pathLst>
              <a:path h="5544853" w="4754644">
                <a:moveTo>
                  <a:pt x="0" y="0"/>
                </a:moveTo>
                <a:lnTo>
                  <a:pt x="4754645" y="0"/>
                </a:lnTo>
                <a:lnTo>
                  <a:pt x="4754645" y="5544853"/>
                </a:lnTo>
                <a:lnTo>
                  <a:pt x="0" y="5544853"/>
                </a:lnTo>
                <a:lnTo>
                  <a:pt x="0" y="0"/>
                </a:lnTo>
                <a:close/>
              </a:path>
            </a:pathLst>
          </a:custGeom>
          <a:blipFill>
            <a:blip r:embed="rId5"/>
            <a:stretch>
              <a:fillRect l="0" t="0" r="0" b="0"/>
            </a:stretch>
          </a:blipFill>
        </p:spPr>
      </p:sp>
      <p:sp>
        <p:nvSpPr>
          <p:cNvPr name="Freeform 7" id="7"/>
          <p:cNvSpPr/>
          <p:nvPr/>
        </p:nvSpPr>
        <p:spPr>
          <a:xfrm flipH="false" flipV="false" rot="0">
            <a:off x="12049711" y="3107552"/>
            <a:ext cx="4655370" cy="5557265"/>
          </a:xfrm>
          <a:custGeom>
            <a:avLst/>
            <a:gdLst/>
            <a:ahLst/>
            <a:cxnLst/>
            <a:rect r="r" b="b" t="t" l="l"/>
            <a:pathLst>
              <a:path h="5557265" w="4655370">
                <a:moveTo>
                  <a:pt x="0" y="0"/>
                </a:moveTo>
                <a:lnTo>
                  <a:pt x="4655369" y="0"/>
                </a:lnTo>
                <a:lnTo>
                  <a:pt x="4655369" y="5557265"/>
                </a:lnTo>
                <a:lnTo>
                  <a:pt x="0" y="5557265"/>
                </a:lnTo>
                <a:lnTo>
                  <a:pt x="0" y="0"/>
                </a:lnTo>
                <a:close/>
              </a:path>
            </a:pathLst>
          </a:custGeom>
          <a:blipFill>
            <a:blip r:embed="rId6"/>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9861970" y="831786"/>
            <a:ext cx="7186914" cy="2225142"/>
            <a:chOff x="0" y="0"/>
            <a:chExt cx="9582551" cy="2966855"/>
          </a:xfrm>
        </p:grpSpPr>
        <p:sp>
          <p:nvSpPr>
            <p:cNvPr name="Freeform 3" id="3"/>
            <p:cNvSpPr/>
            <p:nvPr/>
          </p:nvSpPr>
          <p:spPr>
            <a:xfrm flipH="false" flipV="false" rot="0">
              <a:off x="0" y="0"/>
              <a:ext cx="9582551" cy="2966848"/>
            </a:xfrm>
            <a:custGeom>
              <a:avLst/>
              <a:gdLst/>
              <a:ahLst/>
              <a:cxnLst/>
              <a:rect r="r" b="b" t="t" l="l"/>
              <a:pathLst>
                <a:path h="2966848" w="9582551">
                  <a:moveTo>
                    <a:pt x="0" y="0"/>
                  </a:moveTo>
                  <a:lnTo>
                    <a:pt x="9582551" y="0"/>
                  </a:lnTo>
                  <a:lnTo>
                    <a:pt x="9582551" y="2966848"/>
                  </a:lnTo>
                  <a:lnTo>
                    <a:pt x="0" y="2966848"/>
                  </a:lnTo>
                  <a:close/>
                </a:path>
              </a:pathLst>
            </a:custGeom>
            <a:blipFill>
              <a:blip r:embed="rId3">
                <a:alphaModFix amt="0"/>
              </a:blip>
              <a:stretch>
                <a:fillRect l="0" t="-102078" r="-119989" b="-74818"/>
              </a:stretch>
            </a:blipFill>
          </p:spPr>
        </p:sp>
        <p:sp>
          <p:nvSpPr>
            <p:cNvPr name="TextBox 4" id="4"/>
            <p:cNvSpPr txBox="true"/>
            <p:nvPr/>
          </p:nvSpPr>
          <p:spPr>
            <a:xfrm>
              <a:off x="0" y="0"/>
              <a:ext cx="9582551" cy="2966855"/>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Mecanismos de Sincronización</a:t>
              </a:r>
            </a:p>
          </p:txBody>
        </p:sp>
      </p:grpSp>
      <p:sp>
        <p:nvSpPr>
          <p:cNvPr name="Freeform 5" id="5"/>
          <p:cNvSpPr/>
          <p:nvPr/>
        </p:nvSpPr>
        <p:spPr>
          <a:xfrm flipH="false" flipV="false" rot="0">
            <a:off x="0" y="0"/>
            <a:ext cx="8094680" cy="10287000"/>
          </a:xfrm>
          <a:custGeom>
            <a:avLst/>
            <a:gdLst/>
            <a:ahLst/>
            <a:cxnLst/>
            <a:rect r="r" b="b" t="t" l="l"/>
            <a:pathLst>
              <a:path h="10287000" w="8094680">
                <a:moveTo>
                  <a:pt x="0" y="0"/>
                </a:moveTo>
                <a:lnTo>
                  <a:pt x="8094680" y="0"/>
                </a:lnTo>
                <a:lnTo>
                  <a:pt x="8094680" y="10287000"/>
                </a:lnTo>
                <a:lnTo>
                  <a:pt x="0" y="10287000"/>
                </a:lnTo>
                <a:lnTo>
                  <a:pt x="0" y="0"/>
                </a:lnTo>
                <a:close/>
              </a:path>
            </a:pathLst>
          </a:custGeom>
          <a:blipFill>
            <a:blip r:embed="rId4"/>
            <a:stretch>
              <a:fillRect l="-13715" t="0" r="-13368" b="0"/>
            </a:stretch>
          </a:blipFill>
        </p:spPr>
      </p:sp>
      <p:sp>
        <p:nvSpPr>
          <p:cNvPr name="TextBox 6" id="6"/>
          <p:cNvSpPr txBox="true"/>
          <p:nvPr/>
        </p:nvSpPr>
        <p:spPr>
          <a:xfrm rot="0">
            <a:off x="9861970" y="4620093"/>
            <a:ext cx="7095483" cy="3324226"/>
          </a:xfrm>
          <a:prstGeom prst="rect">
            <a:avLst/>
          </a:prstGeom>
        </p:spPr>
        <p:txBody>
          <a:bodyPr anchor="t" rtlCol="false" tIns="0" lIns="0" bIns="0" rIns="0">
            <a:spAutoFit/>
          </a:bodyPr>
          <a:lstStyle/>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Solución de Peterson</a:t>
            </a:r>
          </a:p>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Semáforos: Operaciones atómicas wait y signal</a:t>
            </a:r>
          </a:p>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Mutexes: Bloqueos binarios para la exclusión mutua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705473"/>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Solución de Pete</a:t>
              </a:r>
              <a:r>
                <a:rPr lang="en-US" sz="6400">
                  <a:solidFill>
                    <a:srgbClr val="FFFFFF"/>
                  </a:solidFill>
                  <a:latin typeface="Archivo Black"/>
                  <a:ea typeface="Archivo Black"/>
                  <a:cs typeface="Archivo Black"/>
                  <a:sym typeface="Archivo Black"/>
                </a:rPr>
                <a:t>rson</a:t>
              </a:r>
            </a:p>
          </p:txBody>
        </p:sp>
      </p:grpSp>
      <p:sp>
        <p:nvSpPr>
          <p:cNvPr name="TextBox 5" id="5"/>
          <p:cNvSpPr txBox="true"/>
          <p:nvPr/>
        </p:nvSpPr>
        <p:spPr>
          <a:xfrm rot="0">
            <a:off x="1351927" y="2490332"/>
            <a:ext cx="15478873" cy="6475095"/>
          </a:xfrm>
          <a:prstGeom prst="rect">
            <a:avLst/>
          </a:prstGeom>
        </p:spPr>
        <p:txBody>
          <a:bodyPr anchor="t" rtlCol="false" tIns="0" lIns="0" bIns="0" rIns="0">
            <a:spAutoFit/>
          </a:bodyPr>
          <a:lstStyle/>
          <a:p>
            <a:pPr algn="l">
              <a:lnSpc>
                <a:spcPts val="4320"/>
              </a:lnSpc>
            </a:pPr>
            <a:r>
              <a:rPr lang="en-US" sz="2400">
                <a:solidFill>
                  <a:srgbClr val="FFFFFF"/>
                </a:solidFill>
                <a:latin typeface="Archivo Narrow"/>
                <a:ea typeface="Archivo Narrow"/>
                <a:cs typeface="Archivo Narrow"/>
                <a:sym typeface="Archivo Narrow"/>
              </a:rPr>
              <a:t>El informático llamado Gary L. Peterson dio un enfoque muy utilizado para resolver el problema d</a:t>
            </a:r>
            <a:r>
              <a:rPr lang="en-US" sz="2400">
                <a:solidFill>
                  <a:srgbClr val="FFFFFF"/>
                </a:solidFill>
                <a:latin typeface="Archivo Narrow"/>
                <a:ea typeface="Archivo Narrow"/>
                <a:cs typeface="Archivo Narrow"/>
                <a:sym typeface="Archivo Narrow"/>
              </a:rPr>
              <a:t>e la se</a:t>
            </a:r>
            <a:r>
              <a:rPr lang="en-US" sz="2400">
                <a:solidFill>
                  <a:srgbClr val="FFFFFF"/>
                </a:solidFill>
                <a:latin typeface="Archivo Narrow"/>
                <a:ea typeface="Archivo Narrow"/>
                <a:cs typeface="Archivo Narrow"/>
                <a:sym typeface="Archivo Narrow"/>
              </a:rPr>
              <a:t>c</a:t>
            </a:r>
            <a:r>
              <a:rPr lang="en-US" sz="2400">
                <a:solidFill>
                  <a:srgbClr val="FFFFFF"/>
                </a:solidFill>
                <a:latin typeface="Archivo Narrow"/>
                <a:ea typeface="Archivo Narrow"/>
                <a:cs typeface="Archivo Narrow"/>
                <a:sym typeface="Archivo Narrow"/>
              </a:rPr>
              <a:t>c</a:t>
            </a:r>
            <a:r>
              <a:rPr lang="en-US" sz="2400">
                <a:solidFill>
                  <a:srgbClr val="FFFFFF"/>
                </a:solidFill>
                <a:latin typeface="Archivo Narrow"/>
                <a:ea typeface="Archivo Narrow"/>
                <a:cs typeface="Archivo Narrow"/>
                <a:sym typeface="Archivo Narrow"/>
              </a:rPr>
              <a:t>ió</a:t>
            </a:r>
            <a:r>
              <a:rPr lang="en-US" sz="2400">
                <a:solidFill>
                  <a:srgbClr val="FFFFFF"/>
                </a:solidFill>
                <a:latin typeface="Archivo Narrow"/>
                <a:ea typeface="Archivo Narrow"/>
                <a:cs typeface="Archivo Narrow"/>
                <a:sym typeface="Archivo Narrow"/>
              </a:rPr>
              <a:t>n</a:t>
            </a:r>
            <a:r>
              <a:rPr lang="en-US" sz="2400">
                <a:solidFill>
                  <a:srgbClr val="FFFFFF"/>
                </a:solidFill>
                <a:latin typeface="Archivo Narrow"/>
                <a:ea typeface="Archivo Narrow"/>
                <a:cs typeface="Archivo Narrow"/>
                <a:sym typeface="Archivo Narrow"/>
              </a:rPr>
              <a:t> crítica. En esta solución, cuando un proceso se ejecuta en la sección crítica al mismo tiempo, otros procesos pueden acceder al resto del código y también es posible lo contrario. Lo importante es que esta solución garantiza que solo un proceso esté ejecutando una s</a:t>
            </a:r>
            <a:r>
              <a:rPr lang="en-US" sz="2400">
                <a:solidFill>
                  <a:srgbClr val="FFFFFF"/>
                </a:solidFill>
                <a:latin typeface="Archivo Narrow"/>
                <a:ea typeface="Archivo Narrow"/>
                <a:cs typeface="Archivo Narrow"/>
                <a:sym typeface="Archivo Narrow"/>
              </a:rPr>
              <a:t>ección crítica al mismo tiempo. </a:t>
            </a:r>
          </a:p>
          <a:p>
            <a:pPr algn="l">
              <a:lnSpc>
                <a:spcPts val="4320"/>
              </a:lnSpc>
            </a:pPr>
          </a:p>
          <a:p>
            <a:pPr algn="l">
              <a:lnSpc>
                <a:spcPts val="4320"/>
              </a:lnSpc>
            </a:pPr>
            <a:r>
              <a:rPr lang="en-US" sz="2400">
                <a:solidFill>
                  <a:srgbClr val="FFFFFF"/>
                </a:solidFill>
                <a:latin typeface="Archivo Narrow"/>
                <a:ea typeface="Archivo Narrow"/>
                <a:cs typeface="Archivo Narrow"/>
                <a:sym typeface="Archivo Narrow"/>
              </a:rPr>
              <a:t>Entendamos esta solución con la ayuda de un ejemplo: La solución de Peterson requiere que se compartan dos elementos de datos entre los procesos:</a:t>
            </a:r>
          </a:p>
          <a:p>
            <a:pPr algn="ctr">
              <a:lnSpc>
                <a:spcPts val="4320"/>
              </a:lnSpc>
            </a:pPr>
            <a:r>
              <a:rPr lang="en-US" sz="2400">
                <a:solidFill>
                  <a:srgbClr val="FFFFFF"/>
                </a:solidFill>
                <a:latin typeface="Archivo Narrow"/>
                <a:ea typeface="Archivo Narrow"/>
                <a:cs typeface="Archivo Narrow"/>
                <a:sym typeface="Archivo Narrow"/>
              </a:rPr>
              <a:t>int turn;</a:t>
            </a:r>
          </a:p>
          <a:p>
            <a:pPr algn="ctr">
              <a:lnSpc>
                <a:spcPts val="4320"/>
              </a:lnSpc>
            </a:pPr>
            <a:r>
              <a:rPr lang="en-US" sz="2400">
                <a:solidFill>
                  <a:srgbClr val="FFFFFF"/>
                </a:solidFill>
                <a:latin typeface="Archivo Narrow"/>
                <a:ea typeface="Archivo Narrow"/>
                <a:cs typeface="Archivo Narrow"/>
                <a:sym typeface="Archivo Narrow"/>
              </a:rPr>
              <a:t>boolean flag[n];</a:t>
            </a:r>
          </a:p>
          <a:p>
            <a:pPr algn="l">
              <a:lnSpc>
                <a:spcPts val="4320"/>
              </a:lnSpc>
            </a:pPr>
          </a:p>
          <a:p>
            <a:pPr algn="l">
              <a:lnSpc>
                <a:spcPts val="4320"/>
              </a:lnSpc>
            </a:pPr>
            <a:r>
              <a:rPr lang="en-US" sz="2400">
                <a:solidFill>
                  <a:srgbClr val="FFFFFF"/>
                </a:solidFill>
                <a:latin typeface="Archivo Narrow"/>
                <a:ea typeface="Archivo Narrow"/>
                <a:cs typeface="Archivo Narrow"/>
                <a:sym typeface="Archivo Narrow"/>
              </a:rPr>
              <a:t>La variable turno indica a quién le toca entrar en su sección crítica. Eso es, si turn == i, entonces el proceso Pi puede ejecutarse en su sección crítica. El arreglo flag se utiliza para indicar si un proceso está listo para ingresar a su sección crítica. Por ejemplo, si flag[i] es verdadero, este valor indica que Pi está listo para ingresar su sección crítica.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281504"/>
            <a:ext cx="4583499" cy="6099011"/>
          </a:xfrm>
          <a:custGeom>
            <a:avLst/>
            <a:gdLst/>
            <a:ahLst/>
            <a:cxnLst/>
            <a:rect r="r" b="b" t="t" l="l"/>
            <a:pathLst>
              <a:path h="6099011" w="4583499">
                <a:moveTo>
                  <a:pt x="0" y="0"/>
                </a:moveTo>
                <a:lnTo>
                  <a:pt x="4583499" y="0"/>
                </a:lnTo>
                <a:lnTo>
                  <a:pt x="4583499" y="6099010"/>
                </a:lnTo>
                <a:lnTo>
                  <a:pt x="0" y="6099010"/>
                </a:lnTo>
                <a:lnTo>
                  <a:pt x="0" y="0"/>
                </a:lnTo>
                <a:close/>
              </a:path>
            </a:pathLst>
          </a:custGeom>
          <a:blipFill>
            <a:blip r:embed="rId3"/>
            <a:stretch>
              <a:fillRect l="0" t="0" r="0" b="0"/>
            </a:stretch>
          </a:blipFill>
        </p:spPr>
      </p:sp>
      <p:sp>
        <p:nvSpPr>
          <p:cNvPr name="Freeform 3" id="3"/>
          <p:cNvSpPr/>
          <p:nvPr/>
        </p:nvSpPr>
        <p:spPr>
          <a:xfrm flipH="false" flipV="false" rot="0">
            <a:off x="5808101" y="2281504"/>
            <a:ext cx="4600532" cy="6113704"/>
          </a:xfrm>
          <a:custGeom>
            <a:avLst/>
            <a:gdLst/>
            <a:ahLst/>
            <a:cxnLst/>
            <a:rect r="r" b="b" t="t" l="l"/>
            <a:pathLst>
              <a:path h="6113704" w="4600532">
                <a:moveTo>
                  <a:pt x="0" y="0"/>
                </a:moveTo>
                <a:lnTo>
                  <a:pt x="4600531" y="0"/>
                </a:lnTo>
                <a:lnTo>
                  <a:pt x="4600531" y="6113704"/>
                </a:lnTo>
                <a:lnTo>
                  <a:pt x="0" y="6113704"/>
                </a:lnTo>
                <a:lnTo>
                  <a:pt x="0" y="0"/>
                </a:lnTo>
                <a:close/>
              </a:path>
            </a:pathLst>
          </a:custGeom>
          <a:blipFill>
            <a:blip r:embed="rId4"/>
            <a:stretch>
              <a:fillRect l="0" t="0" r="0" b="0"/>
            </a:stretch>
          </a:blipFill>
        </p:spPr>
      </p:sp>
      <p:sp>
        <p:nvSpPr>
          <p:cNvPr name="Freeform 4" id="4"/>
          <p:cNvSpPr/>
          <p:nvPr/>
        </p:nvSpPr>
        <p:spPr>
          <a:xfrm flipH="false" flipV="false" rot="0">
            <a:off x="10985361" y="3623725"/>
            <a:ext cx="6189055" cy="1098816"/>
          </a:xfrm>
          <a:custGeom>
            <a:avLst/>
            <a:gdLst/>
            <a:ahLst/>
            <a:cxnLst/>
            <a:rect r="r" b="b" t="t" l="l"/>
            <a:pathLst>
              <a:path h="1098816" w="6189055">
                <a:moveTo>
                  <a:pt x="0" y="0"/>
                </a:moveTo>
                <a:lnTo>
                  <a:pt x="6189055" y="0"/>
                </a:lnTo>
                <a:lnTo>
                  <a:pt x="6189055" y="1098815"/>
                </a:lnTo>
                <a:lnTo>
                  <a:pt x="0" y="1098815"/>
                </a:lnTo>
                <a:lnTo>
                  <a:pt x="0" y="0"/>
                </a:lnTo>
                <a:close/>
              </a:path>
            </a:pathLst>
          </a:custGeom>
          <a:blipFill>
            <a:blip r:embed="rId5"/>
            <a:stretch>
              <a:fillRect l="0" t="0" r="0" b="0"/>
            </a:stretch>
          </a:blipFill>
        </p:spPr>
      </p:sp>
      <p:sp>
        <p:nvSpPr>
          <p:cNvPr name="Freeform 5" id="5"/>
          <p:cNvSpPr/>
          <p:nvPr/>
        </p:nvSpPr>
        <p:spPr>
          <a:xfrm flipH="false" flipV="false" rot="0">
            <a:off x="10985361" y="6073091"/>
            <a:ext cx="6273939" cy="2839498"/>
          </a:xfrm>
          <a:custGeom>
            <a:avLst/>
            <a:gdLst/>
            <a:ahLst/>
            <a:cxnLst/>
            <a:rect r="r" b="b" t="t" l="l"/>
            <a:pathLst>
              <a:path h="2839498" w="6273939">
                <a:moveTo>
                  <a:pt x="0" y="0"/>
                </a:moveTo>
                <a:lnTo>
                  <a:pt x="6273939" y="0"/>
                </a:lnTo>
                <a:lnTo>
                  <a:pt x="6273939" y="2839498"/>
                </a:lnTo>
                <a:lnTo>
                  <a:pt x="0" y="2839498"/>
                </a:lnTo>
                <a:lnTo>
                  <a:pt x="0" y="0"/>
                </a:lnTo>
                <a:close/>
              </a:path>
            </a:pathLst>
          </a:custGeom>
          <a:blipFill>
            <a:blip r:embed="rId6"/>
            <a:stretch>
              <a:fillRect l="0" t="0" r="0" b="0"/>
            </a:stretch>
          </a:blipFill>
        </p:spPr>
      </p:sp>
      <p:sp>
        <p:nvSpPr>
          <p:cNvPr name="TextBox 6" id="6"/>
          <p:cNvSpPr txBox="true"/>
          <p:nvPr/>
        </p:nvSpPr>
        <p:spPr>
          <a:xfrm rot="0">
            <a:off x="1028700" y="1403340"/>
            <a:ext cx="863405" cy="596266"/>
          </a:xfrm>
          <a:prstGeom prst="rect">
            <a:avLst/>
          </a:prstGeom>
        </p:spPr>
        <p:txBody>
          <a:bodyPr anchor="t" rtlCol="false" tIns="0" lIns="0" bIns="0" rIns="0">
            <a:spAutoFit/>
          </a:bodyPr>
          <a:lstStyle/>
          <a:p>
            <a:pPr algn="l">
              <a:lnSpc>
                <a:spcPts val="5039"/>
              </a:lnSpc>
            </a:pPr>
            <a:r>
              <a:rPr lang="en-US" b="true" sz="2799">
                <a:solidFill>
                  <a:srgbClr val="FFFFFF"/>
                </a:solidFill>
                <a:latin typeface="Archivo Narrow Bold"/>
                <a:ea typeface="Archivo Narrow Bold"/>
                <a:cs typeface="Archivo Narrow Bold"/>
                <a:sym typeface="Archivo Narrow Bold"/>
              </a:rPr>
              <a:t>P1</a:t>
            </a:r>
          </a:p>
        </p:txBody>
      </p:sp>
      <p:sp>
        <p:nvSpPr>
          <p:cNvPr name="TextBox 7" id="7"/>
          <p:cNvSpPr txBox="true"/>
          <p:nvPr/>
        </p:nvSpPr>
        <p:spPr>
          <a:xfrm rot="0">
            <a:off x="5808101" y="1403340"/>
            <a:ext cx="863405" cy="596266"/>
          </a:xfrm>
          <a:prstGeom prst="rect">
            <a:avLst/>
          </a:prstGeom>
        </p:spPr>
        <p:txBody>
          <a:bodyPr anchor="t" rtlCol="false" tIns="0" lIns="0" bIns="0" rIns="0">
            <a:spAutoFit/>
          </a:bodyPr>
          <a:lstStyle/>
          <a:p>
            <a:pPr algn="l">
              <a:lnSpc>
                <a:spcPts val="5039"/>
              </a:lnSpc>
            </a:pPr>
            <a:r>
              <a:rPr lang="en-US" b="true" sz="2799">
                <a:solidFill>
                  <a:srgbClr val="FFFFFF"/>
                </a:solidFill>
                <a:latin typeface="Archivo Narrow Bold"/>
                <a:ea typeface="Archivo Narrow Bold"/>
                <a:cs typeface="Archivo Narrow Bold"/>
                <a:sym typeface="Archivo Narrow Bold"/>
              </a:rPr>
              <a:t>P2</a:t>
            </a:r>
          </a:p>
        </p:txBody>
      </p:sp>
      <p:sp>
        <p:nvSpPr>
          <p:cNvPr name="TextBox 8" id="8"/>
          <p:cNvSpPr txBox="true"/>
          <p:nvPr/>
        </p:nvSpPr>
        <p:spPr>
          <a:xfrm rot="0">
            <a:off x="10985361" y="857250"/>
            <a:ext cx="6273939" cy="2510791"/>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Al comportamiento de addA es independiente del comportamiento de addB y, por lo tanto, no tiene problemas para ejecutarse de manera concurrente.</a:t>
            </a:r>
          </a:p>
        </p:txBody>
      </p:sp>
      <p:sp>
        <p:nvSpPr>
          <p:cNvPr name="TextBox 9" id="9"/>
          <p:cNvSpPr txBox="true"/>
          <p:nvPr/>
        </p:nvSpPr>
        <p:spPr>
          <a:xfrm rot="0">
            <a:off x="10985361" y="4635410"/>
            <a:ext cx="6273939" cy="1234441"/>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Ni ocurren problemas al ejecutarse de manera paralela.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Se</a:t>
              </a:r>
              <a:r>
                <a:rPr lang="en-US" sz="6400">
                  <a:solidFill>
                    <a:srgbClr val="FFFFFF"/>
                  </a:solidFill>
                  <a:latin typeface="Archivo Black"/>
                  <a:ea typeface="Archivo Black"/>
                  <a:cs typeface="Archivo Black"/>
                  <a:sym typeface="Archivo Black"/>
                </a:rPr>
                <a:t>máforos</a:t>
              </a:r>
            </a:p>
          </p:txBody>
        </p:sp>
      </p:grpSp>
      <p:sp>
        <p:nvSpPr>
          <p:cNvPr name="Freeform 5" id="5"/>
          <p:cNvSpPr/>
          <p:nvPr/>
        </p:nvSpPr>
        <p:spPr>
          <a:xfrm flipH="false" flipV="false" rot="0">
            <a:off x="1351927" y="6727986"/>
            <a:ext cx="6526358" cy="2530314"/>
          </a:xfrm>
          <a:custGeom>
            <a:avLst/>
            <a:gdLst/>
            <a:ahLst/>
            <a:cxnLst/>
            <a:rect r="r" b="b" t="t" l="l"/>
            <a:pathLst>
              <a:path h="2530314" w="6526358">
                <a:moveTo>
                  <a:pt x="0" y="0"/>
                </a:moveTo>
                <a:lnTo>
                  <a:pt x="6526358" y="0"/>
                </a:lnTo>
                <a:lnTo>
                  <a:pt x="6526358" y="2530314"/>
                </a:lnTo>
                <a:lnTo>
                  <a:pt x="0" y="2530314"/>
                </a:lnTo>
                <a:lnTo>
                  <a:pt x="0" y="0"/>
                </a:lnTo>
                <a:close/>
              </a:path>
            </a:pathLst>
          </a:custGeom>
          <a:blipFill>
            <a:blip r:embed="rId4"/>
            <a:stretch>
              <a:fillRect l="0" t="0" r="0" b="0"/>
            </a:stretch>
          </a:blipFill>
        </p:spPr>
      </p:sp>
      <p:sp>
        <p:nvSpPr>
          <p:cNvPr name="Freeform 6" id="6"/>
          <p:cNvSpPr/>
          <p:nvPr/>
        </p:nvSpPr>
        <p:spPr>
          <a:xfrm flipH="false" flipV="false" rot="0">
            <a:off x="16280501" y="112040"/>
            <a:ext cx="2007499" cy="3114601"/>
          </a:xfrm>
          <a:custGeom>
            <a:avLst/>
            <a:gdLst/>
            <a:ahLst/>
            <a:cxnLst/>
            <a:rect r="r" b="b" t="t" l="l"/>
            <a:pathLst>
              <a:path h="3114601" w="2007499">
                <a:moveTo>
                  <a:pt x="0" y="0"/>
                </a:moveTo>
                <a:lnTo>
                  <a:pt x="2007499" y="0"/>
                </a:lnTo>
                <a:lnTo>
                  <a:pt x="2007499" y="3114600"/>
                </a:lnTo>
                <a:lnTo>
                  <a:pt x="0" y="31146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351927" y="3481656"/>
            <a:ext cx="15478873" cy="2510791"/>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El científico holandés E.W. Dijkstra mostró cómo resolver el problema d</a:t>
            </a:r>
            <a:r>
              <a:rPr lang="en-US" sz="2799">
                <a:solidFill>
                  <a:srgbClr val="FFFFFF"/>
                </a:solidFill>
                <a:latin typeface="Archivo Narrow"/>
                <a:ea typeface="Archivo Narrow"/>
                <a:cs typeface="Archivo Narrow"/>
                <a:sym typeface="Archivo Narrow"/>
              </a:rPr>
              <a:t>e la se</a:t>
            </a:r>
            <a:r>
              <a:rPr lang="en-US" sz="2799">
                <a:solidFill>
                  <a:srgbClr val="FFFFFF"/>
                </a:solidFill>
                <a:latin typeface="Archivo Narrow"/>
                <a:ea typeface="Archivo Narrow"/>
                <a:cs typeface="Archivo Narrow"/>
                <a:sym typeface="Archivo Narrow"/>
              </a:rPr>
              <a:t>c</a:t>
            </a:r>
            <a:r>
              <a:rPr lang="en-US" sz="2799">
                <a:solidFill>
                  <a:srgbClr val="FFFFFF"/>
                </a:solidFill>
                <a:latin typeface="Archivo Narrow"/>
                <a:ea typeface="Archivo Narrow"/>
                <a:cs typeface="Archivo Narrow"/>
                <a:sym typeface="Archivo Narrow"/>
              </a:rPr>
              <a:t>c</a:t>
            </a:r>
            <a:r>
              <a:rPr lang="en-US" sz="2799">
                <a:solidFill>
                  <a:srgbClr val="FFFFFF"/>
                </a:solidFill>
                <a:latin typeface="Archivo Narrow"/>
                <a:ea typeface="Archivo Narrow"/>
                <a:cs typeface="Archivo Narrow"/>
                <a:sym typeface="Archivo Narrow"/>
              </a:rPr>
              <a:t>ió</a:t>
            </a:r>
            <a:r>
              <a:rPr lang="en-US" sz="2799">
                <a:solidFill>
                  <a:srgbClr val="FFFFFF"/>
                </a:solidFill>
                <a:latin typeface="Archivo Narrow"/>
                <a:ea typeface="Archivo Narrow"/>
                <a:cs typeface="Archivo Narrow"/>
                <a:sym typeface="Archivo Narrow"/>
              </a:rPr>
              <a:t>n</a:t>
            </a:r>
            <a:r>
              <a:rPr lang="en-US" sz="2799">
                <a:solidFill>
                  <a:srgbClr val="FFFFFF"/>
                </a:solidFill>
                <a:latin typeface="Archivo Narrow"/>
                <a:ea typeface="Archivo Narrow"/>
                <a:cs typeface="Archivo Narrow"/>
                <a:sym typeface="Archivo Narrow"/>
              </a:rPr>
              <a:t> crítica a mediados de los años 60 e introdujo el concepto de semáforo para controlar la sincronización. </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Un semáforo es una variable entera a la que se accede mediante dos operaciones especiales, llamadas wait y signal.</a:t>
            </a:r>
          </a:p>
        </p:txBody>
      </p:sp>
      <p:sp>
        <p:nvSpPr>
          <p:cNvPr name="TextBox 8" id="8"/>
          <p:cNvSpPr txBox="true"/>
          <p:nvPr/>
        </p:nvSpPr>
        <p:spPr>
          <a:xfrm rot="0">
            <a:off x="8701821" y="6556536"/>
            <a:ext cx="8128979" cy="1872616"/>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Los semaforos son capaces de imponer la exclusión mutua, evitar condiciones de carrera e implementar la sincron</a:t>
            </a:r>
            <a:r>
              <a:rPr lang="en-US" sz="2799">
                <a:solidFill>
                  <a:srgbClr val="FFFFFF"/>
                </a:solidFill>
                <a:latin typeface="Archivo Narrow"/>
                <a:ea typeface="Archivo Narrow"/>
                <a:cs typeface="Archivo Narrow"/>
                <a:sym typeface="Archivo Narrow"/>
              </a:rPr>
              <a:t>ización entre procesos.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sp>
        <p:nvSpPr>
          <p:cNvPr name="TextBox 2" id="2"/>
          <p:cNvSpPr txBox="true"/>
          <p:nvPr/>
        </p:nvSpPr>
        <p:spPr>
          <a:xfrm rot="0">
            <a:off x="1404563" y="857250"/>
            <a:ext cx="7313886" cy="6339841"/>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Un semáforo S es una variable entera que, además de la inicialización, es accedida únicamente a través de dos operaciones atómicas: </a:t>
            </a:r>
            <a:r>
              <a:rPr lang="en-US" sz="2799" i="true">
                <a:solidFill>
                  <a:srgbClr val="FFFFFF"/>
                </a:solidFill>
                <a:latin typeface="Archivo Narrow Italics"/>
                <a:ea typeface="Archivo Narrow Italics"/>
                <a:cs typeface="Archivo Narrow Italics"/>
                <a:sym typeface="Archivo Narrow Italics"/>
              </a:rPr>
              <a:t>wait()</a:t>
            </a:r>
            <a:r>
              <a:rPr lang="en-US" sz="2799">
                <a:solidFill>
                  <a:srgbClr val="FFFFFF"/>
                </a:solidFill>
                <a:latin typeface="Archivo Narrow"/>
                <a:ea typeface="Archivo Narrow"/>
                <a:cs typeface="Archivo Narrow"/>
                <a:sym typeface="Archivo Narrow"/>
              </a:rPr>
              <a:t> y </a:t>
            </a:r>
            <a:r>
              <a:rPr lang="en-US" sz="2799" i="true">
                <a:solidFill>
                  <a:srgbClr val="FFFFFF"/>
                </a:solidFill>
                <a:latin typeface="Archivo Narrow Italics"/>
                <a:ea typeface="Archivo Narrow Italics"/>
                <a:cs typeface="Archivo Narrow Italics"/>
                <a:sym typeface="Archivo Narrow Italics"/>
              </a:rPr>
              <a:t>signal().</a:t>
            </a:r>
            <a:r>
              <a:rPr lang="en-US" sz="2799">
                <a:solidFill>
                  <a:srgbClr val="FFFFFF"/>
                </a:solidFill>
                <a:latin typeface="Archivo Narrow"/>
                <a:ea typeface="Archivo Narrow"/>
                <a:cs typeface="Archivo Narrow"/>
                <a:sym typeface="Archivo Narrow"/>
              </a:rPr>
              <a:t> </a:t>
            </a:r>
          </a:p>
          <a:p>
            <a:pPr algn="just">
              <a:lnSpc>
                <a:spcPts val="5039"/>
              </a:lnSpc>
            </a:pPr>
          </a:p>
          <a:p>
            <a:pPr algn="just">
              <a:lnSpc>
                <a:spcPts val="5039"/>
              </a:lnSpc>
            </a:pPr>
            <a:r>
              <a:rPr lang="en-US" sz="2799">
                <a:solidFill>
                  <a:srgbClr val="FFFFFF"/>
                </a:solidFill>
                <a:latin typeface="Archivo Narrow"/>
                <a:ea typeface="Archivo Narrow"/>
                <a:cs typeface="Archivo Narrow"/>
                <a:sym typeface="Archivo Narrow"/>
              </a:rPr>
              <a:t>La operación de </a:t>
            </a:r>
            <a:r>
              <a:rPr lang="en-US" sz="2799" b="true">
                <a:solidFill>
                  <a:srgbClr val="FFFFFF"/>
                </a:solidFill>
                <a:latin typeface="Archivo Narrow Bold"/>
                <a:ea typeface="Archivo Narrow Bold"/>
                <a:cs typeface="Archivo Narrow Bold"/>
                <a:sym typeface="Archivo Narrow Bold"/>
              </a:rPr>
              <a:t>wait</a:t>
            </a:r>
            <a:r>
              <a:rPr lang="en-US" sz="2799">
                <a:solidFill>
                  <a:srgbClr val="FFFFFF"/>
                </a:solidFill>
                <a:latin typeface="Archivo Narrow"/>
                <a:ea typeface="Archivo Narrow"/>
                <a:cs typeface="Archivo Narrow"/>
                <a:sym typeface="Archivo Narrow"/>
              </a:rPr>
              <a:t> disminuye el valor del semáforo y la operación de </a:t>
            </a:r>
            <a:r>
              <a:rPr lang="en-US" sz="2799" b="true">
                <a:solidFill>
                  <a:srgbClr val="FFFFFF"/>
                </a:solidFill>
                <a:latin typeface="Archivo Narrow Bold"/>
                <a:ea typeface="Archivo Narrow Bold"/>
                <a:cs typeface="Archivo Narrow Bold"/>
                <a:sym typeface="Archivo Narrow Bold"/>
              </a:rPr>
              <a:t>signal</a:t>
            </a:r>
            <a:r>
              <a:rPr lang="en-US" sz="2799">
                <a:solidFill>
                  <a:srgbClr val="FFFFFF"/>
                </a:solidFill>
                <a:latin typeface="Archivo Narrow"/>
                <a:ea typeface="Archivo Narrow"/>
                <a:cs typeface="Archivo Narrow"/>
                <a:sym typeface="Archivo Narrow"/>
              </a:rPr>
              <a:t> incrementa el valor del semáforo. </a:t>
            </a:r>
          </a:p>
          <a:p>
            <a:pPr algn="just">
              <a:lnSpc>
                <a:spcPts val="5039"/>
              </a:lnSpc>
            </a:pPr>
          </a:p>
          <a:p>
            <a:pPr algn="just">
              <a:lnSpc>
                <a:spcPts val="5039"/>
              </a:lnSpc>
            </a:pPr>
            <a:r>
              <a:rPr lang="en-US" sz="2799">
                <a:solidFill>
                  <a:srgbClr val="FFFFFF"/>
                </a:solidFill>
                <a:latin typeface="Archivo Narrow"/>
                <a:ea typeface="Archivo Narrow"/>
                <a:cs typeface="Archivo Narrow"/>
                <a:sym typeface="Archivo Narrow"/>
              </a:rPr>
              <a:t>Cuando el valor del semáforo es cero, cualquier proceso que realice una operación de espera será bloqueado hasta que otro proceso realice una operación de señal.</a:t>
            </a:r>
          </a:p>
        </p:txBody>
      </p:sp>
      <p:sp>
        <p:nvSpPr>
          <p:cNvPr name="Freeform 3" id="3"/>
          <p:cNvSpPr/>
          <p:nvPr/>
        </p:nvSpPr>
        <p:spPr>
          <a:xfrm flipH="false" flipV="false" rot="0">
            <a:off x="1404563" y="7537379"/>
            <a:ext cx="3130965" cy="1872123"/>
          </a:xfrm>
          <a:custGeom>
            <a:avLst/>
            <a:gdLst/>
            <a:ahLst/>
            <a:cxnLst/>
            <a:rect r="r" b="b" t="t" l="l"/>
            <a:pathLst>
              <a:path h="1872123" w="3130965">
                <a:moveTo>
                  <a:pt x="0" y="0"/>
                </a:moveTo>
                <a:lnTo>
                  <a:pt x="3130965" y="0"/>
                </a:lnTo>
                <a:lnTo>
                  <a:pt x="3130965" y="1872123"/>
                </a:lnTo>
                <a:lnTo>
                  <a:pt x="0" y="1872123"/>
                </a:lnTo>
                <a:lnTo>
                  <a:pt x="0" y="0"/>
                </a:lnTo>
                <a:close/>
              </a:path>
            </a:pathLst>
          </a:custGeom>
          <a:blipFill>
            <a:blip r:embed="rId3"/>
            <a:stretch>
              <a:fillRect l="0" t="0" r="0" b="0"/>
            </a:stretch>
          </a:blipFill>
        </p:spPr>
      </p:sp>
      <p:sp>
        <p:nvSpPr>
          <p:cNvPr name="Freeform 4" id="4"/>
          <p:cNvSpPr/>
          <p:nvPr/>
        </p:nvSpPr>
        <p:spPr>
          <a:xfrm flipH="false" flipV="false" rot="0">
            <a:off x="4971139" y="7537379"/>
            <a:ext cx="3130965" cy="1872123"/>
          </a:xfrm>
          <a:custGeom>
            <a:avLst/>
            <a:gdLst/>
            <a:ahLst/>
            <a:cxnLst/>
            <a:rect r="r" b="b" t="t" l="l"/>
            <a:pathLst>
              <a:path h="1872123" w="3130965">
                <a:moveTo>
                  <a:pt x="0" y="0"/>
                </a:moveTo>
                <a:lnTo>
                  <a:pt x="3130964" y="0"/>
                </a:lnTo>
                <a:lnTo>
                  <a:pt x="3130964" y="1872123"/>
                </a:lnTo>
                <a:lnTo>
                  <a:pt x="0" y="1872123"/>
                </a:lnTo>
                <a:lnTo>
                  <a:pt x="0" y="0"/>
                </a:lnTo>
                <a:close/>
              </a:path>
            </a:pathLst>
          </a:custGeom>
          <a:blipFill>
            <a:blip r:embed="rId4"/>
            <a:stretch>
              <a:fillRect l="-5341" t="0" r="-5341" b="0"/>
            </a:stretch>
          </a:blipFill>
        </p:spPr>
      </p:sp>
      <p:sp>
        <p:nvSpPr>
          <p:cNvPr name="TextBox 5" id="5"/>
          <p:cNvSpPr txBox="true"/>
          <p:nvPr/>
        </p:nvSpPr>
        <p:spPr>
          <a:xfrm rot="0">
            <a:off x="9382907" y="857250"/>
            <a:ext cx="7876393" cy="8892541"/>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Cuando un proceso realiza una operación de wait en un semáforo, la operación verifica si el valor del semáforo es &gt; 0. Si es así, disminuye el valor del semáforo y deja que el proceso continúe su ejecución; de lo contrario, bloquea el proceso en el semáforo. </a:t>
            </a:r>
          </a:p>
          <a:p>
            <a:pPr algn="just">
              <a:lnSpc>
                <a:spcPts val="5039"/>
              </a:lnSpc>
            </a:pPr>
          </a:p>
          <a:p>
            <a:pPr algn="just">
              <a:lnSpc>
                <a:spcPts val="5039"/>
              </a:lnSpc>
            </a:pPr>
            <a:r>
              <a:rPr lang="en-US" sz="2799">
                <a:solidFill>
                  <a:srgbClr val="FFFFFF"/>
                </a:solidFill>
                <a:latin typeface="Archivo Narrow"/>
                <a:ea typeface="Archivo Narrow"/>
                <a:cs typeface="Archivo Narrow"/>
                <a:sym typeface="Archivo Narrow"/>
              </a:rPr>
              <a:t>Un</a:t>
            </a:r>
            <a:r>
              <a:rPr lang="en-US" sz="2799">
                <a:solidFill>
                  <a:srgbClr val="FFFFFF"/>
                </a:solidFill>
                <a:latin typeface="Archivo Narrow"/>
                <a:ea typeface="Archivo Narrow"/>
                <a:cs typeface="Archivo Narrow"/>
                <a:sym typeface="Archivo Narrow"/>
              </a:rPr>
              <a:t>a operación de signal en un semáforo activa un proceso bloqueado en el semáforo, si lo hay, o incrementa el valor del semáforo en 1. </a:t>
            </a:r>
          </a:p>
          <a:p>
            <a:pPr algn="just">
              <a:lnSpc>
                <a:spcPts val="5039"/>
              </a:lnSpc>
            </a:pPr>
          </a:p>
          <a:p>
            <a:pPr algn="just">
              <a:lnSpc>
                <a:spcPts val="5039"/>
              </a:lnSpc>
            </a:pPr>
            <a:r>
              <a:rPr lang="en-US" sz="2799">
                <a:solidFill>
                  <a:srgbClr val="FFFFFF"/>
                </a:solidFill>
                <a:latin typeface="Archivo Narrow"/>
                <a:ea typeface="Archivo Narrow"/>
                <a:cs typeface="Archivo Narrow"/>
                <a:sym typeface="Archivo Narrow"/>
              </a:rPr>
              <a:t>Debi</a:t>
            </a:r>
            <a:r>
              <a:rPr lang="en-US" sz="2799">
                <a:solidFill>
                  <a:srgbClr val="FFFFFF"/>
                </a:solidFill>
                <a:latin typeface="Archivo Narrow"/>
                <a:ea typeface="Archivo Narrow"/>
                <a:cs typeface="Archivo Narrow"/>
                <a:sym typeface="Archivo Narrow"/>
              </a:rPr>
              <a:t>do a esta semántica, los semáforos también se denominan semáforos de conteo. El valor inicial de un semáforo determina cuántos procesos pueden pasar la operación de espera.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sp>
        <p:nvSpPr>
          <p:cNvPr name="Freeform 2" id="2"/>
          <p:cNvSpPr/>
          <p:nvPr/>
        </p:nvSpPr>
        <p:spPr>
          <a:xfrm flipH="false" flipV="false" rot="0">
            <a:off x="8994282" y="5674759"/>
            <a:ext cx="8265018" cy="3583541"/>
          </a:xfrm>
          <a:custGeom>
            <a:avLst/>
            <a:gdLst/>
            <a:ahLst/>
            <a:cxnLst/>
            <a:rect r="r" b="b" t="t" l="l"/>
            <a:pathLst>
              <a:path h="3583541" w="8265018">
                <a:moveTo>
                  <a:pt x="0" y="0"/>
                </a:moveTo>
                <a:lnTo>
                  <a:pt x="8265018" y="0"/>
                </a:lnTo>
                <a:lnTo>
                  <a:pt x="8265018" y="3583541"/>
                </a:lnTo>
                <a:lnTo>
                  <a:pt x="0" y="3583541"/>
                </a:lnTo>
                <a:lnTo>
                  <a:pt x="0" y="0"/>
                </a:lnTo>
                <a:close/>
              </a:path>
            </a:pathLst>
          </a:custGeom>
          <a:blipFill>
            <a:blip r:embed="rId3"/>
            <a:stretch>
              <a:fillRect l="0" t="0" r="0" b="0"/>
            </a:stretch>
          </a:blipFill>
        </p:spPr>
      </p:sp>
      <p:sp>
        <p:nvSpPr>
          <p:cNvPr name="TextBox 3" id="3"/>
          <p:cNvSpPr txBox="true"/>
          <p:nvPr/>
        </p:nvSpPr>
        <p:spPr>
          <a:xfrm rot="0">
            <a:off x="1028700" y="1152370"/>
            <a:ext cx="16230600" cy="3787141"/>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Un semáforo puede tomar valores mayores que uno y se pueden utilizar para controlar el acceso a un recurso determinado que consta de un número finito de instancias. </a:t>
            </a:r>
          </a:p>
          <a:p>
            <a:pPr algn="just">
              <a:lnSpc>
                <a:spcPts val="5039"/>
              </a:lnSpc>
            </a:pPr>
          </a:p>
          <a:p>
            <a:pPr algn="just">
              <a:lnSpc>
                <a:spcPts val="5039"/>
              </a:lnSpc>
            </a:pPr>
            <a:r>
              <a:rPr lang="en-US" sz="2799">
                <a:solidFill>
                  <a:srgbClr val="FFFFFF"/>
                </a:solidFill>
                <a:latin typeface="Archivo Narrow"/>
                <a:ea typeface="Archivo Narrow"/>
                <a:cs typeface="Archivo Narrow"/>
                <a:sym typeface="Archivo Narrow"/>
              </a:rPr>
              <a:t>Se inicializa S con el numero de recursos disponibles, si el valor del semáforo está por encima de 0, los procesos pueden acceder a la sección crítica o a los recursos compartidos. La cantidad de procesos que pueden acceder a los recursos/código es el valor del semáforo.</a:t>
            </a:r>
          </a:p>
        </p:txBody>
      </p:sp>
      <p:sp>
        <p:nvSpPr>
          <p:cNvPr name="TextBox 4" id="4"/>
          <p:cNvSpPr txBox="true"/>
          <p:nvPr/>
        </p:nvSpPr>
        <p:spPr>
          <a:xfrm rot="0">
            <a:off x="1028700" y="5512264"/>
            <a:ext cx="7376999" cy="2510791"/>
          </a:xfrm>
          <a:prstGeom prst="rect">
            <a:avLst/>
          </a:prstGeom>
        </p:spPr>
        <p:txBody>
          <a:bodyPr anchor="t" rtlCol="false" tIns="0" lIns="0" bIns="0" rIns="0">
            <a:spAutoFit/>
          </a:bodyPr>
          <a:lstStyle/>
          <a:p>
            <a:pPr algn="just">
              <a:lnSpc>
                <a:spcPts val="5039"/>
              </a:lnSpc>
            </a:pPr>
            <a:r>
              <a:rPr lang="en-US" sz="2799">
                <a:solidFill>
                  <a:srgbClr val="FFFFFF"/>
                </a:solidFill>
                <a:latin typeface="Archivo Narrow"/>
                <a:ea typeface="Archivo Narrow"/>
                <a:cs typeface="Archivo Narrow"/>
                <a:sym typeface="Archivo Narrow"/>
              </a:rPr>
              <a:t>Sin embargo, si el valor es 0, significa que no hay recursos disponibles o que varios procesos ya están accediendo a la sección crítica, por lo que no pueden acceder más procesos.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Operación atómica</a:t>
              </a:r>
            </a:p>
          </p:txBody>
        </p:sp>
      </p:grpSp>
      <p:sp>
        <p:nvSpPr>
          <p:cNvPr name="TextBox 5" id="5"/>
          <p:cNvSpPr txBox="true"/>
          <p:nvPr/>
        </p:nvSpPr>
        <p:spPr>
          <a:xfrm rot="0">
            <a:off x="1404563" y="3392686"/>
            <a:ext cx="15478873" cy="5701666"/>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El problema que tenemos con las soluciones anteriores es que algunas líneas de código que deben ejecutarse sin interferencia de otros procesos; Esto no es un problema siempre que un proceso tenga el control de la CPU, pero si el sistema operativo le quita la CPU antes de que pueda terminar de ejecutar su sección de código, otro proceso puede tener la oportunidad de arruinar su trabajo. </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El código debe ejecutarse de forma atómica: en una unidad ininterrumpible. Entonces, para que los semáforos resuelvan el problema, la implementación de las dos funciones de espera y señal debe ser atómica: no puede haber interrupciones mientras se implementan estas operaciones.</a:t>
            </a:r>
          </a:p>
          <a:p>
            <a:pPr algn="l">
              <a:lnSpc>
                <a:spcPts val="5039"/>
              </a:lnSpc>
            </a:pPr>
          </a:p>
        </p:txBody>
      </p:sp>
      <p:sp>
        <p:nvSpPr>
          <p:cNvPr name="Freeform 6" id="6"/>
          <p:cNvSpPr/>
          <p:nvPr/>
        </p:nvSpPr>
        <p:spPr>
          <a:xfrm flipH="false" flipV="false" rot="-1270539">
            <a:off x="15351062" y="-388060"/>
            <a:ext cx="3816477" cy="4114800"/>
          </a:xfrm>
          <a:custGeom>
            <a:avLst/>
            <a:gdLst/>
            <a:ahLst/>
            <a:cxnLst/>
            <a:rect r="r" b="b" t="t" l="l"/>
            <a:pathLst>
              <a:path h="4114800" w="3816477">
                <a:moveTo>
                  <a:pt x="0" y="0"/>
                </a:moveTo>
                <a:lnTo>
                  <a:pt x="3816477" y="0"/>
                </a:lnTo>
                <a:lnTo>
                  <a:pt x="381647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Mutexes</a:t>
              </a:r>
            </a:p>
          </p:txBody>
        </p:sp>
      </p:grpSp>
      <p:sp>
        <p:nvSpPr>
          <p:cNvPr name="TextBox 5" id="5"/>
          <p:cNvSpPr txBox="true"/>
          <p:nvPr/>
        </p:nvSpPr>
        <p:spPr>
          <a:xfrm rot="0">
            <a:off x="1351927" y="2591646"/>
            <a:ext cx="15478873" cy="6339841"/>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Cuando no se necesita la habilidad del semáforo de contar, algunas veces se utiliza una</a:t>
            </a:r>
            <a:r>
              <a:rPr lang="en-US" sz="2799">
                <a:solidFill>
                  <a:srgbClr val="FFFFFF"/>
                </a:solidFill>
                <a:latin typeface="Archivo Narrow"/>
                <a:ea typeface="Archivo Narrow"/>
                <a:cs typeface="Archivo Narrow"/>
                <a:sym typeface="Archivo Narrow"/>
              </a:rPr>
              <a:t> vers</a:t>
            </a:r>
            <a:r>
              <a:rPr lang="en-US" sz="2799">
                <a:solidFill>
                  <a:srgbClr val="FFFFFF"/>
                </a:solidFill>
                <a:latin typeface="Archivo Narrow"/>
                <a:ea typeface="Archivo Narrow"/>
                <a:cs typeface="Archivo Narrow"/>
                <a:sym typeface="Archivo Narrow"/>
              </a:rPr>
              <a:t>ió</a:t>
            </a:r>
            <a:r>
              <a:rPr lang="en-US" sz="2799">
                <a:solidFill>
                  <a:srgbClr val="FFFFFF"/>
                </a:solidFill>
                <a:latin typeface="Archivo Narrow"/>
                <a:ea typeface="Archivo Narrow"/>
                <a:cs typeface="Archivo Narrow"/>
                <a:sym typeface="Archivo Narrow"/>
              </a:rPr>
              <a:t>n</a:t>
            </a:r>
            <a:r>
              <a:rPr lang="en-US" sz="2799">
                <a:solidFill>
                  <a:srgbClr val="FFFFFF"/>
                </a:solidFill>
                <a:latin typeface="Archivo Narrow"/>
                <a:ea typeface="Archivo Narrow"/>
                <a:cs typeface="Archivo Narrow"/>
                <a:sym typeface="Archivo Narrow"/>
              </a:rPr>
              <a:t> simplificada, llamada mutex. Los mutexes son buenos sólo para administrar la exclusión mutua para cierto recurso compartido o pieza de código. Se implementan con facilidad y eficiencia, lo cual hace que sean especialmente útiles en paquetes de hilos que se implementan en su</a:t>
            </a:r>
            <a:r>
              <a:rPr lang="en-US" sz="2799">
                <a:solidFill>
                  <a:srgbClr val="FFFFFF"/>
                </a:solidFill>
                <a:latin typeface="Archivo Narrow"/>
                <a:ea typeface="Archivo Narrow"/>
                <a:cs typeface="Archivo Narrow"/>
                <a:sym typeface="Archivo Narrow"/>
              </a:rPr>
              <a:t> totalidad en espacio de usuario.</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Un mutex es una variable que puede estar en uno de dos estados: </a:t>
            </a:r>
            <a:r>
              <a:rPr lang="en-US" sz="2799" i="true">
                <a:solidFill>
                  <a:srgbClr val="FFFFFF"/>
                </a:solidFill>
                <a:latin typeface="Archivo Narrow Italics"/>
                <a:ea typeface="Archivo Narrow Italics"/>
                <a:cs typeface="Archivo Narrow Italics"/>
                <a:sym typeface="Archivo Narrow Italics"/>
              </a:rPr>
              <a:t>abierto</a:t>
            </a:r>
            <a:r>
              <a:rPr lang="en-US" sz="2799">
                <a:solidFill>
                  <a:srgbClr val="FFFFFF"/>
                </a:solidFill>
                <a:latin typeface="Archivo Narrow"/>
                <a:ea typeface="Archivo Narrow"/>
                <a:cs typeface="Archivo Narrow"/>
                <a:sym typeface="Archivo Narrow"/>
              </a:rPr>
              <a:t> (desbloqueado) o </a:t>
            </a:r>
            <a:r>
              <a:rPr lang="en-US" sz="2799" i="true">
                <a:solidFill>
                  <a:srgbClr val="FFFFFF"/>
                </a:solidFill>
                <a:latin typeface="Archivo Narrow Italics"/>
                <a:ea typeface="Archivo Narrow Italics"/>
                <a:cs typeface="Archivo Narrow Italics"/>
                <a:sym typeface="Archivo Narrow Italics"/>
              </a:rPr>
              <a:t>cerrado</a:t>
            </a:r>
            <a:r>
              <a:rPr lang="en-US" sz="2799">
                <a:solidFill>
                  <a:srgbClr val="FFFFFF"/>
                </a:solidFill>
                <a:latin typeface="Archivo Narrow"/>
                <a:ea typeface="Archivo Narrow"/>
                <a:cs typeface="Archivo Narrow"/>
                <a:sym typeface="Archivo Narrow"/>
              </a:rPr>
              <a:t> (bloqueado). </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Se utilizan dos procedimientos con los mutexes. Cuando un hilo (o proceso) necesita acceso a una región crítica, llama a </a:t>
            </a:r>
            <a:r>
              <a:rPr lang="en-US" sz="2799" i="true">
                <a:solidFill>
                  <a:srgbClr val="FFFFFF"/>
                </a:solidFill>
                <a:latin typeface="Archivo Narrow Italics"/>
                <a:ea typeface="Archivo Narrow Italics"/>
                <a:cs typeface="Archivo Narrow Italics"/>
                <a:sym typeface="Archivo Narrow Italics"/>
              </a:rPr>
              <a:t>mutex_lock</a:t>
            </a:r>
            <a:r>
              <a:rPr lang="en-US" sz="2799">
                <a:solidFill>
                  <a:srgbClr val="FFFFFF"/>
                </a:solidFill>
                <a:latin typeface="Archivo Narrow"/>
                <a:ea typeface="Archivo Narrow"/>
                <a:cs typeface="Archivo Narrow"/>
                <a:sym typeface="Archivo Narrow"/>
              </a:rPr>
              <a:t>. Si el mutex está actualmente abierto (lo que significa que la región crítica está disponible), la llamada tiene éxito y entonces el hilo llamador puede entrar a la región crítica.</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352253"/>
        </a:solidFill>
      </p:bgPr>
    </p:bg>
    <p:spTree>
      <p:nvGrpSpPr>
        <p:cNvPr id="1" name=""/>
        <p:cNvGrpSpPr/>
        <p:nvPr/>
      </p:nvGrpSpPr>
      <p:grpSpPr>
        <a:xfrm>
          <a:off x="0" y="0"/>
          <a:ext cx="0" cy="0"/>
          <a:chOff x="0" y="0"/>
          <a:chExt cx="0" cy="0"/>
        </a:xfrm>
      </p:grpSpPr>
      <p:sp>
        <p:nvSpPr>
          <p:cNvPr name="TextBox 2" id="2"/>
          <p:cNvSpPr txBox="true"/>
          <p:nvPr/>
        </p:nvSpPr>
        <p:spPr>
          <a:xfrm rot="0">
            <a:off x="1404563" y="1249680"/>
            <a:ext cx="15478873" cy="7616191"/>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Por otro lado, si </a:t>
            </a:r>
            <a:r>
              <a:rPr lang="en-US" sz="2799">
                <a:solidFill>
                  <a:srgbClr val="FFFFFF"/>
                </a:solidFill>
                <a:latin typeface="Archivo Narrow"/>
                <a:ea typeface="Archivo Narrow"/>
                <a:cs typeface="Archivo Narrow"/>
                <a:sym typeface="Archivo Narrow"/>
              </a:rPr>
              <a:t>e</a:t>
            </a:r>
            <a:r>
              <a:rPr lang="en-US" sz="2799">
                <a:solidFill>
                  <a:srgbClr val="FFFFFF"/>
                </a:solidFill>
                <a:latin typeface="Archivo Narrow"/>
                <a:ea typeface="Archivo Narrow"/>
                <a:cs typeface="Archivo Narrow"/>
                <a:sym typeface="Archivo Narrow"/>
              </a:rPr>
              <a:t>l mutex ya se encuentra cerrado, el hilo que hizo la </a:t>
            </a:r>
            <a:r>
              <a:rPr lang="en-US" sz="2799">
                <a:solidFill>
                  <a:srgbClr val="FFFFFF"/>
                </a:solidFill>
                <a:latin typeface="Archivo Narrow"/>
                <a:ea typeface="Archivo Narrow"/>
                <a:cs typeface="Archivo Narrow"/>
                <a:sym typeface="Archivo Narrow"/>
              </a:rPr>
              <a:t>llamada se bloquea hast</a:t>
            </a:r>
            <a:r>
              <a:rPr lang="en-US" sz="2799">
                <a:solidFill>
                  <a:srgbClr val="FFFFFF"/>
                </a:solidFill>
                <a:latin typeface="Archivo Narrow"/>
                <a:ea typeface="Archivo Narrow"/>
                <a:cs typeface="Archivo Narrow"/>
                <a:sym typeface="Archivo Narrow"/>
              </a:rPr>
              <a:t>a</a:t>
            </a:r>
            <a:r>
              <a:rPr lang="en-US" sz="2799">
                <a:solidFill>
                  <a:srgbClr val="FFFFFF"/>
                </a:solidFill>
                <a:latin typeface="Archivo Narrow"/>
                <a:ea typeface="Archivo Narrow"/>
                <a:cs typeface="Archivo Narrow"/>
                <a:sym typeface="Archivo Narrow"/>
              </a:rPr>
              <a:t> que el hilo que está en la región crítica termine y llame a </a:t>
            </a:r>
            <a:r>
              <a:rPr lang="en-US" sz="2799" i="true">
                <a:solidFill>
                  <a:srgbClr val="FFFFFF"/>
                </a:solidFill>
                <a:latin typeface="Archivo Narrow Italics"/>
                <a:ea typeface="Archivo Narrow Italics"/>
                <a:cs typeface="Archivo Narrow Italics"/>
                <a:sym typeface="Archivo Narrow Italics"/>
              </a:rPr>
              <a:t>mutex_unlock</a:t>
            </a:r>
            <a:r>
              <a:rPr lang="en-US" sz="2799">
                <a:solidFill>
                  <a:srgbClr val="FFFFFF"/>
                </a:solidFill>
                <a:latin typeface="Archivo Narrow"/>
                <a:ea typeface="Archivo Narrow"/>
                <a:cs typeface="Archivo Narrow"/>
                <a:sym typeface="Archivo Narrow"/>
              </a:rPr>
              <a:t>. Si se bloquean varios hilos por el mutex, se selecciona uno de ellos al azar y se permite que adquiera el mutex.</a:t>
            </a:r>
          </a:p>
          <a:p>
            <a:pPr algn="l">
              <a:lnSpc>
                <a:spcPts val="5039"/>
              </a:lnSpc>
            </a:pPr>
          </a:p>
          <a:p>
            <a:pPr algn="l">
              <a:lnSpc>
                <a:spcPts val="5039"/>
              </a:lnSpc>
            </a:pPr>
            <a:r>
              <a:rPr lang="en-US" b="true" sz="2799">
                <a:solidFill>
                  <a:srgbClr val="FFFFFF"/>
                </a:solidFill>
                <a:latin typeface="Archivo Narrow Bold"/>
                <a:ea typeface="Archivo Narrow Bold"/>
                <a:cs typeface="Archivo Narrow Bold"/>
                <a:sym typeface="Archivo Narrow Bold"/>
              </a:rPr>
              <a:t>Diferencia clave entre Mutex y Semáforo:</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Mutex es un mecanismo de bloqueo, mientras que Semáforo es un mecanismo de señalización</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Mutex es solo un objeto, mientras que Semáforo es un entero</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Mutex no tiene subtipo, mientras que el semáforo tiene dos tipos: semáforo de conteo y semáforo binario.</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Semáforo admite la modificación de operaciones de espera y señal, mientras que Mutex solo es modificado por el proceso que puede solicitar o liberar un recurso.</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Semáforo se modifica mediante las operaciones wait() y signal(), por otro lado, las operaciones Mutex se bloquean o desbloquean.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9861970" y="831786"/>
            <a:ext cx="7186914" cy="3196692"/>
            <a:chOff x="0" y="0"/>
            <a:chExt cx="9582551" cy="4262255"/>
          </a:xfrm>
        </p:grpSpPr>
        <p:sp>
          <p:nvSpPr>
            <p:cNvPr name="Freeform 3" id="3"/>
            <p:cNvSpPr/>
            <p:nvPr/>
          </p:nvSpPr>
          <p:spPr>
            <a:xfrm flipH="false" flipV="false" rot="0">
              <a:off x="0" y="0"/>
              <a:ext cx="9582551" cy="4262244"/>
            </a:xfrm>
            <a:custGeom>
              <a:avLst/>
              <a:gdLst/>
              <a:ahLst/>
              <a:cxnLst/>
              <a:rect r="r" b="b" t="t" l="l"/>
              <a:pathLst>
                <a:path h="4262244" w="9582551">
                  <a:moveTo>
                    <a:pt x="0" y="0"/>
                  </a:moveTo>
                  <a:lnTo>
                    <a:pt x="9582551" y="0"/>
                  </a:lnTo>
                  <a:lnTo>
                    <a:pt x="9582551" y="4262244"/>
                  </a:lnTo>
                  <a:lnTo>
                    <a:pt x="0" y="4262244"/>
                  </a:lnTo>
                  <a:close/>
                </a:path>
              </a:pathLst>
            </a:custGeom>
            <a:blipFill>
              <a:blip r:embed="rId3">
                <a:alphaModFix amt="0"/>
              </a:blip>
              <a:stretch>
                <a:fillRect l="0" t="-71054" r="-119989" b="-21687"/>
              </a:stretch>
            </a:blipFill>
          </p:spPr>
        </p:sp>
        <p:sp>
          <p:nvSpPr>
            <p:cNvPr name="TextBox 4" id="4"/>
            <p:cNvSpPr txBox="true"/>
            <p:nvPr/>
          </p:nvSpPr>
          <p:spPr>
            <a:xfrm>
              <a:off x="0" y="0"/>
              <a:ext cx="9582551" cy="4262255"/>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Gestión de Fallos de Sincronización</a:t>
              </a:r>
            </a:p>
          </p:txBody>
        </p:sp>
      </p:grpSp>
      <p:sp>
        <p:nvSpPr>
          <p:cNvPr name="Freeform 5" id="5"/>
          <p:cNvSpPr/>
          <p:nvPr/>
        </p:nvSpPr>
        <p:spPr>
          <a:xfrm flipH="false" flipV="false" rot="0">
            <a:off x="0" y="0"/>
            <a:ext cx="8525643" cy="10287000"/>
          </a:xfrm>
          <a:custGeom>
            <a:avLst/>
            <a:gdLst/>
            <a:ahLst/>
            <a:cxnLst/>
            <a:rect r="r" b="b" t="t" l="l"/>
            <a:pathLst>
              <a:path h="10287000" w="8525643">
                <a:moveTo>
                  <a:pt x="0" y="0"/>
                </a:moveTo>
                <a:lnTo>
                  <a:pt x="8525643" y="0"/>
                </a:lnTo>
                <a:lnTo>
                  <a:pt x="8525643" y="10287000"/>
                </a:lnTo>
                <a:lnTo>
                  <a:pt x="0" y="10287000"/>
                </a:lnTo>
                <a:lnTo>
                  <a:pt x="0" y="0"/>
                </a:lnTo>
                <a:close/>
              </a:path>
            </a:pathLst>
          </a:custGeom>
          <a:blipFill>
            <a:blip r:embed="rId4"/>
            <a:stretch>
              <a:fillRect l="-46912" t="0" r="-33912" b="0"/>
            </a:stretch>
          </a:blipFill>
        </p:spPr>
      </p:sp>
      <p:sp>
        <p:nvSpPr>
          <p:cNvPr name="TextBox 6" id="6"/>
          <p:cNvSpPr txBox="true"/>
          <p:nvPr/>
        </p:nvSpPr>
        <p:spPr>
          <a:xfrm rot="0">
            <a:off x="9861970" y="4620093"/>
            <a:ext cx="7095483" cy="1971676"/>
          </a:xfrm>
          <a:prstGeom prst="rect">
            <a:avLst/>
          </a:prstGeom>
        </p:spPr>
        <p:txBody>
          <a:bodyPr anchor="t" rtlCol="false" tIns="0" lIns="0" bIns="0" rIns="0">
            <a:spAutoFit/>
          </a:bodyPr>
          <a:lstStyle/>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Detección de interbloqueos (Deadlocks)</a:t>
            </a:r>
          </a:p>
          <a:p>
            <a:pPr algn="l" marL="647697" indent="-323848" lvl="1">
              <a:lnSpc>
                <a:spcPts val="5399"/>
              </a:lnSpc>
              <a:buFont typeface="Arial"/>
              <a:buChar char="•"/>
            </a:pPr>
            <a:r>
              <a:rPr lang="en-US" sz="2999">
                <a:solidFill>
                  <a:srgbClr val="FFFFFF"/>
                </a:solidFill>
                <a:latin typeface="Archivo Narrow"/>
                <a:ea typeface="Archivo Narrow"/>
                <a:cs typeface="Archivo Narrow"/>
                <a:sym typeface="Archivo Narrow"/>
              </a:rPr>
              <a:t>Estrategias de prevención y recuperación de errores en sistemas concurrentes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1618560"/>
            <a:chOff x="0" y="0"/>
            <a:chExt cx="20638498" cy="2158080"/>
          </a:xfrm>
        </p:grpSpPr>
        <p:sp>
          <p:nvSpPr>
            <p:cNvPr name="Freeform 3" id="3"/>
            <p:cNvSpPr/>
            <p:nvPr/>
          </p:nvSpPr>
          <p:spPr>
            <a:xfrm flipH="false" flipV="false" rot="0">
              <a:off x="0" y="0"/>
              <a:ext cx="20638497" cy="2158074"/>
            </a:xfrm>
            <a:custGeom>
              <a:avLst/>
              <a:gdLst/>
              <a:ahLst/>
              <a:cxnLst/>
              <a:rect r="r" b="b" t="t" l="l"/>
              <a:pathLst>
                <a:path h="2158074" w="20638497">
                  <a:moveTo>
                    <a:pt x="0" y="0"/>
                  </a:moveTo>
                  <a:lnTo>
                    <a:pt x="20638497" y="0"/>
                  </a:lnTo>
                  <a:lnTo>
                    <a:pt x="20638497" y="2158074"/>
                  </a:lnTo>
                  <a:lnTo>
                    <a:pt x="0" y="2158074"/>
                  </a:lnTo>
                  <a:close/>
                </a:path>
              </a:pathLst>
            </a:custGeom>
            <a:blipFill>
              <a:blip r:embed="rId3">
                <a:alphaModFix amt="0"/>
              </a:blip>
              <a:stretch>
                <a:fillRect l="0" t="-140334" r="-2142" b="-140335"/>
              </a:stretch>
            </a:blipFill>
          </p:spPr>
        </p:sp>
        <p:sp>
          <p:nvSpPr>
            <p:cNvPr name="TextBox 4" id="4"/>
            <p:cNvSpPr txBox="true"/>
            <p:nvPr/>
          </p:nvSpPr>
          <p:spPr>
            <a:xfrm>
              <a:off x="0" y="0"/>
              <a:ext cx="20638498" cy="2158080"/>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Interbloqueos (Deadlocks)</a:t>
              </a:r>
            </a:p>
          </p:txBody>
        </p:sp>
      </p:grpSp>
      <p:sp>
        <p:nvSpPr>
          <p:cNvPr name="TextBox 5" id="5"/>
          <p:cNvSpPr txBox="true"/>
          <p:nvPr/>
        </p:nvSpPr>
        <p:spPr>
          <a:xfrm rot="0">
            <a:off x="1404563" y="2326220"/>
            <a:ext cx="15478873" cy="7267575"/>
          </a:xfrm>
          <a:prstGeom prst="rect">
            <a:avLst/>
          </a:prstGeom>
        </p:spPr>
        <p:txBody>
          <a:bodyPr anchor="t" rtlCol="false" tIns="0" lIns="0" bIns="0" rIns="0">
            <a:spAutoFit/>
          </a:bodyPr>
          <a:lstStyle/>
          <a:p>
            <a:pPr algn="l">
              <a:lnSpc>
                <a:spcPts val="4499"/>
              </a:lnSpc>
            </a:pPr>
            <a:r>
              <a:rPr lang="en-US" sz="2499">
                <a:solidFill>
                  <a:srgbClr val="FFFFFF"/>
                </a:solidFill>
                <a:latin typeface="Archivo Narrow"/>
                <a:ea typeface="Archivo Narrow"/>
                <a:cs typeface="Archivo Narrow"/>
                <a:sym typeface="Archivo Narrow"/>
              </a:rPr>
              <a:t>Un deadlock o bloqueo mutuo es el bloqueo permanente de un conjunto de procesos o hilos d</a:t>
            </a:r>
            <a:r>
              <a:rPr lang="en-US" sz="2499">
                <a:solidFill>
                  <a:srgbClr val="FFFFFF"/>
                </a:solidFill>
                <a:latin typeface="Archivo Narrow"/>
                <a:ea typeface="Archivo Narrow"/>
                <a:cs typeface="Archivo Narrow"/>
                <a:sym typeface="Archivo Narrow"/>
              </a:rPr>
              <a:t>e </a:t>
            </a:r>
            <a:r>
              <a:rPr lang="en-US" sz="2499">
                <a:solidFill>
                  <a:srgbClr val="FFFFFF"/>
                </a:solidFill>
                <a:latin typeface="Archivo Narrow"/>
                <a:ea typeface="Archivo Narrow"/>
                <a:cs typeface="Archivo Narrow"/>
                <a:sym typeface="Archivo Narrow"/>
              </a:rPr>
              <a:t>ej</a:t>
            </a:r>
            <a:r>
              <a:rPr lang="en-US" sz="2499">
                <a:solidFill>
                  <a:srgbClr val="FFFFFF"/>
                </a:solidFill>
                <a:latin typeface="Archivo Narrow"/>
                <a:ea typeface="Archivo Narrow"/>
                <a:cs typeface="Archivo Narrow"/>
                <a:sym typeface="Archivo Narrow"/>
              </a:rPr>
              <a:t>e</a:t>
            </a:r>
            <a:r>
              <a:rPr lang="en-US" sz="2499">
                <a:solidFill>
                  <a:srgbClr val="FFFFFF"/>
                </a:solidFill>
                <a:latin typeface="Archivo Narrow"/>
                <a:ea typeface="Archivo Narrow"/>
                <a:cs typeface="Archivo Narrow"/>
                <a:sym typeface="Archivo Narrow"/>
              </a:rPr>
              <a:t>c</a:t>
            </a:r>
            <a:r>
              <a:rPr lang="en-US" sz="2499">
                <a:solidFill>
                  <a:srgbClr val="FFFFFF"/>
                </a:solidFill>
                <a:latin typeface="Archivo Narrow"/>
                <a:ea typeface="Archivo Narrow"/>
                <a:cs typeface="Archivo Narrow"/>
                <a:sym typeface="Archivo Narrow"/>
              </a:rPr>
              <a:t>uc</a:t>
            </a:r>
            <a:r>
              <a:rPr lang="en-US" sz="2499">
                <a:solidFill>
                  <a:srgbClr val="FFFFFF"/>
                </a:solidFill>
                <a:latin typeface="Archivo Narrow"/>
                <a:ea typeface="Archivo Narrow"/>
                <a:cs typeface="Archivo Narrow"/>
                <a:sym typeface="Archivo Narrow"/>
              </a:rPr>
              <a:t>ió</a:t>
            </a:r>
            <a:r>
              <a:rPr lang="en-US" sz="2499">
                <a:solidFill>
                  <a:srgbClr val="FFFFFF"/>
                </a:solidFill>
                <a:latin typeface="Archivo Narrow"/>
                <a:ea typeface="Archivo Narrow"/>
                <a:cs typeface="Archivo Narrow"/>
                <a:sym typeface="Archivo Narrow"/>
              </a:rPr>
              <a:t>n</a:t>
            </a:r>
            <a:r>
              <a:rPr lang="en-US" sz="2499">
                <a:solidFill>
                  <a:srgbClr val="FFFFFF"/>
                </a:solidFill>
                <a:latin typeface="Archivo Narrow"/>
                <a:ea typeface="Archivo Narrow"/>
                <a:cs typeface="Archivo Narrow"/>
                <a:sym typeface="Archivo Narrow"/>
              </a:rPr>
              <a:t> en un sistema concurrente que compiten por recursos del sistema.</a:t>
            </a:r>
          </a:p>
          <a:p>
            <a:pPr algn="l">
              <a:lnSpc>
                <a:spcPts val="4499"/>
              </a:lnSpc>
            </a:pPr>
          </a:p>
          <a:p>
            <a:pPr algn="l">
              <a:lnSpc>
                <a:spcPts val="4499"/>
              </a:lnSpc>
            </a:pPr>
            <a:r>
              <a:rPr lang="en-US" sz="2499">
                <a:solidFill>
                  <a:srgbClr val="FFFFFF"/>
                </a:solidFill>
                <a:latin typeface="Archivo Narrow"/>
                <a:ea typeface="Archivo Narrow"/>
                <a:cs typeface="Archivo Narrow"/>
                <a:sym typeface="Archivo Narrow"/>
              </a:rPr>
              <a:t>Ocurre cuando un proceso entra en un estado de espera porque un recurso del sistema solicitado está retenido por otro proceso en espera, que a su vez está esperando otro recurso retenido por otro proceso en espera. Si un proceso permanece indefinidamente incapaz de cambiar su estado porque los recursos solicitados por él </a:t>
            </a:r>
            <a:r>
              <a:rPr lang="en-US" sz="2499">
                <a:solidFill>
                  <a:srgbClr val="FFFFFF"/>
                </a:solidFill>
                <a:latin typeface="Archivo Narrow"/>
                <a:ea typeface="Archivo Narrow"/>
                <a:cs typeface="Archivo Narrow"/>
                <a:sym typeface="Archivo Narrow"/>
              </a:rPr>
              <a:t>están siendo utilizados por otro proceso que está esperando, entonces se dice que el sistema está en un deadlock.</a:t>
            </a:r>
          </a:p>
          <a:p>
            <a:pPr algn="l">
              <a:lnSpc>
                <a:spcPts val="4499"/>
              </a:lnSpc>
            </a:pPr>
          </a:p>
          <a:p>
            <a:pPr algn="l">
              <a:lnSpc>
                <a:spcPts val="4499"/>
              </a:lnSpc>
            </a:pPr>
            <a:r>
              <a:rPr lang="en-US" sz="2499">
                <a:solidFill>
                  <a:srgbClr val="FFFFFF"/>
                </a:solidFill>
                <a:latin typeface="Archivo Narrow"/>
                <a:ea typeface="Archivo Narrow"/>
                <a:cs typeface="Archivo Narrow"/>
                <a:sym typeface="Archivo Narrow"/>
              </a:rPr>
              <a:t>Puede surgir un deadlock si las siguientes cuatro condiciones se cumplen simultáneamente:</a:t>
            </a:r>
          </a:p>
          <a:p>
            <a:pPr algn="l" marL="539749" indent="-269875" lvl="1">
              <a:lnSpc>
                <a:spcPts val="4499"/>
              </a:lnSpc>
              <a:buAutoNum type="arabicPeriod" startAt="1"/>
            </a:pPr>
            <a:r>
              <a:rPr lang="en-US" sz="2499">
                <a:solidFill>
                  <a:srgbClr val="FFFFFF"/>
                </a:solidFill>
                <a:latin typeface="Archivo Narrow"/>
                <a:ea typeface="Archivo Narrow"/>
                <a:cs typeface="Archivo Narrow"/>
                <a:sym typeface="Archivo Narrow"/>
              </a:rPr>
              <a:t>Exclusión mutua: dos o más recursos no se pueden compartir (solo se puede usar en un proceso a la vez)</a:t>
            </a:r>
          </a:p>
          <a:p>
            <a:pPr algn="l" marL="539749" indent="-269875" lvl="1">
              <a:lnSpc>
                <a:spcPts val="4499"/>
              </a:lnSpc>
              <a:buAutoNum type="arabicPeriod" startAt="1"/>
            </a:pPr>
            <a:r>
              <a:rPr lang="en-US" sz="2499">
                <a:solidFill>
                  <a:srgbClr val="FFFFFF"/>
                </a:solidFill>
                <a:latin typeface="Archivo Narrow"/>
                <a:ea typeface="Archivo Narrow"/>
                <a:cs typeface="Archivo Narrow"/>
                <a:sym typeface="Archivo Narrow"/>
              </a:rPr>
              <a:t>Retener y esperar: un proceso retiene al menos un recurso y espera recursos.</a:t>
            </a:r>
          </a:p>
          <a:p>
            <a:pPr algn="l" marL="539749" indent="-269875" lvl="1">
              <a:lnSpc>
                <a:spcPts val="4499"/>
              </a:lnSpc>
              <a:buAutoNum type="arabicPeriod" startAt="1"/>
            </a:pPr>
            <a:r>
              <a:rPr lang="en-US" sz="2499">
                <a:solidFill>
                  <a:srgbClr val="FFFFFF"/>
                </a:solidFill>
                <a:latin typeface="Archivo Narrow"/>
                <a:ea typeface="Archivo Narrow"/>
                <a:cs typeface="Archivo Narrow"/>
                <a:sym typeface="Archivo Narrow"/>
              </a:rPr>
              <a:t>Sin preferencia: no se puede tomar un recurso de un proceso a menos que el proceso lo libere.</a:t>
            </a:r>
          </a:p>
          <a:p>
            <a:pPr algn="l" marL="539749" indent="-269875" lvl="1">
              <a:lnSpc>
                <a:spcPts val="4499"/>
              </a:lnSpc>
              <a:buAutoNum type="arabicPeriod" startAt="1"/>
            </a:pPr>
            <a:r>
              <a:rPr lang="en-US" sz="2499">
                <a:solidFill>
                  <a:srgbClr val="FFFFFF"/>
                </a:solidFill>
                <a:latin typeface="Archivo Narrow"/>
                <a:ea typeface="Archivo Narrow"/>
                <a:cs typeface="Archivo Narrow"/>
                <a:sym typeface="Archivo Narrow"/>
              </a:rPr>
              <a:t>Espera circular: conjunto de procesos que se esperan unos a otros en forma circular.</a:t>
            </a:r>
          </a:p>
        </p:txBody>
      </p:sp>
      <p:sp>
        <p:nvSpPr>
          <p:cNvPr name="Freeform 6" id="6"/>
          <p:cNvSpPr/>
          <p:nvPr/>
        </p:nvSpPr>
        <p:spPr>
          <a:xfrm flipH="false" flipV="false" rot="728646">
            <a:off x="15736824" y="6036208"/>
            <a:ext cx="3044952" cy="4114800"/>
          </a:xfrm>
          <a:custGeom>
            <a:avLst/>
            <a:gdLst/>
            <a:ahLst/>
            <a:cxnLst/>
            <a:rect r="r" b="b" t="t" l="l"/>
            <a:pathLst>
              <a:path h="4114800" w="3044952">
                <a:moveTo>
                  <a:pt x="0" y="0"/>
                </a:moveTo>
                <a:lnTo>
                  <a:pt x="3044952" y="0"/>
                </a:lnTo>
                <a:lnTo>
                  <a:pt x="304495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1351927" y="860060"/>
            <a:ext cx="15478873" cy="2225142"/>
            <a:chOff x="0" y="0"/>
            <a:chExt cx="20638498" cy="2966855"/>
          </a:xfrm>
        </p:grpSpPr>
        <p:sp>
          <p:nvSpPr>
            <p:cNvPr name="Freeform 3" id="3"/>
            <p:cNvSpPr/>
            <p:nvPr/>
          </p:nvSpPr>
          <p:spPr>
            <a:xfrm flipH="false" flipV="false" rot="0">
              <a:off x="0" y="0"/>
              <a:ext cx="20638497" cy="2966848"/>
            </a:xfrm>
            <a:custGeom>
              <a:avLst/>
              <a:gdLst/>
              <a:ahLst/>
              <a:cxnLst/>
              <a:rect r="r" b="b" t="t" l="l"/>
              <a:pathLst>
                <a:path h="2966848" w="20638497">
                  <a:moveTo>
                    <a:pt x="0" y="0"/>
                  </a:moveTo>
                  <a:lnTo>
                    <a:pt x="20638497" y="0"/>
                  </a:lnTo>
                  <a:lnTo>
                    <a:pt x="20638497" y="2966848"/>
                  </a:lnTo>
                  <a:lnTo>
                    <a:pt x="0" y="2966848"/>
                  </a:lnTo>
                  <a:close/>
                </a:path>
              </a:pathLst>
            </a:custGeom>
            <a:blipFill>
              <a:blip r:embed="rId3">
                <a:alphaModFix amt="0"/>
              </a:blip>
              <a:stretch>
                <a:fillRect l="0" t="-102078" r="-2142" b="-74818"/>
              </a:stretch>
            </a:blipFill>
          </p:spPr>
        </p:sp>
        <p:sp>
          <p:nvSpPr>
            <p:cNvPr name="TextBox 4" id="4"/>
            <p:cNvSpPr txBox="true"/>
            <p:nvPr/>
          </p:nvSpPr>
          <p:spPr>
            <a:xfrm>
              <a:off x="0" y="0"/>
              <a:ext cx="20638498" cy="2966855"/>
            </a:xfrm>
            <a:prstGeom prst="rect">
              <a:avLst/>
            </a:prstGeom>
          </p:spPr>
          <p:txBody>
            <a:bodyPr anchor="ctr" rtlCol="false" tIns="0" lIns="0" bIns="0" rIns="0"/>
            <a:lstStyle/>
            <a:p>
              <a:pPr algn="l">
                <a:lnSpc>
                  <a:spcPts val="7680"/>
                </a:lnSpc>
              </a:pPr>
              <a:r>
                <a:rPr lang="en-US" sz="6400">
                  <a:solidFill>
                    <a:srgbClr val="FFFFFF"/>
                  </a:solidFill>
                  <a:latin typeface="Archivo Black"/>
                  <a:ea typeface="Archivo Black"/>
                  <a:cs typeface="Archivo Black"/>
                  <a:sym typeface="Archivo Black"/>
                </a:rPr>
                <a:t>Prevención y recuperación de errores en sistemas concurrentes</a:t>
              </a:r>
            </a:p>
          </p:txBody>
        </p:sp>
      </p:grpSp>
      <p:sp>
        <p:nvSpPr>
          <p:cNvPr name="Freeform 5" id="5"/>
          <p:cNvSpPr/>
          <p:nvPr/>
        </p:nvSpPr>
        <p:spPr>
          <a:xfrm flipH="false" flipV="false" rot="0">
            <a:off x="10961833" y="3451709"/>
            <a:ext cx="6297467" cy="5215653"/>
          </a:xfrm>
          <a:custGeom>
            <a:avLst/>
            <a:gdLst/>
            <a:ahLst/>
            <a:cxnLst/>
            <a:rect r="r" b="b" t="t" l="l"/>
            <a:pathLst>
              <a:path h="5215653" w="6297467">
                <a:moveTo>
                  <a:pt x="0" y="0"/>
                </a:moveTo>
                <a:lnTo>
                  <a:pt x="6297467" y="0"/>
                </a:lnTo>
                <a:lnTo>
                  <a:pt x="6297467" y="5215653"/>
                </a:lnTo>
                <a:lnTo>
                  <a:pt x="0" y="5215653"/>
                </a:lnTo>
                <a:lnTo>
                  <a:pt x="0" y="0"/>
                </a:lnTo>
                <a:close/>
              </a:path>
            </a:pathLst>
          </a:custGeom>
          <a:blipFill>
            <a:blip r:embed="rId4"/>
            <a:stretch>
              <a:fillRect l="-23435" t="0" r="-23802" b="0"/>
            </a:stretch>
          </a:blipFill>
        </p:spPr>
      </p:sp>
      <p:sp>
        <p:nvSpPr>
          <p:cNvPr name="TextBox 6" id="6"/>
          <p:cNvSpPr txBox="true"/>
          <p:nvPr/>
        </p:nvSpPr>
        <p:spPr>
          <a:xfrm rot="0">
            <a:off x="1351927" y="3280259"/>
            <a:ext cx="8915966" cy="6339841"/>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En términos generales, podemos resolver el problema del punto muerto en una d</a:t>
            </a:r>
            <a:r>
              <a:rPr lang="en-US" sz="2799">
                <a:solidFill>
                  <a:srgbClr val="FFFFFF"/>
                </a:solidFill>
                <a:latin typeface="Archivo Narrow"/>
                <a:ea typeface="Archivo Narrow"/>
                <a:cs typeface="Archivo Narrow"/>
                <a:sym typeface="Archivo Narrow"/>
              </a:rPr>
              <a:t>e tr</a:t>
            </a:r>
            <a:r>
              <a:rPr lang="en-US" sz="2799">
                <a:solidFill>
                  <a:srgbClr val="FFFFFF"/>
                </a:solidFill>
                <a:latin typeface="Archivo Narrow"/>
                <a:ea typeface="Archivo Narrow"/>
                <a:cs typeface="Archivo Narrow"/>
                <a:sym typeface="Archivo Narrow"/>
              </a:rPr>
              <a:t>es formas:</a:t>
            </a:r>
          </a:p>
          <a:p>
            <a:pPr algn="l">
              <a:lnSpc>
                <a:spcPts val="5039"/>
              </a:lnSpc>
            </a:pP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Se puede utilizar un protocolo para prevenir o evitar bloqueos, asegurando que el sistema nunca entrará en un deadlock.</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Podemos permitir que el sistema entre en un estado de deadlock, detectarlo y recuperarse.</a:t>
            </a:r>
          </a:p>
          <a:p>
            <a:pPr algn="l" marL="604518" indent="-302259" lvl="1">
              <a:lnSpc>
                <a:spcPts val="5039"/>
              </a:lnSpc>
              <a:buFont typeface="Arial"/>
              <a:buChar char="•"/>
            </a:pPr>
            <a:r>
              <a:rPr lang="en-US" sz="2799">
                <a:solidFill>
                  <a:srgbClr val="FFFFFF"/>
                </a:solidFill>
                <a:latin typeface="Archivo Narrow"/>
                <a:ea typeface="Archivo Narrow"/>
                <a:cs typeface="Archivo Narrow"/>
                <a:sym typeface="Archivo Narrow"/>
              </a:rPr>
              <a:t>Se puede ignorar el problema por completo y pretender que los deadlocks nunca ocurren en el sistema.</a:t>
            </a:r>
          </a:p>
          <a:p>
            <a:pPr algn="l">
              <a:lnSpc>
                <a:spcPts val="5039"/>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683118" y="1246222"/>
            <a:ext cx="8460882" cy="6686311"/>
            <a:chOff x="0" y="0"/>
            <a:chExt cx="11281175" cy="8915082"/>
          </a:xfrm>
        </p:grpSpPr>
        <p:sp>
          <p:nvSpPr>
            <p:cNvPr name="Freeform 5" id="5"/>
            <p:cNvSpPr/>
            <p:nvPr/>
          </p:nvSpPr>
          <p:spPr>
            <a:xfrm flipH="false" flipV="false" rot="0">
              <a:off x="0" y="0"/>
              <a:ext cx="11281176" cy="8915063"/>
            </a:xfrm>
            <a:custGeom>
              <a:avLst/>
              <a:gdLst/>
              <a:ahLst/>
              <a:cxnLst/>
              <a:rect r="r" b="b" t="t" l="l"/>
              <a:pathLst>
                <a:path h="8915063" w="11281176">
                  <a:moveTo>
                    <a:pt x="0" y="0"/>
                  </a:moveTo>
                  <a:lnTo>
                    <a:pt x="11281176" y="0"/>
                  </a:lnTo>
                  <a:lnTo>
                    <a:pt x="11281176" y="8915063"/>
                  </a:lnTo>
                  <a:lnTo>
                    <a:pt x="0" y="8915063"/>
                  </a:lnTo>
                  <a:close/>
                </a:path>
              </a:pathLst>
            </a:custGeom>
            <a:blipFill>
              <a:blip r:embed="rId4">
                <a:alphaModFix amt="0"/>
              </a:blip>
              <a:stretch>
                <a:fillRect l="0" t="-25197" r="-65684" b="43493"/>
              </a:stretch>
            </a:blipFill>
          </p:spPr>
        </p:sp>
        <p:sp>
          <p:nvSpPr>
            <p:cNvPr name="TextBox 6" id="6"/>
            <p:cNvSpPr txBox="true"/>
            <p:nvPr/>
          </p:nvSpPr>
          <p:spPr>
            <a:xfrm>
              <a:off x="0" y="-38100"/>
              <a:ext cx="11281175" cy="8953182"/>
            </a:xfrm>
            <a:prstGeom prst="rect">
              <a:avLst/>
            </a:prstGeom>
          </p:spPr>
          <p:txBody>
            <a:bodyPr anchor="ctr" rtlCol="false" tIns="0" lIns="0" bIns="0" rIns="0"/>
            <a:lstStyle/>
            <a:p>
              <a:pPr algn="ctr">
                <a:lnSpc>
                  <a:spcPts val="10800"/>
                </a:lnSpc>
              </a:pPr>
              <a:r>
                <a:rPr lang="en-US" b="true" sz="9000">
                  <a:solidFill>
                    <a:srgbClr val="FFFFFF"/>
                  </a:solidFill>
                  <a:latin typeface="Arimo Bold"/>
                  <a:ea typeface="Arimo Bold"/>
                  <a:cs typeface="Arimo Bold"/>
                  <a:sym typeface="Arimo Bold"/>
                </a:rPr>
                <a:t>Ejemplo Guiado:</a:t>
              </a:r>
            </a:p>
            <a:p>
              <a:pPr algn="ctr">
                <a:lnSpc>
                  <a:spcPts val="10800"/>
                </a:lnSpc>
              </a:pPr>
            </a:p>
            <a:p>
              <a:pPr algn="ctr">
                <a:lnSpc>
                  <a:spcPts val="8521"/>
                </a:lnSpc>
              </a:pPr>
              <a:r>
                <a:rPr lang="en-US" b="true" sz="7100">
                  <a:solidFill>
                    <a:srgbClr val="FFFFFF"/>
                  </a:solidFill>
                  <a:latin typeface="Arimo Bold"/>
                  <a:ea typeface="Arimo Bold"/>
                  <a:cs typeface="Arimo Bold"/>
                  <a:sym typeface="Arimo Bold"/>
                </a:rPr>
                <a:t>Sincronización con Mutex y Semáforos</a:t>
              </a:r>
            </a:p>
          </p:txBody>
        </p:sp>
      </p:grpSp>
      <p:sp>
        <p:nvSpPr>
          <p:cNvPr name="Freeform 7" id="7"/>
          <p:cNvSpPr/>
          <p:nvPr/>
        </p:nvSpPr>
        <p:spPr>
          <a:xfrm flipH="false" flipV="false" rot="0">
            <a:off x="10330783" y="2595322"/>
            <a:ext cx="5410589" cy="5621391"/>
          </a:xfrm>
          <a:custGeom>
            <a:avLst/>
            <a:gdLst/>
            <a:ahLst/>
            <a:cxnLst/>
            <a:rect r="r" b="b" t="t" l="l"/>
            <a:pathLst>
              <a:path h="5621391" w="5410589">
                <a:moveTo>
                  <a:pt x="0" y="0"/>
                </a:moveTo>
                <a:lnTo>
                  <a:pt x="5410589" y="0"/>
                </a:lnTo>
                <a:lnTo>
                  <a:pt x="5410589" y="5621392"/>
                </a:lnTo>
                <a:lnTo>
                  <a:pt x="0" y="56213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2003393" y="6337649"/>
            <a:ext cx="14018400" cy="2093404"/>
            <a:chOff x="0" y="0"/>
            <a:chExt cx="18691200" cy="2791206"/>
          </a:xfrm>
        </p:grpSpPr>
        <p:sp>
          <p:nvSpPr>
            <p:cNvPr name="Freeform 5" id="5"/>
            <p:cNvSpPr/>
            <p:nvPr/>
          </p:nvSpPr>
          <p:spPr>
            <a:xfrm flipH="false" flipV="false" rot="0">
              <a:off x="0" y="0"/>
              <a:ext cx="18691200" cy="2791200"/>
            </a:xfrm>
            <a:custGeom>
              <a:avLst/>
              <a:gdLst/>
              <a:ahLst/>
              <a:cxnLst/>
              <a:rect r="r" b="b" t="t" l="l"/>
              <a:pathLst>
                <a:path h="2791200" w="18691200">
                  <a:moveTo>
                    <a:pt x="0" y="0"/>
                  </a:moveTo>
                  <a:lnTo>
                    <a:pt x="18691200" y="0"/>
                  </a:lnTo>
                  <a:lnTo>
                    <a:pt x="18691200" y="2791200"/>
                  </a:lnTo>
                  <a:lnTo>
                    <a:pt x="0" y="2791200"/>
                  </a:lnTo>
                  <a:close/>
                </a:path>
              </a:pathLst>
            </a:custGeom>
            <a:blipFill>
              <a:blip r:embed="rId4">
                <a:alphaModFix amt="0"/>
              </a:blip>
              <a:stretch>
                <a:fillRect l="0" t="-80480" r="0" b="-80481"/>
              </a:stretch>
            </a:blipFill>
          </p:spPr>
        </p:sp>
        <p:sp>
          <p:nvSpPr>
            <p:cNvPr name="TextBox 6" id="6"/>
            <p:cNvSpPr txBox="true"/>
            <p:nvPr/>
          </p:nvSpPr>
          <p:spPr>
            <a:xfrm>
              <a:off x="0" y="-47625"/>
              <a:ext cx="18691200" cy="2838831"/>
            </a:xfrm>
            <a:prstGeom prst="rect">
              <a:avLst/>
            </a:prstGeom>
          </p:spPr>
          <p:txBody>
            <a:bodyPr anchor="ctr" rtlCol="false" tIns="0" lIns="0" bIns="0" rIns="0"/>
            <a:lstStyle/>
            <a:p>
              <a:pPr algn="ctr">
                <a:lnSpc>
                  <a:spcPts val="13439"/>
                </a:lnSpc>
              </a:pPr>
              <a:r>
                <a:rPr lang="en-US" b="true" sz="11199">
                  <a:solidFill>
                    <a:srgbClr val="FFFFFF"/>
                  </a:solidFill>
                  <a:latin typeface="Arimo Bold"/>
                  <a:ea typeface="Arimo Bold"/>
                  <a:cs typeface="Arimo Bold"/>
                  <a:sym typeface="Arimo Bold"/>
                </a:rPr>
                <a:t>¿DUDAS?</a:t>
              </a:r>
            </a:p>
          </p:txBody>
        </p:sp>
      </p:grpSp>
      <p:grpSp>
        <p:nvGrpSpPr>
          <p:cNvPr name="Group 7" id="7"/>
          <p:cNvGrpSpPr/>
          <p:nvPr/>
        </p:nvGrpSpPr>
        <p:grpSpPr>
          <a:xfrm rot="0">
            <a:off x="6705600" y="1220695"/>
            <a:ext cx="4876800" cy="4876800"/>
            <a:chOff x="0" y="0"/>
            <a:chExt cx="6502400" cy="6502400"/>
          </a:xfrm>
        </p:grpSpPr>
        <p:sp>
          <p:nvSpPr>
            <p:cNvPr name="Freeform 8" id="8"/>
            <p:cNvSpPr/>
            <p:nvPr/>
          </p:nvSpPr>
          <p:spPr>
            <a:xfrm flipH="false" flipV="false" rot="0">
              <a:off x="0" y="0"/>
              <a:ext cx="6502400" cy="6502400"/>
            </a:xfrm>
            <a:custGeom>
              <a:avLst/>
              <a:gdLst/>
              <a:ahLst/>
              <a:cxnLst/>
              <a:rect r="r" b="b" t="t" l="l"/>
              <a:pathLst>
                <a:path h="6502400" w="6502400">
                  <a:moveTo>
                    <a:pt x="0" y="0"/>
                  </a:moveTo>
                  <a:lnTo>
                    <a:pt x="6502400" y="0"/>
                  </a:lnTo>
                  <a:lnTo>
                    <a:pt x="6502400" y="6502400"/>
                  </a:lnTo>
                  <a:lnTo>
                    <a:pt x="0" y="6502400"/>
                  </a:lnTo>
                  <a:lnTo>
                    <a:pt x="0" y="0"/>
                  </a:lnTo>
                  <a:close/>
                </a:path>
              </a:pathLst>
            </a:custGeom>
            <a:blipFill>
              <a:blip r:embed="rId5"/>
              <a:stretch>
                <a:fillRect l="0" t="0" r="0" b="0"/>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352253"/>
        </a:soli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1957140" y="2735151"/>
            <a:ext cx="14018400" cy="3817201"/>
            <a:chOff x="0" y="0"/>
            <a:chExt cx="18691200" cy="5089601"/>
          </a:xfrm>
        </p:grpSpPr>
        <p:sp>
          <p:nvSpPr>
            <p:cNvPr name="Freeform 5" id="5"/>
            <p:cNvSpPr/>
            <p:nvPr/>
          </p:nvSpPr>
          <p:spPr>
            <a:xfrm flipH="false" flipV="false" rot="0">
              <a:off x="0" y="0"/>
              <a:ext cx="18691200" cy="5089600"/>
            </a:xfrm>
            <a:custGeom>
              <a:avLst/>
              <a:gdLst/>
              <a:ahLst/>
              <a:cxnLst/>
              <a:rect r="r" b="b" t="t" l="l"/>
              <a:pathLst>
                <a:path h="5089600" w="18691200">
                  <a:moveTo>
                    <a:pt x="0" y="0"/>
                  </a:moveTo>
                  <a:lnTo>
                    <a:pt x="18691200" y="0"/>
                  </a:lnTo>
                  <a:lnTo>
                    <a:pt x="18691200" y="5089600"/>
                  </a:lnTo>
                  <a:lnTo>
                    <a:pt x="0" y="5089600"/>
                  </a:lnTo>
                  <a:close/>
                </a:path>
              </a:pathLst>
            </a:custGeom>
            <a:blipFill>
              <a:blip r:embed="rId4">
                <a:alphaModFix amt="0"/>
              </a:blip>
              <a:stretch>
                <a:fillRect l="0" t="-21557" r="0" b="-21557"/>
              </a:stretch>
            </a:blipFill>
          </p:spPr>
        </p:sp>
        <p:sp>
          <p:nvSpPr>
            <p:cNvPr name="TextBox 6" id="6"/>
            <p:cNvSpPr txBox="true"/>
            <p:nvPr/>
          </p:nvSpPr>
          <p:spPr>
            <a:xfrm>
              <a:off x="0" y="-47625"/>
              <a:ext cx="18691200" cy="5137226"/>
            </a:xfrm>
            <a:prstGeom prst="rect">
              <a:avLst/>
            </a:prstGeom>
          </p:spPr>
          <p:txBody>
            <a:bodyPr anchor="ctr" rtlCol="false" tIns="0" lIns="0" bIns="0" rIns="0"/>
            <a:lstStyle/>
            <a:p>
              <a:pPr algn="ctr">
                <a:lnSpc>
                  <a:spcPts val="13439"/>
                </a:lnSpc>
              </a:pPr>
              <a:r>
                <a:rPr lang="en-US" b="true" sz="11199">
                  <a:solidFill>
                    <a:srgbClr val="FFFFFF"/>
                  </a:solidFill>
                  <a:latin typeface="Arimo Bold"/>
                  <a:ea typeface="Arimo Bold"/>
                  <a:cs typeface="Arimo Bold"/>
                  <a:sym typeface="Arimo Bold"/>
                </a:rPr>
                <a:t>Gracias por la atención</a:t>
              </a:r>
            </a:p>
          </p:txBody>
        </p:sp>
      </p:grpSp>
      <p:sp>
        <p:nvSpPr>
          <p:cNvPr name="TextBox 7" id="7"/>
          <p:cNvSpPr txBox="true"/>
          <p:nvPr/>
        </p:nvSpPr>
        <p:spPr>
          <a:xfrm rot="0">
            <a:off x="2675430" y="7612723"/>
            <a:ext cx="13114353" cy="1091251"/>
          </a:xfrm>
          <a:prstGeom prst="rect">
            <a:avLst/>
          </a:prstGeom>
        </p:spPr>
        <p:txBody>
          <a:bodyPr anchor="t" rtlCol="false" tIns="0" lIns="0" bIns="0" rIns="0">
            <a:spAutoFit/>
          </a:bodyPr>
          <a:lstStyle/>
          <a:p>
            <a:pPr algn="ctr">
              <a:lnSpc>
                <a:spcPts val="3888"/>
              </a:lnSpc>
            </a:pPr>
            <a:r>
              <a:rPr lang="en-US" b="true" sz="3600">
                <a:solidFill>
                  <a:srgbClr val="FFFFFF"/>
                </a:solidFill>
                <a:latin typeface="Archivo Narrow Bold"/>
                <a:ea typeface="Archivo Narrow Bold"/>
                <a:cs typeface="Archivo Narrow Bold"/>
                <a:sym typeface="Archivo Narrow Bold"/>
              </a:rPr>
              <a:t>RECUERDA QUE TENEMOS NUESTRO FORO SEMANAL DONDE PUEDES CONSULTAR CUALQUIER DUDA QUE TE SURJA EN LA SEMANA</a:t>
            </a:r>
          </a:p>
          <a:p>
            <a:pPr algn="ctr">
              <a:lnSpc>
                <a:spcPts val="388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DAHJL02_uck</dc:identifier>
  <dcterms:modified xsi:type="dcterms:W3CDTF">2011-08-01T06:04:30Z</dcterms:modified>
  <cp:revision>1</cp:revision>
  <dc:title>Sincronización de Procesos</dc:title>
</cp:coreProperties>
</file>